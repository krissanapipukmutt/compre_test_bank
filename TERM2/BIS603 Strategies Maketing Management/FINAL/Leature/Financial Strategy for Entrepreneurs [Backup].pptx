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ebp" ContentType="image/webp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6"/>
  </p:notesMasterIdLst>
  <p:handoutMasterIdLst>
    <p:handoutMasterId r:id="rId17"/>
  </p:handoutMasterIdLst>
  <p:sldIdLst>
    <p:sldId id="330" r:id="rId2"/>
    <p:sldId id="326" r:id="rId3"/>
    <p:sldId id="329" r:id="rId4"/>
    <p:sldId id="331" r:id="rId5"/>
    <p:sldId id="333" r:id="rId6"/>
    <p:sldId id="335" r:id="rId7"/>
    <p:sldId id="334" r:id="rId8"/>
    <p:sldId id="328" r:id="rId9"/>
    <p:sldId id="336" r:id="rId10"/>
    <p:sldId id="337" r:id="rId11"/>
    <p:sldId id="338" r:id="rId12"/>
    <p:sldId id="339" r:id="rId13"/>
    <p:sldId id="340" r:id="rId14"/>
    <p:sldId id="341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84259"/>
    <a:srgbClr val="000000"/>
    <a:srgbClr val="F2F2F2"/>
    <a:srgbClr val="00B0F0"/>
    <a:srgbClr val="D3CBB6"/>
    <a:srgbClr val="EAEAEA"/>
    <a:srgbClr val="133E57"/>
    <a:srgbClr val="9C4E4E"/>
    <a:srgbClr val="700000"/>
    <a:srgbClr val="5E200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96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F5AB1C69-6EDB-4FF4-983F-18BD219EF322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52" autoAdjust="0"/>
  </p:normalViewPr>
  <p:slideViewPr>
    <p:cSldViewPr snapToGrid="0">
      <p:cViewPr varScale="1">
        <p:scale>
          <a:sx n="91" d="100"/>
          <a:sy n="91" d="100"/>
        </p:scale>
        <p:origin x="322" y="77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828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ustomXml" Target="../customXml/item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ustomXml" Target="../customXml/item2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ustomXml" Target="../customXml/item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2BF7510-B9ED-40E0-8274-4F64AD62B83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95E24B0-B97F-4932-93CD-4307D6181DC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0AA17F-CB06-445B-ACD3-321E84E51A80}" type="datetimeFigureOut">
              <a:rPr lang="en-US" smtClean="0"/>
              <a:t>10/18/2025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FC3A0DF-A8A7-4EF4-96E5-757FFFC2A93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BEC987-E8F6-4FD2-BFB2-04815BD1D2F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078EF9-7F2B-4B20-A25C-9E80C16977B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01149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6141C0-BF72-4A20-AFA7-D05563D549B7}" type="datetimeFigureOut">
              <a:rPr lang="en-US" smtClean="0"/>
              <a:t>10/18/2025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AAF9CF-D1E5-49FD-94F7-B246BB67E24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92858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840914" cy="1260000"/>
          </a:xfrm>
        </p:spPr>
        <p:txBody>
          <a:bodyPr anchor="ctr" anchorCtr="0">
            <a:normAutofit/>
          </a:bodyPr>
          <a:lstStyle>
            <a:lvl1pPr>
              <a:defRPr sz="30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1" y="1869601"/>
            <a:ext cx="10840914" cy="3921600"/>
          </a:xfrm>
        </p:spPr>
        <p:txBody>
          <a:bodyPr anchor="t" anchorCtr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B7D2A-0DF8-424B-9572-B79AEBB2D9DC}" type="datetimeFigureOut">
              <a:rPr lang="en-US" noProof="0" smtClean="0"/>
              <a:t>10/18/2025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9DD2A-B520-4620-9B43-64B657BA2D42}" type="slidenum">
              <a:rPr lang="en-US" noProof="0" smtClean="0"/>
              <a:t>‹#›</a:t>
            </a:fld>
            <a:endParaRPr lang="en-US" noProof="0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28F7C25-BFB6-430F-87B6-7D0D2C7493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-185517" y="1223433"/>
            <a:ext cx="504000" cy="0"/>
          </a:xfrm>
          <a:prstGeom prst="line">
            <a:avLst/>
          </a:prstGeom>
          <a:ln w="127000" cap="sq">
            <a:solidFill>
              <a:schemeClr val="accent3"/>
            </a:solidFill>
            <a:miter lim="800000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102627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5" y="1786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76500" y="2716272"/>
            <a:ext cx="8683625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76500" y="5137736"/>
            <a:ext cx="8683625" cy="73284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984B7D2A-0DF8-424B-9572-B79AEBB2D9DC}" type="datetimeFigureOut">
              <a:rPr lang="en-US" noProof="0" smtClean="0"/>
              <a:t>10/18/2025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5D99DD2A-B520-4620-9B43-64B657BA2D42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06293711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2450" y="1874308"/>
            <a:ext cx="3814235" cy="1260000"/>
          </a:xfrm>
        </p:spPr>
        <p:txBody>
          <a:bodyPr anchor="ctr" anchorCtr="0">
            <a:noAutofit/>
          </a:bodyPr>
          <a:lstStyle>
            <a:lvl1pPr algn="r">
              <a:defRPr sz="3000" b="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0" y="0"/>
            <a:ext cx="7543800" cy="6856214"/>
          </a:xfrm>
        </p:spPr>
        <p:txBody>
          <a:bodyPr anchor="ctr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52450" y="3134308"/>
            <a:ext cx="3814235" cy="20166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B7D2A-0DF8-424B-9572-B79AEBB2D9DC}" type="datetimeFigureOut">
              <a:rPr lang="en-US" noProof="0" smtClean="0"/>
              <a:t>10/18/2025</a:t>
            </a:fld>
            <a:endParaRPr lang="en-US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9DD2A-B520-4620-9B43-64B657BA2D42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0063388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Description and Con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>
            <a:extLst>
              <a:ext uri="{FF2B5EF4-FFF2-40B4-BE49-F238E27FC236}">
                <a16:creationId xmlns:a16="http://schemas.microsoft.com/office/drawing/2014/main" id="{A1E35E73-B2F7-41DF-AAD2-58E6BE2710D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840914" cy="1260000"/>
          </a:xfrm>
        </p:spPr>
        <p:txBody>
          <a:bodyPr anchor="ctr" anchorCtr="0">
            <a:normAutofit/>
          </a:bodyPr>
          <a:lstStyle>
            <a:lvl1pPr>
              <a:defRPr sz="30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1881824"/>
            <a:ext cx="10840914" cy="1032826"/>
          </a:xfrm>
        </p:spPr>
        <p:txBody>
          <a:bodyPr anchor="t" anchorCtr="0">
            <a:noAutofit/>
          </a:bodyPr>
          <a:lstStyle>
            <a:lvl1pPr marL="0" indent="0">
              <a:buNone/>
              <a:defRPr sz="1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B7D2A-0DF8-424B-9572-B79AEBB2D9DC}" type="datetimeFigureOut">
              <a:rPr lang="en-US" noProof="0" smtClean="0"/>
              <a:t>10/18/2025</a:t>
            </a:fld>
            <a:endParaRPr lang="en-US" noProof="0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47DAE59-9D63-4159-8F3E-560C31F19A8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16192" y="3837470"/>
            <a:ext cx="1310050" cy="959003"/>
          </a:xfrm>
        </p:spPr>
        <p:txBody>
          <a:bodyPr>
            <a:noAutofit/>
          </a:bodyPr>
          <a:lstStyle>
            <a:lvl1pPr marL="0" indent="0" algn="ctr">
              <a:buNone/>
              <a:defRPr sz="1200"/>
            </a:lvl1pPr>
            <a:lvl3pPr algn="ctr">
              <a:defRPr sz="1200"/>
            </a:lvl3pPr>
            <a:lvl5pPr marL="1828800" indent="0">
              <a:buNone/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9DD2A-B520-4620-9B43-64B657BA2D42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4249143D-80A5-4E4C-BBFD-F253500CE226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685799" y="2914650"/>
            <a:ext cx="10840914" cy="502126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1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B06123F0-984B-4EF8-9945-3621C401B7A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465366" y="3837470"/>
            <a:ext cx="1310050" cy="959003"/>
          </a:xfrm>
        </p:spPr>
        <p:txBody>
          <a:bodyPr>
            <a:noAutofit/>
          </a:bodyPr>
          <a:lstStyle>
            <a:lvl1pPr marL="0" indent="0" algn="ctr">
              <a:buNone/>
              <a:defRPr sz="1200"/>
            </a:lvl1pPr>
            <a:lvl3pPr algn="ctr">
              <a:defRPr sz="1200"/>
            </a:lvl3pPr>
            <a:lvl5pPr marL="1828800" indent="0">
              <a:buNone/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A669C074-A9BE-4B07-ACEE-3B34AAC8B9E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48424" y="3837470"/>
            <a:ext cx="1310050" cy="959003"/>
          </a:xfrm>
        </p:spPr>
        <p:txBody>
          <a:bodyPr>
            <a:noAutofit/>
          </a:bodyPr>
          <a:lstStyle>
            <a:lvl1pPr marL="0" indent="0" algn="ctr">
              <a:buNone/>
              <a:defRPr sz="1200"/>
            </a:lvl1pPr>
            <a:lvl3pPr algn="ctr">
              <a:defRPr sz="1200"/>
            </a:lvl3pPr>
            <a:lvl5pPr marL="1828800" indent="0">
              <a:buNone/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A40D78-D6DD-41A7-A132-9D48DF8649A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382308" y="3837470"/>
            <a:ext cx="1310050" cy="959003"/>
          </a:xfrm>
        </p:spPr>
        <p:txBody>
          <a:bodyPr>
            <a:noAutofit/>
          </a:bodyPr>
          <a:lstStyle>
            <a:lvl1pPr marL="0" indent="0" algn="ctr">
              <a:buNone/>
              <a:defRPr sz="1200"/>
            </a:lvl1pPr>
            <a:lvl3pPr algn="ctr">
              <a:defRPr sz="1200"/>
            </a:lvl3pPr>
            <a:lvl5pPr marL="1828800" indent="0">
              <a:buNone/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4A9CFAA7-850F-4C92-A9BE-56452E5CA04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99250" y="3837470"/>
            <a:ext cx="1310050" cy="959003"/>
          </a:xfrm>
        </p:spPr>
        <p:txBody>
          <a:bodyPr>
            <a:noAutofit/>
          </a:bodyPr>
          <a:lstStyle>
            <a:lvl1pPr marL="0" indent="0" algn="ctr">
              <a:buNone/>
              <a:defRPr sz="1200"/>
            </a:lvl1pPr>
            <a:lvl3pPr algn="ctr">
              <a:defRPr sz="1200"/>
            </a:lvl3pPr>
            <a:lvl5pPr marL="1828800" indent="0">
              <a:buNone/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C5A0CF1-9FE7-4149-97DC-5221639144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-185517" y="1242483"/>
            <a:ext cx="504000" cy="0"/>
          </a:xfrm>
          <a:prstGeom prst="line">
            <a:avLst/>
          </a:prstGeom>
          <a:ln w="127000" cap="sq">
            <a:solidFill>
              <a:schemeClr val="accent3"/>
            </a:solidFill>
            <a:miter lim="800000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936392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7326" y="995967"/>
            <a:ext cx="6238874" cy="1260000"/>
          </a:xfrm>
        </p:spPr>
        <p:txBody>
          <a:bodyPr anchor="ctr" anchorCtr="0">
            <a:noAutofit/>
          </a:bodyPr>
          <a:lstStyle>
            <a:lvl1pPr algn="r">
              <a:defRPr sz="3000" b="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 bwMode="blackGray">
          <a:xfrm>
            <a:off x="8014200" y="995968"/>
            <a:ext cx="3492000" cy="4866064"/>
          </a:xfrm>
          <a:prstGeom prst="roundRect">
            <a:avLst>
              <a:gd name="adj" fmla="val 2371"/>
            </a:avLst>
          </a:prstGeom>
          <a:solidFill>
            <a:schemeClr val="bg2">
              <a:lumMod val="75000"/>
              <a:lumOff val="25000"/>
            </a:schemeClr>
          </a:solidFill>
          <a:ln w="28575" cap="sq" cmpd="sng">
            <a:solidFill>
              <a:schemeClr val="accent3">
                <a:lumMod val="50000"/>
              </a:schemeClr>
            </a:solidFill>
            <a:miter lim="800000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85849" y="2255967"/>
            <a:ext cx="6610351" cy="3476618"/>
          </a:xfrm>
        </p:spPr>
        <p:txBody>
          <a:bodyPr anchor="t">
            <a:normAutofit/>
          </a:bodyPr>
          <a:lstStyle>
            <a:lvl1pPr marL="0" indent="0" algn="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B7D2A-0DF8-424B-9572-B79AEBB2D9DC}" type="datetimeFigureOut">
              <a:rPr lang="en-US" noProof="0" smtClean="0"/>
              <a:t>10/18/2025</a:t>
            </a:fld>
            <a:endParaRPr lang="en-US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9DD2A-B520-4620-9B43-64B657BA2D42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9693825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Righ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57974" y="995968"/>
            <a:ext cx="4848225" cy="1260000"/>
          </a:xfrm>
        </p:spPr>
        <p:txBody>
          <a:bodyPr anchor="ctr" anchorCtr="0">
            <a:normAutofit/>
          </a:bodyPr>
          <a:lstStyle>
            <a:lvl1pPr algn="l">
              <a:defRPr sz="3000" b="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 bwMode="blackGray">
          <a:xfrm>
            <a:off x="727574" y="914400"/>
            <a:ext cx="5749425" cy="4818185"/>
          </a:xfrm>
          <a:prstGeom prst="roundRect">
            <a:avLst>
              <a:gd name="adj" fmla="val 2371"/>
            </a:avLst>
          </a:prstGeom>
          <a:solidFill>
            <a:schemeClr val="bg2">
              <a:lumMod val="75000"/>
              <a:lumOff val="25000"/>
            </a:schemeClr>
          </a:solidFill>
          <a:ln w="28575" cap="sq" cmpd="sng">
            <a:solidFill>
              <a:schemeClr val="accent3">
                <a:lumMod val="50000"/>
              </a:schemeClr>
            </a:solidFill>
            <a:miter lim="800000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57974" y="2255968"/>
            <a:ext cx="4848225" cy="347661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B7D2A-0DF8-424B-9572-B79AEBB2D9DC}" type="datetimeFigureOut">
              <a:rPr lang="en-US" noProof="0" smtClean="0"/>
              <a:t>10/18/2025</a:t>
            </a:fld>
            <a:endParaRPr lang="en-US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9DD2A-B520-4620-9B43-64B657BA2D42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8329592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 bwMode="white">
          <a:xfrm>
            <a:off x="10571243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noProof="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 bwMode="white">
          <a:xfrm>
            <a:off x="100262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noProof="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320801" y="609601"/>
            <a:ext cx="9550399" cy="2743199"/>
          </a:xfrm>
        </p:spPr>
        <p:txBody>
          <a:bodyPr anchor="ctr">
            <a:normAutofit/>
          </a:bodyPr>
          <a:lstStyle>
            <a:lvl1pPr algn="ctr">
              <a:defRPr sz="3000" b="0" i="1" cap="none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26408" y="3352800"/>
            <a:ext cx="9339184" cy="3810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AD7857E-8E0E-4AC1-ABDC-E42462C788DE}"/>
              </a:ext>
            </a:extLst>
          </p:cNvPr>
          <p:cNvSpPr/>
          <p:nvPr userDrawn="1"/>
        </p:nvSpPr>
        <p:spPr>
          <a:xfrm>
            <a:off x="1750844" y="3962401"/>
            <a:ext cx="8690313" cy="1908173"/>
          </a:xfrm>
          <a:prstGeom prst="roundRect">
            <a:avLst>
              <a:gd name="adj" fmla="val 6552"/>
            </a:avLst>
          </a:prstGeom>
          <a:solidFill>
            <a:schemeClr val="accent3">
              <a:alpha val="7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57375" y="4021138"/>
            <a:ext cx="8486775" cy="176053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B7D2A-0DF8-424B-9572-B79AEBB2D9DC}" type="datetimeFigureOut">
              <a:rPr lang="en-US" noProof="0" smtClean="0"/>
              <a:t>10/18/2025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9DD2A-B520-4620-9B43-64B657BA2D42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1534094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>
            <a:extLst>
              <a:ext uri="{FF2B5EF4-FFF2-40B4-BE49-F238E27FC236}">
                <a16:creationId xmlns:a16="http://schemas.microsoft.com/office/drawing/2014/main" id="{A1E35E73-B2F7-41DF-AAD2-58E6BE2710D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599"/>
            <a:ext cx="10840914" cy="1260000"/>
          </a:xfrm>
        </p:spPr>
        <p:txBody>
          <a:bodyPr>
            <a:normAutofit/>
          </a:bodyPr>
          <a:lstStyle>
            <a:lvl1pPr>
              <a:defRPr sz="30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1869599"/>
            <a:ext cx="5202071" cy="916228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1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2870201"/>
            <a:ext cx="5202071" cy="2916000"/>
          </a:xfrm>
          <a:prstGeom prst="roundRect">
            <a:avLst>
              <a:gd name="adj" fmla="val 2496"/>
            </a:avLst>
          </a:prstGeom>
          <a:ln w="28575">
            <a:solidFill>
              <a:schemeClr val="accent3">
                <a:lumMod val="5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anchor="t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8270" y="1869599"/>
            <a:ext cx="5228444" cy="916228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1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8270" y="2870201"/>
            <a:ext cx="5202071" cy="2916000"/>
          </a:xfrm>
          <a:prstGeom prst="roundRect">
            <a:avLst>
              <a:gd name="adj" fmla="val 2798"/>
            </a:avLst>
          </a:prstGeom>
          <a:ln w="28575">
            <a:solidFill>
              <a:schemeClr val="accent3">
                <a:lumMod val="5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anchor="t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B7D2A-0DF8-424B-9572-B79AEBB2D9DC}" type="datetimeFigureOut">
              <a:rPr lang="en-US" noProof="0" smtClean="0"/>
              <a:t>10/18/2025</a:t>
            </a:fld>
            <a:endParaRPr lang="en-US" noProof="0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9DD2A-B520-4620-9B43-64B657BA2D42}" type="slidenum">
              <a:rPr lang="en-US" noProof="0" smtClean="0"/>
              <a:t>‹#›</a:t>
            </a:fld>
            <a:endParaRPr lang="en-US" noProof="0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031B0A9-3E16-4C5B-A6CE-045BCB91A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57150" y="939761"/>
            <a:ext cx="3666" cy="491143"/>
          </a:xfrm>
          <a:prstGeom prst="line">
            <a:avLst/>
          </a:prstGeom>
          <a:ln w="127000" cap="sq">
            <a:solidFill>
              <a:schemeClr val="accent3"/>
            </a:solidFill>
            <a:miter lim="800000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69611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840914" cy="1260000"/>
          </a:xfrm>
        </p:spPr>
        <p:txBody>
          <a:bodyPr>
            <a:normAutofit/>
          </a:bodyPr>
          <a:lstStyle>
            <a:lvl1pPr>
              <a:defRPr sz="30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44449DE-635B-4B23-9B8B-C95A5B8764DB}"/>
              </a:ext>
            </a:extLst>
          </p:cNvPr>
          <p:cNvSpPr/>
          <p:nvPr userDrawn="1"/>
        </p:nvSpPr>
        <p:spPr>
          <a:xfrm>
            <a:off x="663356" y="1790228"/>
            <a:ext cx="10863358" cy="4080348"/>
          </a:xfrm>
          <a:prstGeom prst="roundRect">
            <a:avLst>
              <a:gd name="adj" fmla="val 2634"/>
            </a:avLst>
          </a:prstGeom>
          <a:solidFill>
            <a:schemeClr val="accent3">
              <a:alpha val="7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1869600"/>
            <a:ext cx="5040000" cy="3921601"/>
          </a:xfrm>
          <a:prstGeom prst="roundRect">
            <a:avLst>
              <a:gd name="adj" fmla="val 1970"/>
            </a:avLst>
          </a:prstGeom>
          <a:ln w="28575">
            <a:noFill/>
          </a:ln>
          <a:effectLst/>
        </p:spPr>
        <p:txBody>
          <a:bodyPr anchor="t" anchorCtr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88644" y="1869601"/>
            <a:ext cx="5040000" cy="3921600"/>
          </a:xfrm>
          <a:prstGeom prst="roundRect">
            <a:avLst>
              <a:gd name="adj" fmla="val 2211"/>
            </a:avLst>
          </a:prstGeom>
          <a:ln w="28575">
            <a:noFill/>
          </a:ln>
          <a:effectLst/>
        </p:spPr>
        <p:txBody>
          <a:bodyPr anchor="t" anchorCtr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B7D2A-0DF8-424B-9572-B79AEBB2D9DC}" type="datetimeFigureOut">
              <a:rPr lang="en-US" noProof="0" smtClean="0"/>
              <a:t>10/18/2025</a:t>
            </a:fld>
            <a:endParaRPr lang="en-US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9DD2A-B520-4620-9B43-64B657BA2D42}" type="slidenum">
              <a:rPr lang="en-US" noProof="0" smtClean="0"/>
              <a:t>‹#›</a:t>
            </a:fld>
            <a:endParaRPr lang="en-US" noProof="0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8539E0A-8009-4A6E-A7A1-5AEFA52206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57150" y="996911"/>
            <a:ext cx="3666" cy="491143"/>
          </a:xfrm>
          <a:prstGeom prst="line">
            <a:avLst/>
          </a:prstGeom>
          <a:ln w="127000" cap="sq">
            <a:solidFill>
              <a:schemeClr val="accent3"/>
            </a:solidFill>
            <a:miter lim="800000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3527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85801" y="609601"/>
            <a:ext cx="10840913" cy="3124199"/>
          </a:xfrm>
        </p:spPr>
        <p:txBody>
          <a:bodyPr anchor="ctr">
            <a:normAutofit/>
          </a:bodyPr>
          <a:lstStyle>
            <a:lvl1pPr algn="l">
              <a:defRPr sz="3000" b="0" cap="none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3733800"/>
            <a:ext cx="10840914" cy="2057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B7D2A-0DF8-424B-9572-B79AEBB2D9DC}" type="datetimeFigureOut">
              <a:rPr lang="en-US" noProof="0" smtClean="0"/>
              <a:t>10/18/2025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9DD2A-B520-4620-9B43-64B657BA2D42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833263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840914" cy="1260000"/>
          </a:xfrm>
        </p:spPr>
        <p:txBody>
          <a:bodyPr>
            <a:normAutofit/>
          </a:bodyPr>
          <a:lstStyle>
            <a:lvl1pPr>
              <a:defRPr sz="30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B7D2A-0DF8-424B-9572-B79AEBB2D9DC}" type="datetimeFigureOut">
              <a:rPr lang="en-US" noProof="0" smtClean="0"/>
              <a:t>10/18/2025</a:t>
            </a:fld>
            <a:endParaRPr lang="en-US" noProof="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9DD2A-B520-4620-9B43-64B657BA2D42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5106499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B7D2A-0DF8-424B-9572-B79AEBB2D9DC}" type="datetimeFigureOut">
              <a:rPr lang="en-US" noProof="0" smtClean="0"/>
              <a:t>10/18/2025</a:t>
            </a:fld>
            <a:endParaRPr lang="en-US" noProof="0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9DD2A-B520-4620-9B43-64B657BA2D42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4537065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black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white">
          <a:xfrm>
            <a:off x="685801" y="609600"/>
            <a:ext cx="10840914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white">
          <a:xfrm>
            <a:off x="685801" y="2142067"/>
            <a:ext cx="10840914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984B7D2A-0DF8-424B-9572-B79AEBB2D9DC}" type="datetimeFigureOut">
              <a:rPr lang="en-US" noProof="0" smtClean="0"/>
              <a:t>10/18/2025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59" y="5870575"/>
            <a:ext cx="1260655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D99DD2A-B520-4620-9B43-64B657BA2D42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00906997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2" r:id="rId1"/>
    <p:sldLayoutId id="2147483661" r:id="rId2"/>
    <p:sldLayoutId id="2147483668" r:id="rId3"/>
    <p:sldLayoutId id="2147483679" r:id="rId4"/>
    <p:sldLayoutId id="2147483669" r:id="rId5"/>
    <p:sldLayoutId id="2147483680" r:id="rId6"/>
    <p:sldLayoutId id="2147483672" r:id="rId7"/>
    <p:sldLayoutId id="2147483665" r:id="rId8"/>
    <p:sldLayoutId id="2147483664" r:id="rId9"/>
    <p:sldLayoutId id="2147483671" r:id="rId10"/>
    <p:sldLayoutId id="2147483666" r:id="rId11"/>
    <p:sldLayoutId id="2147483667" r:id="rId12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webp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webp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webp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1D5F843-FAA6-06E6-A67B-37D032F9C712}"/>
              </a:ext>
            </a:extLst>
          </p:cNvPr>
          <p:cNvSpPr txBox="1"/>
          <p:nvPr/>
        </p:nvSpPr>
        <p:spPr>
          <a:xfrm>
            <a:off x="671513" y="449729"/>
            <a:ext cx="357663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Speaker Profile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14E5CF2-37E4-81CF-04DB-F0ABC2613D2B}"/>
              </a:ext>
            </a:extLst>
          </p:cNvPr>
          <p:cNvSpPr txBox="1"/>
          <p:nvPr/>
        </p:nvSpPr>
        <p:spPr>
          <a:xfrm>
            <a:off x="745881" y="1460450"/>
            <a:ext cx="10700238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  <a:latin typeface="Poppins" panose="00000500000000000000" pitchFamily="2" charset="0"/>
                <a:ea typeface="Cambria" panose="02040503050406030204" pitchFamily="18" charset="0"/>
                <a:cs typeface="Poppins" panose="00000500000000000000" pitchFamily="2" charset="0"/>
              </a:rPr>
              <a:t>Name: </a:t>
            </a:r>
            <a:r>
              <a:rPr lang="en-US" sz="1600" dirty="0">
                <a:solidFill>
                  <a:schemeClr val="bg1"/>
                </a:solidFill>
                <a:latin typeface="Poppins" panose="00000500000000000000" pitchFamily="2" charset="0"/>
                <a:ea typeface="Cambria" panose="02040503050406030204" pitchFamily="18" charset="0"/>
                <a:cs typeface="Poppins" panose="00000500000000000000" pitchFamily="2" charset="0"/>
              </a:rPr>
              <a:t>Charaspong Saravisutra (Van)</a:t>
            </a:r>
          </a:p>
          <a:p>
            <a:endParaRPr lang="en-US" sz="1600" b="1" dirty="0">
              <a:solidFill>
                <a:schemeClr val="bg1"/>
              </a:solidFill>
              <a:latin typeface="Poppins" panose="00000500000000000000" pitchFamily="2" charset="0"/>
              <a:ea typeface="Cambria" panose="02040503050406030204" pitchFamily="18" charset="0"/>
              <a:cs typeface="Poppins" panose="00000500000000000000" pitchFamily="2" charset="0"/>
            </a:endParaRPr>
          </a:p>
          <a:p>
            <a:pPr algn="thaiDist"/>
            <a:r>
              <a:rPr lang="en-US" sz="1600" b="1" dirty="0">
                <a:solidFill>
                  <a:schemeClr val="bg1"/>
                </a:solidFill>
                <a:latin typeface="Poppins" panose="00000500000000000000" pitchFamily="2" charset="0"/>
                <a:ea typeface="Cambria" panose="02040503050406030204" pitchFamily="18" charset="0"/>
                <a:cs typeface="Poppins" panose="00000500000000000000" pitchFamily="2" charset="0"/>
              </a:rPr>
              <a:t>Work Experience:</a:t>
            </a:r>
          </a:p>
          <a:p>
            <a:pPr marL="285750" indent="-285750" algn="thaiDist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Poppins" panose="00000500000000000000" pitchFamily="2" charset="0"/>
                <a:ea typeface="Cambria" panose="02040503050406030204" pitchFamily="18" charset="0"/>
                <a:cs typeface="Poppins" panose="00000500000000000000" pitchFamily="2" charset="0"/>
              </a:rPr>
              <a:t>G-Able PCL.</a:t>
            </a:r>
          </a:p>
          <a:p>
            <a:pPr marL="285750" indent="-285750" algn="thaiDist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Poppins" panose="00000500000000000000" pitchFamily="2" charset="0"/>
                <a:ea typeface="Cambria" panose="02040503050406030204" pitchFamily="18" charset="0"/>
                <a:cs typeface="Poppins" panose="00000500000000000000" pitchFamily="2" charset="0"/>
              </a:rPr>
              <a:t>EvMe Plus Co., Ltd.</a:t>
            </a:r>
          </a:p>
          <a:p>
            <a:pPr marL="285750" indent="-285750" algn="thaiDist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Poppins" panose="00000500000000000000" pitchFamily="2" charset="0"/>
                <a:ea typeface="Cambria" panose="02040503050406030204" pitchFamily="18" charset="0"/>
                <a:cs typeface="Poppins" panose="00000500000000000000" pitchFamily="2" charset="0"/>
              </a:rPr>
              <a:t>Major Development PCL.</a:t>
            </a:r>
          </a:p>
          <a:p>
            <a:pPr marL="285750" indent="-285750" algn="thaiDist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Poppins" panose="00000500000000000000" pitchFamily="2" charset="0"/>
                <a:ea typeface="Cambria" panose="02040503050406030204" pitchFamily="18" charset="0"/>
                <a:cs typeface="Poppins" panose="00000500000000000000" pitchFamily="2" charset="0"/>
              </a:rPr>
              <a:t>Tokio Marine Life Insurance PCL.</a:t>
            </a:r>
          </a:p>
          <a:p>
            <a:endParaRPr lang="en-US" sz="1600" b="1" dirty="0">
              <a:solidFill>
                <a:schemeClr val="bg1"/>
              </a:solidFill>
              <a:latin typeface="Poppins" panose="00000500000000000000" pitchFamily="2" charset="0"/>
              <a:ea typeface="Cambria" panose="02040503050406030204" pitchFamily="18" charset="0"/>
              <a:cs typeface="Poppins" panose="00000500000000000000" pitchFamily="2" charset="0"/>
            </a:endParaRPr>
          </a:p>
          <a:p>
            <a:r>
              <a:rPr lang="en-US" sz="1600" b="1" dirty="0">
                <a:solidFill>
                  <a:schemeClr val="bg1"/>
                </a:solidFill>
                <a:latin typeface="Poppins" panose="00000500000000000000" pitchFamily="2" charset="0"/>
                <a:ea typeface="Cambria" panose="02040503050406030204" pitchFamily="18" charset="0"/>
                <a:cs typeface="Poppins" panose="00000500000000000000" pitchFamily="2" charset="0"/>
              </a:rPr>
              <a:t>Other Roles: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Poppins" panose="00000500000000000000" pitchFamily="2" charset="0"/>
                <a:ea typeface="Cambria" panose="02040503050406030204" pitchFamily="18" charset="0"/>
                <a:cs typeface="Poppins" panose="00000500000000000000" pitchFamily="2" charset="0"/>
              </a:rPr>
              <a:t>Chief Strategy and Financial Officer &amp; Co-founder, </a:t>
            </a:r>
            <a:r>
              <a:rPr lang="en-US" sz="1600" dirty="0" err="1">
                <a:solidFill>
                  <a:schemeClr val="bg1"/>
                </a:solidFill>
                <a:latin typeface="Poppins" panose="00000500000000000000" pitchFamily="2" charset="0"/>
                <a:ea typeface="Cambria" panose="02040503050406030204" pitchFamily="18" charset="0"/>
                <a:cs typeface="Poppins" panose="00000500000000000000" pitchFamily="2" charset="0"/>
              </a:rPr>
              <a:t>Dosy</a:t>
            </a:r>
            <a:r>
              <a:rPr lang="en-US" sz="1600" dirty="0">
                <a:solidFill>
                  <a:schemeClr val="bg1"/>
                </a:solidFill>
                <a:latin typeface="Poppins" panose="00000500000000000000" pitchFamily="2" charset="0"/>
                <a:ea typeface="Cambria" panose="02040503050406030204" pitchFamily="18" charset="0"/>
                <a:cs typeface="Poppins" panose="00000500000000000000" pitchFamily="2" charset="0"/>
              </a:rPr>
              <a:t> Health Co., Ltd.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Poppins" panose="00000500000000000000" pitchFamily="2" charset="0"/>
                <a:ea typeface="Cambria" panose="02040503050406030204" pitchFamily="18" charset="0"/>
                <a:cs typeface="Poppins" panose="00000500000000000000" pitchFamily="2" charset="0"/>
              </a:rPr>
              <a:t>Lecturer at Bangkok University (BUSEM), KMITL, KMUTT, UTCC, VRU.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Poppins" panose="00000500000000000000" pitchFamily="2" charset="0"/>
                <a:ea typeface="Cambria" panose="02040503050406030204" pitchFamily="18" charset="0"/>
                <a:cs typeface="Poppins" panose="00000500000000000000" pitchFamily="2" charset="0"/>
              </a:rPr>
              <a:t>Columnist, Matichon (online and printed editions)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Poppins" panose="00000500000000000000" pitchFamily="2" charset="0"/>
                <a:ea typeface="Cambria" panose="02040503050406030204" pitchFamily="18" charset="0"/>
                <a:cs typeface="Poppins" panose="00000500000000000000" pitchFamily="2" charset="0"/>
              </a:rPr>
              <a:t>Management Consultant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68F69E9-71C6-AABC-ABDA-EDC5453D09E9}"/>
              </a:ext>
            </a:extLst>
          </p:cNvPr>
          <p:cNvCxnSpPr/>
          <p:nvPr/>
        </p:nvCxnSpPr>
        <p:spPr>
          <a:xfrm>
            <a:off x="745881" y="1200150"/>
            <a:ext cx="10700238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47C1ED6A-4033-54A5-F124-904BC156EB09}"/>
              </a:ext>
            </a:extLst>
          </p:cNvPr>
          <p:cNvSpPr txBox="1"/>
          <p:nvPr/>
        </p:nvSpPr>
        <p:spPr>
          <a:xfrm>
            <a:off x="745881" y="4926359"/>
            <a:ext cx="9925051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  <a:latin typeface="Poppins" panose="00000500000000000000" pitchFamily="2" charset="0"/>
                <a:ea typeface="Cambria" panose="02040503050406030204" pitchFamily="18" charset="0"/>
                <a:cs typeface="Poppins" panose="00000500000000000000" pitchFamily="2" charset="0"/>
              </a:rPr>
              <a:t>Education: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Poppins" panose="00000500000000000000" pitchFamily="2" charset="0"/>
                <a:ea typeface="Cambria" panose="02040503050406030204" pitchFamily="18" charset="0"/>
                <a:cs typeface="Poppins" panose="00000500000000000000" pitchFamily="2" charset="0"/>
              </a:rPr>
              <a:t>Bachelors in Computer Science, King Mongkut’s University of Technology Thonburi (KMUTT)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Poppins" panose="00000500000000000000" pitchFamily="2" charset="0"/>
                <a:ea typeface="Cambria" panose="02040503050406030204" pitchFamily="18" charset="0"/>
                <a:cs typeface="Poppins" panose="00000500000000000000" pitchFamily="2" charset="0"/>
              </a:rPr>
              <a:t>Master of Business Administration (Finance), University of Wales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Poppins" panose="00000500000000000000" pitchFamily="2" charset="0"/>
                <a:ea typeface="Cambria" panose="02040503050406030204" pitchFamily="18" charset="0"/>
                <a:cs typeface="Poppins" panose="00000500000000000000" pitchFamily="2" charset="0"/>
              </a:rPr>
              <a:t>PhD (student) in Management, National Institute of Development Administration (NIDA)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6CE0747-52E7-E066-A633-A7D6CF90AF1E}"/>
              </a:ext>
            </a:extLst>
          </p:cNvPr>
          <p:cNvSpPr txBox="1"/>
          <p:nvPr/>
        </p:nvSpPr>
        <p:spPr>
          <a:xfrm>
            <a:off x="4591050" y="2177622"/>
            <a:ext cx="32004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thaiDist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Poppins" panose="00000500000000000000" pitchFamily="2" charset="0"/>
                <a:ea typeface="Cambria" panose="02040503050406030204" pitchFamily="18" charset="0"/>
                <a:cs typeface="Poppins" panose="00000500000000000000" pitchFamily="2" charset="0"/>
              </a:rPr>
              <a:t>SCB PCL.</a:t>
            </a:r>
          </a:p>
          <a:p>
            <a:pPr marL="285750" indent="-285750" algn="thaiDist"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chemeClr val="bg1"/>
                </a:solidFill>
                <a:latin typeface="Poppins" panose="00000500000000000000" pitchFamily="2" charset="0"/>
                <a:ea typeface="Cambria" panose="02040503050406030204" pitchFamily="18" charset="0"/>
                <a:cs typeface="Poppins" panose="00000500000000000000" pitchFamily="2" charset="0"/>
              </a:rPr>
              <a:t>Kianakin</a:t>
            </a:r>
            <a:r>
              <a:rPr lang="en-US" sz="1600" dirty="0">
                <a:solidFill>
                  <a:schemeClr val="bg1"/>
                </a:solidFill>
                <a:latin typeface="Poppins" panose="00000500000000000000" pitchFamily="2" charset="0"/>
                <a:ea typeface="Cambria" panose="02040503050406030204" pitchFamily="18" charset="0"/>
                <a:cs typeface="Poppins" panose="00000500000000000000" pitchFamily="2" charset="0"/>
              </a:rPr>
              <a:t> Securities PCL.</a:t>
            </a:r>
          </a:p>
          <a:p>
            <a:pPr marL="285750" indent="-285750" algn="thaiDist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Poppins" panose="00000500000000000000" pitchFamily="2" charset="0"/>
                <a:ea typeface="Cambria" panose="02040503050406030204" pitchFamily="18" charset="0"/>
                <a:cs typeface="Poppins" panose="00000500000000000000" pitchFamily="2" charset="0"/>
              </a:rPr>
              <a:t>Bualuang Securities PCL.</a:t>
            </a:r>
          </a:p>
          <a:p>
            <a:pPr marL="285750" indent="-285750" algn="thaiDist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Poppins" panose="00000500000000000000" pitchFamily="2" charset="0"/>
                <a:ea typeface="Cambria" panose="02040503050406030204" pitchFamily="18" charset="0"/>
                <a:cs typeface="Poppins" panose="00000500000000000000" pitchFamily="2" charset="0"/>
              </a:rPr>
              <a:t>etc.</a:t>
            </a:r>
          </a:p>
        </p:txBody>
      </p:sp>
    </p:spTree>
    <p:extLst>
      <p:ext uri="{BB962C8B-B14F-4D97-AF65-F5344CB8AC3E}">
        <p14:creationId xmlns:p14="http://schemas.microsoft.com/office/powerpoint/2010/main" val="54345746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9E0DF07-9824-5183-B3B8-E0FD91B728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192"/>
            <a:ext cx="12192000" cy="6833616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0DAB7787-0329-BF33-0305-81B30A5FAE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3157749"/>
            <a:ext cx="12192000" cy="2421464"/>
          </a:xfrm>
          <a:solidFill>
            <a:srgbClr val="000000">
              <a:alpha val="50196"/>
            </a:srgbClr>
          </a:solidFill>
        </p:spPr>
        <p:txBody>
          <a:bodyPr anchor="ctr">
            <a:normAutofit/>
          </a:bodyPr>
          <a:lstStyle/>
          <a:p>
            <a:r>
              <a:rPr lang="en-US" sz="5400" b="1" dirty="0">
                <a:latin typeface="Poppins" panose="00000500000000000000" pitchFamily="2" charset="0"/>
                <a:cs typeface="Poppins" panose="00000500000000000000" pitchFamily="2" charset="0"/>
              </a:rPr>
              <a:t>Financial Strategy </a:t>
            </a:r>
            <a:br>
              <a:rPr lang="en-US" sz="5400" b="1" dirty="0"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n-US" sz="5400" b="1" dirty="0">
                <a:latin typeface="Poppins" panose="00000500000000000000" pitchFamily="2" charset="0"/>
                <a:cs typeface="Poppins" panose="00000500000000000000" pitchFamily="2" charset="0"/>
              </a:rPr>
              <a:t>for entrepreneurs</a:t>
            </a:r>
            <a:endParaRPr lang="en-US" sz="40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ADAC60E8-E099-99DE-44C6-B1CE01BDB8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40725" y="5212793"/>
            <a:ext cx="5351275" cy="732840"/>
          </a:xfrm>
          <a:solidFill>
            <a:srgbClr val="000000">
              <a:alpha val="50196"/>
            </a:srgbClr>
          </a:solidFill>
        </p:spPr>
        <p:txBody>
          <a:bodyPr anchor="ctr">
            <a:normAutofit/>
          </a:bodyPr>
          <a:lstStyle/>
          <a:p>
            <a:r>
              <a:rPr lang="en-US" sz="1600" dirty="0">
                <a:latin typeface="Poppins" panose="00000500000000000000" pitchFamily="2" charset="0"/>
                <a:cs typeface="Poppins" panose="00000500000000000000" pitchFamily="2" charset="0"/>
              </a:rPr>
              <a:t>Charaspong Saravisutra</a:t>
            </a:r>
            <a:br>
              <a:rPr lang="en-US" sz="1600" dirty="0"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n-US" sz="1600" dirty="0">
                <a:latin typeface="Poppins" panose="00000500000000000000" pitchFamily="2" charset="0"/>
                <a:cs typeface="Poppins" panose="00000500000000000000" pitchFamily="2" charset="0"/>
              </a:rPr>
              <a:t>19 </a:t>
            </a:r>
            <a:r>
              <a:rPr lang="en-US" sz="1600" dirty="0" err="1">
                <a:latin typeface="Poppins" panose="00000500000000000000" pitchFamily="2" charset="0"/>
                <a:cs typeface="Poppins" panose="00000500000000000000" pitchFamily="2" charset="0"/>
              </a:rPr>
              <a:t>october</a:t>
            </a:r>
            <a:r>
              <a:rPr lang="en-US" sz="1600" dirty="0">
                <a:latin typeface="Poppins" panose="00000500000000000000" pitchFamily="2" charset="0"/>
                <a:cs typeface="Poppins" panose="00000500000000000000" pitchFamily="2" charset="0"/>
              </a:rPr>
              <a:t> 2025</a:t>
            </a:r>
            <a:endParaRPr lang="en-US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590957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649C2F0-92F6-167E-9A3A-C527556EA39F}"/>
              </a:ext>
            </a:extLst>
          </p:cNvPr>
          <p:cNvSpPr txBox="1"/>
          <p:nvPr/>
        </p:nvSpPr>
        <p:spPr>
          <a:xfrm>
            <a:off x="2205037" y="2459504"/>
            <a:ext cx="7781925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60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Financial Strategy </a:t>
            </a:r>
            <a:br>
              <a:rPr lang="en-US" sz="60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n-US" sz="60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for</a:t>
            </a:r>
            <a:r>
              <a:rPr lang="en-US" sz="60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Entrepreneurs</a:t>
            </a:r>
            <a:endParaRPr lang="en-US" sz="6000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F51181D-6FBD-53B4-47D4-57BDA35C693B}"/>
              </a:ext>
            </a:extLst>
          </p:cNvPr>
          <p:cNvSpPr txBox="1"/>
          <p:nvPr/>
        </p:nvSpPr>
        <p:spPr>
          <a:xfrm>
            <a:off x="2419350" y="2449979"/>
            <a:ext cx="386715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000" b="1" dirty="0">
                <a:solidFill>
                  <a:schemeClr val="accent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Financial</a:t>
            </a:r>
            <a:endParaRPr lang="en-US" sz="6000" dirty="0">
              <a:solidFill>
                <a:schemeClr val="accent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1C7261B-9F74-7020-2904-8ADC4B6A5842}"/>
              </a:ext>
            </a:extLst>
          </p:cNvPr>
          <p:cNvSpPr txBox="1"/>
          <p:nvPr/>
        </p:nvSpPr>
        <p:spPr>
          <a:xfrm>
            <a:off x="6193631" y="2449979"/>
            <a:ext cx="386715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000" b="1" dirty="0">
                <a:solidFill>
                  <a:schemeClr val="accent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Strategy</a:t>
            </a:r>
            <a:endParaRPr lang="en-US" sz="6000" dirty="0">
              <a:solidFill>
                <a:schemeClr val="accent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77F3A84-4A17-D24D-62FA-B225B0A5F7C7}"/>
              </a:ext>
            </a:extLst>
          </p:cNvPr>
          <p:cNvSpPr txBox="1"/>
          <p:nvPr/>
        </p:nvSpPr>
        <p:spPr>
          <a:xfrm>
            <a:off x="3800474" y="3373308"/>
            <a:ext cx="5819775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000" b="1" dirty="0">
                <a:solidFill>
                  <a:schemeClr val="accent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Entrepreneurs</a:t>
            </a:r>
            <a:endParaRPr lang="en-US" sz="60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95806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  <p:bldP spid="6" grpId="0"/>
      <p:bldP spid="6" grpId="1"/>
      <p:bldP spid="7" grpId="0"/>
      <p:bldP spid="7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3C7482-914C-A22C-55BE-030D562023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19FDD993-D517-DB4A-D7DA-CC81F6CE1BE8}"/>
              </a:ext>
            </a:extLst>
          </p:cNvPr>
          <p:cNvSpPr/>
          <p:nvPr/>
        </p:nvSpPr>
        <p:spPr>
          <a:xfrm>
            <a:off x="745879" y="2054133"/>
            <a:ext cx="4597647" cy="650966"/>
          </a:xfrm>
          <a:prstGeom prst="rect">
            <a:avLst/>
          </a:prstGeom>
          <a:solidFill>
            <a:schemeClr val="tx1">
              <a:lumMod val="85000"/>
            </a:schemeClr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83C8F5F-C8F0-90D0-41D9-AF46FFD338A1}"/>
              </a:ext>
            </a:extLst>
          </p:cNvPr>
          <p:cNvSpPr txBox="1"/>
          <p:nvPr/>
        </p:nvSpPr>
        <p:spPr>
          <a:xfrm>
            <a:off x="671512" y="449729"/>
            <a:ext cx="393858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Personal Finance</a:t>
            </a:r>
            <a:endParaRPr lang="en-US" sz="3200" dirty="0">
              <a:solidFill>
                <a:schemeClr val="bg1"/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6B24F2C-0407-4EF3-0467-7F14650AD8B0}"/>
              </a:ext>
            </a:extLst>
          </p:cNvPr>
          <p:cNvCxnSpPr/>
          <p:nvPr/>
        </p:nvCxnSpPr>
        <p:spPr>
          <a:xfrm>
            <a:off x="745881" y="1200150"/>
            <a:ext cx="10700238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733DAB98-9ACA-A5C5-FB7C-FD2DE262C18B}"/>
              </a:ext>
            </a:extLst>
          </p:cNvPr>
          <p:cNvSpPr txBox="1"/>
          <p:nvPr/>
        </p:nvSpPr>
        <p:spPr>
          <a:xfrm>
            <a:off x="671512" y="1576572"/>
            <a:ext cx="480719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What can we do with </a:t>
            </a:r>
            <a:r>
              <a:rPr lang="en-US" sz="24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MONEY</a:t>
            </a:r>
            <a:r>
              <a:rPr lang="en-US" sz="24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?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EAC7C90-7DA7-CE44-46F2-FD37DC645249}"/>
              </a:ext>
            </a:extLst>
          </p:cNvPr>
          <p:cNvSpPr txBox="1"/>
          <p:nvPr/>
        </p:nvSpPr>
        <p:spPr>
          <a:xfrm>
            <a:off x="745878" y="2203884"/>
            <a:ext cx="459764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Earn → Use → Save → Invest → Grow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9B8C558-48F0-D0BC-4AE9-54F01586F216}"/>
              </a:ext>
            </a:extLst>
          </p:cNvPr>
          <p:cNvSpPr txBox="1"/>
          <p:nvPr/>
        </p:nvSpPr>
        <p:spPr>
          <a:xfrm>
            <a:off x="6848475" y="1623606"/>
            <a:ext cx="3857625" cy="9720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Which one is hardest?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Which one you are good at?</a:t>
            </a:r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E9C7FB3E-E573-5245-0BBD-3394D25FB0F2}"/>
              </a:ext>
            </a:extLst>
          </p:cNvPr>
          <p:cNvSpPr/>
          <p:nvPr/>
        </p:nvSpPr>
        <p:spPr>
          <a:xfrm>
            <a:off x="5673053" y="1807404"/>
            <a:ext cx="981075" cy="650965"/>
          </a:xfrm>
          <a:prstGeom prst="rightArrow">
            <a:avLst/>
          </a:prstGeom>
          <a:solidFill>
            <a:srgbClr val="184259"/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11539484-5A9B-9D98-751B-923B4D0C18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3572992"/>
              </p:ext>
            </p:extLst>
          </p:nvPr>
        </p:nvGraphicFramePr>
        <p:xfrm>
          <a:off x="745878" y="3202920"/>
          <a:ext cx="10700238" cy="282892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66746">
                  <a:extLst>
                    <a:ext uri="{9D8B030D-6E8A-4147-A177-3AD203B41FA5}">
                      <a16:colId xmlns:a16="http://schemas.microsoft.com/office/drawing/2014/main" val="2965161002"/>
                    </a:ext>
                  </a:extLst>
                </a:gridCol>
                <a:gridCol w="3566746">
                  <a:extLst>
                    <a:ext uri="{9D8B030D-6E8A-4147-A177-3AD203B41FA5}">
                      <a16:colId xmlns:a16="http://schemas.microsoft.com/office/drawing/2014/main" val="3896050198"/>
                    </a:ext>
                  </a:extLst>
                </a:gridCol>
                <a:gridCol w="3566746">
                  <a:extLst>
                    <a:ext uri="{9D8B030D-6E8A-4147-A177-3AD203B41FA5}">
                      <a16:colId xmlns:a16="http://schemas.microsoft.com/office/drawing/2014/main" val="2711063250"/>
                    </a:ext>
                  </a:extLst>
                </a:gridCol>
              </a:tblGrid>
              <a:tr h="471487">
                <a:tc>
                  <a:txBody>
                    <a:bodyPr/>
                    <a:lstStyle/>
                    <a:p>
                      <a:endParaRPr lang="en-US" sz="1600" dirty="0">
                        <a:solidFill>
                          <a:schemeClr val="bg1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Personal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Business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9037767"/>
                  </a:ext>
                </a:extLst>
              </a:tr>
              <a:tr h="471487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Earn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Salary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Revenue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66478225"/>
                  </a:ext>
                </a:extLst>
              </a:tr>
              <a:tr h="471487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Use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Spendings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Cost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57362548"/>
                  </a:ext>
                </a:extLst>
              </a:tr>
              <a:tr h="471487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Save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Savings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Cash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50839985"/>
                  </a:ext>
                </a:extLst>
              </a:tr>
              <a:tr h="471487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Invest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Assets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CAPEX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27989971"/>
                  </a:ext>
                </a:extLst>
              </a:tr>
              <a:tr h="471487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Grow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Business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Profit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065753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4855730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D26390-8520-7E30-BB25-E8E7F0E5D9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2BFCA92-E914-ECD8-145E-2D8F90838FDA}"/>
              </a:ext>
            </a:extLst>
          </p:cNvPr>
          <p:cNvSpPr txBox="1"/>
          <p:nvPr/>
        </p:nvSpPr>
        <p:spPr>
          <a:xfrm>
            <a:off x="671511" y="449729"/>
            <a:ext cx="897582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Top List of Business Key Terms</a:t>
            </a:r>
            <a:endParaRPr lang="en-US" sz="3200" dirty="0">
              <a:solidFill>
                <a:schemeClr val="bg1"/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FE564EC-C8D2-11BD-BEBA-96B7F0DEFF8F}"/>
              </a:ext>
            </a:extLst>
          </p:cNvPr>
          <p:cNvCxnSpPr/>
          <p:nvPr/>
        </p:nvCxnSpPr>
        <p:spPr>
          <a:xfrm>
            <a:off x="745881" y="1200150"/>
            <a:ext cx="10700238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2C689BA-C665-3A8A-3A09-58DB8C990D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4209590"/>
              </p:ext>
            </p:extLst>
          </p:nvPr>
        </p:nvGraphicFramePr>
        <p:xfrm>
          <a:off x="745880" y="1493025"/>
          <a:ext cx="10700238" cy="4866572"/>
        </p:xfrm>
        <a:graphic>
          <a:graphicData uri="http://schemas.openxmlformats.org/drawingml/2006/table">
            <a:tbl>
              <a:tblPr/>
              <a:tblGrid>
                <a:gridCol w="1166810">
                  <a:extLst>
                    <a:ext uri="{9D8B030D-6E8A-4147-A177-3AD203B41FA5}">
                      <a16:colId xmlns:a16="http://schemas.microsoft.com/office/drawing/2014/main" val="2923757490"/>
                    </a:ext>
                  </a:extLst>
                </a:gridCol>
                <a:gridCol w="3565321">
                  <a:extLst>
                    <a:ext uri="{9D8B030D-6E8A-4147-A177-3AD203B41FA5}">
                      <a16:colId xmlns:a16="http://schemas.microsoft.com/office/drawing/2014/main" val="2490249637"/>
                    </a:ext>
                  </a:extLst>
                </a:gridCol>
                <a:gridCol w="5968107">
                  <a:extLst>
                    <a:ext uri="{9D8B030D-6E8A-4147-A177-3AD203B41FA5}">
                      <a16:colId xmlns:a16="http://schemas.microsoft.com/office/drawing/2014/main" val="3159821731"/>
                    </a:ext>
                  </a:extLst>
                </a:gridCol>
              </a:tblGrid>
              <a:tr h="22769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No.</a:t>
                      </a:r>
                      <a:endParaRPr lang="en-US" sz="1400">
                        <a:solidFill>
                          <a:schemeClr val="bg1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35093" marR="35093" marT="17546" marB="17546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Financial Element</a:t>
                      </a:r>
                      <a:endParaRPr lang="en-US" sz="1400" dirty="0">
                        <a:solidFill>
                          <a:schemeClr val="bg1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35093" marR="35093" marT="17546" marB="17546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Meaning / Why It Matters</a:t>
                      </a:r>
                      <a:endParaRPr lang="en-US" sz="1400" dirty="0">
                        <a:solidFill>
                          <a:schemeClr val="bg1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35093" marR="35093" marT="17546" marB="17546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0397011"/>
                  </a:ext>
                </a:extLst>
              </a:tr>
              <a:tr h="35092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0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1</a:t>
                      </a:r>
                    </a:p>
                  </a:txBody>
                  <a:tcPr marL="35093" marR="35093" marT="17546" marB="17546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Revenue (Sales)</a:t>
                      </a:r>
                      <a:endParaRPr lang="en-US" sz="1400">
                        <a:solidFill>
                          <a:schemeClr val="bg1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35093" marR="35093" marT="17546" marB="17546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Total income earned from selling products or services; the primary indicator of business performance.</a:t>
                      </a:r>
                    </a:p>
                  </a:txBody>
                  <a:tcPr marL="35093" marR="35093" marT="17546" marB="17546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3964806"/>
                  </a:ext>
                </a:extLst>
              </a:tr>
              <a:tr h="2456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0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2</a:t>
                      </a:r>
                    </a:p>
                  </a:txBody>
                  <a:tcPr marL="35093" marR="35093" marT="17546" marB="17546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Cost of Goods Sold (COGS)</a:t>
                      </a:r>
                      <a:endParaRPr lang="en-US" sz="1400" dirty="0">
                        <a:solidFill>
                          <a:schemeClr val="bg1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35093" marR="35093" marT="17546" marB="17546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Direct production or service-delivery costs; used to calculate gross profit.</a:t>
                      </a:r>
                    </a:p>
                  </a:txBody>
                  <a:tcPr marL="35093" marR="35093" marT="17546" marB="17546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6620915"/>
                  </a:ext>
                </a:extLst>
              </a:tr>
              <a:tr h="35092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0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3</a:t>
                      </a:r>
                    </a:p>
                  </a:txBody>
                  <a:tcPr marL="35093" marR="35093" marT="17546" marB="17546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Gross Profit</a:t>
                      </a:r>
                      <a:endParaRPr lang="en-US" sz="1400" dirty="0">
                        <a:solidFill>
                          <a:schemeClr val="bg1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35093" marR="35093" marT="17546" marB="17546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Revenue minus COGS; shows how much value remains from each sale before covering other costs.</a:t>
                      </a:r>
                    </a:p>
                  </a:txBody>
                  <a:tcPr marL="35093" marR="35093" marT="17546" marB="17546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5465156"/>
                  </a:ext>
                </a:extLst>
              </a:tr>
              <a:tr h="35092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0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4</a:t>
                      </a:r>
                    </a:p>
                  </a:txBody>
                  <a:tcPr marL="35093" marR="35093" marT="17546" marB="17546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Expense</a:t>
                      </a:r>
                      <a:endParaRPr lang="en-US" sz="1400" dirty="0">
                        <a:solidFill>
                          <a:schemeClr val="bg1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35093" marR="35093" marT="17546" marB="17546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All money spent to operate the business, including both fixed and variable costs; affects profitability.</a:t>
                      </a:r>
                    </a:p>
                  </a:txBody>
                  <a:tcPr marL="35093" marR="35093" marT="17546" marB="17546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2168347"/>
                  </a:ext>
                </a:extLst>
              </a:tr>
              <a:tr h="45620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0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5</a:t>
                      </a:r>
                    </a:p>
                  </a:txBody>
                  <a:tcPr marL="35093" marR="35093" marT="17546" marB="17546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Operating Expenses (OPEX)</a:t>
                      </a:r>
                      <a:endParaRPr lang="en-US" sz="1400">
                        <a:solidFill>
                          <a:schemeClr val="bg1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35093" marR="35093" marT="17546" marB="17546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Indirect running costs such as salaries, rent, utilities, and marketing; must be managed efficiently.</a:t>
                      </a:r>
                    </a:p>
                  </a:txBody>
                  <a:tcPr marL="35093" marR="35093" marT="17546" marB="17546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6096136"/>
                  </a:ext>
                </a:extLst>
              </a:tr>
              <a:tr h="35092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0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6</a:t>
                      </a:r>
                    </a:p>
                  </a:txBody>
                  <a:tcPr marL="35093" marR="35093" marT="17546" marB="17546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Operating Profit (EBIT)</a:t>
                      </a:r>
                      <a:endParaRPr lang="en-US" sz="1400">
                        <a:solidFill>
                          <a:schemeClr val="bg1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35093" marR="35093" marT="17546" marB="17546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Profit from core operations before interest and tax; shows how well the business performs operationally.</a:t>
                      </a:r>
                    </a:p>
                  </a:txBody>
                  <a:tcPr marL="35093" marR="35093" marT="17546" marB="17546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2559981"/>
                  </a:ext>
                </a:extLst>
              </a:tr>
              <a:tr h="35092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0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7</a:t>
                      </a:r>
                    </a:p>
                  </a:txBody>
                  <a:tcPr marL="35093" marR="35093" marT="17546" marB="17546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Net Profit (Bottom Line)</a:t>
                      </a:r>
                      <a:endParaRPr lang="en-US" sz="1400">
                        <a:solidFill>
                          <a:schemeClr val="bg1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35093" marR="35093" marT="17546" marB="17546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The final profit after deducting all expenses, interest, and taxes; represents true business success.</a:t>
                      </a:r>
                    </a:p>
                  </a:txBody>
                  <a:tcPr marL="35093" marR="35093" marT="17546" marB="17546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2621151"/>
                  </a:ext>
                </a:extLst>
              </a:tr>
              <a:tr h="35092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0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8</a:t>
                      </a:r>
                    </a:p>
                  </a:txBody>
                  <a:tcPr marL="35093" marR="35093" marT="17546" marB="17546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Cash Flow</a:t>
                      </a:r>
                      <a:endParaRPr lang="en-US" sz="1400">
                        <a:solidFill>
                          <a:schemeClr val="bg1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35093" marR="35093" marT="17546" marB="17546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The actual inflow and outflow of money; vital for paying bills and sustaining operations.</a:t>
                      </a:r>
                    </a:p>
                  </a:txBody>
                  <a:tcPr marL="35093" marR="35093" marT="17546" marB="17546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2746476"/>
                  </a:ext>
                </a:extLst>
              </a:tr>
              <a:tr h="35092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0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9</a:t>
                      </a:r>
                    </a:p>
                  </a:txBody>
                  <a:tcPr marL="35093" marR="35093" marT="17546" marB="17546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Working Capital</a:t>
                      </a:r>
                      <a:endParaRPr lang="en-US" sz="1400">
                        <a:solidFill>
                          <a:schemeClr val="bg1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35093" marR="35093" marT="17546" marB="17546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Current assets minus current liabilities; measures short-term liquidity and stability.</a:t>
                      </a:r>
                    </a:p>
                  </a:txBody>
                  <a:tcPr marL="35093" marR="35093" marT="17546" marB="17546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2942478"/>
                  </a:ext>
                </a:extLst>
              </a:tr>
              <a:tr h="35092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0" dirty="0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10</a:t>
                      </a:r>
                    </a:p>
                  </a:txBody>
                  <a:tcPr marL="35093" marR="35093" marT="17546" marB="17546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Capital Expenditure (CAPEX)</a:t>
                      </a:r>
                      <a:endParaRPr lang="en-US" sz="1400">
                        <a:solidFill>
                          <a:schemeClr val="bg1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35093" marR="35093" marT="17546" marB="17546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Investment in long-term assets (equipment, property, technology) to expand capacity or efficiency.</a:t>
                      </a:r>
                    </a:p>
                  </a:txBody>
                  <a:tcPr marL="35093" marR="35093" marT="17546" marB="17546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93191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390359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B4D77B-1AD5-0B73-8189-79BC2A438D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236870F-6DA5-A802-87C0-C87A4BBD16E2}"/>
              </a:ext>
            </a:extLst>
          </p:cNvPr>
          <p:cNvSpPr txBox="1"/>
          <p:nvPr/>
        </p:nvSpPr>
        <p:spPr>
          <a:xfrm>
            <a:off x="671512" y="449729"/>
            <a:ext cx="582995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Business Terms in Life</a:t>
            </a:r>
            <a:endParaRPr lang="en-US" sz="3200" dirty="0">
              <a:solidFill>
                <a:schemeClr val="bg1"/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241F546-5685-6F80-2670-1F8713A0551D}"/>
              </a:ext>
            </a:extLst>
          </p:cNvPr>
          <p:cNvCxnSpPr/>
          <p:nvPr/>
        </p:nvCxnSpPr>
        <p:spPr>
          <a:xfrm>
            <a:off x="745881" y="1200150"/>
            <a:ext cx="10700238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5C3ADE68-8C90-B341-48AA-673724F16306}"/>
              </a:ext>
            </a:extLst>
          </p:cNvPr>
          <p:cNvSpPr txBox="1"/>
          <p:nvPr/>
        </p:nvSpPr>
        <p:spPr>
          <a:xfrm>
            <a:off x="745881" y="1513861"/>
            <a:ext cx="10031135" cy="28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i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Revenue</a:t>
            </a:r>
            <a:r>
              <a:rPr lang="en-US" sz="20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is </a:t>
            </a:r>
            <a:r>
              <a:rPr lang="en-US" sz="2400" b="1" dirty="0">
                <a:solidFill>
                  <a:schemeClr val="accent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food</a:t>
            </a:r>
            <a:r>
              <a:rPr lang="en-US" sz="20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to feed the business.</a:t>
            </a:r>
          </a:p>
          <a:p>
            <a:pPr>
              <a:lnSpc>
                <a:spcPct val="150000"/>
              </a:lnSpc>
            </a:pPr>
            <a:r>
              <a:rPr lang="en-US" sz="2400" i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Costs and Expenses </a:t>
            </a:r>
            <a:r>
              <a:rPr lang="en-US" sz="20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are the </a:t>
            </a:r>
            <a:r>
              <a:rPr lang="en-US" sz="2400" b="1" dirty="0">
                <a:solidFill>
                  <a:schemeClr val="accent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calories</a:t>
            </a:r>
            <a:r>
              <a:rPr lang="en-US" sz="20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we burn to stay alive.</a:t>
            </a:r>
          </a:p>
          <a:p>
            <a:pPr>
              <a:lnSpc>
                <a:spcPct val="150000"/>
              </a:lnSpc>
            </a:pPr>
            <a:r>
              <a:rPr lang="en-US" sz="2400" i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Profit</a:t>
            </a:r>
            <a:r>
              <a:rPr lang="en-US" sz="20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is the </a:t>
            </a:r>
            <a:r>
              <a:rPr lang="en-US" sz="2400" b="1" dirty="0">
                <a:solidFill>
                  <a:schemeClr val="accent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energy</a:t>
            </a:r>
            <a:r>
              <a:rPr lang="en-US" sz="20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we keep and grow with.</a:t>
            </a:r>
          </a:p>
          <a:p>
            <a:pPr>
              <a:lnSpc>
                <a:spcPct val="150000"/>
              </a:lnSpc>
            </a:pPr>
            <a:r>
              <a:rPr lang="en-US" sz="2400" i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Cash flow </a:t>
            </a:r>
            <a:r>
              <a:rPr lang="en-US" sz="20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is the </a:t>
            </a:r>
            <a:r>
              <a:rPr lang="en-US" sz="2400" b="1" dirty="0">
                <a:solidFill>
                  <a:schemeClr val="accent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blood</a:t>
            </a:r>
            <a:r>
              <a:rPr lang="en-US" sz="20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that carries it all around.</a:t>
            </a:r>
          </a:p>
          <a:p>
            <a:pPr>
              <a:lnSpc>
                <a:spcPct val="150000"/>
              </a:lnSpc>
            </a:pPr>
            <a:r>
              <a:rPr lang="en-US" sz="2400" i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Cash</a:t>
            </a:r>
            <a:r>
              <a:rPr lang="en-US" sz="20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is the </a:t>
            </a:r>
            <a:r>
              <a:rPr lang="en-US" sz="2400" b="1" dirty="0">
                <a:solidFill>
                  <a:schemeClr val="accent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oxygen</a:t>
            </a:r>
            <a:r>
              <a:rPr lang="en-US" sz="20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that keeps us breathing every day.</a:t>
            </a:r>
          </a:p>
        </p:txBody>
      </p:sp>
    </p:spTree>
    <p:extLst>
      <p:ext uri="{BB962C8B-B14F-4D97-AF65-F5344CB8AC3E}">
        <p14:creationId xmlns:p14="http://schemas.microsoft.com/office/powerpoint/2010/main" val="223851028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9EBC20-5062-A329-AF16-67C00A91A9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952D8BA-3A50-5158-1A25-B12B619F68FF}"/>
              </a:ext>
            </a:extLst>
          </p:cNvPr>
          <p:cNvSpPr txBox="1"/>
          <p:nvPr/>
        </p:nvSpPr>
        <p:spPr>
          <a:xfrm>
            <a:off x="671512" y="449729"/>
            <a:ext cx="467201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To </a:t>
            </a:r>
            <a:r>
              <a:rPr lang="en-US" sz="3200" b="1" i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Grow</a:t>
            </a:r>
            <a:r>
              <a:rPr lang="en-US" sz="32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or To </a:t>
            </a:r>
            <a:r>
              <a:rPr lang="en-US" sz="3200" b="1" i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Survive</a:t>
            </a:r>
            <a:endParaRPr lang="en-US" sz="3200" i="1" dirty="0">
              <a:solidFill>
                <a:schemeClr val="bg1"/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D581AAC-3E16-9352-AB7F-4D616302BA73}"/>
              </a:ext>
            </a:extLst>
          </p:cNvPr>
          <p:cNvCxnSpPr/>
          <p:nvPr/>
        </p:nvCxnSpPr>
        <p:spPr>
          <a:xfrm>
            <a:off x="745881" y="1200150"/>
            <a:ext cx="10700238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13790820-852D-B7A6-27FE-E03EC74C0F1A}"/>
              </a:ext>
            </a:extLst>
          </p:cNvPr>
          <p:cNvSpPr/>
          <p:nvPr/>
        </p:nvSpPr>
        <p:spPr>
          <a:xfrm>
            <a:off x="5770885" y="2187355"/>
            <a:ext cx="4597647" cy="650966"/>
          </a:xfrm>
          <a:prstGeom prst="rect">
            <a:avLst/>
          </a:prstGeom>
          <a:solidFill>
            <a:schemeClr val="tx1">
              <a:lumMod val="85000"/>
            </a:schemeClr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B49C96A-BBE6-7E1D-BBB1-C4FB82ECB154}"/>
              </a:ext>
            </a:extLst>
          </p:cNvPr>
          <p:cNvSpPr txBox="1"/>
          <p:nvPr/>
        </p:nvSpPr>
        <p:spPr>
          <a:xfrm>
            <a:off x="1944938" y="2282005"/>
            <a:ext cx="326436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If you want to Grow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F401B8B-E46F-1864-4F16-840C7CEA94EE}"/>
              </a:ext>
            </a:extLst>
          </p:cNvPr>
          <p:cNvSpPr txBox="1"/>
          <p:nvPr/>
        </p:nvSpPr>
        <p:spPr>
          <a:xfrm>
            <a:off x="5770884" y="2312782"/>
            <a:ext cx="459764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Revenue | Cost | Profit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DAE00F7-636A-89B8-1CC1-836AEE7D840F}"/>
              </a:ext>
            </a:extLst>
          </p:cNvPr>
          <p:cNvSpPr/>
          <p:nvPr/>
        </p:nvSpPr>
        <p:spPr>
          <a:xfrm>
            <a:off x="5770885" y="3429000"/>
            <a:ext cx="4597647" cy="650966"/>
          </a:xfrm>
          <a:prstGeom prst="rect">
            <a:avLst/>
          </a:prstGeom>
          <a:solidFill>
            <a:schemeClr val="tx1">
              <a:lumMod val="85000"/>
            </a:schemeClr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19D8135-827E-F7EF-2B80-505E40416805}"/>
              </a:ext>
            </a:extLst>
          </p:cNvPr>
          <p:cNvSpPr txBox="1"/>
          <p:nvPr/>
        </p:nvSpPr>
        <p:spPr>
          <a:xfrm>
            <a:off x="1944938" y="3523650"/>
            <a:ext cx="34491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If you want to Survive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D613BED-5084-9E5F-73D3-2AF47CAF9A1A}"/>
              </a:ext>
            </a:extLst>
          </p:cNvPr>
          <p:cNvSpPr txBox="1"/>
          <p:nvPr/>
        </p:nvSpPr>
        <p:spPr>
          <a:xfrm>
            <a:off x="5770884" y="3554427"/>
            <a:ext cx="459764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Cash Flows</a:t>
            </a:r>
          </a:p>
        </p:txBody>
      </p:sp>
    </p:spTree>
    <p:extLst>
      <p:ext uri="{BB962C8B-B14F-4D97-AF65-F5344CB8AC3E}">
        <p14:creationId xmlns:p14="http://schemas.microsoft.com/office/powerpoint/2010/main" val="3350100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461039-AB40-530D-34C9-CE61B79300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8F12721-36F8-A4CB-BD36-FF438D156D7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-12063" b="15678"/>
          <a:stretch>
            <a:fillRect/>
          </a:stretch>
        </p:blipFill>
        <p:spPr>
          <a:xfrm>
            <a:off x="0" y="-981075"/>
            <a:ext cx="12192000" cy="7839075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440DD0A0-502A-B3F6-84B7-55C043D7D9C7}"/>
              </a:ext>
            </a:extLst>
          </p:cNvPr>
          <p:cNvSpPr txBox="1">
            <a:spLocks/>
          </p:cNvSpPr>
          <p:nvPr/>
        </p:nvSpPr>
        <p:spPr>
          <a:xfrm>
            <a:off x="0" y="3602103"/>
            <a:ext cx="12192000" cy="2580583"/>
          </a:xfrm>
          <a:prstGeom prst="rect">
            <a:avLst/>
          </a:prstGeom>
          <a:solidFill>
            <a:srgbClr val="000000">
              <a:alpha val="50196"/>
            </a:srgbClr>
          </a:solidFill>
        </p:spPr>
        <p:txBody>
          <a:bodyPr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r"/>
            <a:r>
              <a:rPr lang="en-US" sz="5400" b="1" dirty="0">
                <a:latin typeface="Poppins" panose="00000500000000000000" pitchFamily="2" charset="0"/>
                <a:cs typeface="Poppins" panose="00000500000000000000" pitchFamily="2" charset="0"/>
              </a:rPr>
              <a:t>5 Golden financial tips </a:t>
            </a:r>
          </a:p>
          <a:p>
            <a:pPr algn="r"/>
            <a:r>
              <a:rPr lang="en-US" sz="5400" b="1" dirty="0">
                <a:latin typeface="Poppins" panose="00000500000000000000" pitchFamily="2" charset="0"/>
                <a:cs typeface="Poppins" panose="00000500000000000000" pitchFamily="2" charset="0"/>
              </a:rPr>
              <a:t>for entrepreneurs</a:t>
            </a:r>
            <a:endParaRPr lang="en-US" sz="40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724474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B956CA4-3AC6-234D-118E-FADA8C7625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354D1807-D8F2-AE52-6D7C-FF2B4B5812B6}"/>
              </a:ext>
            </a:extLst>
          </p:cNvPr>
          <p:cNvSpPr txBox="1">
            <a:spLocks/>
          </p:cNvSpPr>
          <p:nvPr/>
        </p:nvSpPr>
        <p:spPr>
          <a:xfrm>
            <a:off x="0" y="1865582"/>
            <a:ext cx="12192000" cy="2580583"/>
          </a:xfrm>
          <a:prstGeom prst="rect">
            <a:avLst/>
          </a:prstGeom>
          <a:solidFill>
            <a:srgbClr val="000000">
              <a:alpha val="50196"/>
            </a:srgbClr>
          </a:solidFill>
        </p:spPr>
        <p:txBody>
          <a:bodyPr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sz="5400" b="1" dirty="0">
                <a:latin typeface="Poppins" panose="00000500000000000000" pitchFamily="2" charset="0"/>
                <a:cs typeface="Poppins" panose="00000500000000000000" pitchFamily="2" charset="0"/>
              </a:rPr>
              <a:t>Tip #1: </a:t>
            </a:r>
            <a:br>
              <a:rPr lang="en-US" sz="5400" b="1" dirty="0"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n-US" sz="5400" b="1" dirty="0">
                <a:latin typeface="Poppins" panose="00000500000000000000" pitchFamily="2" charset="0"/>
                <a:cs typeface="Poppins" panose="00000500000000000000" pitchFamily="2" charset="0"/>
              </a:rPr>
              <a:t>If you can’t grow revenue, expand margin instead</a:t>
            </a:r>
            <a:endParaRPr lang="en-US" sz="40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94491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5B5018-F15F-3812-519B-39602DD999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4616D38-94E4-285F-3780-32F39B51A1F5}"/>
              </a:ext>
            </a:extLst>
          </p:cNvPr>
          <p:cNvSpPr txBox="1"/>
          <p:nvPr/>
        </p:nvSpPr>
        <p:spPr>
          <a:xfrm>
            <a:off x="3047301" y="3246431"/>
            <a:ext cx="60946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1. If you can’t grow revenue, expand your margin instead.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149DD07-8440-46B9-57DB-2C24323CE0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98" y="0"/>
            <a:ext cx="12192000" cy="68580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4729E7B9-B5AE-1476-CF0A-1A1F17617FD8}"/>
              </a:ext>
            </a:extLst>
          </p:cNvPr>
          <p:cNvSpPr txBox="1">
            <a:spLocks/>
          </p:cNvSpPr>
          <p:nvPr/>
        </p:nvSpPr>
        <p:spPr>
          <a:xfrm>
            <a:off x="0" y="1865582"/>
            <a:ext cx="12192000" cy="2580583"/>
          </a:xfrm>
          <a:prstGeom prst="rect">
            <a:avLst/>
          </a:prstGeom>
          <a:solidFill>
            <a:srgbClr val="000000">
              <a:alpha val="50196"/>
            </a:srgbClr>
          </a:solidFill>
        </p:spPr>
        <p:txBody>
          <a:bodyPr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sz="5400" b="1" dirty="0">
                <a:latin typeface="Poppins" panose="00000500000000000000" pitchFamily="2" charset="0"/>
                <a:cs typeface="Poppins" panose="00000500000000000000" pitchFamily="2" charset="0"/>
              </a:rPr>
              <a:t>Tip #2: </a:t>
            </a:r>
            <a:br>
              <a:rPr lang="en-US" sz="5400" b="1" dirty="0"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n-US" sz="5400" b="1" dirty="0">
                <a:latin typeface="Poppins" panose="00000500000000000000" pitchFamily="2" charset="0"/>
                <a:cs typeface="Poppins" panose="00000500000000000000" pitchFamily="2" charset="0"/>
              </a:rPr>
              <a:t>Always price </a:t>
            </a:r>
          </a:p>
          <a:p>
            <a:pPr algn="ctr"/>
            <a:r>
              <a:rPr lang="en-US" sz="5400" b="1" dirty="0">
                <a:latin typeface="Poppins" panose="00000500000000000000" pitchFamily="2" charset="0"/>
                <a:cs typeface="Poppins" panose="00000500000000000000" pitchFamily="2" charset="0"/>
              </a:rPr>
              <a:t>with margin, not markup</a:t>
            </a:r>
            <a:endParaRPr lang="en-US" sz="40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218428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715471-1FAF-F1C6-54BB-61530691E7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7DEDCE4-28A7-8885-236F-8084C4D15BB3}"/>
              </a:ext>
            </a:extLst>
          </p:cNvPr>
          <p:cNvSpPr txBox="1"/>
          <p:nvPr/>
        </p:nvSpPr>
        <p:spPr>
          <a:xfrm>
            <a:off x="3047301" y="3246431"/>
            <a:ext cx="60946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1. If you can’t grow revenue, expand your margin instead.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0FFC7F5-582E-555F-A131-6D8E31EB74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8E7C444E-A863-8AA7-5587-A2C3C1438C33}"/>
              </a:ext>
            </a:extLst>
          </p:cNvPr>
          <p:cNvSpPr txBox="1">
            <a:spLocks/>
          </p:cNvSpPr>
          <p:nvPr/>
        </p:nvSpPr>
        <p:spPr>
          <a:xfrm>
            <a:off x="0" y="1865582"/>
            <a:ext cx="12192000" cy="2580583"/>
          </a:xfrm>
          <a:prstGeom prst="rect">
            <a:avLst/>
          </a:prstGeom>
          <a:solidFill>
            <a:srgbClr val="000000">
              <a:alpha val="50196"/>
            </a:srgbClr>
          </a:solidFill>
        </p:spPr>
        <p:txBody>
          <a:bodyPr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sz="5400" b="1" dirty="0">
                <a:latin typeface="Poppins" panose="00000500000000000000" pitchFamily="2" charset="0"/>
                <a:cs typeface="Poppins" panose="00000500000000000000" pitchFamily="2" charset="0"/>
              </a:rPr>
              <a:t>Tip #3: </a:t>
            </a:r>
            <a:br>
              <a:rPr lang="en-US" sz="5400" b="1" dirty="0"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n-US" sz="5400" b="1" dirty="0">
                <a:latin typeface="Poppins" panose="00000500000000000000" pitchFamily="2" charset="0"/>
                <a:cs typeface="Poppins" panose="00000500000000000000" pitchFamily="2" charset="0"/>
              </a:rPr>
              <a:t>turn costs </a:t>
            </a:r>
          </a:p>
          <a:p>
            <a:pPr algn="ctr"/>
            <a:r>
              <a:rPr lang="en-US" sz="5400" b="1" dirty="0">
                <a:latin typeface="Poppins" panose="00000500000000000000" pitchFamily="2" charset="0"/>
                <a:cs typeface="Poppins" panose="00000500000000000000" pitchFamily="2" charset="0"/>
              </a:rPr>
              <a:t>into investment</a:t>
            </a:r>
            <a:endParaRPr lang="en-US" sz="40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040661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2DE99F-1F5C-07E8-90A1-91070E4133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09ADBD8-515E-3368-CE90-1AF627C69F14}"/>
              </a:ext>
            </a:extLst>
          </p:cNvPr>
          <p:cNvSpPr txBox="1"/>
          <p:nvPr/>
        </p:nvSpPr>
        <p:spPr>
          <a:xfrm>
            <a:off x="3047301" y="3246431"/>
            <a:ext cx="60946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1. If you can’t grow revenue, expand your margin instead.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128DEE4-DC2D-7BDB-ED1B-1C2E44F83E7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625"/>
          <a:stretch>
            <a:fillRect/>
          </a:stretch>
        </p:blipFill>
        <p:spPr>
          <a:xfrm>
            <a:off x="-1398" y="0"/>
            <a:ext cx="12192000" cy="68580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52D7EE61-02C9-8BD9-250B-51738C7FC7E5}"/>
              </a:ext>
            </a:extLst>
          </p:cNvPr>
          <p:cNvSpPr txBox="1">
            <a:spLocks/>
          </p:cNvSpPr>
          <p:nvPr/>
        </p:nvSpPr>
        <p:spPr>
          <a:xfrm>
            <a:off x="0" y="1865582"/>
            <a:ext cx="12192000" cy="2580583"/>
          </a:xfrm>
          <a:prstGeom prst="rect">
            <a:avLst/>
          </a:prstGeom>
          <a:solidFill>
            <a:srgbClr val="000000">
              <a:alpha val="50196"/>
            </a:srgbClr>
          </a:solidFill>
        </p:spPr>
        <p:txBody>
          <a:bodyPr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sz="5400" b="1" dirty="0">
                <a:latin typeface="Poppins" panose="00000500000000000000" pitchFamily="2" charset="0"/>
                <a:cs typeface="Poppins" panose="00000500000000000000" pitchFamily="2" charset="0"/>
              </a:rPr>
              <a:t>Tip #4: </a:t>
            </a:r>
            <a:br>
              <a:rPr lang="en-US" sz="5400" b="1" dirty="0"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n-US" sz="5400" b="1" dirty="0">
                <a:latin typeface="Poppins" panose="00000500000000000000" pitchFamily="2" charset="0"/>
                <a:cs typeface="Poppins" panose="00000500000000000000" pitchFamily="2" charset="0"/>
              </a:rPr>
              <a:t>Use debt to build,</a:t>
            </a:r>
          </a:p>
          <a:p>
            <a:pPr algn="ctr"/>
            <a:r>
              <a:rPr lang="en-US" sz="5400" b="1" dirty="0">
                <a:latin typeface="Poppins" panose="00000500000000000000" pitchFamily="2" charset="0"/>
                <a:cs typeface="Poppins" panose="00000500000000000000" pitchFamily="2" charset="0"/>
              </a:rPr>
              <a:t>Not to survive</a:t>
            </a:r>
            <a:endParaRPr lang="en-US" sz="40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434013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797AD9-4A8E-1ACC-5B5C-672DFE1E48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380E169-A896-410F-2D55-2D23F086859A}"/>
              </a:ext>
            </a:extLst>
          </p:cNvPr>
          <p:cNvSpPr txBox="1"/>
          <p:nvPr/>
        </p:nvSpPr>
        <p:spPr>
          <a:xfrm>
            <a:off x="3047301" y="3246431"/>
            <a:ext cx="60946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1. If you can’t grow revenue, expand your margin instead.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6A0C14C-5AFD-8A0B-47FC-5B34C57F58C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0000"/>
          <a:stretch>
            <a:fillRect/>
          </a:stretch>
        </p:blipFill>
        <p:spPr>
          <a:xfrm>
            <a:off x="-1398" y="0"/>
            <a:ext cx="12191999" cy="68580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F4B1D68A-02CC-A857-2EA2-FC9784DC6686}"/>
              </a:ext>
            </a:extLst>
          </p:cNvPr>
          <p:cNvSpPr txBox="1">
            <a:spLocks/>
          </p:cNvSpPr>
          <p:nvPr/>
        </p:nvSpPr>
        <p:spPr>
          <a:xfrm>
            <a:off x="0" y="1865582"/>
            <a:ext cx="12192000" cy="2580583"/>
          </a:xfrm>
          <a:prstGeom prst="rect">
            <a:avLst/>
          </a:prstGeom>
          <a:solidFill>
            <a:srgbClr val="000000">
              <a:alpha val="50196"/>
            </a:srgbClr>
          </a:solidFill>
        </p:spPr>
        <p:txBody>
          <a:bodyPr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sz="5400" b="1" dirty="0">
                <a:latin typeface="Poppins" panose="00000500000000000000" pitchFamily="2" charset="0"/>
                <a:cs typeface="Poppins" panose="00000500000000000000" pitchFamily="2" charset="0"/>
              </a:rPr>
              <a:t>Tip #5: </a:t>
            </a:r>
            <a:br>
              <a:rPr lang="en-US" sz="5400" b="1" dirty="0"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n-US" sz="5400" b="1" dirty="0">
                <a:latin typeface="Poppins" panose="00000500000000000000" pitchFamily="2" charset="0"/>
                <a:cs typeface="Poppins" panose="00000500000000000000" pitchFamily="2" charset="0"/>
              </a:rPr>
              <a:t>manage by cash flow,</a:t>
            </a:r>
          </a:p>
          <a:p>
            <a:pPr algn="ctr"/>
            <a:r>
              <a:rPr lang="en-US" sz="5400" b="1" dirty="0">
                <a:latin typeface="Poppins" panose="00000500000000000000" pitchFamily="2" charset="0"/>
                <a:cs typeface="Poppins" panose="00000500000000000000" pitchFamily="2" charset="0"/>
              </a:rPr>
              <a:t>Not by profit</a:t>
            </a:r>
            <a:endParaRPr lang="en-US" sz="40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29803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E88D28-14D4-E81C-AC05-AC35A27698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59F9033-C3D5-6E43-4D3F-954EB46144F3}"/>
              </a:ext>
            </a:extLst>
          </p:cNvPr>
          <p:cNvSpPr txBox="1"/>
          <p:nvPr/>
        </p:nvSpPr>
        <p:spPr>
          <a:xfrm>
            <a:off x="671512" y="449729"/>
            <a:ext cx="467201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Poppins" panose="00000500000000000000" pitchFamily="2" charset="0"/>
              </a:rPr>
              <a:t>Key Takeaway</a:t>
            </a:r>
            <a:endParaRPr lang="en-US" sz="3200" dirty="0">
              <a:solidFill>
                <a:schemeClr val="bg1"/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FBE20C8-4BBA-ECFD-FF1B-D806B387B883}"/>
              </a:ext>
            </a:extLst>
          </p:cNvPr>
          <p:cNvCxnSpPr/>
          <p:nvPr/>
        </p:nvCxnSpPr>
        <p:spPr>
          <a:xfrm>
            <a:off x="745881" y="1200150"/>
            <a:ext cx="10700238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1D392D26-1518-A8B7-A317-2824A9CF1CE5}"/>
              </a:ext>
            </a:extLst>
          </p:cNvPr>
          <p:cNvSpPr txBox="1"/>
          <p:nvPr/>
        </p:nvSpPr>
        <p:spPr>
          <a:xfrm>
            <a:off x="745881" y="1556785"/>
            <a:ext cx="10700238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Imagine that managing a business… </a:t>
            </a:r>
            <a:br>
              <a:rPr lang="en-US" sz="28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n-US" sz="28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…is the same as managing your health.</a:t>
            </a:r>
          </a:p>
          <a:p>
            <a:endParaRPr lang="en-US" sz="24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US" sz="20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If you want to,</a:t>
            </a:r>
            <a:br>
              <a:rPr lang="en-US" sz="20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n-US" sz="20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	…live long, make sure your blood flows well - </a:t>
            </a:r>
            <a:r>
              <a:rPr lang="en-US" sz="2000" i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that’s your cash flow.</a:t>
            </a:r>
            <a:br>
              <a:rPr lang="en-US" sz="20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n-US" sz="20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	…grow strong, make sure you have good food </a:t>
            </a:r>
            <a:r>
              <a:rPr lang="en-US" sz="2000" i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- that’s your revenue </a:t>
            </a:r>
            <a:br>
              <a:rPr lang="en-US" sz="20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n-US" sz="20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	…good oxygen </a:t>
            </a:r>
            <a:r>
              <a:rPr lang="en-US" sz="2000" i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- that’s your cash</a:t>
            </a:r>
            <a:br>
              <a:rPr lang="en-US" sz="20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n-US" sz="20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	…and burn your calories efficiently </a:t>
            </a:r>
            <a:r>
              <a:rPr lang="en-US" sz="2000" i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- that’s your cost management.</a:t>
            </a:r>
          </a:p>
          <a:p>
            <a:endParaRPr lang="en-US" sz="24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US" sz="28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The healthier your financial body, </a:t>
            </a:r>
            <a:br>
              <a:rPr lang="en-US" sz="28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n-US" sz="28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…the longer your business will live.</a:t>
            </a:r>
          </a:p>
        </p:txBody>
      </p:sp>
    </p:spTree>
    <p:extLst>
      <p:ext uri="{BB962C8B-B14F-4D97-AF65-F5344CB8AC3E}">
        <p14:creationId xmlns:p14="http://schemas.microsoft.com/office/powerpoint/2010/main" val="189388140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Default">
      <a:majorFont>
        <a:latin typeface="Corbel"/>
        <a:ea typeface=""/>
        <a:cs typeface=""/>
      </a:majorFont>
      <a:minorFont>
        <a:latin typeface="Corbel"/>
        <a:ea typeface=""/>
        <a:cs typeface="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3">
            <a:shade val="50000"/>
          </a:schemeClr>
        </a:lnRef>
        <a:fillRef idx="1">
          <a:schemeClr val="accent3"/>
        </a:fillRef>
        <a:effectRef idx="0">
          <a:schemeClr val="accent3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tf22736411_win32_fixed.potx" id="{BC2F7F5B-4979-4A54-84D5-4000EC3D9661}" vid="{81E89C45-4B49-4C30-91F6-68DD81BA825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55BBAE8E912AF4389CF4C3AB0E5B7FB" ma:contentTypeVersion="7" ma:contentTypeDescription="Create a new document." ma:contentTypeScope="" ma:versionID="de5bfcbca698a2e864d359ddb55b83d6">
  <xsd:schema xmlns:xsd="http://www.w3.org/2001/XMLSchema" xmlns:xs="http://www.w3.org/2001/XMLSchema" xmlns:p="http://schemas.microsoft.com/office/2006/metadata/properties" xmlns:ns2="07a465c7-951f-4d17-bf42-a560e22f8820" targetNamespace="http://schemas.microsoft.com/office/2006/metadata/properties" ma:root="true" ma:fieldsID="c9226e1cf663299ca2b2a02d9180c49e" ns2:_="">
    <xsd:import namespace="07a465c7-951f-4d17-bf42-a560e22f882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7a465c7-951f-4d17-bf42-a560e22f882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EB5B0A9C-D1DF-4D72-94C3-9B80A09294E8}"/>
</file>

<file path=customXml/itemProps2.xml><?xml version="1.0" encoding="utf-8"?>
<ds:datastoreItem xmlns:ds="http://schemas.openxmlformats.org/officeDocument/2006/customXml" ds:itemID="{ED01A3C2-1ECD-4378-A2DB-D7B3E92EA6A9}"/>
</file>

<file path=customXml/itemProps3.xml><?xml version="1.0" encoding="utf-8"?>
<ds:datastoreItem xmlns:ds="http://schemas.openxmlformats.org/officeDocument/2006/customXml" ds:itemID="{876FF21A-A3FE-40A1-A739-A23E8ADE61F8}"/>
</file>

<file path=docProps/app.xml><?xml version="1.0" encoding="utf-8"?>
<Properties xmlns="http://schemas.openxmlformats.org/officeDocument/2006/extended-properties" xmlns:vt="http://schemas.openxmlformats.org/officeDocument/2006/docPropsVTypes">
  <Template>Famous event in history presentation</Template>
  <TotalTime>2127</TotalTime>
  <Words>712</Words>
  <Application>Microsoft Office PowerPoint</Application>
  <PresentationFormat>Widescreen</PresentationFormat>
  <Paragraphs>116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Corbel</vt:lpstr>
      <vt:lpstr>Poppins</vt:lpstr>
      <vt:lpstr>Celestial</vt:lpstr>
      <vt:lpstr>PowerPoint Presentation</vt:lpstr>
      <vt:lpstr>Financial Strategy  for entrepreneurs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Charaspong Saravisutra</dc:creator>
  <cp:lastModifiedBy>Charaspong Saravisutra</cp:lastModifiedBy>
  <cp:revision>93</cp:revision>
  <dcterms:created xsi:type="dcterms:W3CDTF">2025-02-09T16:41:39Z</dcterms:created>
  <dcterms:modified xsi:type="dcterms:W3CDTF">2025-10-18T13:24:24Z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0x010100355BBAE8E912AF4389CF4C3AB0E5B7FB</vt:lpwstr>
  </property>
</Properties>
</file>