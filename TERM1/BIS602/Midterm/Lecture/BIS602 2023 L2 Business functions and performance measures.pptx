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1.xml" ContentType="application/vnd.openxmlformats-officedocument.presentationml.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notesSlides/notesSlide11.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handoutMasterIdLst>
    <p:handoutMasterId r:id="rId26"/>
  </p:handoutMasterIdLst>
  <p:sldIdLst>
    <p:sldId id="257" r:id="rId2"/>
    <p:sldId id="321" r:id="rId3"/>
    <p:sldId id="333" r:id="rId4"/>
    <p:sldId id="317" r:id="rId5"/>
    <p:sldId id="287" r:id="rId6"/>
    <p:sldId id="319" r:id="rId7"/>
    <p:sldId id="318" r:id="rId8"/>
    <p:sldId id="531" r:id="rId9"/>
    <p:sldId id="320" r:id="rId10"/>
    <p:sldId id="537" r:id="rId11"/>
    <p:sldId id="538" r:id="rId12"/>
    <p:sldId id="534" r:id="rId13"/>
    <p:sldId id="355" r:id="rId14"/>
    <p:sldId id="341" r:id="rId15"/>
    <p:sldId id="347" r:id="rId16"/>
    <p:sldId id="529" r:id="rId17"/>
    <p:sldId id="535" r:id="rId18"/>
    <p:sldId id="365" r:id="rId19"/>
    <p:sldId id="364" r:id="rId20"/>
    <p:sldId id="528" r:id="rId21"/>
    <p:sldId id="527" r:id="rId22"/>
    <p:sldId id="336" r:id="rId23"/>
    <p:sldId id="536" r:id="rId24"/>
  </p:sldIdLst>
  <p:sldSz cx="9144000" cy="6858000" type="screen4x3"/>
  <p:notesSz cx="6858000" cy="9117013"/>
  <p:defaultTextStyle>
    <a:defPPr>
      <a:defRPr lang="en-US"/>
    </a:defPPr>
    <a:lvl1pPr algn="l" rtl="0" eaLnBrk="0" fontAlgn="base" hangingPunct="0">
      <a:spcBef>
        <a:spcPct val="0"/>
      </a:spcBef>
      <a:spcAft>
        <a:spcPct val="0"/>
      </a:spcAft>
      <a:defRPr sz="2800"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2800"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2800"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2800"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2800"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2800"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sz="2800"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sz="2800"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sz="2800"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5726">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9D3CEC-B2DB-B849-996A-7309367ADCD0}" v="78" dt="2024-01-19T09:57:58.9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639" autoAdjust="0"/>
    <p:restoredTop sz="85933" autoAdjust="0"/>
  </p:normalViewPr>
  <p:slideViewPr>
    <p:cSldViewPr snapToObjects="1">
      <p:cViewPr varScale="1">
        <p:scale>
          <a:sx n="92" d="100"/>
          <a:sy n="92" d="100"/>
        </p:scale>
        <p:origin x="904" y="176"/>
      </p:cViewPr>
      <p:guideLst>
        <p:guide orient="horz" pos="2160"/>
        <p:guide pos="2880"/>
      </p:guideLst>
    </p:cSldViewPr>
  </p:slideViewPr>
  <p:outlineViewPr>
    <p:cViewPr>
      <p:scale>
        <a:sx n="33" d="100"/>
        <a:sy n="33" d="100"/>
      </p:scale>
      <p:origin x="0" y="26888"/>
    </p:cViewPr>
  </p:outlineViewPr>
  <p:notesTextViewPr>
    <p:cViewPr>
      <p:scale>
        <a:sx n="100" d="100"/>
        <a:sy n="100" d="100"/>
      </p:scale>
      <p:origin x="0" y="0"/>
    </p:cViewPr>
  </p:notesTextViewPr>
  <p:sorterViewPr>
    <p:cViewPr>
      <p:scale>
        <a:sx n="100" d="100"/>
        <a:sy n="100" d="100"/>
      </p:scale>
      <p:origin x="0" y="0"/>
    </p:cViewPr>
  </p:sorterViewPr>
  <p:notesViewPr>
    <p:cSldViewPr snapToObjects="1">
      <p:cViewPr>
        <p:scale>
          <a:sx n="75" d="100"/>
          <a:sy n="75" d="100"/>
        </p:scale>
        <p:origin x="-3390" y="-402"/>
      </p:cViewPr>
      <p:guideLst>
        <p:guide orient="horz" pos="5726"/>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 Id="rId35" Type="http://schemas.openxmlformats.org/officeDocument/2006/relationships/customXml" Target="../customXml/item3.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UNTHIT WATANAPA" userId="a52ce465-9217-4b23-bc90-8501776bd26f" providerId="ADAL" clId="{0EA6F688-08E7-9F49-AD47-A67AA117324D}"/>
    <pc:docChg chg="custSel modSld">
      <pc:chgData name="BUNTHIT WATANAPA" userId="a52ce465-9217-4b23-bc90-8501776bd26f" providerId="ADAL" clId="{0EA6F688-08E7-9F49-AD47-A67AA117324D}" dt="2023-01-20T05:44:15.782" v="71" actId="478"/>
      <pc:docMkLst>
        <pc:docMk/>
      </pc:docMkLst>
      <pc:sldChg chg="modSp mod">
        <pc:chgData name="BUNTHIT WATANAPA" userId="a52ce465-9217-4b23-bc90-8501776bd26f" providerId="ADAL" clId="{0EA6F688-08E7-9F49-AD47-A67AA117324D}" dt="2023-01-20T05:28:39.880" v="0" actId="207"/>
        <pc:sldMkLst>
          <pc:docMk/>
          <pc:sldMk cId="0" sldId="418"/>
        </pc:sldMkLst>
        <pc:spChg chg="mod">
          <ac:chgData name="BUNTHIT WATANAPA" userId="a52ce465-9217-4b23-bc90-8501776bd26f" providerId="ADAL" clId="{0EA6F688-08E7-9F49-AD47-A67AA117324D}" dt="2023-01-20T05:28:39.880" v="0" actId="207"/>
          <ac:spMkLst>
            <pc:docMk/>
            <pc:sldMk cId="0" sldId="418"/>
            <ac:spMk id="17411" creationId="{A9D5CDF9-0CAD-E78E-9FE8-99058BB7872D}"/>
          </ac:spMkLst>
        </pc:spChg>
      </pc:sldChg>
      <pc:sldChg chg="delSp modSp mod">
        <pc:chgData name="BUNTHIT WATANAPA" userId="a52ce465-9217-4b23-bc90-8501776bd26f" providerId="ADAL" clId="{0EA6F688-08E7-9F49-AD47-A67AA117324D}" dt="2023-01-20T05:44:15.782" v="71" actId="478"/>
        <pc:sldMkLst>
          <pc:docMk/>
          <pc:sldMk cId="235680144" sldId="534"/>
        </pc:sldMkLst>
        <pc:spChg chg="mod">
          <ac:chgData name="BUNTHIT WATANAPA" userId="a52ce465-9217-4b23-bc90-8501776bd26f" providerId="ADAL" clId="{0EA6F688-08E7-9F49-AD47-A67AA117324D}" dt="2023-01-20T05:43:59.953" v="67" actId="20577"/>
          <ac:spMkLst>
            <pc:docMk/>
            <pc:sldMk cId="235680144" sldId="534"/>
            <ac:spMk id="44033" creationId="{8912187C-D027-6F97-9B56-99A47F8FEFDB}"/>
          </ac:spMkLst>
        </pc:spChg>
        <pc:spChg chg="del">
          <ac:chgData name="BUNTHIT WATANAPA" userId="a52ce465-9217-4b23-bc90-8501776bd26f" providerId="ADAL" clId="{0EA6F688-08E7-9F49-AD47-A67AA117324D}" dt="2023-01-20T05:44:15.782" v="71" actId="478"/>
          <ac:spMkLst>
            <pc:docMk/>
            <pc:sldMk cId="235680144" sldId="534"/>
            <ac:spMk id="44034" creationId="{896145D3-F7B2-8D31-2DD9-75EB9BFB5CC3}"/>
          </ac:spMkLst>
        </pc:spChg>
        <pc:picChg chg="mod">
          <ac:chgData name="BUNTHIT WATANAPA" userId="a52ce465-9217-4b23-bc90-8501776bd26f" providerId="ADAL" clId="{0EA6F688-08E7-9F49-AD47-A67AA117324D}" dt="2023-01-20T05:44:11.157" v="70" actId="1036"/>
          <ac:picMkLst>
            <pc:docMk/>
            <pc:sldMk cId="235680144" sldId="534"/>
            <ac:picMk id="44035" creationId="{29A673F3-AB70-BF37-21BF-0BDC81455EA6}"/>
          </ac:picMkLst>
        </pc:picChg>
      </pc:sldChg>
    </pc:docChg>
  </pc:docChgLst>
  <pc:docChgLst>
    <pc:chgData name="BUNTHIT WATANAPA" userId="a52ce465-9217-4b23-bc90-8501776bd26f" providerId="ADAL" clId="{9A9D3CEC-B2DB-B849-996A-7309367ADCD0}"/>
    <pc:docChg chg="custSel addSld delSld modSld sldOrd">
      <pc:chgData name="BUNTHIT WATANAPA" userId="a52ce465-9217-4b23-bc90-8501776bd26f" providerId="ADAL" clId="{9A9D3CEC-B2DB-B849-996A-7309367ADCD0}" dt="2024-01-19T10:04:22.338" v="468" actId="20577"/>
      <pc:docMkLst>
        <pc:docMk/>
      </pc:docMkLst>
      <pc:sldChg chg="ord">
        <pc:chgData name="BUNTHIT WATANAPA" userId="a52ce465-9217-4b23-bc90-8501776bd26f" providerId="ADAL" clId="{9A9D3CEC-B2DB-B849-996A-7309367ADCD0}" dt="2024-01-19T09:50:52.714" v="407" actId="20578"/>
        <pc:sldMkLst>
          <pc:docMk/>
          <pc:sldMk cId="0" sldId="287"/>
        </pc:sldMkLst>
      </pc:sldChg>
      <pc:sldChg chg="addSp delSp modSp mod ord modAnim">
        <pc:chgData name="BUNTHIT WATANAPA" userId="a52ce465-9217-4b23-bc90-8501776bd26f" providerId="ADAL" clId="{9A9D3CEC-B2DB-B849-996A-7309367ADCD0}" dt="2024-01-15T04:45:24.421" v="57" actId="1037"/>
        <pc:sldMkLst>
          <pc:docMk/>
          <pc:sldMk cId="0" sldId="317"/>
        </pc:sldMkLst>
        <pc:spChg chg="mod">
          <ac:chgData name="BUNTHIT WATANAPA" userId="a52ce465-9217-4b23-bc90-8501776bd26f" providerId="ADAL" clId="{9A9D3CEC-B2DB-B849-996A-7309367ADCD0}" dt="2024-01-15T04:45:24.421" v="57" actId="1037"/>
          <ac:spMkLst>
            <pc:docMk/>
            <pc:sldMk cId="0" sldId="317"/>
            <ac:spMk id="13313" creationId="{FEAC4896-8D0E-055D-D102-27ADF487F4D9}"/>
          </ac:spMkLst>
        </pc:spChg>
        <pc:spChg chg="del mod">
          <ac:chgData name="BUNTHIT WATANAPA" userId="a52ce465-9217-4b23-bc90-8501776bd26f" providerId="ADAL" clId="{9A9D3CEC-B2DB-B849-996A-7309367ADCD0}" dt="2024-01-15T04:42:46.593" v="16" actId="478"/>
          <ac:spMkLst>
            <pc:docMk/>
            <pc:sldMk cId="0" sldId="317"/>
            <ac:spMk id="13315" creationId="{06EB2FEE-76C6-A14A-0FE0-5D4A726D42B1}"/>
          </ac:spMkLst>
        </pc:spChg>
        <pc:graphicFrameChg chg="add del mod">
          <ac:chgData name="BUNTHIT WATANAPA" userId="a52ce465-9217-4b23-bc90-8501776bd26f" providerId="ADAL" clId="{9A9D3CEC-B2DB-B849-996A-7309367ADCD0}" dt="2024-01-15T04:41:23.487" v="3" actId="478"/>
          <ac:graphicFrameMkLst>
            <pc:docMk/>
            <pc:sldMk cId="0" sldId="317"/>
            <ac:graphicFrameMk id="2" creationId="{598B4796-BB4E-915D-3053-6205BCFFC38D}"/>
          </ac:graphicFrameMkLst>
        </pc:graphicFrameChg>
        <pc:picChg chg="add mod">
          <ac:chgData name="BUNTHIT WATANAPA" userId="a52ce465-9217-4b23-bc90-8501776bd26f" providerId="ADAL" clId="{9A9D3CEC-B2DB-B849-996A-7309367ADCD0}" dt="2024-01-15T04:43:07.255" v="25" actId="1036"/>
          <ac:picMkLst>
            <pc:docMk/>
            <pc:sldMk cId="0" sldId="317"/>
            <ac:picMk id="4" creationId="{B877FE62-0A4E-C43E-35F1-EA25C71DF57B}"/>
          </ac:picMkLst>
        </pc:picChg>
        <pc:picChg chg="mod">
          <ac:chgData name="BUNTHIT WATANAPA" userId="a52ce465-9217-4b23-bc90-8501776bd26f" providerId="ADAL" clId="{9A9D3CEC-B2DB-B849-996A-7309367ADCD0}" dt="2024-01-15T04:39:13.152" v="1" actId="1076"/>
          <ac:picMkLst>
            <pc:docMk/>
            <pc:sldMk cId="0" sldId="317"/>
            <ac:picMk id="13314" creationId="{129C171D-208D-DE5A-6235-A53CCA292DCE}"/>
          </ac:picMkLst>
        </pc:picChg>
      </pc:sldChg>
      <pc:sldChg chg="ord">
        <pc:chgData name="BUNTHIT WATANAPA" userId="a52ce465-9217-4b23-bc90-8501776bd26f" providerId="ADAL" clId="{9A9D3CEC-B2DB-B849-996A-7309367ADCD0}" dt="2024-01-19T09:50:18.769" v="406" actId="20578"/>
        <pc:sldMkLst>
          <pc:docMk/>
          <pc:sldMk cId="0" sldId="318"/>
        </pc:sldMkLst>
      </pc:sldChg>
      <pc:sldChg chg="ord">
        <pc:chgData name="BUNTHIT WATANAPA" userId="a52ce465-9217-4b23-bc90-8501776bd26f" providerId="ADAL" clId="{9A9D3CEC-B2DB-B849-996A-7309367ADCD0}" dt="2024-01-19T09:51:46.966" v="408" actId="20578"/>
        <pc:sldMkLst>
          <pc:docMk/>
          <pc:sldMk cId="0" sldId="319"/>
        </pc:sldMkLst>
      </pc:sldChg>
      <pc:sldChg chg="del">
        <pc:chgData name="BUNTHIT WATANAPA" userId="a52ce465-9217-4b23-bc90-8501776bd26f" providerId="ADAL" clId="{9A9D3CEC-B2DB-B849-996A-7309367ADCD0}" dt="2024-01-15T04:47:20.805" v="60" actId="2696"/>
        <pc:sldMkLst>
          <pc:docMk/>
          <pc:sldMk cId="0" sldId="322"/>
        </pc:sldMkLst>
      </pc:sldChg>
      <pc:sldChg chg="ord">
        <pc:chgData name="BUNTHIT WATANAPA" userId="a52ce465-9217-4b23-bc90-8501776bd26f" providerId="ADAL" clId="{9A9D3CEC-B2DB-B849-996A-7309367ADCD0}" dt="2024-01-15T04:46:19.968" v="59" actId="20578"/>
        <pc:sldMkLst>
          <pc:docMk/>
          <pc:sldMk cId="0" sldId="333"/>
        </pc:sldMkLst>
      </pc:sldChg>
      <pc:sldChg chg="addSp modSp mod">
        <pc:chgData name="BUNTHIT WATANAPA" userId="a52ce465-9217-4b23-bc90-8501776bd26f" providerId="ADAL" clId="{9A9D3CEC-B2DB-B849-996A-7309367ADCD0}" dt="2024-01-15T06:30:38.362" v="246" actId="948"/>
        <pc:sldMkLst>
          <pc:docMk/>
          <pc:sldMk cId="0" sldId="341"/>
        </pc:sldMkLst>
        <pc:spChg chg="mod">
          <ac:chgData name="BUNTHIT WATANAPA" userId="a52ce465-9217-4b23-bc90-8501776bd26f" providerId="ADAL" clId="{9A9D3CEC-B2DB-B849-996A-7309367ADCD0}" dt="2024-01-15T06:29:54.623" v="240" actId="1035"/>
          <ac:spMkLst>
            <pc:docMk/>
            <pc:sldMk cId="0" sldId="341"/>
            <ac:spMk id="28673" creationId="{3F8A7241-BADB-5D6B-40E5-756984263DA4}"/>
          </ac:spMkLst>
        </pc:spChg>
        <pc:spChg chg="mod">
          <ac:chgData name="BUNTHIT WATANAPA" userId="a52ce465-9217-4b23-bc90-8501776bd26f" providerId="ADAL" clId="{9A9D3CEC-B2DB-B849-996A-7309367ADCD0}" dt="2024-01-15T06:30:25.186" v="245" actId="948"/>
          <ac:spMkLst>
            <pc:docMk/>
            <pc:sldMk cId="0" sldId="341"/>
            <ac:spMk id="28675" creationId="{CD4B44C2-AE21-5F31-38EA-604D553D7AA1}"/>
          </ac:spMkLst>
        </pc:spChg>
        <pc:spChg chg="mod">
          <ac:chgData name="BUNTHIT WATANAPA" userId="a52ce465-9217-4b23-bc90-8501776bd26f" providerId="ADAL" clId="{9A9D3CEC-B2DB-B849-996A-7309367ADCD0}" dt="2024-01-15T06:30:38.362" v="246" actId="948"/>
          <ac:spMkLst>
            <pc:docMk/>
            <pc:sldMk cId="0" sldId="341"/>
            <ac:spMk id="32771" creationId="{7D64CFE5-DCB5-DFD2-8696-DA9E5D775C38}"/>
          </ac:spMkLst>
        </pc:spChg>
        <pc:picChg chg="add mod">
          <ac:chgData name="BUNTHIT WATANAPA" userId="a52ce465-9217-4b23-bc90-8501776bd26f" providerId="ADAL" clId="{9A9D3CEC-B2DB-B849-996A-7309367ADCD0}" dt="2024-01-15T06:29:48.347" v="232" actId="14100"/>
          <ac:picMkLst>
            <pc:docMk/>
            <pc:sldMk cId="0" sldId="341"/>
            <ac:picMk id="2" creationId="{0ED3962D-9338-F446-2CBA-C0BBA38F51C6}"/>
          </ac:picMkLst>
        </pc:picChg>
      </pc:sldChg>
      <pc:sldChg chg="modSp mod">
        <pc:chgData name="BUNTHIT WATANAPA" userId="a52ce465-9217-4b23-bc90-8501776bd26f" providerId="ADAL" clId="{9A9D3CEC-B2DB-B849-996A-7309367ADCD0}" dt="2024-01-19T10:02:59.774" v="462" actId="20577"/>
        <pc:sldMkLst>
          <pc:docMk/>
          <pc:sldMk cId="0" sldId="347"/>
        </pc:sldMkLst>
        <pc:spChg chg="mod">
          <ac:chgData name="BUNTHIT WATANAPA" userId="a52ce465-9217-4b23-bc90-8501776bd26f" providerId="ADAL" clId="{9A9D3CEC-B2DB-B849-996A-7309367ADCD0}" dt="2024-01-19T10:02:59.774" v="462" actId="20577"/>
          <ac:spMkLst>
            <pc:docMk/>
            <pc:sldMk cId="0" sldId="347"/>
            <ac:spMk id="31745" creationId="{DC0D1231-17A8-CF76-F363-EA2167C6BAE5}"/>
          </ac:spMkLst>
        </pc:spChg>
      </pc:sldChg>
      <pc:sldChg chg="ord">
        <pc:chgData name="BUNTHIT WATANAPA" userId="a52ce465-9217-4b23-bc90-8501776bd26f" providerId="ADAL" clId="{9A9D3CEC-B2DB-B849-996A-7309367ADCD0}" dt="2024-01-15T04:48:38.438" v="62" actId="20578"/>
        <pc:sldMkLst>
          <pc:docMk/>
          <pc:sldMk cId="0" sldId="416"/>
        </pc:sldMkLst>
      </pc:sldChg>
      <pc:sldChg chg="addSp modSp mod">
        <pc:chgData name="BUNTHIT WATANAPA" userId="a52ce465-9217-4b23-bc90-8501776bd26f" providerId="ADAL" clId="{9A9D3CEC-B2DB-B849-996A-7309367ADCD0}" dt="2024-01-19T09:57:58.905" v="453" actId="1076"/>
        <pc:sldMkLst>
          <pc:docMk/>
          <pc:sldMk cId="0" sldId="418"/>
        </pc:sldMkLst>
        <pc:spChg chg="add mod">
          <ac:chgData name="BUNTHIT WATANAPA" userId="a52ce465-9217-4b23-bc90-8501776bd26f" providerId="ADAL" clId="{9A9D3CEC-B2DB-B849-996A-7309367ADCD0}" dt="2024-01-19T09:55:42.720" v="450" actId="255"/>
          <ac:spMkLst>
            <pc:docMk/>
            <pc:sldMk cId="0" sldId="418"/>
            <ac:spMk id="2" creationId="{6E3EE7BE-427D-9731-DFBB-15FCA1029CCE}"/>
          </ac:spMkLst>
        </pc:spChg>
        <pc:spChg chg="mod">
          <ac:chgData name="BUNTHIT WATANAPA" userId="a52ce465-9217-4b23-bc90-8501776bd26f" providerId="ADAL" clId="{9A9D3CEC-B2DB-B849-996A-7309367ADCD0}" dt="2024-01-19T09:54:53.976" v="444" actId="14100"/>
          <ac:spMkLst>
            <pc:docMk/>
            <pc:sldMk cId="0" sldId="418"/>
            <ac:spMk id="17411" creationId="{A9D5CDF9-0CAD-E78E-9FE8-99058BB7872D}"/>
          </ac:spMkLst>
        </pc:spChg>
        <pc:picChg chg="add mod">
          <ac:chgData name="BUNTHIT WATANAPA" userId="a52ce465-9217-4b23-bc90-8501776bd26f" providerId="ADAL" clId="{9A9D3CEC-B2DB-B849-996A-7309367ADCD0}" dt="2024-01-19T09:57:58.905" v="453" actId="1076"/>
          <ac:picMkLst>
            <pc:docMk/>
            <pc:sldMk cId="0" sldId="418"/>
            <ac:picMk id="1026" creationId="{55A84B39-1F40-D762-523F-3B8A66A58066}"/>
          </ac:picMkLst>
        </pc:picChg>
      </pc:sldChg>
      <pc:sldChg chg="modSp mod">
        <pc:chgData name="BUNTHIT WATANAPA" userId="a52ce465-9217-4b23-bc90-8501776bd26f" providerId="ADAL" clId="{9A9D3CEC-B2DB-B849-996A-7309367ADCD0}" dt="2024-01-19T10:04:22.338" v="468" actId="20577"/>
        <pc:sldMkLst>
          <pc:docMk/>
          <pc:sldMk cId="0" sldId="529"/>
        </pc:sldMkLst>
        <pc:spChg chg="mod">
          <ac:chgData name="BUNTHIT WATANAPA" userId="a52ce465-9217-4b23-bc90-8501776bd26f" providerId="ADAL" clId="{9A9D3CEC-B2DB-B849-996A-7309367ADCD0}" dt="2024-01-19T10:04:22.338" v="468" actId="20577"/>
          <ac:spMkLst>
            <pc:docMk/>
            <pc:sldMk cId="0" sldId="529"/>
            <ac:spMk id="33793" creationId="{C95A4BD0-5D1A-6ACC-26CD-2250A97919F7}"/>
          </ac:spMkLst>
        </pc:spChg>
      </pc:sldChg>
      <pc:sldChg chg="del mod modShow">
        <pc:chgData name="BUNTHIT WATANAPA" userId="a52ce465-9217-4b23-bc90-8501776bd26f" providerId="ADAL" clId="{9A9D3CEC-B2DB-B849-996A-7309367ADCD0}" dt="2024-01-15T06:30:02.715" v="241" actId="2696"/>
        <pc:sldMkLst>
          <pc:docMk/>
          <pc:sldMk cId="0" sldId="532"/>
        </pc:sldMkLst>
      </pc:sldChg>
      <pc:sldChg chg="add">
        <pc:chgData name="BUNTHIT WATANAPA" userId="a52ce465-9217-4b23-bc90-8501776bd26f" providerId="ADAL" clId="{9A9D3CEC-B2DB-B849-996A-7309367ADCD0}" dt="2024-01-15T06:32:08.387" v="248"/>
        <pc:sldMkLst>
          <pc:docMk/>
          <pc:sldMk cId="235680144" sldId="534"/>
        </pc:sldMkLst>
      </pc:sldChg>
      <pc:sldChg chg="add del">
        <pc:chgData name="BUNTHIT WATANAPA" userId="a52ce465-9217-4b23-bc90-8501776bd26f" providerId="ADAL" clId="{9A9D3CEC-B2DB-B849-996A-7309367ADCD0}" dt="2024-01-15T06:26:41.269" v="194" actId="2696"/>
        <pc:sldMkLst>
          <pc:docMk/>
          <pc:sldMk cId="1929735770" sldId="536"/>
        </pc:sldMkLst>
      </pc:sldChg>
      <pc:sldChg chg="modSp new mod">
        <pc:chgData name="BUNTHIT WATANAPA" userId="a52ce465-9217-4b23-bc90-8501776bd26f" providerId="ADAL" clId="{9A9D3CEC-B2DB-B849-996A-7309367ADCD0}" dt="2024-01-19T09:53:16.931" v="409" actId="20577"/>
        <pc:sldMkLst>
          <pc:docMk/>
          <pc:sldMk cId="3174935403" sldId="536"/>
        </pc:sldMkLst>
        <pc:spChg chg="mod">
          <ac:chgData name="BUNTHIT WATANAPA" userId="a52ce465-9217-4b23-bc90-8501776bd26f" providerId="ADAL" clId="{9A9D3CEC-B2DB-B849-996A-7309367ADCD0}" dt="2024-01-16T07:01:26.819" v="259" actId="20577"/>
          <ac:spMkLst>
            <pc:docMk/>
            <pc:sldMk cId="3174935403" sldId="536"/>
            <ac:spMk id="2" creationId="{10FA60B2-83B2-E538-B4FE-FCC9FF80F02B}"/>
          </ac:spMkLst>
        </pc:spChg>
        <pc:spChg chg="mod">
          <ac:chgData name="BUNTHIT WATANAPA" userId="a52ce465-9217-4b23-bc90-8501776bd26f" providerId="ADAL" clId="{9A9D3CEC-B2DB-B849-996A-7309367ADCD0}" dt="2024-01-19T09:53:16.931" v="409" actId="20577"/>
          <ac:spMkLst>
            <pc:docMk/>
            <pc:sldMk cId="3174935403" sldId="536"/>
            <ac:spMk id="3" creationId="{C1BE31FB-27BF-1C2D-C440-10952AFBD7DA}"/>
          </ac:spMkLst>
        </pc:spChg>
      </pc:sldChg>
      <pc:sldChg chg="add del">
        <pc:chgData name="BUNTHIT WATANAPA" userId="a52ce465-9217-4b23-bc90-8501776bd26f" providerId="ADAL" clId="{9A9D3CEC-B2DB-B849-996A-7309367ADCD0}" dt="2024-01-15T06:26:40.462" v="193" actId="2696"/>
        <pc:sldMkLst>
          <pc:docMk/>
          <pc:sldMk cId="2904426858" sldId="53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7938" name="Rectangle 2">
            <a:extLst>
              <a:ext uri="{FF2B5EF4-FFF2-40B4-BE49-F238E27FC236}">
                <a16:creationId xmlns:a16="http://schemas.microsoft.com/office/drawing/2014/main" id="{E0A0A9A9-FD84-1915-AF90-B2FC86BCEA60}"/>
              </a:ext>
            </a:extLst>
          </p:cNvPr>
          <p:cNvSpPr>
            <a:spLocks noGrp="1" noChangeArrowheads="1"/>
          </p:cNvSpPr>
          <p:nvPr>
            <p:ph type="hdr" sz="quarter"/>
          </p:nvPr>
        </p:nvSpPr>
        <p:spPr bwMode="auto">
          <a:xfrm>
            <a:off x="0" y="0"/>
            <a:ext cx="2971800" cy="4556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effectLst/>
                <a:latin typeface="Arial" charset="0"/>
                <a:ea typeface="+mn-ea"/>
              </a:defRPr>
            </a:lvl1pPr>
          </a:lstStyle>
          <a:p>
            <a:pPr>
              <a:defRPr/>
            </a:pPr>
            <a:endParaRPr lang="en-US"/>
          </a:p>
        </p:txBody>
      </p:sp>
      <p:sp>
        <p:nvSpPr>
          <p:cNvPr id="167939" name="Rectangle 3">
            <a:extLst>
              <a:ext uri="{FF2B5EF4-FFF2-40B4-BE49-F238E27FC236}">
                <a16:creationId xmlns:a16="http://schemas.microsoft.com/office/drawing/2014/main" id="{4CEAEF16-8574-175B-7572-6FD93A9B52BA}"/>
              </a:ext>
            </a:extLst>
          </p:cNvPr>
          <p:cNvSpPr>
            <a:spLocks noGrp="1" noChangeArrowheads="1"/>
          </p:cNvSpPr>
          <p:nvPr>
            <p:ph type="dt" sz="quarter" idx="1"/>
          </p:nvPr>
        </p:nvSpPr>
        <p:spPr bwMode="auto">
          <a:xfrm>
            <a:off x="3886200" y="0"/>
            <a:ext cx="2971800" cy="4556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effectLst/>
                <a:latin typeface="Arial" charset="0"/>
                <a:ea typeface="+mn-ea"/>
              </a:defRPr>
            </a:lvl1pPr>
          </a:lstStyle>
          <a:p>
            <a:pPr>
              <a:defRPr/>
            </a:pPr>
            <a:endParaRPr lang="en-US"/>
          </a:p>
        </p:txBody>
      </p:sp>
      <p:sp>
        <p:nvSpPr>
          <p:cNvPr id="2052" name="Rectangle 6">
            <a:extLst>
              <a:ext uri="{FF2B5EF4-FFF2-40B4-BE49-F238E27FC236}">
                <a16:creationId xmlns:a16="http://schemas.microsoft.com/office/drawing/2014/main" id="{AC2E5712-0FF4-B059-91C2-FF18D90318B0}"/>
              </a:ext>
            </a:extLst>
          </p:cNvPr>
          <p:cNvSpPr>
            <a:spLocks noChangeArrowheads="1"/>
          </p:cNvSpPr>
          <p:nvPr/>
        </p:nvSpPr>
        <p:spPr bwMode="auto">
          <a:xfrm>
            <a:off x="819150" y="8705850"/>
            <a:ext cx="5218113" cy="466725"/>
          </a:xfrm>
          <a:prstGeom prst="rect">
            <a:avLst/>
          </a:prstGeom>
          <a:noFill/>
          <a:ln>
            <a:noFill/>
          </a:ln>
        </p:spPr>
        <p:txBody>
          <a:bodyPr lIns="93315" tIns="46657" rIns="93315" bIns="46657" anchor="b"/>
          <a:lstStyle>
            <a:lvl1pPr defTabSz="933450">
              <a:defRPr sz="2800">
                <a:solidFill>
                  <a:schemeClr val="tx1"/>
                </a:solidFill>
                <a:latin typeface="Arial" panose="020B0604020202020204" pitchFamily="34" charset="0"/>
                <a:ea typeface="MS PGothic" panose="020B0600070205080204" pitchFamily="34" charset="-128"/>
              </a:defRPr>
            </a:lvl1pPr>
            <a:lvl2pPr marL="742950" indent="-285750" defTabSz="933450">
              <a:defRPr sz="2800">
                <a:solidFill>
                  <a:schemeClr val="tx1"/>
                </a:solidFill>
                <a:latin typeface="Arial" panose="020B0604020202020204" pitchFamily="34" charset="0"/>
                <a:ea typeface="MS PGothic" panose="020B0600070205080204" pitchFamily="34" charset="-128"/>
              </a:defRPr>
            </a:lvl2pPr>
            <a:lvl3pPr marL="1143000" indent="-228600" defTabSz="933450">
              <a:defRPr sz="2800">
                <a:solidFill>
                  <a:schemeClr val="tx1"/>
                </a:solidFill>
                <a:latin typeface="Arial" panose="020B0604020202020204" pitchFamily="34" charset="0"/>
                <a:ea typeface="MS PGothic" panose="020B0600070205080204" pitchFamily="34" charset="-128"/>
              </a:defRPr>
            </a:lvl3pPr>
            <a:lvl4pPr marL="1600200" indent="-228600" defTabSz="933450">
              <a:defRPr sz="2800">
                <a:solidFill>
                  <a:schemeClr val="tx1"/>
                </a:solidFill>
                <a:latin typeface="Arial" panose="020B0604020202020204" pitchFamily="34" charset="0"/>
                <a:ea typeface="MS PGothic" panose="020B0600070205080204" pitchFamily="34" charset="-128"/>
              </a:defRPr>
            </a:lvl4pPr>
            <a:lvl5pPr marL="2057400" indent="-228600" defTabSz="933450">
              <a:defRPr sz="2800">
                <a:solidFill>
                  <a:schemeClr val="tx1"/>
                </a:solidFill>
                <a:latin typeface="Arial" panose="020B0604020202020204" pitchFamily="34" charset="0"/>
                <a:ea typeface="MS PGothic" panose="020B0600070205080204" pitchFamily="34" charset="-128"/>
              </a:defRPr>
            </a:lvl5pPr>
            <a:lvl6pPr marL="2514600" indent="-228600" defTabSz="93345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6pPr>
            <a:lvl7pPr marL="2971800" indent="-228600" defTabSz="93345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7pPr>
            <a:lvl8pPr marL="3429000" indent="-228600" defTabSz="93345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8pPr>
            <a:lvl9pPr marL="3886200" indent="-228600" defTabSz="93345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9pPr>
          </a:lstStyle>
          <a:p>
            <a:pPr algn="ctr" eaLnBrk="1" hangingPunct="1">
              <a:defRPr/>
            </a:pPr>
            <a:r>
              <a:rPr lang="en-US" altLang="en-TH" sz="800" i="1">
                <a:latin typeface="Times New Roman" panose="02020603050405020304" pitchFamily="18" charset="0"/>
              </a:rPr>
              <a:t>Basic Marketing – Chapter 6</a:t>
            </a:r>
          </a:p>
          <a:p>
            <a:pPr algn="ctr" eaLnBrk="1" hangingPunct="1">
              <a:defRPr/>
            </a:pPr>
            <a:r>
              <a:rPr lang="en-US" altLang="en-TH" sz="800" i="1">
                <a:latin typeface="Times New Roman" panose="02020603050405020304" pitchFamily="18" charset="0"/>
              </a:rPr>
              <a:t>Handout 6-</a:t>
            </a:r>
            <a:fld id="{E6117881-7E5D-1F42-80BD-068FDC0EB9AA}" type="slidenum">
              <a:rPr lang="en-US" altLang="en-TH" sz="800" i="1" smtClean="0">
                <a:latin typeface="Times New Roman" panose="02020603050405020304" pitchFamily="18" charset="0"/>
              </a:rPr>
              <a:pPr algn="ctr" eaLnBrk="1" hangingPunct="1">
                <a:defRPr/>
              </a:pPr>
              <a:t>‹#›</a:t>
            </a:fld>
            <a:endParaRPr lang="en-US" altLang="en-TH" sz="800" i="1">
              <a:latin typeface="Times New Roman" panose="02020603050405020304" pitchFamily="18"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C9173AF-8A1A-F29C-3493-CDB56A99AB1E}"/>
              </a:ext>
            </a:extLst>
          </p:cNvPr>
          <p:cNvSpPr>
            <a:spLocks noGrp="1" noChangeArrowheads="1"/>
          </p:cNvSpPr>
          <p:nvPr>
            <p:ph type="hdr" sz="quarter"/>
          </p:nvPr>
        </p:nvSpPr>
        <p:spPr bwMode="auto">
          <a:xfrm>
            <a:off x="0" y="0"/>
            <a:ext cx="2971800" cy="4556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effectLst/>
                <a:latin typeface="Times" charset="0"/>
                <a:ea typeface="+mn-ea"/>
              </a:defRPr>
            </a:lvl1pPr>
          </a:lstStyle>
          <a:p>
            <a:pPr>
              <a:defRPr/>
            </a:pPr>
            <a:endParaRPr lang="en-US"/>
          </a:p>
        </p:txBody>
      </p:sp>
      <p:sp>
        <p:nvSpPr>
          <p:cNvPr id="20483" name="Rectangle 3">
            <a:extLst>
              <a:ext uri="{FF2B5EF4-FFF2-40B4-BE49-F238E27FC236}">
                <a16:creationId xmlns:a16="http://schemas.microsoft.com/office/drawing/2014/main" id="{3FC82CEF-7A17-977E-E404-AB7283699423}"/>
              </a:ext>
            </a:extLst>
          </p:cNvPr>
          <p:cNvSpPr>
            <a:spLocks noGrp="1" noChangeArrowheads="1"/>
          </p:cNvSpPr>
          <p:nvPr>
            <p:ph type="dt" idx="1"/>
          </p:nvPr>
        </p:nvSpPr>
        <p:spPr bwMode="auto">
          <a:xfrm>
            <a:off x="3886200" y="0"/>
            <a:ext cx="2971800" cy="4556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effectLst/>
                <a:latin typeface="Times" charset="0"/>
                <a:ea typeface="+mn-ea"/>
              </a:defRPr>
            </a:lvl1pPr>
          </a:lstStyle>
          <a:p>
            <a:pPr>
              <a:defRPr/>
            </a:pPr>
            <a:endParaRPr lang="en-US"/>
          </a:p>
        </p:txBody>
      </p:sp>
      <p:sp>
        <p:nvSpPr>
          <p:cNvPr id="3076" name="Rectangle 4">
            <a:extLst>
              <a:ext uri="{FF2B5EF4-FFF2-40B4-BE49-F238E27FC236}">
                <a16:creationId xmlns:a16="http://schemas.microsoft.com/office/drawing/2014/main" id="{517130F2-97FB-5411-2386-B369DC4601ED}"/>
              </a:ext>
            </a:extLst>
          </p:cNvPr>
          <p:cNvSpPr>
            <a:spLocks noGrp="1" noRot="1" noChangeAspect="1" noChangeArrowheads="1" noTextEdit="1"/>
          </p:cNvSpPr>
          <p:nvPr>
            <p:ph type="sldImg" idx="2"/>
          </p:nvPr>
        </p:nvSpPr>
        <p:spPr bwMode="auto">
          <a:xfrm>
            <a:off x="536575" y="531813"/>
            <a:ext cx="2355850" cy="17668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5" name="Rectangle 5">
            <a:extLst>
              <a:ext uri="{FF2B5EF4-FFF2-40B4-BE49-F238E27FC236}">
                <a16:creationId xmlns:a16="http://schemas.microsoft.com/office/drawing/2014/main" id="{0FADC3CC-F507-E270-3AF1-C604390A7CA0}"/>
              </a:ext>
            </a:extLst>
          </p:cNvPr>
          <p:cNvSpPr>
            <a:spLocks noGrp="1" noChangeArrowheads="1"/>
          </p:cNvSpPr>
          <p:nvPr>
            <p:ph type="body" sz="quarter" idx="3"/>
          </p:nvPr>
        </p:nvSpPr>
        <p:spPr bwMode="auto">
          <a:xfrm>
            <a:off x="914400" y="4330700"/>
            <a:ext cx="5029200" cy="4102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488" name="Rectangle 8">
            <a:extLst>
              <a:ext uri="{FF2B5EF4-FFF2-40B4-BE49-F238E27FC236}">
                <a16:creationId xmlns:a16="http://schemas.microsoft.com/office/drawing/2014/main" id="{43B01B94-DAE4-A1BB-31F3-CECFC8FE6507}"/>
              </a:ext>
            </a:extLst>
          </p:cNvPr>
          <p:cNvSpPr>
            <a:spLocks noGrp="1" noChangeArrowheads="1"/>
          </p:cNvSpPr>
          <p:nvPr>
            <p:ph type="sldNum" sz="quarter" idx="5"/>
          </p:nvPr>
        </p:nvSpPr>
        <p:spPr bwMode="auto">
          <a:xfrm>
            <a:off x="876300" y="8705850"/>
            <a:ext cx="5105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800" i="1">
                <a:latin typeface="Times New Roman" panose="02020603050405020304" pitchFamily="18" charset="0"/>
              </a:defRPr>
            </a:lvl1pPr>
          </a:lstStyle>
          <a:p>
            <a:pPr>
              <a:defRPr/>
            </a:pPr>
            <a:r>
              <a:rPr lang="en-US" altLang="en-TH"/>
              <a:t>Multimedia Lecture Support Package to Accompany Basic Marketing</a:t>
            </a:r>
          </a:p>
          <a:p>
            <a:pPr>
              <a:defRPr/>
            </a:pPr>
            <a:r>
              <a:rPr lang="en-US" altLang="en-TH"/>
              <a:t>Lecture Script 6-</a:t>
            </a:r>
            <a:fld id="{6CBB9B4D-1DC7-9441-90CE-224B4EF53104}" type="slidenum">
              <a:rPr lang="en-US" altLang="en-TH" smtClean="0"/>
              <a:pPr>
                <a:defRPr/>
              </a:pPr>
              <a:t>‹#›</a:t>
            </a:fld>
            <a:endParaRPr lang="en-US" altLang="en-TH"/>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400" kern="1200">
        <a:solidFill>
          <a:schemeClr val="tx1"/>
        </a:solidFill>
        <a:latin typeface="Times New Roman" pitchFamily="18" charset="0"/>
        <a:ea typeface="MS PGothic" panose="020B0600070205080204" pitchFamily="34" charset="-128"/>
        <a:cs typeface="+mn-cs"/>
      </a:defRPr>
    </a:lvl1pPr>
    <a:lvl2pPr marL="457200" algn="l" rtl="0" eaLnBrk="0" fontAlgn="base" hangingPunct="0">
      <a:spcBef>
        <a:spcPct val="30000"/>
      </a:spcBef>
      <a:spcAft>
        <a:spcPct val="0"/>
      </a:spcAft>
      <a:defRPr sz="1400" kern="1200">
        <a:solidFill>
          <a:schemeClr val="tx1"/>
        </a:solidFill>
        <a:latin typeface="Times New Roman" pitchFamily="18" charset="0"/>
        <a:ea typeface="MS PGothic" panose="020B0600070205080204" pitchFamily="34" charset="-128"/>
        <a:cs typeface="+mn-cs"/>
      </a:defRPr>
    </a:lvl2pPr>
    <a:lvl3pPr marL="914400" algn="l" rtl="0" eaLnBrk="0" fontAlgn="base" hangingPunct="0">
      <a:spcBef>
        <a:spcPct val="30000"/>
      </a:spcBef>
      <a:spcAft>
        <a:spcPct val="0"/>
      </a:spcAft>
      <a:defRPr sz="1400" kern="1200">
        <a:solidFill>
          <a:schemeClr val="tx1"/>
        </a:solidFill>
        <a:latin typeface="Times New Roman" pitchFamily="18" charset="0"/>
        <a:ea typeface="MS PGothic" panose="020B0600070205080204" pitchFamily="34" charset="-128"/>
        <a:cs typeface="+mn-cs"/>
      </a:defRPr>
    </a:lvl3pPr>
    <a:lvl4pPr marL="1371600" algn="l" rtl="0" eaLnBrk="0" fontAlgn="base" hangingPunct="0">
      <a:spcBef>
        <a:spcPct val="30000"/>
      </a:spcBef>
      <a:spcAft>
        <a:spcPct val="0"/>
      </a:spcAft>
      <a:defRPr sz="1400" kern="1200">
        <a:solidFill>
          <a:schemeClr val="tx1"/>
        </a:solidFill>
        <a:latin typeface="Times New Roman" pitchFamily="18" charset="0"/>
        <a:ea typeface="MS PGothic" panose="020B0600070205080204" pitchFamily="34" charset="-128"/>
        <a:cs typeface="+mn-cs"/>
      </a:defRPr>
    </a:lvl4pPr>
    <a:lvl5pPr marL="1828800" algn="l" rtl="0" eaLnBrk="0" fontAlgn="base" hangingPunct="0">
      <a:spcBef>
        <a:spcPct val="30000"/>
      </a:spcBef>
      <a:spcAft>
        <a:spcPct val="0"/>
      </a:spcAft>
      <a:defRPr sz="1400" kern="1200">
        <a:solidFill>
          <a:schemeClr val="tx1"/>
        </a:solidFill>
        <a:latin typeface="Times New Roman" pitchFamily="18" charset="0"/>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7">
            <a:extLst>
              <a:ext uri="{FF2B5EF4-FFF2-40B4-BE49-F238E27FC236}">
                <a16:creationId xmlns:a16="http://schemas.microsoft.com/office/drawing/2014/main" id="{9561FF0F-F7FC-4A2B-CE3E-47C348181F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400">
                <a:solidFill>
                  <a:schemeClr val="tx1"/>
                </a:solidFill>
                <a:latin typeface="Times New Roman" panose="02020603050405020304" pitchFamily="18" charset="0"/>
                <a:ea typeface="MS PGothic" panose="020B0600070205080204" pitchFamily="34" charset="-128"/>
              </a:defRPr>
            </a:lvl1pPr>
            <a:lvl2pPr marL="742950" indent="-285750">
              <a:spcBef>
                <a:spcPct val="30000"/>
              </a:spcBef>
              <a:defRPr sz="1400">
                <a:solidFill>
                  <a:schemeClr val="tx1"/>
                </a:solidFill>
                <a:latin typeface="Times New Roman" panose="02020603050405020304" pitchFamily="18" charset="0"/>
                <a:ea typeface="MS PGothic" panose="020B0600070205080204" pitchFamily="34" charset="-128"/>
              </a:defRPr>
            </a:lvl2pPr>
            <a:lvl3pPr marL="1143000" indent="-228600">
              <a:spcBef>
                <a:spcPct val="30000"/>
              </a:spcBef>
              <a:defRPr sz="1400">
                <a:solidFill>
                  <a:schemeClr val="tx1"/>
                </a:solidFill>
                <a:latin typeface="Times New Roman" panose="02020603050405020304" pitchFamily="18" charset="0"/>
                <a:ea typeface="MS PGothic" panose="020B0600070205080204" pitchFamily="34" charset="-128"/>
              </a:defRPr>
            </a:lvl3pPr>
            <a:lvl4pPr marL="1600200" indent="-228600">
              <a:spcBef>
                <a:spcPct val="30000"/>
              </a:spcBef>
              <a:defRPr sz="1400">
                <a:solidFill>
                  <a:schemeClr val="tx1"/>
                </a:solidFill>
                <a:latin typeface="Times New Roman" panose="02020603050405020304" pitchFamily="18" charset="0"/>
                <a:ea typeface="MS PGothic" panose="020B0600070205080204" pitchFamily="34" charset="-128"/>
              </a:defRPr>
            </a:lvl4pPr>
            <a:lvl5pPr marL="2057400" indent="-228600">
              <a:spcBef>
                <a:spcPct val="30000"/>
              </a:spcBef>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spcBef>
                <a:spcPct val="0"/>
              </a:spcBef>
            </a:pPr>
            <a:fld id="{02FFF740-AB6F-5D49-86C8-FD284E3FDD2C}" type="slidenum">
              <a:rPr lang="en-US" altLang="en-US" sz="800" smtClean="0">
                <a:latin typeface="Arial" panose="020B0604020202020204" pitchFamily="34" charset="0"/>
              </a:rPr>
              <a:pPr>
                <a:spcBef>
                  <a:spcPct val="0"/>
                </a:spcBef>
              </a:pPr>
              <a:t>2</a:t>
            </a:fld>
            <a:endParaRPr lang="en-US" altLang="en-US" sz="800">
              <a:latin typeface="Arial" panose="020B0604020202020204" pitchFamily="34" charset="0"/>
            </a:endParaRPr>
          </a:p>
        </p:txBody>
      </p:sp>
      <p:sp>
        <p:nvSpPr>
          <p:cNvPr id="7170" name="Rectangle 2">
            <a:extLst>
              <a:ext uri="{FF2B5EF4-FFF2-40B4-BE49-F238E27FC236}">
                <a16:creationId xmlns:a16="http://schemas.microsoft.com/office/drawing/2014/main" id="{72DE5AA4-3A5B-AA28-7C1F-ED7A7E666D88}"/>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CE3AC7BC-8D54-E2B3-27F0-2D471374AB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90500" lvl="1" indent="-190500" eaLnBrk="1" hangingPunct="1"/>
            <a:r>
              <a:rPr lang="en-US" altLang="en-US"/>
              <a:t>A detailed review of the learning outcomes can be found at the end of the chapter in the textbook</a:t>
            </a:r>
          </a:p>
        </p:txBody>
      </p:sp>
      <p:sp>
        <p:nvSpPr>
          <p:cNvPr id="65541" name="Header Placeholder 1">
            <a:extLst>
              <a:ext uri="{FF2B5EF4-FFF2-40B4-BE49-F238E27FC236}">
                <a16:creationId xmlns:a16="http://schemas.microsoft.com/office/drawing/2014/main" id="{2F224B88-600B-6AA6-B25C-2CDAE3C0056B}"/>
              </a:ext>
            </a:extLst>
          </p:cNvPr>
          <p:cNvSpPr>
            <a:spLocks noGrp="1"/>
          </p:cNvSpPr>
          <p:nvPr>
            <p:ph type="hdr" sz="quarter"/>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defRPr/>
            </a:pP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a:extLst>
              <a:ext uri="{FF2B5EF4-FFF2-40B4-BE49-F238E27FC236}">
                <a16:creationId xmlns:a16="http://schemas.microsoft.com/office/drawing/2014/main" id="{9CC97389-6030-4F68-07CD-CAD90DB7E08D}"/>
              </a:ext>
            </a:extLst>
          </p:cNvPr>
          <p:cNvSpPr>
            <a:spLocks noGrp="1" noRot="1" noChangeAspect="1" noChangeArrowheads="1" noTextEdit="1"/>
          </p:cNvSpPr>
          <p:nvPr>
            <p:ph type="sldImg"/>
          </p:nvPr>
        </p:nvSpPr>
        <p:spPr>
          <a:ln/>
        </p:spPr>
      </p:sp>
      <p:sp>
        <p:nvSpPr>
          <p:cNvPr id="14338" name="Notes Placeholder 2">
            <a:extLst>
              <a:ext uri="{FF2B5EF4-FFF2-40B4-BE49-F238E27FC236}">
                <a16:creationId xmlns:a16="http://schemas.microsoft.com/office/drawing/2014/main" id="{FB8009DE-6508-C6A8-75A5-F5D6BDAA18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If an organization wants to decrease its buyer’s or customer’s power, it can construct its value chain activity of “service after the sale” by offering high levels of quality customer service</a:t>
            </a:r>
          </a:p>
          <a:p>
            <a:pPr eaLnBrk="1" hangingPunct="1"/>
            <a:r>
              <a:rPr lang="en-US" altLang="en-US"/>
              <a:t>This will increase the switching costs for its customers, thereby decreasing their power (buyer power)</a:t>
            </a:r>
          </a:p>
          <a:p>
            <a:endParaRPr lang="en-US" altLang="en-US"/>
          </a:p>
        </p:txBody>
      </p:sp>
      <p:sp>
        <p:nvSpPr>
          <p:cNvPr id="14339" name="Slide Number Placeholder 3">
            <a:extLst>
              <a:ext uri="{FF2B5EF4-FFF2-40B4-BE49-F238E27FC236}">
                <a16:creationId xmlns:a16="http://schemas.microsoft.com/office/drawing/2014/main" id="{8D45FDF3-BA43-F5B2-A37D-6E32FBEB0F5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panose="020B0604020202020204" pitchFamily="34" charset="0"/>
                <a:ea typeface="MS PGothic" panose="020B0600070205080204" pitchFamily="34" charset="-128"/>
              </a:defRPr>
            </a:lvl1pPr>
            <a:lvl2pPr marL="742950" indent="-285750">
              <a:defRPr sz="2800">
                <a:solidFill>
                  <a:schemeClr val="tx1"/>
                </a:solidFill>
                <a:latin typeface="Arial" panose="020B0604020202020204" pitchFamily="34" charset="0"/>
                <a:ea typeface="MS PGothic" panose="020B0600070205080204" pitchFamily="34" charset="-128"/>
              </a:defRPr>
            </a:lvl2pPr>
            <a:lvl3pPr marL="1143000" indent="-228600">
              <a:defRPr sz="2800">
                <a:solidFill>
                  <a:schemeClr val="tx1"/>
                </a:solidFill>
                <a:latin typeface="Arial" panose="020B0604020202020204" pitchFamily="34" charset="0"/>
                <a:ea typeface="MS PGothic" panose="020B0600070205080204" pitchFamily="34" charset="-128"/>
              </a:defRPr>
            </a:lvl3pPr>
            <a:lvl4pPr marL="1600200" indent="-228600">
              <a:defRPr sz="2800">
                <a:solidFill>
                  <a:schemeClr val="tx1"/>
                </a:solidFill>
                <a:latin typeface="Arial" panose="020B0604020202020204" pitchFamily="34" charset="0"/>
                <a:ea typeface="MS PGothic" panose="020B0600070205080204" pitchFamily="34" charset="-128"/>
              </a:defRPr>
            </a:lvl4pPr>
            <a:lvl5pPr marL="2057400" indent="-228600">
              <a:defRPr sz="28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9pPr>
          </a:lstStyle>
          <a:p>
            <a:fld id="{A0F5B181-F2A6-3746-82E9-8A5D603D13A5}" type="slidenum">
              <a:rPr lang="en-US" altLang="en-US" sz="800" smtClean="0">
                <a:latin typeface="Times New Roman" panose="02020603050405020304" pitchFamily="18" charset="0"/>
              </a:rPr>
              <a:pPr/>
              <a:t>4</a:t>
            </a:fld>
            <a:endParaRPr lang="en-US" altLang="en-US" sz="80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C07417E4-1587-1E7B-368F-29F633DC230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400">
                <a:solidFill>
                  <a:schemeClr val="tx1"/>
                </a:solidFill>
                <a:latin typeface="Times New Roman" panose="02020603050405020304" pitchFamily="18" charset="0"/>
                <a:ea typeface="MS PGothic" panose="020B0600070205080204" pitchFamily="34" charset="-128"/>
              </a:defRPr>
            </a:lvl1pPr>
            <a:lvl2pPr marL="742950" indent="-285750">
              <a:spcBef>
                <a:spcPct val="30000"/>
              </a:spcBef>
              <a:defRPr sz="1400">
                <a:solidFill>
                  <a:schemeClr val="tx1"/>
                </a:solidFill>
                <a:latin typeface="Times New Roman" panose="02020603050405020304" pitchFamily="18" charset="0"/>
                <a:ea typeface="MS PGothic" panose="020B0600070205080204" pitchFamily="34" charset="-128"/>
              </a:defRPr>
            </a:lvl2pPr>
            <a:lvl3pPr marL="1143000" indent="-228600">
              <a:spcBef>
                <a:spcPct val="30000"/>
              </a:spcBef>
              <a:defRPr sz="1400">
                <a:solidFill>
                  <a:schemeClr val="tx1"/>
                </a:solidFill>
                <a:latin typeface="Times New Roman" panose="02020603050405020304" pitchFamily="18" charset="0"/>
                <a:ea typeface="MS PGothic" panose="020B0600070205080204" pitchFamily="34" charset="-128"/>
              </a:defRPr>
            </a:lvl3pPr>
            <a:lvl4pPr marL="1600200" indent="-228600">
              <a:spcBef>
                <a:spcPct val="30000"/>
              </a:spcBef>
              <a:defRPr sz="1400">
                <a:solidFill>
                  <a:schemeClr val="tx1"/>
                </a:solidFill>
                <a:latin typeface="Times New Roman" panose="02020603050405020304" pitchFamily="18" charset="0"/>
                <a:ea typeface="MS PGothic" panose="020B0600070205080204" pitchFamily="34" charset="-128"/>
              </a:defRPr>
            </a:lvl4pPr>
            <a:lvl5pPr marL="2057400" indent="-228600">
              <a:spcBef>
                <a:spcPct val="30000"/>
              </a:spcBef>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spcBef>
                <a:spcPct val="0"/>
              </a:spcBef>
            </a:pPr>
            <a:fld id="{281BC81B-DD5A-C841-81A8-685647D8E8F4}" type="slidenum">
              <a:rPr lang="en-US" altLang="en-US" sz="800" smtClean="0">
                <a:latin typeface="Arial" panose="020B0604020202020204" pitchFamily="34" charset="0"/>
              </a:rPr>
              <a:pPr>
                <a:spcBef>
                  <a:spcPct val="0"/>
                </a:spcBef>
              </a:pPr>
              <a:t>5</a:t>
            </a:fld>
            <a:endParaRPr lang="en-US" altLang="en-US" sz="800">
              <a:latin typeface="Arial" panose="020B0604020202020204" pitchFamily="34" charset="0"/>
            </a:endParaRPr>
          </a:p>
        </p:txBody>
      </p:sp>
      <p:sp>
        <p:nvSpPr>
          <p:cNvPr id="12290" name="Rectangle 2">
            <a:extLst>
              <a:ext uri="{FF2B5EF4-FFF2-40B4-BE49-F238E27FC236}">
                <a16:creationId xmlns:a16="http://schemas.microsoft.com/office/drawing/2014/main" id="{77CA19F2-63AF-0F74-5FAF-80E449C8792F}"/>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2C59E344-71DE-6302-40A2-06E91B4DFB2F}"/>
              </a:ext>
            </a:extLst>
          </p:cNvPr>
          <p:cNvSpPr>
            <a:spLocks noGrp="1" noChangeArrowheads="1"/>
          </p:cNvSpPr>
          <p:nvPr>
            <p:ph type="body" idx="1"/>
          </p:nvPr>
        </p:nvSpPr>
        <p:spPr>
          <a:ln/>
        </p:spPr>
        <p:txBody>
          <a:bodyPr/>
          <a:lstStyle/>
          <a:p>
            <a:pPr eaLnBrk="1" hangingPunct="1">
              <a:defRPr/>
            </a:pPr>
            <a:r>
              <a:rPr lang="en-US" dirty="0"/>
              <a:t>Ensure your students know what processes each department is responsible for performing</a:t>
            </a:r>
          </a:p>
          <a:p>
            <a:pPr eaLnBrk="1" hangingPunct="1">
              <a:defRPr/>
            </a:pPr>
            <a:r>
              <a:rPr lang="en-US" dirty="0"/>
              <a:t>Ask your students to identify a few issues a company might encounter if its departments work independently</a:t>
            </a:r>
          </a:p>
          <a:p>
            <a:pPr eaLnBrk="1" hangingPunct="1">
              <a:defRPr/>
            </a:pPr>
            <a:r>
              <a:rPr lang="en-US" dirty="0"/>
              <a:t>Data in and of itself is not useful unless the right people know how to use and manage it efficiently and effectively</a:t>
            </a:r>
          </a:p>
          <a:p>
            <a:pPr eaLnBrk="1" hangingPunct="1">
              <a:defRPr/>
            </a:pPr>
            <a:r>
              <a:rPr lang="en-US" dirty="0"/>
              <a:t>People, information, and technology are inextricably linked</a:t>
            </a:r>
          </a:p>
          <a:p>
            <a:pPr eaLnBrk="1" hangingPunct="1">
              <a:defRPr/>
            </a:pPr>
            <a:r>
              <a:rPr lang="en-US" dirty="0"/>
              <a:t>If one fails, they all fail</a:t>
            </a:r>
          </a:p>
          <a:p>
            <a:pPr eaLnBrk="1" hangingPunct="1">
              <a:defRPr/>
            </a:pPr>
            <a:r>
              <a:rPr lang="en-US" dirty="0"/>
              <a:t>What is one of the most important assets in an organization?</a:t>
            </a:r>
          </a:p>
          <a:p>
            <a:pPr lvl="1" eaLnBrk="1" hangingPunct="1">
              <a:defRPr/>
            </a:pPr>
            <a:r>
              <a:rPr lang="en-US" dirty="0"/>
              <a:t>Information is one of the most important assets in an organization, and the primary way that people get information is through information technology</a:t>
            </a:r>
          </a:p>
          <a:p>
            <a:pPr eaLnBrk="1" hangingPunct="1">
              <a:defRPr/>
            </a:pPr>
            <a:r>
              <a:rPr lang="en-US" dirty="0"/>
              <a:t>Without databases and spreadsheets how would managers gather, correlate, and analyze information? </a:t>
            </a:r>
          </a:p>
          <a:p>
            <a:pPr lvl="1" eaLnBrk="1" hangingPunct="1">
              <a:defRPr/>
            </a:pPr>
            <a:r>
              <a:rPr lang="en-US" dirty="0"/>
              <a:t>Manually</a:t>
            </a:r>
          </a:p>
          <a:p>
            <a:pPr lvl="1" eaLnBrk="1" hangingPunct="1">
              <a:defRPr/>
            </a:pPr>
            <a:r>
              <a:rPr lang="en-US" dirty="0"/>
              <a:t>Performing these tasks manually, or by hand, is extremely time consuming</a:t>
            </a:r>
          </a:p>
          <a:p>
            <a:pPr marL="190500" indent="-190500" eaLnBrk="1" hangingPunct="1">
              <a:defRPr/>
            </a:pPr>
            <a:endParaRPr lang="en-US" dirty="0"/>
          </a:p>
          <a:p>
            <a:pPr marL="190500" indent="-190500" eaLnBrk="1" hangingPunct="1">
              <a:defRPr/>
            </a:pPr>
            <a:endParaRPr lang="en-US" dirty="0"/>
          </a:p>
          <a:p>
            <a:pPr eaLnBrk="1" hangingPunct="1">
              <a:defRPr/>
            </a:pPr>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Slide Image Placeholder 1">
            <a:extLst>
              <a:ext uri="{FF2B5EF4-FFF2-40B4-BE49-F238E27FC236}">
                <a16:creationId xmlns:a16="http://schemas.microsoft.com/office/drawing/2014/main" id="{E5F6C0F5-2714-F142-370F-0351DBC35CF5}"/>
              </a:ext>
            </a:extLst>
          </p:cNvPr>
          <p:cNvSpPr>
            <a:spLocks noGrp="1" noRot="1" noChangeAspect="1" noChangeArrowheads="1" noTextEdit="1"/>
          </p:cNvSpPr>
          <p:nvPr>
            <p:ph type="sldImg"/>
          </p:nvPr>
        </p:nvSpPr>
        <p:spPr>
          <a:ln/>
        </p:spPr>
      </p:sp>
      <p:sp>
        <p:nvSpPr>
          <p:cNvPr id="19458" name="Notes Placeholder 2">
            <a:extLst>
              <a:ext uri="{FF2B5EF4-FFF2-40B4-BE49-F238E27FC236}">
                <a16:creationId xmlns:a16="http://schemas.microsoft.com/office/drawing/2014/main" id="{0FFA679F-3CB6-3082-75EB-154D842DC38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Successful companies operate cross-functionally, integrating the operations of all departments. Systems are the primary enabler of cross-functional operations. A system is a collection of parts that link to achieve a common purpose. A car is a good example of a system, since removing a part, such as the steering wheel or accelerator, causes the entire system to stop working. </a:t>
            </a:r>
          </a:p>
          <a:p>
            <a:r>
              <a:rPr lang="en-US" altLang="en-US" dirty="0"/>
              <a:t>Systems thinking is a way of monitoring the entire system by viewing multiple inputs being processed or transformed to produce outputs while continuously gathering feedback on each part (see Figure). Feedback is information that returns to its original transmitter (input, transform, or output) and modifies the transmitter’s actions. Feedback helps the system maintain stability. For example, a car’s system continuously monitors the fuel level and turns on a warning light if the gas level is too low. Systems thinking provides us with an end-to-end view of how operations work together to create a product or service. Business students who understand systems thinking are valuable resources because they can implement solutions to problems that consider the entire process, not just a single component</a:t>
            </a:r>
          </a:p>
          <a:p>
            <a:pPr eaLnBrk="1" hangingPunct="1"/>
            <a:r>
              <a:rPr lang="en-US" altLang="en-US" b="1" dirty="0"/>
              <a:t>System</a:t>
            </a:r>
            <a:r>
              <a:rPr lang="en-US" altLang="en-US" dirty="0"/>
              <a:t> –  A collection of parts that link to achieve a common purpose</a:t>
            </a:r>
          </a:p>
          <a:p>
            <a:pPr eaLnBrk="1" hangingPunct="1"/>
            <a:r>
              <a:rPr lang="en-US" altLang="en-US" b="1" dirty="0"/>
              <a:t>Feedback</a:t>
            </a:r>
            <a:r>
              <a:rPr lang="en-US" altLang="en-US" dirty="0"/>
              <a:t> – Information that returns to its original transmitter (input, transform, or output) and modifies the transmitter's actions</a:t>
            </a:r>
          </a:p>
          <a:p>
            <a:pPr eaLnBrk="1" hangingPunct="1"/>
            <a:r>
              <a:rPr lang="en-US" altLang="en-US" dirty="0"/>
              <a:t>Ask your students to provide several real-world examples of systems thinking</a:t>
            </a:r>
          </a:p>
          <a:p>
            <a:pPr lvl="1" eaLnBrk="1" hangingPunct="1"/>
            <a:r>
              <a:rPr lang="en-US" altLang="en-US" dirty="0"/>
              <a:t>Example: A car, coffee maker, washer and dryer, On Demand movies</a:t>
            </a:r>
          </a:p>
          <a:p>
            <a:pPr eaLnBrk="1" hangingPunct="1"/>
            <a:endParaRPr lang="en-US" altLang="en-US" dirty="0"/>
          </a:p>
          <a:p>
            <a:pPr eaLnBrk="1" hangingPunct="1"/>
            <a:endParaRPr lang="en-US" altLang="en-US" dirty="0"/>
          </a:p>
        </p:txBody>
      </p:sp>
      <p:sp>
        <p:nvSpPr>
          <p:cNvPr id="19459" name="Slide Number Placeholder 3">
            <a:extLst>
              <a:ext uri="{FF2B5EF4-FFF2-40B4-BE49-F238E27FC236}">
                <a16:creationId xmlns:a16="http://schemas.microsoft.com/office/drawing/2014/main" id="{89C498B2-519F-A464-9751-3B5292E1BEC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400">
                <a:solidFill>
                  <a:schemeClr val="tx1"/>
                </a:solidFill>
                <a:latin typeface="Times New Roman" panose="02020603050405020304" pitchFamily="18" charset="0"/>
                <a:ea typeface="MS PGothic" panose="020B0600070205080204" pitchFamily="34" charset="-128"/>
              </a:defRPr>
            </a:lvl1pPr>
            <a:lvl2pPr marL="742950" indent="-285750">
              <a:spcBef>
                <a:spcPct val="30000"/>
              </a:spcBef>
              <a:defRPr sz="1400">
                <a:solidFill>
                  <a:schemeClr val="tx1"/>
                </a:solidFill>
                <a:latin typeface="Times New Roman" panose="02020603050405020304" pitchFamily="18" charset="0"/>
                <a:ea typeface="MS PGothic" panose="020B0600070205080204" pitchFamily="34" charset="-128"/>
              </a:defRPr>
            </a:lvl2pPr>
            <a:lvl3pPr marL="1143000" indent="-228600">
              <a:spcBef>
                <a:spcPct val="30000"/>
              </a:spcBef>
              <a:defRPr sz="1400">
                <a:solidFill>
                  <a:schemeClr val="tx1"/>
                </a:solidFill>
                <a:latin typeface="Times New Roman" panose="02020603050405020304" pitchFamily="18" charset="0"/>
                <a:ea typeface="MS PGothic" panose="020B0600070205080204" pitchFamily="34" charset="-128"/>
              </a:defRPr>
            </a:lvl3pPr>
            <a:lvl4pPr marL="1600200" indent="-228600">
              <a:spcBef>
                <a:spcPct val="30000"/>
              </a:spcBef>
              <a:defRPr sz="1400">
                <a:solidFill>
                  <a:schemeClr val="tx1"/>
                </a:solidFill>
                <a:latin typeface="Times New Roman" panose="02020603050405020304" pitchFamily="18" charset="0"/>
                <a:ea typeface="MS PGothic" panose="020B0600070205080204" pitchFamily="34" charset="-128"/>
              </a:defRPr>
            </a:lvl4pPr>
            <a:lvl5pPr marL="2057400" indent="-228600">
              <a:spcBef>
                <a:spcPct val="30000"/>
              </a:spcBef>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spcBef>
                <a:spcPct val="0"/>
              </a:spcBef>
            </a:pPr>
            <a:fld id="{062E9C2C-A363-064E-A09E-5900E8254A07}" type="slidenum">
              <a:rPr lang="en-US" altLang="en-US" sz="800" smtClean="0">
                <a:latin typeface="Arial" panose="020B0604020202020204" pitchFamily="34" charset="0"/>
              </a:rPr>
              <a:pPr>
                <a:spcBef>
                  <a:spcPct val="0"/>
                </a:spcBef>
              </a:pPr>
              <a:t>6</a:t>
            </a:fld>
            <a:endParaRPr lang="en-US" altLang="en-US" sz="80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F65C7DF5-DDC9-DB70-6F2C-E5DE0BEE59D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400">
                <a:solidFill>
                  <a:schemeClr val="tx1"/>
                </a:solidFill>
                <a:latin typeface="Times New Roman" panose="02020603050405020304" pitchFamily="18" charset="0"/>
                <a:ea typeface="MS PGothic" panose="020B0600070205080204" pitchFamily="34" charset="-128"/>
              </a:defRPr>
            </a:lvl1pPr>
            <a:lvl2pPr marL="742950" indent="-285750">
              <a:spcBef>
                <a:spcPct val="30000"/>
              </a:spcBef>
              <a:defRPr sz="1400">
                <a:solidFill>
                  <a:schemeClr val="tx1"/>
                </a:solidFill>
                <a:latin typeface="Times New Roman" panose="02020603050405020304" pitchFamily="18" charset="0"/>
                <a:ea typeface="MS PGothic" panose="020B0600070205080204" pitchFamily="34" charset="-128"/>
              </a:defRPr>
            </a:lvl2pPr>
            <a:lvl3pPr marL="1143000" indent="-228600">
              <a:spcBef>
                <a:spcPct val="30000"/>
              </a:spcBef>
              <a:defRPr sz="1400">
                <a:solidFill>
                  <a:schemeClr val="tx1"/>
                </a:solidFill>
                <a:latin typeface="Times New Roman" panose="02020603050405020304" pitchFamily="18" charset="0"/>
                <a:ea typeface="MS PGothic" panose="020B0600070205080204" pitchFamily="34" charset="-128"/>
              </a:defRPr>
            </a:lvl3pPr>
            <a:lvl4pPr marL="1600200" indent="-228600">
              <a:spcBef>
                <a:spcPct val="30000"/>
              </a:spcBef>
              <a:defRPr sz="1400">
                <a:solidFill>
                  <a:schemeClr val="tx1"/>
                </a:solidFill>
                <a:latin typeface="Times New Roman" panose="02020603050405020304" pitchFamily="18" charset="0"/>
                <a:ea typeface="MS PGothic" panose="020B0600070205080204" pitchFamily="34" charset="-128"/>
              </a:defRPr>
            </a:lvl4pPr>
            <a:lvl5pPr marL="2057400" indent="-228600">
              <a:spcBef>
                <a:spcPct val="30000"/>
              </a:spcBef>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spcBef>
                <a:spcPct val="0"/>
              </a:spcBef>
            </a:pPr>
            <a:fld id="{29FA81D2-EDEF-F84B-9797-125E26662F1C}" type="slidenum">
              <a:rPr lang="en-US" altLang="en-US" sz="800" smtClean="0">
                <a:latin typeface="Arial" panose="020B0604020202020204" pitchFamily="34" charset="0"/>
              </a:rPr>
              <a:pPr>
                <a:spcBef>
                  <a:spcPct val="0"/>
                </a:spcBef>
              </a:pPr>
              <a:t>8</a:t>
            </a:fld>
            <a:endParaRPr lang="en-US" altLang="en-US" sz="800">
              <a:latin typeface="Arial" panose="020B0604020202020204" pitchFamily="34" charset="0"/>
            </a:endParaRPr>
          </a:p>
        </p:txBody>
      </p:sp>
      <p:sp>
        <p:nvSpPr>
          <p:cNvPr id="25602" name="Rectangle 2">
            <a:extLst>
              <a:ext uri="{FF2B5EF4-FFF2-40B4-BE49-F238E27FC236}">
                <a16:creationId xmlns:a16="http://schemas.microsoft.com/office/drawing/2014/main" id="{17C03913-115C-8A57-87F8-2AC0ADF16CA9}"/>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8E4A6850-8AD7-09C0-867D-6B090C5BB8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90500" lvl="1" indent="-190500" eaLnBrk="1" hangingPunct="1"/>
            <a:r>
              <a:rPr lang="en-US" altLang="en-US"/>
              <a:t>A detailed review of the learning outcomes can be found at the end of the chapter in the textbook</a:t>
            </a:r>
          </a:p>
        </p:txBody>
      </p:sp>
      <p:sp>
        <p:nvSpPr>
          <p:cNvPr id="65541" name="Header Placeholder 1">
            <a:extLst>
              <a:ext uri="{FF2B5EF4-FFF2-40B4-BE49-F238E27FC236}">
                <a16:creationId xmlns:a16="http://schemas.microsoft.com/office/drawing/2014/main" id="{6F3E45ED-ADEF-4149-7234-8CC88CEE089E}"/>
              </a:ext>
            </a:extLst>
          </p:cNvPr>
          <p:cNvSpPr>
            <a:spLocks noGrp="1"/>
          </p:cNvSpPr>
          <p:nvPr>
            <p:ph type="hdr" sz="quarter"/>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defRPr/>
            </a:pP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Slide Image Placeholder 1">
            <a:extLst>
              <a:ext uri="{FF2B5EF4-FFF2-40B4-BE49-F238E27FC236}">
                <a16:creationId xmlns:a16="http://schemas.microsoft.com/office/drawing/2014/main" id="{531A2185-049E-78DF-5DD9-731B1F8BA1F0}"/>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CF6785A8-411C-D62E-4463-61E818EF1533}"/>
              </a:ext>
            </a:extLst>
          </p:cNvPr>
          <p:cNvSpPr>
            <a:spLocks noGrp="1"/>
          </p:cNvSpPr>
          <p:nvPr>
            <p:ph type="body" idx="1"/>
          </p:nvPr>
        </p:nvSpPr>
        <p:spPr/>
        <p:txBody>
          <a:bodyPr/>
          <a:lstStyle/>
          <a:p>
            <a:pPr>
              <a:defRPr/>
            </a:pPr>
            <a:r>
              <a:rPr lang="en-US" sz="1000" dirty="0">
                <a:latin typeface="Albertus (W1)" charset="0"/>
                <a:ea typeface="+mn-ea"/>
              </a:rPr>
              <a:t>Production</a:t>
            </a:r>
            <a:r>
              <a:rPr lang="en-US" sz="1000" b="1" i="1" dirty="0">
                <a:latin typeface="Albertus (W1)" charset="0"/>
                <a:ea typeface="+mn-ea"/>
              </a:rPr>
              <a:t> </a:t>
            </a:r>
            <a:r>
              <a:rPr lang="en-US" sz="1000" dirty="0">
                <a:latin typeface="Albertus (W1)" charset="0"/>
                <a:ea typeface="+mn-ea"/>
              </a:rPr>
              <a:t>is the process where a business takes raw materials and processes them or converts them into a finished product for its goods or services.</a:t>
            </a:r>
          </a:p>
          <a:p>
            <a:pPr>
              <a:defRPr/>
            </a:pPr>
            <a:r>
              <a:rPr lang="en-US" sz="1000" dirty="0">
                <a:latin typeface="Albertus (W1)" charset="0"/>
                <a:ea typeface="+mn-ea"/>
              </a:rPr>
              <a:t>Ask your students to explain the process of making a hamburger including:</a:t>
            </a:r>
          </a:p>
          <a:p>
            <a:pPr>
              <a:defRPr/>
            </a:pPr>
            <a:r>
              <a:rPr lang="en-US" sz="1000" dirty="0">
                <a:latin typeface="Albertus (W1)" charset="0"/>
                <a:ea typeface="+mn-ea"/>
              </a:rPr>
              <a:t>Inputs - such as the bun, patty, lettuce, tomato, and ketchup</a:t>
            </a:r>
          </a:p>
          <a:p>
            <a:pPr>
              <a:defRPr/>
            </a:pPr>
            <a:r>
              <a:rPr lang="en-US" sz="1000" dirty="0">
                <a:latin typeface="Albertus (W1)" charset="0"/>
                <a:ea typeface="+mn-ea"/>
              </a:rPr>
              <a:t>Process - cook the patty, wash and chop the lettuce and tomato, and place all of the items in the bun. </a:t>
            </a:r>
          </a:p>
          <a:p>
            <a:pPr>
              <a:defRPr/>
            </a:pPr>
            <a:r>
              <a:rPr lang="en-US" sz="1000" dirty="0">
                <a:latin typeface="Albertus (W1)" charset="0"/>
                <a:ea typeface="+mn-ea"/>
              </a:rPr>
              <a:t>Outputs - your hamburger! </a:t>
            </a:r>
          </a:p>
          <a:p>
            <a:pPr>
              <a:defRPr/>
            </a:pPr>
            <a:r>
              <a:rPr lang="en-US" sz="1000" dirty="0">
                <a:latin typeface="Albertus (W1)" charset="0"/>
                <a:ea typeface="+mn-ea"/>
              </a:rPr>
              <a:t>Productivity</a:t>
            </a:r>
            <a:r>
              <a:rPr lang="en-US" sz="1000" b="1" i="1" dirty="0">
                <a:latin typeface="Albertus (W1)" charset="0"/>
                <a:ea typeface="+mn-ea"/>
              </a:rPr>
              <a:t> </a:t>
            </a:r>
            <a:r>
              <a:rPr lang="en-US" sz="1000" dirty="0">
                <a:latin typeface="Albertus (W1)" charset="0"/>
                <a:ea typeface="+mn-ea"/>
              </a:rPr>
              <a:t>is the rate at which goods and services are produced based upon total output given total inputs. </a:t>
            </a:r>
          </a:p>
          <a:p>
            <a:pPr>
              <a:defRPr/>
            </a:pPr>
            <a:r>
              <a:rPr lang="en-US" sz="1000" dirty="0">
                <a:latin typeface="Albertus (W1)" charset="0"/>
                <a:ea typeface="+mn-ea"/>
              </a:rPr>
              <a:t>Ask your students how a hamburger restaurant can improve productivity.</a:t>
            </a:r>
          </a:p>
        </p:txBody>
      </p:sp>
      <p:sp>
        <p:nvSpPr>
          <p:cNvPr id="17411" name="Slide Number Placeholder 3">
            <a:extLst>
              <a:ext uri="{FF2B5EF4-FFF2-40B4-BE49-F238E27FC236}">
                <a16:creationId xmlns:a16="http://schemas.microsoft.com/office/drawing/2014/main" id="{1349E9A9-82FC-EFE2-265C-A0026D08C13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panose="020B0604020202020204" pitchFamily="34" charset="0"/>
                <a:ea typeface="MS PGothic" panose="020B0600070205080204" pitchFamily="34" charset="-128"/>
              </a:defRPr>
            </a:lvl1pPr>
            <a:lvl2pPr marL="742950" indent="-285750">
              <a:defRPr sz="2800">
                <a:solidFill>
                  <a:schemeClr val="tx1"/>
                </a:solidFill>
                <a:latin typeface="Arial" panose="020B0604020202020204" pitchFamily="34" charset="0"/>
                <a:ea typeface="MS PGothic" panose="020B0600070205080204" pitchFamily="34" charset="-128"/>
              </a:defRPr>
            </a:lvl2pPr>
            <a:lvl3pPr marL="1143000" indent="-228600">
              <a:defRPr sz="2800">
                <a:solidFill>
                  <a:schemeClr val="tx1"/>
                </a:solidFill>
                <a:latin typeface="Arial" panose="020B0604020202020204" pitchFamily="34" charset="0"/>
                <a:ea typeface="MS PGothic" panose="020B0600070205080204" pitchFamily="34" charset="-128"/>
              </a:defRPr>
            </a:lvl3pPr>
            <a:lvl4pPr marL="1600200" indent="-228600">
              <a:defRPr sz="2800">
                <a:solidFill>
                  <a:schemeClr val="tx1"/>
                </a:solidFill>
                <a:latin typeface="Arial" panose="020B0604020202020204" pitchFamily="34" charset="0"/>
                <a:ea typeface="MS PGothic" panose="020B0600070205080204" pitchFamily="34" charset="-128"/>
              </a:defRPr>
            </a:lvl4pPr>
            <a:lvl5pPr marL="2057400" indent="-228600">
              <a:defRPr sz="28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9pPr>
          </a:lstStyle>
          <a:p>
            <a:fld id="{03B3E7D5-FF82-B44A-8C17-8E26A51021BA}" type="slidenum">
              <a:rPr lang="en-US" altLang="en-US" sz="800" smtClean="0">
                <a:latin typeface="Times New Roman" panose="02020603050405020304" pitchFamily="18" charset="0"/>
              </a:rPr>
              <a:pPr/>
              <a:t>9</a:t>
            </a:fld>
            <a:endParaRPr lang="en-US" altLang="en-US" sz="800">
              <a:latin typeface="Times New Roman" panose="02020603050405020304" pitchFamily="18" charset="0"/>
            </a:endParaRPr>
          </a:p>
        </p:txBody>
      </p:sp>
    </p:spTree>
    <p:extLst>
      <p:ext uri="{BB962C8B-B14F-4D97-AF65-F5344CB8AC3E}">
        <p14:creationId xmlns:p14="http://schemas.microsoft.com/office/powerpoint/2010/main" val="38643906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0FD9A-B083-3CC3-F353-6526E3C46DA9}"/>
            </a:ext>
          </a:extLst>
        </p:cNvPr>
        <p:cNvGrpSpPr/>
        <p:nvPr/>
      </p:nvGrpSpPr>
      <p:grpSpPr>
        <a:xfrm>
          <a:off x="0" y="0"/>
          <a:ext cx="0" cy="0"/>
          <a:chOff x="0" y="0"/>
          <a:chExt cx="0" cy="0"/>
        </a:xfrm>
      </p:grpSpPr>
      <p:sp>
        <p:nvSpPr>
          <p:cNvPr id="10241" name="Slide Image Placeholder 1">
            <a:extLst>
              <a:ext uri="{FF2B5EF4-FFF2-40B4-BE49-F238E27FC236}">
                <a16:creationId xmlns:a16="http://schemas.microsoft.com/office/drawing/2014/main" id="{7278135D-D92D-DC2C-E912-E6926C9D8EA3}"/>
              </a:ext>
            </a:extLst>
          </p:cNvPr>
          <p:cNvSpPr>
            <a:spLocks noGrp="1" noRot="1" noChangeAspect="1" noChangeArrowheads="1" noTextEdit="1"/>
          </p:cNvSpPr>
          <p:nvPr>
            <p:ph type="sldImg"/>
          </p:nvPr>
        </p:nvSpPr>
        <p:spPr>
          <a:ln/>
        </p:spPr>
      </p:sp>
      <p:sp>
        <p:nvSpPr>
          <p:cNvPr id="10242" name="Notes Placeholder 2">
            <a:extLst>
              <a:ext uri="{FF2B5EF4-FFF2-40B4-BE49-F238E27FC236}">
                <a16:creationId xmlns:a16="http://schemas.microsoft.com/office/drawing/2014/main" id="{18DE1F80-125E-632A-F008-66503FD2CED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Ask students to think about how information systems would factor into the day-to-day jobs of each of the three types of workers in the pyramid. </a:t>
            </a:r>
          </a:p>
        </p:txBody>
      </p:sp>
      <p:sp>
        <p:nvSpPr>
          <p:cNvPr id="10243" name="Slide Number Placeholder 3">
            <a:extLst>
              <a:ext uri="{FF2B5EF4-FFF2-40B4-BE49-F238E27FC236}">
                <a16:creationId xmlns:a16="http://schemas.microsoft.com/office/drawing/2014/main" id="{154C085A-9F72-5AF1-5243-CB1D15659E4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panose="020B0604020202020204" pitchFamily="34" charset="0"/>
                <a:ea typeface="MS PGothic" panose="020B0600070205080204" pitchFamily="34" charset="-128"/>
              </a:defRPr>
            </a:lvl1pPr>
            <a:lvl2pPr marL="742950" indent="-285750">
              <a:defRPr sz="2800">
                <a:solidFill>
                  <a:schemeClr val="tx1"/>
                </a:solidFill>
                <a:latin typeface="Arial" panose="020B0604020202020204" pitchFamily="34" charset="0"/>
                <a:ea typeface="MS PGothic" panose="020B0600070205080204" pitchFamily="34" charset="-128"/>
              </a:defRPr>
            </a:lvl2pPr>
            <a:lvl3pPr marL="1143000" indent="-228600">
              <a:defRPr sz="2800">
                <a:solidFill>
                  <a:schemeClr val="tx1"/>
                </a:solidFill>
                <a:latin typeface="Arial" panose="020B0604020202020204" pitchFamily="34" charset="0"/>
                <a:ea typeface="MS PGothic" panose="020B0600070205080204" pitchFamily="34" charset="-128"/>
              </a:defRPr>
            </a:lvl3pPr>
            <a:lvl4pPr marL="1600200" indent="-228600">
              <a:defRPr sz="2800">
                <a:solidFill>
                  <a:schemeClr val="tx1"/>
                </a:solidFill>
                <a:latin typeface="Arial" panose="020B0604020202020204" pitchFamily="34" charset="0"/>
                <a:ea typeface="MS PGothic" panose="020B0600070205080204" pitchFamily="34" charset="-128"/>
              </a:defRPr>
            </a:lvl4pPr>
            <a:lvl5pPr marL="2057400" indent="-228600">
              <a:defRPr sz="28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9pPr>
          </a:lstStyle>
          <a:p>
            <a:fld id="{6BA69986-ABA3-0A49-BEA2-182F2ED79AAC}" type="slidenum">
              <a:rPr lang="en-US" altLang="en-US" sz="1200" smtClean="0">
                <a:latin typeface="Times New Roman" panose="02020603050405020304" pitchFamily="18" charset="0"/>
              </a:rPr>
              <a:pPr/>
              <a:t>10</a:t>
            </a:fld>
            <a:endParaRPr lang="en-US" altLang="en-US" sz="1200">
              <a:latin typeface="Times New Roman" panose="02020603050405020304" pitchFamily="18" charset="0"/>
            </a:endParaRPr>
          </a:p>
        </p:txBody>
      </p:sp>
    </p:spTree>
    <p:extLst>
      <p:ext uri="{BB962C8B-B14F-4D97-AF65-F5344CB8AC3E}">
        <p14:creationId xmlns:p14="http://schemas.microsoft.com/office/powerpoint/2010/main" val="24165268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31769-B22F-304F-C5CA-707B1ECCC0E9}"/>
            </a:ext>
          </a:extLst>
        </p:cNvPr>
        <p:cNvGrpSpPr/>
        <p:nvPr/>
      </p:nvGrpSpPr>
      <p:grpSpPr>
        <a:xfrm>
          <a:off x="0" y="0"/>
          <a:ext cx="0" cy="0"/>
          <a:chOff x="0" y="0"/>
          <a:chExt cx="0" cy="0"/>
        </a:xfrm>
      </p:grpSpPr>
      <p:sp>
        <p:nvSpPr>
          <p:cNvPr id="23553" name="Slide Image Placeholder 1">
            <a:extLst>
              <a:ext uri="{FF2B5EF4-FFF2-40B4-BE49-F238E27FC236}">
                <a16:creationId xmlns:a16="http://schemas.microsoft.com/office/drawing/2014/main" id="{0E823F6A-3D6F-9D6A-967F-1F1DC77E80A6}"/>
              </a:ext>
            </a:extLst>
          </p:cNvPr>
          <p:cNvSpPr>
            <a:spLocks noGrp="1" noRot="1" noChangeAspect="1" noChangeArrowheads="1" noTextEdit="1"/>
          </p:cNvSpPr>
          <p:nvPr>
            <p:ph type="sldImg"/>
          </p:nvPr>
        </p:nvSpPr>
        <p:spPr>
          <a:ln/>
        </p:spPr>
      </p:sp>
      <p:sp>
        <p:nvSpPr>
          <p:cNvPr id="23554" name="Notes Placeholder 2">
            <a:extLst>
              <a:ext uri="{FF2B5EF4-FFF2-40B4-BE49-F238E27FC236}">
                <a16:creationId xmlns:a16="http://schemas.microsoft.com/office/drawing/2014/main" id="{B3DFA6AA-9F55-045D-696D-21F0856BF3E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How might information systems assist managers in the development of new products and services? What is meant by re-creating the organization?  Why do organizations need to be continually re-created? The answer is that they quickly become obsolete unless they continue to change. Ask students to help you list some organizations that have recently failed, or are about to fail.  </a:t>
            </a:r>
          </a:p>
        </p:txBody>
      </p:sp>
      <p:sp>
        <p:nvSpPr>
          <p:cNvPr id="23555" name="Slide Number Placeholder 3">
            <a:extLst>
              <a:ext uri="{FF2B5EF4-FFF2-40B4-BE49-F238E27FC236}">
                <a16:creationId xmlns:a16="http://schemas.microsoft.com/office/drawing/2014/main" id="{F0407403-2CBF-F41E-6F2D-85C64834C50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panose="020B0604020202020204" pitchFamily="34" charset="0"/>
                <a:ea typeface="MS PGothic" panose="020B0600070205080204" pitchFamily="34" charset="-128"/>
              </a:defRPr>
            </a:lvl1pPr>
            <a:lvl2pPr marL="742950" indent="-285750">
              <a:defRPr sz="2800">
                <a:solidFill>
                  <a:schemeClr val="tx1"/>
                </a:solidFill>
                <a:latin typeface="Arial" panose="020B0604020202020204" pitchFamily="34" charset="0"/>
                <a:ea typeface="MS PGothic" panose="020B0600070205080204" pitchFamily="34" charset="-128"/>
              </a:defRPr>
            </a:lvl2pPr>
            <a:lvl3pPr marL="1143000" indent="-228600">
              <a:defRPr sz="2800">
                <a:solidFill>
                  <a:schemeClr val="tx1"/>
                </a:solidFill>
                <a:latin typeface="Arial" panose="020B0604020202020204" pitchFamily="34" charset="0"/>
                <a:ea typeface="MS PGothic" panose="020B0600070205080204" pitchFamily="34" charset="-128"/>
              </a:defRPr>
            </a:lvl3pPr>
            <a:lvl4pPr marL="1600200" indent="-228600">
              <a:defRPr sz="2800">
                <a:solidFill>
                  <a:schemeClr val="tx1"/>
                </a:solidFill>
                <a:latin typeface="Arial" panose="020B0604020202020204" pitchFamily="34" charset="0"/>
                <a:ea typeface="MS PGothic" panose="020B0600070205080204" pitchFamily="34" charset="-128"/>
              </a:defRPr>
            </a:lvl4pPr>
            <a:lvl5pPr marL="2057400" indent="-228600">
              <a:defRPr sz="28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9pPr>
          </a:lstStyle>
          <a:p>
            <a:fld id="{56B13F76-D968-7346-8766-684580288ED7}" type="slidenum">
              <a:rPr lang="en-US" altLang="en-US" sz="1200" smtClean="0">
                <a:latin typeface="Times New Roman" panose="02020603050405020304" pitchFamily="18" charset="0"/>
              </a:rPr>
              <a:pPr/>
              <a:t>11</a:t>
            </a:fld>
            <a:endParaRPr lang="en-US" altLang="en-US" sz="1200">
              <a:latin typeface="Times New Roman" panose="02020603050405020304" pitchFamily="18" charset="0"/>
            </a:endParaRPr>
          </a:p>
        </p:txBody>
      </p:sp>
    </p:spTree>
    <p:extLst>
      <p:ext uri="{BB962C8B-B14F-4D97-AF65-F5344CB8AC3E}">
        <p14:creationId xmlns:p14="http://schemas.microsoft.com/office/powerpoint/2010/main" val="14890375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a:extLst>
              <a:ext uri="{FF2B5EF4-FFF2-40B4-BE49-F238E27FC236}">
                <a16:creationId xmlns:a16="http://schemas.microsoft.com/office/drawing/2014/main" id="{CE9E4A79-0ED6-CAA4-E74D-AC890F8D95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400">
                <a:solidFill>
                  <a:schemeClr val="tx1"/>
                </a:solidFill>
                <a:latin typeface="Times New Roman" panose="02020603050405020304" pitchFamily="18" charset="0"/>
                <a:ea typeface="MS PGothic" panose="020B0600070205080204" pitchFamily="34" charset="-128"/>
              </a:defRPr>
            </a:lvl1pPr>
            <a:lvl2pPr marL="742950" indent="-285750">
              <a:spcBef>
                <a:spcPct val="30000"/>
              </a:spcBef>
              <a:defRPr sz="1400">
                <a:solidFill>
                  <a:schemeClr val="tx1"/>
                </a:solidFill>
                <a:latin typeface="Times New Roman" panose="02020603050405020304" pitchFamily="18" charset="0"/>
                <a:ea typeface="MS PGothic" panose="020B0600070205080204" pitchFamily="34" charset="-128"/>
              </a:defRPr>
            </a:lvl2pPr>
            <a:lvl3pPr marL="1143000" indent="-228600">
              <a:spcBef>
                <a:spcPct val="30000"/>
              </a:spcBef>
              <a:defRPr sz="1400">
                <a:solidFill>
                  <a:schemeClr val="tx1"/>
                </a:solidFill>
                <a:latin typeface="Times New Roman" panose="02020603050405020304" pitchFamily="18" charset="0"/>
                <a:ea typeface="MS PGothic" panose="020B0600070205080204" pitchFamily="34" charset="-128"/>
              </a:defRPr>
            </a:lvl3pPr>
            <a:lvl4pPr marL="1600200" indent="-228600">
              <a:spcBef>
                <a:spcPct val="30000"/>
              </a:spcBef>
              <a:defRPr sz="1400">
                <a:solidFill>
                  <a:schemeClr val="tx1"/>
                </a:solidFill>
                <a:latin typeface="Times New Roman" panose="02020603050405020304" pitchFamily="18" charset="0"/>
                <a:ea typeface="MS PGothic" panose="020B0600070205080204" pitchFamily="34" charset="-128"/>
              </a:defRPr>
            </a:lvl4pPr>
            <a:lvl5pPr marL="2057400" indent="-228600">
              <a:spcBef>
                <a:spcPct val="30000"/>
              </a:spcBef>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spcBef>
                <a:spcPct val="0"/>
              </a:spcBef>
            </a:pPr>
            <a:fld id="{3E4782C8-9C7B-9F4D-8A11-3489938DF5B1}" type="slidenum">
              <a:rPr lang="en-US" altLang="en-US" sz="800" smtClean="0">
                <a:latin typeface="Arial" panose="020B0604020202020204" pitchFamily="34" charset="0"/>
              </a:rPr>
              <a:pPr>
                <a:spcBef>
                  <a:spcPct val="0"/>
                </a:spcBef>
              </a:pPr>
              <a:t>13</a:t>
            </a:fld>
            <a:endParaRPr lang="en-US" altLang="en-US" sz="800">
              <a:latin typeface="Arial" panose="020B0604020202020204" pitchFamily="34" charset="0"/>
            </a:endParaRPr>
          </a:p>
        </p:txBody>
      </p:sp>
      <p:sp>
        <p:nvSpPr>
          <p:cNvPr id="27650" name="Rectangle 2">
            <a:extLst>
              <a:ext uri="{FF2B5EF4-FFF2-40B4-BE49-F238E27FC236}">
                <a16:creationId xmlns:a16="http://schemas.microsoft.com/office/drawing/2014/main" id="{D940C414-1C65-31A2-1825-54180806247B}"/>
              </a:ext>
            </a:extLst>
          </p:cNvPr>
          <p:cNvSpPr>
            <a:spLocks noGrp="1" noRot="1" noChangeAspect="1" noChangeArrowheads="1" noTextEdit="1"/>
          </p:cNvSpPr>
          <p:nvPr>
            <p:ph type="sldImg"/>
          </p:nvPr>
        </p:nvSpPr>
        <p:spPr>
          <a:ln/>
        </p:spPr>
      </p:sp>
      <p:sp>
        <p:nvSpPr>
          <p:cNvPr id="27651" name="Rectangle 3">
            <a:extLst>
              <a:ext uri="{FF2B5EF4-FFF2-40B4-BE49-F238E27FC236}">
                <a16:creationId xmlns:a16="http://schemas.microsoft.com/office/drawing/2014/main" id="{9F140957-9394-DFA3-A198-ED7EFD69B9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90500" indent="-190500" eaLnBrk="1" hangingPunct="1"/>
            <a:r>
              <a:rPr lang="en-US" altLang="en-US" dirty="0"/>
              <a:t>Ask your students what categories would they list if they were writing their own personal CSFs?</a:t>
            </a:r>
          </a:p>
          <a:p>
            <a:pPr marL="473075" lvl="1" indent="-190500" eaLnBrk="1" hangingPunct="1"/>
            <a:r>
              <a:rPr lang="en-US" altLang="en-US" dirty="0"/>
              <a:t>Potential answers include:</a:t>
            </a:r>
          </a:p>
          <a:p>
            <a:pPr marL="473075" lvl="1" indent="-190500" eaLnBrk="1" hangingPunct="1"/>
            <a:r>
              <a:rPr lang="en-US" altLang="en-US" dirty="0"/>
              <a:t>Engage in Continuous Learning – Earn a Degree</a:t>
            </a:r>
          </a:p>
          <a:p>
            <a:pPr marL="473075" lvl="1" indent="-190500" eaLnBrk="1" hangingPunct="1"/>
            <a:r>
              <a:rPr lang="en-US" altLang="en-US" dirty="0"/>
              <a:t>Exercising and Practicing Healthy Habits</a:t>
            </a:r>
          </a:p>
          <a:p>
            <a:pPr marL="473075" lvl="1" indent="-190500" eaLnBrk="1" hangingPunct="1"/>
            <a:r>
              <a:rPr lang="en-US" altLang="en-US" dirty="0"/>
              <a:t>Building strong relationships and friendships</a:t>
            </a:r>
          </a:p>
          <a:p>
            <a:pPr marL="473075" lvl="1" indent="-190500" eaLnBrk="1" hangingPunct="1"/>
            <a:endParaRPr lang="en-US" altLang="en-US" dirty="0"/>
          </a:p>
          <a:p>
            <a:pPr marL="473075" lvl="1" indent="-190500" eaLnBrk="1" hangingPunct="1"/>
            <a:endParaRPr lang="en-US" altLang="en-US" dirty="0"/>
          </a:p>
          <a:p>
            <a:pPr marL="473075" lvl="1" indent="-190500" eaLnBrk="1" hangingPunct="1"/>
            <a:endParaRPr lang="en-US" altLang="en-US" dirty="0"/>
          </a:p>
          <a:p>
            <a:pPr marL="473075" lvl="1" indent="-190500" eaLnBrk="1" hangingPunct="1"/>
            <a:endParaRPr lang="en-US"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a:extLst>
              <a:ext uri="{FF2B5EF4-FFF2-40B4-BE49-F238E27FC236}">
                <a16:creationId xmlns:a16="http://schemas.microsoft.com/office/drawing/2014/main" id="{771648F4-56F2-BA1A-6461-8EE951E165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400">
                <a:solidFill>
                  <a:schemeClr val="tx1"/>
                </a:solidFill>
                <a:latin typeface="Times New Roman" panose="02020603050405020304" pitchFamily="18" charset="0"/>
                <a:ea typeface="MS PGothic" panose="020B0600070205080204" pitchFamily="34" charset="-128"/>
              </a:defRPr>
            </a:lvl1pPr>
            <a:lvl2pPr marL="742950" indent="-285750">
              <a:spcBef>
                <a:spcPct val="30000"/>
              </a:spcBef>
              <a:defRPr sz="1400">
                <a:solidFill>
                  <a:schemeClr val="tx1"/>
                </a:solidFill>
                <a:latin typeface="Times New Roman" panose="02020603050405020304" pitchFamily="18" charset="0"/>
                <a:ea typeface="MS PGothic" panose="020B0600070205080204" pitchFamily="34" charset="-128"/>
              </a:defRPr>
            </a:lvl2pPr>
            <a:lvl3pPr marL="1143000" indent="-228600">
              <a:spcBef>
                <a:spcPct val="30000"/>
              </a:spcBef>
              <a:defRPr sz="1400">
                <a:solidFill>
                  <a:schemeClr val="tx1"/>
                </a:solidFill>
                <a:latin typeface="Times New Roman" panose="02020603050405020304" pitchFamily="18" charset="0"/>
                <a:ea typeface="MS PGothic" panose="020B0600070205080204" pitchFamily="34" charset="-128"/>
              </a:defRPr>
            </a:lvl3pPr>
            <a:lvl4pPr marL="1600200" indent="-228600">
              <a:spcBef>
                <a:spcPct val="30000"/>
              </a:spcBef>
              <a:defRPr sz="1400">
                <a:solidFill>
                  <a:schemeClr val="tx1"/>
                </a:solidFill>
                <a:latin typeface="Times New Roman" panose="02020603050405020304" pitchFamily="18" charset="0"/>
                <a:ea typeface="MS PGothic" panose="020B0600070205080204" pitchFamily="34" charset="-128"/>
              </a:defRPr>
            </a:lvl4pPr>
            <a:lvl5pPr marL="2057400" indent="-228600">
              <a:spcBef>
                <a:spcPct val="30000"/>
              </a:spcBef>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spcBef>
                <a:spcPct val="0"/>
              </a:spcBef>
            </a:pPr>
            <a:fld id="{B34D7578-457B-364D-861F-E9B37DF86A31}" type="slidenum">
              <a:rPr lang="en-US" altLang="en-US" sz="800" smtClean="0">
                <a:latin typeface="Arial" panose="020B0604020202020204" pitchFamily="34" charset="0"/>
              </a:rPr>
              <a:pPr>
                <a:spcBef>
                  <a:spcPct val="0"/>
                </a:spcBef>
              </a:pPr>
              <a:t>14</a:t>
            </a:fld>
            <a:endParaRPr lang="en-US" altLang="en-US" sz="800">
              <a:latin typeface="Arial" panose="020B0604020202020204" pitchFamily="34" charset="0"/>
            </a:endParaRPr>
          </a:p>
        </p:txBody>
      </p:sp>
      <p:sp>
        <p:nvSpPr>
          <p:cNvPr id="29698" name="Rectangle 2">
            <a:extLst>
              <a:ext uri="{FF2B5EF4-FFF2-40B4-BE49-F238E27FC236}">
                <a16:creationId xmlns:a16="http://schemas.microsoft.com/office/drawing/2014/main" id="{3DD02D3D-9D92-C337-EB6A-20D2E43B967C}"/>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8E416AF5-E477-693E-0862-BD35C4E9B4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Efficiency focuses on the extent to which an organization is using its resources in an optimal way, “Doing things right”</a:t>
            </a:r>
          </a:p>
          <a:p>
            <a:pPr eaLnBrk="1" hangingPunct="1"/>
            <a:r>
              <a:rPr lang="en-US" altLang="en-US"/>
              <a:t>Effectiveness focuses on how well an organization is achieving its goals and objectives, “Doing the right things”</a:t>
            </a:r>
          </a:p>
          <a:p>
            <a:pPr eaLnBrk="1" hangingPunct="1"/>
            <a:r>
              <a:rPr lang="en-US" altLang="en-US"/>
              <a:t>It is important that your students understand the differences between efficiency and effectiveness if you are going to cover the Business Plug-In for Supply Chain Management.  This plug-in deals with efficient vs. effective supply chains.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E53BBDCD-AA58-B49E-C3D6-BDF187D26C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400">
                <a:solidFill>
                  <a:schemeClr val="tx1"/>
                </a:solidFill>
                <a:latin typeface="Times New Roman" panose="02020603050405020304" pitchFamily="18" charset="0"/>
                <a:ea typeface="MS PGothic" panose="020B0600070205080204" pitchFamily="34" charset="-128"/>
              </a:defRPr>
            </a:lvl1pPr>
            <a:lvl2pPr marL="742950" indent="-285750">
              <a:spcBef>
                <a:spcPct val="30000"/>
              </a:spcBef>
              <a:defRPr sz="1400">
                <a:solidFill>
                  <a:schemeClr val="tx1"/>
                </a:solidFill>
                <a:latin typeface="Times New Roman" panose="02020603050405020304" pitchFamily="18" charset="0"/>
                <a:ea typeface="MS PGothic" panose="020B0600070205080204" pitchFamily="34" charset="-128"/>
              </a:defRPr>
            </a:lvl2pPr>
            <a:lvl3pPr marL="1143000" indent="-228600">
              <a:spcBef>
                <a:spcPct val="30000"/>
              </a:spcBef>
              <a:defRPr sz="1400">
                <a:solidFill>
                  <a:schemeClr val="tx1"/>
                </a:solidFill>
                <a:latin typeface="Times New Roman" panose="02020603050405020304" pitchFamily="18" charset="0"/>
                <a:ea typeface="MS PGothic" panose="020B0600070205080204" pitchFamily="34" charset="-128"/>
              </a:defRPr>
            </a:lvl3pPr>
            <a:lvl4pPr marL="1600200" indent="-228600">
              <a:spcBef>
                <a:spcPct val="30000"/>
              </a:spcBef>
              <a:defRPr sz="1400">
                <a:solidFill>
                  <a:schemeClr val="tx1"/>
                </a:solidFill>
                <a:latin typeface="Times New Roman" panose="02020603050405020304" pitchFamily="18" charset="0"/>
                <a:ea typeface="MS PGothic" panose="020B0600070205080204" pitchFamily="34" charset="-128"/>
              </a:defRPr>
            </a:lvl4pPr>
            <a:lvl5pPr marL="2057400" indent="-228600">
              <a:spcBef>
                <a:spcPct val="30000"/>
              </a:spcBef>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spcBef>
                <a:spcPct val="0"/>
              </a:spcBef>
            </a:pPr>
            <a:fld id="{B5CF10E3-171F-434A-A595-796F4F2DC5EE}" type="slidenum">
              <a:rPr lang="en-US" altLang="en-US" sz="800" smtClean="0">
                <a:latin typeface="Arial" panose="020B0604020202020204" pitchFamily="34" charset="0"/>
              </a:rPr>
              <a:pPr>
                <a:spcBef>
                  <a:spcPct val="0"/>
                </a:spcBef>
              </a:pPr>
              <a:t>15</a:t>
            </a:fld>
            <a:endParaRPr lang="en-US" altLang="en-US" sz="800">
              <a:latin typeface="Arial" panose="020B0604020202020204" pitchFamily="34" charset="0"/>
            </a:endParaRPr>
          </a:p>
        </p:txBody>
      </p:sp>
      <p:sp>
        <p:nvSpPr>
          <p:cNvPr id="32770" name="Rectangle 2">
            <a:extLst>
              <a:ext uri="{FF2B5EF4-FFF2-40B4-BE49-F238E27FC236}">
                <a16:creationId xmlns:a16="http://schemas.microsoft.com/office/drawing/2014/main" id="{5AB0288B-9FBB-44CD-B237-F38041D0E053}"/>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4645DFF5-982F-8575-6B4E-83827F0728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Ideally, an organization should operate in the upper right-hand corner</a:t>
            </a:r>
          </a:p>
          <a:p>
            <a:pPr eaLnBrk="1" hangingPunct="1"/>
            <a:r>
              <a:rPr lang="en-US" altLang="en-US"/>
              <a:t>Operating in the upper left-hand corner or the lower right-hand corner may be in line with an organization's particular strategies</a:t>
            </a:r>
          </a:p>
          <a:p>
            <a:pPr eaLnBrk="1" hangingPunct="1"/>
            <a:r>
              <a:rPr lang="en-US" altLang="en-US"/>
              <a:t>No organization would want to operate in the lower left-hand corner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a:extLst>
              <a:ext uri="{FF2B5EF4-FFF2-40B4-BE49-F238E27FC236}">
                <a16:creationId xmlns:a16="http://schemas.microsoft.com/office/drawing/2014/main" id="{ACBCB1E3-71A2-6E15-14B1-2B081636E9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400">
                <a:solidFill>
                  <a:schemeClr val="tx1"/>
                </a:solidFill>
                <a:latin typeface="Times New Roman" panose="02020603050405020304" pitchFamily="18" charset="0"/>
                <a:ea typeface="MS PGothic" panose="020B0600070205080204" pitchFamily="34" charset="-128"/>
              </a:defRPr>
            </a:lvl1pPr>
            <a:lvl2pPr marL="742950" indent="-285750">
              <a:spcBef>
                <a:spcPct val="30000"/>
              </a:spcBef>
              <a:defRPr sz="1400">
                <a:solidFill>
                  <a:schemeClr val="tx1"/>
                </a:solidFill>
                <a:latin typeface="Times New Roman" panose="02020603050405020304" pitchFamily="18" charset="0"/>
                <a:ea typeface="MS PGothic" panose="020B0600070205080204" pitchFamily="34" charset="-128"/>
              </a:defRPr>
            </a:lvl2pPr>
            <a:lvl3pPr marL="1143000" indent="-228600">
              <a:spcBef>
                <a:spcPct val="30000"/>
              </a:spcBef>
              <a:defRPr sz="1400">
                <a:solidFill>
                  <a:schemeClr val="tx1"/>
                </a:solidFill>
                <a:latin typeface="Times New Roman" panose="02020603050405020304" pitchFamily="18" charset="0"/>
                <a:ea typeface="MS PGothic" panose="020B0600070205080204" pitchFamily="34" charset="-128"/>
              </a:defRPr>
            </a:lvl3pPr>
            <a:lvl4pPr marL="1600200" indent="-228600">
              <a:spcBef>
                <a:spcPct val="30000"/>
              </a:spcBef>
              <a:defRPr sz="1400">
                <a:solidFill>
                  <a:schemeClr val="tx1"/>
                </a:solidFill>
                <a:latin typeface="Times New Roman" panose="02020603050405020304" pitchFamily="18" charset="0"/>
                <a:ea typeface="MS PGothic" panose="020B0600070205080204" pitchFamily="34" charset="-128"/>
              </a:defRPr>
            </a:lvl4pPr>
            <a:lvl5pPr marL="2057400" indent="-228600">
              <a:spcBef>
                <a:spcPct val="30000"/>
              </a:spcBef>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spcBef>
                <a:spcPct val="0"/>
              </a:spcBef>
            </a:pPr>
            <a:fld id="{F904F35C-7A17-544B-B664-1360073CDE77}" type="slidenum">
              <a:rPr lang="en-US" altLang="en-US" sz="800" smtClean="0">
                <a:latin typeface="Arial" panose="020B0604020202020204" pitchFamily="34" charset="0"/>
              </a:rPr>
              <a:pPr>
                <a:spcBef>
                  <a:spcPct val="0"/>
                </a:spcBef>
              </a:pPr>
              <a:t>17</a:t>
            </a:fld>
            <a:endParaRPr lang="en-US" altLang="en-US" sz="800">
              <a:latin typeface="Arial" panose="020B0604020202020204" pitchFamily="34" charset="0"/>
            </a:endParaRPr>
          </a:p>
        </p:txBody>
      </p:sp>
      <p:sp>
        <p:nvSpPr>
          <p:cNvPr id="35842" name="Rectangle 2">
            <a:extLst>
              <a:ext uri="{FF2B5EF4-FFF2-40B4-BE49-F238E27FC236}">
                <a16:creationId xmlns:a16="http://schemas.microsoft.com/office/drawing/2014/main" id="{6131E015-6E4D-DE06-7B1F-AD298AB139F7}"/>
              </a:ext>
            </a:extLst>
          </p:cNvPr>
          <p:cNvSpPr>
            <a:spLocks noGrp="1" noRot="1" noChangeAspect="1" noChangeArrowheads="1" noTextEdit="1"/>
          </p:cNvSpPr>
          <p:nvPr>
            <p:ph type="sldImg"/>
          </p:nvPr>
        </p:nvSpPr>
        <p:spPr>
          <a:ln/>
        </p:spPr>
      </p:sp>
      <p:sp>
        <p:nvSpPr>
          <p:cNvPr id="35843" name="Rectangle 3">
            <a:extLst>
              <a:ext uri="{FF2B5EF4-FFF2-40B4-BE49-F238E27FC236}">
                <a16:creationId xmlns:a16="http://schemas.microsoft.com/office/drawing/2014/main" id="{A3957FB2-C811-D63D-A645-01F925B8CEA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90500" lvl="1" indent="-190500" eaLnBrk="1" hangingPunct="1"/>
            <a:r>
              <a:rPr lang="en-US" altLang="en-US"/>
              <a:t>A detailed review of the learning outcomes can be found at the end of the chapter in the textbook</a:t>
            </a:r>
          </a:p>
        </p:txBody>
      </p:sp>
      <p:sp>
        <p:nvSpPr>
          <p:cNvPr id="65541" name="Header Placeholder 1">
            <a:extLst>
              <a:ext uri="{FF2B5EF4-FFF2-40B4-BE49-F238E27FC236}">
                <a16:creationId xmlns:a16="http://schemas.microsoft.com/office/drawing/2014/main" id="{604D3666-422C-32D2-DDAD-B5FCF24C4338}"/>
              </a:ext>
            </a:extLst>
          </p:cNvPr>
          <p:cNvSpPr>
            <a:spLocks noGrp="1"/>
          </p:cNvSpPr>
          <p:nvPr>
            <p:ph type="hdr" sz="quarter"/>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defRPr/>
            </a:pPr>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Slide Image Placeholder 1">
            <a:extLst>
              <a:ext uri="{FF2B5EF4-FFF2-40B4-BE49-F238E27FC236}">
                <a16:creationId xmlns:a16="http://schemas.microsoft.com/office/drawing/2014/main" id="{28D9717D-3D55-2E89-2B1A-583661BAFF16}"/>
              </a:ext>
            </a:extLst>
          </p:cNvPr>
          <p:cNvSpPr>
            <a:spLocks noGrp="1" noRot="1" noChangeAspect="1" noChangeArrowheads="1" noTextEdit="1"/>
          </p:cNvSpPr>
          <p:nvPr>
            <p:ph type="sldImg"/>
          </p:nvPr>
        </p:nvSpPr>
        <p:spPr>
          <a:ln/>
        </p:spPr>
      </p:sp>
      <p:sp>
        <p:nvSpPr>
          <p:cNvPr id="37890" name="Notes Placeholder 2">
            <a:extLst>
              <a:ext uri="{FF2B5EF4-FFF2-40B4-BE49-F238E27FC236}">
                <a16:creationId xmlns:a16="http://schemas.microsoft.com/office/drawing/2014/main" id="{D630BD7A-AA9F-796B-B58A-1B6002FC356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value of metrics is in their ability to provide a factual basis for defining:</a:t>
            </a:r>
          </a:p>
          <a:p>
            <a:pPr lvl="1"/>
            <a:r>
              <a:rPr lang="en-US" altLang="en-US"/>
              <a:t>Strategic feedback to show the present status of the organization from many perspectives for decision makers.</a:t>
            </a:r>
          </a:p>
          <a:p>
            <a:pPr lvl="1"/>
            <a:r>
              <a:rPr lang="en-US" altLang="en-US"/>
              <a:t>Diagnostic feedback into various processes to guide improvements on a continuous basis.</a:t>
            </a:r>
          </a:p>
          <a:p>
            <a:pPr lvl="1"/>
            <a:r>
              <a:rPr lang="en-US" altLang="en-US"/>
              <a:t>Trends in performance over time as the metrics are tracked.</a:t>
            </a:r>
          </a:p>
          <a:p>
            <a:pPr lvl="1"/>
            <a:r>
              <a:rPr lang="en-US" altLang="en-US"/>
              <a:t>Feedback around the measurement methods themselves and which metrics should be tracked.</a:t>
            </a:r>
          </a:p>
          <a:p>
            <a:pPr lvl="1"/>
            <a:r>
              <a:rPr lang="en-US" altLang="en-US"/>
              <a:t>Quantitative inputs to forecasting methods and models for decision support systems</a:t>
            </a:r>
          </a:p>
        </p:txBody>
      </p:sp>
      <p:sp>
        <p:nvSpPr>
          <p:cNvPr id="37891" name="Slide Number Placeholder 3">
            <a:extLst>
              <a:ext uri="{FF2B5EF4-FFF2-40B4-BE49-F238E27FC236}">
                <a16:creationId xmlns:a16="http://schemas.microsoft.com/office/drawing/2014/main" id="{06003D35-6AD9-14FB-B041-4DF0151A12D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400">
                <a:solidFill>
                  <a:schemeClr val="tx1"/>
                </a:solidFill>
                <a:latin typeface="Times New Roman" panose="02020603050405020304" pitchFamily="18" charset="0"/>
                <a:ea typeface="MS PGothic" panose="020B0600070205080204" pitchFamily="34" charset="-128"/>
              </a:defRPr>
            </a:lvl1pPr>
            <a:lvl2pPr marL="742950" indent="-285750">
              <a:spcBef>
                <a:spcPct val="30000"/>
              </a:spcBef>
              <a:defRPr sz="1400">
                <a:solidFill>
                  <a:schemeClr val="tx1"/>
                </a:solidFill>
                <a:latin typeface="Times New Roman" panose="02020603050405020304" pitchFamily="18" charset="0"/>
                <a:ea typeface="MS PGothic" panose="020B0600070205080204" pitchFamily="34" charset="-128"/>
              </a:defRPr>
            </a:lvl2pPr>
            <a:lvl3pPr marL="1143000" indent="-228600">
              <a:spcBef>
                <a:spcPct val="30000"/>
              </a:spcBef>
              <a:defRPr sz="1400">
                <a:solidFill>
                  <a:schemeClr val="tx1"/>
                </a:solidFill>
                <a:latin typeface="Times New Roman" panose="02020603050405020304" pitchFamily="18" charset="0"/>
                <a:ea typeface="MS PGothic" panose="020B0600070205080204" pitchFamily="34" charset="-128"/>
              </a:defRPr>
            </a:lvl3pPr>
            <a:lvl4pPr marL="1600200" indent="-228600">
              <a:spcBef>
                <a:spcPct val="30000"/>
              </a:spcBef>
              <a:defRPr sz="1400">
                <a:solidFill>
                  <a:schemeClr val="tx1"/>
                </a:solidFill>
                <a:latin typeface="Times New Roman" panose="02020603050405020304" pitchFamily="18" charset="0"/>
                <a:ea typeface="MS PGothic" panose="020B0600070205080204" pitchFamily="34" charset="-128"/>
              </a:defRPr>
            </a:lvl4pPr>
            <a:lvl5pPr marL="2057400" indent="-228600">
              <a:spcBef>
                <a:spcPct val="30000"/>
              </a:spcBef>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spcBef>
                <a:spcPct val="0"/>
              </a:spcBef>
            </a:pPr>
            <a:fld id="{FE4398B7-2253-2749-89A4-09C47D18E6F3}" type="slidenum">
              <a:rPr lang="en-US" altLang="en-US" sz="1200" smtClean="0">
                <a:latin typeface="Arial" panose="020B0604020202020204" pitchFamily="34" charset="0"/>
              </a:rPr>
              <a:pPr>
                <a:spcBef>
                  <a:spcPct val="0"/>
                </a:spcBef>
              </a:pPr>
              <a:t>18</a:t>
            </a:fld>
            <a:endParaRPr lang="en-US" altLang="en-US" sz="1200">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Slide Image Placeholder 1">
            <a:extLst>
              <a:ext uri="{FF2B5EF4-FFF2-40B4-BE49-F238E27FC236}">
                <a16:creationId xmlns:a16="http://schemas.microsoft.com/office/drawing/2014/main" id="{5DEBEE87-4325-B5E1-ED1A-F10766E215BA}"/>
              </a:ext>
            </a:extLst>
          </p:cNvPr>
          <p:cNvSpPr>
            <a:spLocks noGrp="1" noRot="1" noChangeAspect="1" noChangeArrowheads="1" noTextEdit="1"/>
          </p:cNvSpPr>
          <p:nvPr>
            <p:ph type="sldImg"/>
          </p:nvPr>
        </p:nvSpPr>
        <p:spPr>
          <a:ln/>
        </p:spPr>
      </p:sp>
      <p:sp>
        <p:nvSpPr>
          <p:cNvPr id="39938" name="Notes Placeholder 2">
            <a:extLst>
              <a:ext uri="{FF2B5EF4-FFF2-40B4-BE49-F238E27FC236}">
                <a16:creationId xmlns:a16="http://schemas.microsoft.com/office/drawing/2014/main" id="{BCBF1E29-2F71-8479-2B66-23F8B7F1B5F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The </a:t>
            </a:r>
            <a:r>
              <a:rPr lang="en-US" altLang="en-US" b="1" i="1"/>
              <a:t>balanced scorecard is a management system, (in addition to a measurement system)</a:t>
            </a:r>
            <a:r>
              <a:rPr lang="en-US" altLang="en-US"/>
              <a:t>, that enables organizations to clarify their vision and strategy and translate them into action. It provides feedback around both the internal business processes and external outcomes in order to continuously improve strategic performance and results. When fully deployed, the balanced scorecard transforms strategic planning from an academic exercise into the nerve center of an enterprise</a:t>
            </a:r>
          </a:p>
          <a:p>
            <a:pPr eaLnBrk="1" hangingPunct="1"/>
            <a:r>
              <a:rPr lang="en-US" altLang="en-US"/>
              <a:t>The balanced scorecard views the organization from four perspectives, and users should develop metrics, collect data, and analyze their business relative to each of these perspectives:</a:t>
            </a:r>
          </a:p>
          <a:p>
            <a:pPr lvl="1" eaLnBrk="1" hangingPunct="1"/>
            <a:r>
              <a:rPr lang="en-US" altLang="en-US"/>
              <a:t>The learning and growth perspective.</a:t>
            </a:r>
          </a:p>
          <a:p>
            <a:pPr lvl="1" eaLnBrk="1" hangingPunct="1"/>
            <a:r>
              <a:rPr lang="en-US" altLang="en-US"/>
              <a:t>The internal business process perspective.</a:t>
            </a:r>
          </a:p>
          <a:p>
            <a:pPr lvl="1" eaLnBrk="1" hangingPunct="1"/>
            <a:r>
              <a:rPr lang="en-US" altLang="en-US"/>
              <a:t>The customer perspective.</a:t>
            </a:r>
          </a:p>
          <a:p>
            <a:pPr lvl="1" eaLnBrk="1" hangingPunct="1"/>
            <a:r>
              <a:rPr lang="en-US" altLang="en-US"/>
              <a:t>The financial perspective</a:t>
            </a:r>
          </a:p>
          <a:p>
            <a:pPr lvl="1" eaLnBrk="1" hangingPunct="1"/>
            <a:endParaRPr lang="en-US" altLang="en-US"/>
          </a:p>
          <a:p>
            <a:pPr eaLnBrk="1" hangingPunct="1"/>
            <a:endParaRPr lang="en-US" altLang="en-US"/>
          </a:p>
        </p:txBody>
      </p:sp>
      <p:sp>
        <p:nvSpPr>
          <p:cNvPr id="39939" name="Slide Number Placeholder 3">
            <a:extLst>
              <a:ext uri="{FF2B5EF4-FFF2-40B4-BE49-F238E27FC236}">
                <a16:creationId xmlns:a16="http://schemas.microsoft.com/office/drawing/2014/main" id="{180E43B6-1CF7-1B29-7572-8FA68A15DC0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400">
                <a:solidFill>
                  <a:schemeClr val="tx1"/>
                </a:solidFill>
                <a:latin typeface="Times New Roman" panose="02020603050405020304" pitchFamily="18" charset="0"/>
                <a:ea typeface="MS PGothic" panose="020B0600070205080204" pitchFamily="34" charset="-128"/>
              </a:defRPr>
            </a:lvl1pPr>
            <a:lvl2pPr marL="742950" indent="-285750">
              <a:spcBef>
                <a:spcPct val="30000"/>
              </a:spcBef>
              <a:defRPr sz="1400">
                <a:solidFill>
                  <a:schemeClr val="tx1"/>
                </a:solidFill>
                <a:latin typeface="Times New Roman" panose="02020603050405020304" pitchFamily="18" charset="0"/>
                <a:ea typeface="MS PGothic" panose="020B0600070205080204" pitchFamily="34" charset="-128"/>
              </a:defRPr>
            </a:lvl2pPr>
            <a:lvl3pPr marL="1143000" indent="-228600">
              <a:spcBef>
                <a:spcPct val="30000"/>
              </a:spcBef>
              <a:defRPr sz="1400">
                <a:solidFill>
                  <a:schemeClr val="tx1"/>
                </a:solidFill>
                <a:latin typeface="Times New Roman" panose="02020603050405020304" pitchFamily="18" charset="0"/>
                <a:ea typeface="MS PGothic" panose="020B0600070205080204" pitchFamily="34" charset="-128"/>
              </a:defRPr>
            </a:lvl3pPr>
            <a:lvl4pPr marL="1600200" indent="-228600">
              <a:spcBef>
                <a:spcPct val="30000"/>
              </a:spcBef>
              <a:defRPr sz="1400">
                <a:solidFill>
                  <a:schemeClr val="tx1"/>
                </a:solidFill>
                <a:latin typeface="Times New Roman" panose="02020603050405020304" pitchFamily="18" charset="0"/>
                <a:ea typeface="MS PGothic" panose="020B0600070205080204" pitchFamily="34" charset="-128"/>
              </a:defRPr>
            </a:lvl4pPr>
            <a:lvl5pPr marL="2057400" indent="-228600">
              <a:spcBef>
                <a:spcPct val="30000"/>
              </a:spcBef>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3000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spcBef>
                <a:spcPct val="0"/>
              </a:spcBef>
            </a:pPr>
            <a:fld id="{0ED12234-E201-4B41-822F-D6FE65342497}" type="slidenum">
              <a:rPr lang="en-US" altLang="en-US" sz="800" smtClean="0">
                <a:latin typeface="Arial" panose="020B0604020202020204" pitchFamily="34" charset="0"/>
              </a:rPr>
              <a:pPr>
                <a:spcBef>
                  <a:spcPct val="0"/>
                </a:spcBef>
              </a:pPr>
              <a:t>19</a:t>
            </a:fld>
            <a:endParaRPr lang="en-US" altLang="en-US" sz="800">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a:extLst>
              <a:ext uri="{FF2B5EF4-FFF2-40B4-BE49-F238E27FC236}">
                <a16:creationId xmlns:a16="http://schemas.microsoft.com/office/drawing/2014/main" id="{2FA9F792-C7B4-0E37-3B9F-3E7E182434E9}"/>
              </a:ext>
            </a:extLst>
          </p:cNvPr>
          <p:cNvSpPr>
            <a:spLocks noGrp="1" noRot="1" noChangeAspect="1" noChangeArrowheads="1" noTextEdit="1"/>
          </p:cNvSpPr>
          <p:nvPr>
            <p:ph type="sldImg"/>
          </p:nvPr>
        </p:nvSpPr>
        <p:spPr>
          <a:ln/>
        </p:spPr>
      </p:sp>
      <p:sp>
        <p:nvSpPr>
          <p:cNvPr id="43010" name="Notes Placeholder 2">
            <a:extLst>
              <a:ext uri="{FF2B5EF4-FFF2-40B4-BE49-F238E27FC236}">
                <a16:creationId xmlns:a16="http://schemas.microsoft.com/office/drawing/2014/main" id="{ABDF424E-6DCB-8725-C772-32AA8D3EDB9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ESOP = Employee Stock Ownership Plan</a:t>
            </a:r>
          </a:p>
          <a:p>
            <a:r>
              <a:rPr lang="en-US" altLang="en-US"/>
              <a:t>CAGR = Compound Annual Growth Rate</a:t>
            </a:r>
          </a:p>
          <a:p>
            <a:r>
              <a:rPr lang="en-US" altLang="en-US"/>
              <a:t>FAA = </a:t>
            </a:r>
            <a:r>
              <a:rPr lang="en-US" altLang="en-US" b="1"/>
              <a:t>Federal Aviation Administration</a:t>
            </a:r>
            <a:endParaRPr lang="en-US" altLang="en-US"/>
          </a:p>
        </p:txBody>
      </p:sp>
      <p:sp>
        <p:nvSpPr>
          <p:cNvPr id="43011" name="Slide Number Placeholder 3">
            <a:extLst>
              <a:ext uri="{FF2B5EF4-FFF2-40B4-BE49-F238E27FC236}">
                <a16:creationId xmlns:a16="http://schemas.microsoft.com/office/drawing/2014/main" id="{041B0CDE-02F3-01A2-7AEF-A8C1C9D6FE8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panose="020B0604020202020204" pitchFamily="34" charset="0"/>
                <a:ea typeface="MS PGothic" panose="020B0600070205080204" pitchFamily="34" charset="-128"/>
              </a:defRPr>
            </a:lvl1pPr>
            <a:lvl2pPr marL="742950" indent="-285750">
              <a:defRPr sz="2800">
                <a:solidFill>
                  <a:schemeClr val="tx1"/>
                </a:solidFill>
                <a:latin typeface="Arial" panose="020B0604020202020204" pitchFamily="34" charset="0"/>
                <a:ea typeface="MS PGothic" panose="020B0600070205080204" pitchFamily="34" charset="-128"/>
              </a:defRPr>
            </a:lvl2pPr>
            <a:lvl3pPr marL="1143000" indent="-228600">
              <a:defRPr sz="2800">
                <a:solidFill>
                  <a:schemeClr val="tx1"/>
                </a:solidFill>
                <a:latin typeface="Arial" panose="020B0604020202020204" pitchFamily="34" charset="0"/>
                <a:ea typeface="MS PGothic" panose="020B0600070205080204" pitchFamily="34" charset="-128"/>
              </a:defRPr>
            </a:lvl3pPr>
            <a:lvl4pPr marL="1600200" indent="-228600">
              <a:defRPr sz="2800">
                <a:solidFill>
                  <a:schemeClr val="tx1"/>
                </a:solidFill>
                <a:latin typeface="Arial" panose="020B0604020202020204" pitchFamily="34" charset="0"/>
                <a:ea typeface="MS PGothic" panose="020B0600070205080204" pitchFamily="34" charset="-128"/>
              </a:defRPr>
            </a:lvl4pPr>
            <a:lvl5pPr marL="2057400" indent="-228600">
              <a:defRPr sz="28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9pPr>
          </a:lstStyle>
          <a:p>
            <a:fld id="{70EB9124-6040-E545-8CF4-61BFFCB2EE10}" type="slidenum">
              <a:rPr lang="en-US" altLang="en-US" sz="1200" smtClean="0">
                <a:latin typeface="Times New Roman" panose="02020603050405020304" pitchFamily="18" charset="0"/>
              </a:rPr>
              <a:pPr/>
              <a:t>21</a:t>
            </a:fld>
            <a:endParaRPr lang="en-US" altLang="en-US" sz="1200">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3940266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64608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25733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884363" y="1600200"/>
            <a:ext cx="343852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75288" y="1600200"/>
            <a:ext cx="3440112"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4454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531226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428407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0333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975737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184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74948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53275" y="381000"/>
            <a:ext cx="1827213" cy="57451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670050" y="381000"/>
            <a:ext cx="5330825" cy="5745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84716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NoBar-Two Content">
    <p:spTree>
      <p:nvGrpSpPr>
        <p:cNvPr id="1" name=""/>
        <p:cNvGrpSpPr/>
        <p:nvPr/>
      </p:nvGrpSpPr>
      <p:grpSpPr>
        <a:xfrm>
          <a:off x="0" y="0"/>
          <a:ext cx="0" cy="0"/>
          <a:chOff x="0" y="0"/>
          <a:chExt cx="0" cy="0"/>
        </a:xfrm>
      </p:grpSpPr>
      <p:sp>
        <p:nvSpPr>
          <p:cNvPr id="7" name="Slide Title"/>
          <p:cNvSpPr>
            <a:spLocks noGrp="1"/>
          </p:cNvSpPr>
          <p:nvPr>
            <p:ph type="title"/>
          </p:nvPr>
        </p:nvSpPr>
        <p:spPr>
          <a:xfrm>
            <a:off x="-1" y="228600"/>
            <a:ext cx="9144001" cy="609600"/>
          </a:xfrm>
          <a:prstGeom prst="rect">
            <a:avLst/>
          </a:prstGeom>
        </p:spPr>
        <p:txBody>
          <a:bodyPr/>
          <a:lstStyle>
            <a:lvl1pPr>
              <a:defRPr sz="3600">
                <a:solidFill>
                  <a:schemeClr val="bg2"/>
                </a:solidFill>
              </a:defRPr>
            </a:lvl1pPr>
          </a:lstStyle>
          <a:p>
            <a:r>
              <a:rPr lang="en-US" dirty="0"/>
              <a:t>Click to edit Master title style</a:t>
            </a:r>
          </a:p>
        </p:txBody>
      </p:sp>
      <p:sp>
        <p:nvSpPr>
          <p:cNvPr id="3" name="Content Placeholder 1"/>
          <p:cNvSpPr>
            <a:spLocks noGrp="1"/>
          </p:cNvSpPr>
          <p:nvPr>
            <p:ph sz="half" idx="1"/>
          </p:nvPr>
        </p:nvSpPr>
        <p:spPr>
          <a:xfrm>
            <a:off x="457200" y="914400"/>
            <a:ext cx="4038600" cy="5615940"/>
          </a:xfrm>
          <a:prstGeom prst="rect">
            <a:avLst/>
          </a:prstGeom>
        </p:spPr>
        <p:txBody>
          <a:bodyPr/>
          <a:lstStyle>
            <a:lvl1pPr marL="0" indent="0">
              <a:spcAft>
                <a:spcPts val="800"/>
              </a:spcAft>
              <a:buFont typeface="Arial" panose="020B0604020202020204" pitchFamily="34" charset="0"/>
              <a:buNone/>
              <a:defRPr sz="2400"/>
            </a:lvl1pPr>
            <a:lvl2pPr marL="800100" indent="-342900">
              <a:spcAft>
                <a:spcPts val="800"/>
              </a:spcAft>
              <a:buFont typeface="Arial" panose="020B0604020202020204" pitchFamily="34" charset="0"/>
              <a:buChar char="•"/>
              <a:defRPr sz="2000"/>
            </a:lvl2pPr>
            <a:lvl3pPr marL="1200150" indent="-285750">
              <a:spcAft>
                <a:spcPts val="800"/>
              </a:spcAft>
              <a:buFont typeface="Arial" panose="020B0604020202020204" pitchFamily="34" charset="0"/>
              <a:buChar char="•"/>
              <a:defRPr sz="1800"/>
            </a:lvl3pPr>
            <a:lvl4pPr marL="1657350" indent="-285750">
              <a:spcAft>
                <a:spcPts val="800"/>
              </a:spcAft>
              <a:buFont typeface="Arial" panose="020B0604020202020204" pitchFamily="34" charset="0"/>
              <a:buChar char="•"/>
              <a:defRPr sz="1600"/>
            </a:lvl4pPr>
            <a:lvl5pPr marL="2114550" indent="-285750">
              <a:spcAft>
                <a:spcPts val="800"/>
              </a:spcAft>
              <a:buFont typeface="Arial" panose="020B0604020202020204" pitchFamily="34" charset="0"/>
              <a:buChar cha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2"/>
          <p:cNvSpPr>
            <a:spLocks noGrp="1"/>
          </p:cNvSpPr>
          <p:nvPr>
            <p:ph sz="half" idx="2"/>
          </p:nvPr>
        </p:nvSpPr>
        <p:spPr>
          <a:xfrm>
            <a:off x="4648200" y="914400"/>
            <a:ext cx="4038600" cy="5615940"/>
          </a:xfrm>
          <a:prstGeom prst="rect">
            <a:avLst/>
          </a:prstGeom>
        </p:spPr>
        <p:txBody>
          <a:bodyPr/>
          <a:lstStyle>
            <a:lvl1pPr marL="0" indent="0">
              <a:spcAft>
                <a:spcPts val="800"/>
              </a:spcAft>
              <a:buFont typeface="Arial" panose="020B0604020202020204" pitchFamily="34" charset="0"/>
              <a:buNone/>
              <a:defRPr sz="2400"/>
            </a:lvl1pPr>
            <a:lvl2pPr marL="800100" indent="-342900">
              <a:spcAft>
                <a:spcPts val="800"/>
              </a:spcAft>
              <a:buFont typeface="Arial" panose="020B0604020202020204" pitchFamily="34" charset="0"/>
              <a:buChar char="•"/>
              <a:defRPr sz="2000"/>
            </a:lvl2pPr>
            <a:lvl3pPr marL="1200150" indent="-285750">
              <a:spcAft>
                <a:spcPts val="800"/>
              </a:spcAft>
              <a:buFont typeface="Arial" panose="020B0604020202020204" pitchFamily="34" charset="0"/>
              <a:buChar char="•"/>
              <a:defRPr sz="1800"/>
            </a:lvl3pPr>
            <a:lvl4pPr marL="1657350" indent="-285750">
              <a:spcAft>
                <a:spcPts val="800"/>
              </a:spcAft>
              <a:buFont typeface="Arial" panose="020B0604020202020204" pitchFamily="34" charset="0"/>
              <a:buChar char="•"/>
              <a:defRPr sz="1600"/>
            </a:lvl4pPr>
            <a:lvl5pPr marL="2114550" indent="-285750">
              <a:spcAft>
                <a:spcPts val="800"/>
              </a:spcAft>
              <a:buFont typeface="Arial" panose="020B0604020202020204" pitchFamily="34" charset="0"/>
              <a:buChar cha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Jump Link"/>
          <p:cNvSpPr>
            <a:spLocks noGrp="1"/>
          </p:cNvSpPr>
          <p:nvPr>
            <p:ph type="body" sz="quarter" idx="17"/>
          </p:nvPr>
        </p:nvSpPr>
        <p:spPr>
          <a:xfrm>
            <a:off x="3465912" y="6553200"/>
            <a:ext cx="2208976" cy="99950"/>
          </a:xfrm>
          <a:prstGeom prst="rect">
            <a:avLst/>
          </a:prstGeom>
        </p:spPr>
        <p:txBody>
          <a:bodyPr lIns="0" tIns="0" rIns="0" bIns="0"/>
          <a:lstStyle>
            <a:lvl1pPr marL="0" indent="0" algn="ctr">
              <a:buNone/>
              <a:defRPr sz="800"/>
            </a:lvl1pPr>
          </a:lstStyle>
          <a:p>
            <a:pPr lvl="0"/>
            <a:r>
              <a:rPr lang="en-US"/>
              <a:t>Edit Master text styles</a:t>
            </a:r>
          </a:p>
        </p:txBody>
      </p:sp>
      <p:sp>
        <p:nvSpPr>
          <p:cNvPr id="10" name="Photo Credit"/>
          <p:cNvSpPr>
            <a:spLocks noGrp="1"/>
          </p:cNvSpPr>
          <p:nvPr>
            <p:ph type="body" sz="quarter" idx="11"/>
          </p:nvPr>
        </p:nvSpPr>
        <p:spPr>
          <a:xfrm>
            <a:off x="5486400" y="6705600"/>
            <a:ext cx="3657600" cy="152400"/>
          </a:xfrm>
          <a:prstGeom prst="rect">
            <a:avLst/>
          </a:prstGeom>
        </p:spPr>
        <p:txBody>
          <a:bodyPr wrap="none" lIns="0" tIns="0" rIns="45720" bIns="0"/>
          <a:lstStyle>
            <a:lvl1pPr marL="0" indent="0" algn="r">
              <a:buNone/>
              <a:defRPr sz="800" baseline="0">
                <a:solidFill>
                  <a:srgbClr val="6A6A6A"/>
                </a:solidFill>
              </a:defRPr>
            </a:lvl1pPr>
            <a:lvl5pPr>
              <a:defRPr/>
            </a:lvl5pPr>
          </a:lstStyle>
          <a:p>
            <a:pPr lvl="0"/>
            <a:r>
              <a:rPr lang="en-US"/>
              <a:t>Edit Master text styles</a:t>
            </a:r>
          </a:p>
        </p:txBody>
      </p:sp>
    </p:spTree>
    <p:extLst>
      <p:ext uri="{BB962C8B-B14F-4D97-AF65-F5344CB8AC3E}">
        <p14:creationId xmlns:p14="http://schemas.microsoft.com/office/powerpoint/2010/main" val="1869794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5_Image with lefthand caption">
    <p:spTree>
      <p:nvGrpSpPr>
        <p:cNvPr id="1" name=""/>
        <p:cNvGrpSpPr/>
        <p:nvPr/>
      </p:nvGrpSpPr>
      <p:grpSpPr>
        <a:xfrm>
          <a:off x="0" y="0"/>
          <a:ext cx="0" cy="0"/>
          <a:chOff x="0" y="0"/>
          <a:chExt cx="0" cy="0"/>
        </a:xfrm>
      </p:grpSpPr>
      <p:sp>
        <p:nvSpPr>
          <p:cNvPr id="9" name="Picture Placeholder 8"/>
          <p:cNvSpPr>
            <a:spLocks noGrp="1"/>
          </p:cNvSpPr>
          <p:nvPr>
            <p:ph type="pic" sz="quarter" idx="15"/>
          </p:nvPr>
        </p:nvSpPr>
        <p:spPr>
          <a:xfrm>
            <a:off x="2895600" y="1752600"/>
            <a:ext cx="5638800" cy="4572000"/>
          </a:xfrm>
          <a:prstGeom prst="rect">
            <a:avLst/>
          </a:prstGeom>
          <a:ln w="19050">
            <a:noFill/>
          </a:ln>
        </p:spPr>
        <p:txBody>
          <a:bodyPr/>
          <a:lstStyle/>
          <a:p>
            <a:pPr lvl="0"/>
            <a:endParaRPr lang="en-US" noProof="0" dirty="0"/>
          </a:p>
        </p:txBody>
      </p:sp>
      <p:sp>
        <p:nvSpPr>
          <p:cNvPr id="13" name="Text Placeholder 10"/>
          <p:cNvSpPr>
            <a:spLocks noGrp="1"/>
          </p:cNvSpPr>
          <p:nvPr>
            <p:ph type="body" sz="quarter" idx="17"/>
          </p:nvPr>
        </p:nvSpPr>
        <p:spPr>
          <a:xfrm>
            <a:off x="457200" y="1775716"/>
            <a:ext cx="2133600" cy="3253483"/>
          </a:xfrm>
          <a:prstGeom prst="rect">
            <a:avLst/>
          </a:prstGeom>
        </p:spPr>
        <p:txBody>
          <a:bodyPr/>
          <a:lstStyle>
            <a:lvl1pPr marL="0" indent="0" algn="l">
              <a:buFont typeface="Arial" pitchFamily="34" charset="0"/>
              <a:buNone/>
              <a:defRPr sz="1200" b="0"/>
            </a:lvl1pPr>
            <a:lvl2pPr>
              <a:defRPr sz="1600"/>
            </a:lvl2pPr>
            <a:lvl3pPr>
              <a:defRPr sz="1400"/>
            </a:lvl3pPr>
            <a:lvl4pPr>
              <a:defRPr sz="1200"/>
            </a:lvl4pPr>
            <a:lvl5pPr>
              <a:defRPr sz="1200"/>
            </a:lvl5pPr>
          </a:lstStyle>
          <a:p>
            <a:pPr lvl="0"/>
            <a:r>
              <a:rPr lang="en-US" dirty="0"/>
              <a:t>Click to edit Master text styles</a:t>
            </a:r>
          </a:p>
        </p:txBody>
      </p:sp>
      <p:sp>
        <p:nvSpPr>
          <p:cNvPr id="14" name="Text Placeholder 10"/>
          <p:cNvSpPr>
            <a:spLocks noGrp="1"/>
          </p:cNvSpPr>
          <p:nvPr>
            <p:ph type="body" sz="quarter" idx="18"/>
          </p:nvPr>
        </p:nvSpPr>
        <p:spPr>
          <a:xfrm>
            <a:off x="457200" y="5257800"/>
            <a:ext cx="2133600" cy="228600"/>
          </a:xfrm>
          <a:prstGeom prst="rect">
            <a:avLst/>
          </a:prstGeom>
        </p:spPr>
        <p:txBody>
          <a:bodyPr/>
          <a:lstStyle>
            <a:lvl1pPr marL="0" indent="0" algn="l">
              <a:buFont typeface="Arial" pitchFamily="34" charset="0"/>
              <a:buNone/>
              <a:defRPr sz="1200" b="1" baseline="0"/>
            </a:lvl1pPr>
            <a:lvl2pPr>
              <a:defRPr sz="1600"/>
            </a:lvl2pPr>
            <a:lvl3pPr>
              <a:defRPr sz="1400"/>
            </a:lvl3pPr>
            <a:lvl4pPr>
              <a:defRPr sz="1200"/>
            </a:lvl4pPr>
            <a:lvl5pPr>
              <a:defRPr sz="1200"/>
            </a:lvl5pPr>
          </a:lstStyle>
          <a:p>
            <a:pPr lvl="0"/>
            <a:r>
              <a:rPr lang="en-US" dirty="0"/>
              <a:t>Click to edit Master text styles</a:t>
            </a:r>
          </a:p>
        </p:txBody>
      </p:sp>
      <p:sp>
        <p:nvSpPr>
          <p:cNvPr id="16" name="Text Placeholder 10"/>
          <p:cNvSpPr>
            <a:spLocks noGrp="1"/>
          </p:cNvSpPr>
          <p:nvPr>
            <p:ph type="body" sz="quarter" idx="21"/>
          </p:nvPr>
        </p:nvSpPr>
        <p:spPr>
          <a:xfrm>
            <a:off x="1485900" y="990600"/>
            <a:ext cx="6172200" cy="381000"/>
          </a:xfrm>
          <a:prstGeom prst="rect">
            <a:avLst/>
          </a:prstGeom>
        </p:spPr>
        <p:txBody>
          <a:bodyPr/>
          <a:lstStyle>
            <a:lvl1pPr marL="0" indent="0" algn="ctr">
              <a:buNone/>
              <a:defRPr sz="2000" b="1" i="1">
                <a:solidFill>
                  <a:srgbClr val="9F0F10"/>
                </a:solidFill>
                <a:latin typeface="Calibri" panose="020F0502020204030204" pitchFamily="34" charset="0"/>
                <a:cs typeface="Calibri" panose="020F0502020204030204" pitchFamily="34" charset="0"/>
              </a:defRPr>
            </a:lvl1pPr>
            <a:lvl2pPr algn="ctr">
              <a:defRPr sz="2000">
                <a:latin typeface="Calibri" panose="020F0502020204030204" pitchFamily="34" charset="0"/>
                <a:cs typeface="Calibri" panose="020F0502020204030204" pitchFamily="34" charset="0"/>
              </a:defRPr>
            </a:lvl2pPr>
            <a:lvl3pPr algn="ctr">
              <a:defRPr sz="1800">
                <a:latin typeface="Calibri" panose="020F0502020204030204" pitchFamily="34" charset="0"/>
                <a:cs typeface="Calibri" panose="020F0502020204030204" pitchFamily="34" charset="0"/>
              </a:defRPr>
            </a:lvl3pPr>
            <a:lvl4pPr algn="ctr">
              <a:defRPr sz="1600">
                <a:latin typeface="Calibri" panose="020F0502020204030204" pitchFamily="34" charset="0"/>
                <a:cs typeface="Calibri" panose="020F0502020204030204" pitchFamily="34" charset="0"/>
              </a:defRPr>
            </a:lvl4pPr>
            <a:lvl5pPr algn="ctr">
              <a:defRPr sz="1600">
                <a:latin typeface="Calibri" panose="020F0502020204030204" pitchFamily="34" charset="0"/>
                <a:cs typeface="Calibri" panose="020F0502020204030204" pitchFamily="34" charset="0"/>
              </a:defRPr>
            </a:lvl5pPr>
          </a:lstStyle>
          <a:p>
            <a:pPr lvl="0"/>
            <a:r>
              <a:rPr lang="en-US" dirty="0"/>
              <a:t>Click to edit Master text styles</a:t>
            </a:r>
          </a:p>
        </p:txBody>
      </p:sp>
    </p:spTree>
    <p:extLst>
      <p:ext uri="{BB962C8B-B14F-4D97-AF65-F5344CB8AC3E}">
        <p14:creationId xmlns:p14="http://schemas.microsoft.com/office/powerpoint/2010/main" val="35541510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2_Standard Page">
    <p:spTree>
      <p:nvGrpSpPr>
        <p:cNvPr id="1" name=""/>
        <p:cNvGrpSpPr/>
        <p:nvPr/>
      </p:nvGrpSpPr>
      <p:grpSpPr>
        <a:xfrm>
          <a:off x="0" y="0"/>
          <a:ext cx="0" cy="0"/>
          <a:chOff x="0" y="0"/>
          <a:chExt cx="0" cy="0"/>
        </a:xfrm>
      </p:grpSpPr>
      <p:pic>
        <p:nvPicPr>
          <p:cNvPr id="2" name="Picture 35" descr="main">
            <a:extLst>
              <a:ext uri="{FF2B5EF4-FFF2-40B4-BE49-F238E27FC236}">
                <a16:creationId xmlns:a16="http://schemas.microsoft.com/office/drawing/2014/main" id="{5FBE63B7-0E44-9730-BCDB-047C2BF40A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42">
            <a:extLst>
              <a:ext uri="{FF2B5EF4-FFF2-40B4-BE49-F238E27FC236}">
                <a16:creationId xmlns:a16="http://schemas.microsoft.com/office/drawing/2014/main" id="{8114C731-355D-19F7-D9A6-E9070FD9D5CF}"/>
              </a:ext>
            </a:extLst>
          </p:cNvPr>
          <p:cNvSpPr>
            <a:spLocks noChangeArrowheads="1"/>
          </p:cNvSpPr>
          <p:nvPr/>
        </p:nvSpPr>
        <p:spPr bwMode="auto">
          <a:xfrm>
            <a:off x="0" y="6477000"/>
            <a:ext cx="9144000" cy="381000"/>
          </a:xfrm>
          <a:prstGeom prst="rect">
            <a:avLst/>
          </a:prstGeom>
          <a:solidFill>
            <a:srgbClr val="9F0F10"/>
          </a:solidFill>
          <a:ln w="952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defRPr/>
            </a:pPr>
            <a:endParaRPr lang="en-US" dirty="0"/>
          </a:p>
        </p:txBody>
      </p:sp>
      <p:sp>
        <p:nvSpPr>
          <p:cNvPr id="5" name="Text Box 36">
            <a:extLst>
              <a:ext uri="{FF2B5EF4-FFF2-40B4-BE49-F238E27FC236}">
                <a16:creationId xmlns:a16="http://schemas.microsoft.com/office/drawing/2014/main" id="{95272A97-009F-FDD7-4A8C-68AB25E6F98F}"/>
              </a:ext>
            </a:extLst>
          </p:cNvPr>
          <p:cNvSpPr txBox="1">
            <a:spLocks noChangeArrowheads="1"/>
          </p:cNvSpPr>
          <p:nvPr/>
        </p:nvSpPr>
        <p:spPr bwMode="auto">
          <a:xfrm>
            <a:off x="0" y="6521450"/>
            <a:ext cx="695325" cy="336550"/>
          </a:xfrm>
          <a:prstGeom prst="rect">
            <a:avLst/>
          </a:prstGeom>
          <a:noFill/>
          <a:ln w="12700">
            <a:noFill/>
            <a:miter lim="800000"/>
            <a:headEnd/>
            <a:tailEnd/>
          </a:ln>
          <a:effectLst/>
        </p:spPr>
        <p:txBody>
          <a:bodyPr>
            <a:spAutoFit/>
          </a:bodyPr>
          <a:lstStyle>
            <a:lvl1pPr>
              <a:defRPr sz="2800">
                <a:solidFill>
                  <a:schemeClr val="tx1"/>
                </a:solidFill>
                <a:latin typeface="Arial" panose="020B0604020202020204" pitchFamily="34" charset="0"/>
                <a:ea typeface="MS PGothic" panose="020B0600070205080204" pitchFamily="34" charset="-128"/>
              </a:defRPr>
            </a:lvl1pPr>
            <a:lvl2pPr marL="742950" indent="-285750">
              <a:defRPr sz="2800">
                <a:solidFill>
                  <a:schemeClr val="tx1"/>
                </a:solidFill>
                <a:latin typeface="Arial" panose="020B0604020202020204" pitchFamily="34" charset="0"/>
                <a:ea typeface="MS PGothic" panose="020B0600070205080204" pitchFamily="34" charset="-128"/>
              </a:defRPr>
            </a:lvl2pPr>
            <a:lvl3pPr marL="1143000" indent="-228600">
              <a:defRPr sz="2800">
                <a:solidFill>
                  <a:schemeClr val="tx1"/>
                </a:solidFill>
                <a:latin typeface="Arial" panose="020B0604020202020204" pitchFamily="34" charset="0"/>
                <a:ea typeface="MS PGothic" panose="020B0600070205080204" pitchFamily="34" charset="-128"/>
              </a:defRPr>
            </a:lvl3pPr>
            <a:lvl4pPr marL="1600200" indent="-228600">
              <a:defRPr sz="2800">
                <a:solidFill>
                  <a:schemeClr val="tx1"/>
                </a:solidFill>
                <a:latin typeface="Arial" panose="020B0604020202020204" pitchFamily="34" charset="0"/>
                <a:ea typeface="MS PGothic" panose="020B0600070205080204" pitchFamily="34" charset="-128"/>
              </a:defRPr>
            </a:lvl4pPr>
            <a:lvl5pPr marL="2057400" indent="-228600">
              <a:defRPr sz="28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9pPr>
          </a:lstStyle>
          <a:p>
            <a:pPr>
              <a:spcBef>
                <a:spcPct val="50000"/>
              </a:spcBef>
              <a:defRPr/>
            </a:pPr>
            <a:r>
              <a:rPr lang="en-US" altLang="en-US" sz="1600" b="1">
                <a:solidFill>
                  <a:srgbClr val="FFB060"/>
                </a:solidFill>
              </a:rPr>
              <a:t>1.</a:t>
            </a:r>
            <a:fld id="{5949A8D8-425C-C44E-ACAC-969547DF326B}" type="slidenum">
              <a:rPr lang="en-US" altLang="en-US" sz="1600" b="1" smtClean="0">
                <a:solidFill>
                  <a:srgbClr val="FFB060"/>
                </a:solidFill>
              </a:rPr>
              <a:pPr>
                <a:spcBef>
                  <a:spcPct val="50000"/>
                </a:spcBef>
                <a:defRPr/>
              </a:pPr>
              <a:t>‹#›</a:t>
            </a:fld>
            <a:endParaRPr lang="en-US" altLang="en-US" sz="1600" b="1">
              <a:solidFill>
                <a:srgbClr val="FFB060"/>
              </a:solidFill>
            </a:endParaRPr>
          </a:p>
        </p:txBody>
      </p:sp>
      <p:sp>
        <p:nvSpPr>
          <p:cNvPr id="6" name="Text Box 37">
            <a:extLst>
              <a:ext uri="{FF2B5EF4-FFF2-40B4-BE49-F238E27FC236}">
                <a16:creationId xmlns:a16="http://schemas.microsoft.com/office/drawing/2014/main" id="{1C3100EA-3732-F320-FF32-71977F6E74A2}"/>
              </a:ext>
            </a:extLst>
          </p:cNvPr>
          <p:cNvSpPr txBox="1">
            <a:spLocks noChangeArrowheads="1"/>
          </p:cNvSpPr>
          <p:nvPr/>
        </p:nvSpPr>
        <p:spPr bwMode="auto">
          <a:xfrm>
            <a:off x="5334000" y="6550025"/>
            <a:ext cx="3810000" cy="304800"/>
          </a:xfrm>
          <a:prstGeom prst="rect">
            <a:avLst/>
          </a:prstGeom>
          <a:noFill/>
          <a:ln w="12700">
            <a:noFill/>
            <a:miter lim="800000"/>
            <a:headEnd/>
            <a:tailEnd/>
          </a:ln>
          <a:effec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50000"/>
              </a:spcBef>
              <a:defRPr/>
            </a:pPr>
            <a:r>
              <a:rPr lang="en-US" altLang="en-US" sz="1400" b="1">
                <a:solidFill>
                  <a:srgbClr val="FFB060"/>
                </a:solidFill>
              </a:rPr>
              <a:t>Copyright © 2014 Pearson Education</a:t>
            </a:r>
            <a:endParaRPr lang="en-US" altLang="en-US" sz="1400">
              <a:solidFill>
                <a:srgbClr val="FFB060"/>
              </a:solidFill>
            </a:endParaRPr>
          </a:p>
        </p:txBody>
      </p:sp>
      <p:sp>
        <p:nvSpPr>
          <p:cNvPr id="7" name="Text Box 39">
            <a:extLst>
              <a:ext uri="{FF2B5EF4-FFF2-40B4-BE49-F238E27FC236}">
                <a16:creationId xmlns:a16="http://schemas.microsoft.com/office/drawing/2014/main" id="{526AAC32-37B9-167C-07F3-E9CC6A1B1C12}"/>
              </a:ext>
            </a:extLst>
          </p:cNvPr>
          <p:cNvSpPr txBox="1">
            <a:spLocks noChangeArrowheads="1"/>
          </p:cNvSpPr>
          <p:nvPr/>
        </p:nvSpPr>
        <p:spPr bwMode="auto">
          <a:xfrm>
            <a:off x="1752600" y="990600"/>
            <a:ext cx="6019800" cy="457200"/>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defRPr/>
            </a:pPr>
            <a:endParaRPr lang="en-US" dirty="0"/>
          </a:p>
        </p:txBody>
      </p:sp>
      <p:sp>
        <p:nvSpPr>
          <p:cNvPr id="8" name="Rectangle 7">
            <a:extLst>
              <a:ext uri="{FF2B5EF4-FFF2-40B4-BE49-F238E27FC236}">
                <a16:creationId xmlns:a16="http://schemas.microsoft.com/office/drawing/2014/main" id="{E2983CB6-8011-DE89-C3D8-E30412851E8F}"/>
              </a:ext>
            </a:extLst>
          </p:cNvPr>
          <p:cNvSpPr>
            <a:spLocks noChangeArrowheads="1"/>
          </p:cNvSpPr>
          <p:nvPr userDrawn="1"/>
        </p:nvSpPr>
        <p:spPr bwMode="auto">
          <a:xfrm>
            <a:off x="0" y="0"/>
            <a:ext cx="9144000" cy="523875"/>
          </a:xfrm>
          <a:prstGeom prst="rect">
            <a:avLst/>
          </a:prstGeom>
          <a:noFill/>
          <a:ln>
            <a:noFill/>
          </a:ln>
        </p:spPr>
        <p:txBody>
          <a:bodyPr lIns="90488" tIns="44450" rIns="90488" bIns="44450"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defRPr/>
            </a:pPr>
            <a:r>
              <a:rPr lang="en-US" altLang="en-US" sz="2000" b="1">
                <a:latin typeface="Cambria" panose="02040503050406030204" pitchFamily="18" charset="0"/>
              </a:rPr>
              <a:t>Management Information Systems, Global Edition</a:t>
            </a:r>
            <a:endParaRPr lang="en-US" altLang="en-US" sz="1600" b="1">
              <a:latin typeface="Cambria" panose="02040503050406030204" pitchFamily="18" charset="0"/>
            </a:endParaRPr>
          </a:p>
        </p:txBody>
      </p:sp>
      <p:sp>
        <p:nvSpPr>
          <p:cNvPr id="9" name="Title 1">
            <a:extLst>
              <a:ext uri="{FF2B5EF4-FFF2-40B4-BE49-F238E27FC236}">
                <a16:creationId xmlns:a16="http://schemas.microsoft.com/office/drawing/2014/main" id="{1E084529-9F8E-4390-825D-877E9E96C151}"/>
              </a:ext>
            </a:extLst>
          </p:cNvPr>
          <p:cNvSpPr txBox="1">
            <a:spLocks/>
          </p:cNvSpPr>
          <p:nvPr userDrawn="1"/>
        </p:nvSpPr>
        <p:spPr bwMode="auto">
          <a:xfrm>
            <a:off x="0" y="457200"/>
            <a:ext cx="9144000" cy="304800"/>
          </a:xfrm>
          <a:prstGeom prst="rect">
            <a:avLst/>
          </a:prstGeom>
          <a:noFill/>
          <a:ln>
            <a:noFill/>
          </a:ln>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r>
              <a:rPr lang="en-US" sz="1800" b="1" dirty="0">
                <a:latin typeface="Calibri" panose="020F0502020204030204" pitchFamily="34" charset="0"/>
                <a:ea typeface="ＭＳ Ｐゴシック" panose="020B0600070205080204" pitchFamily="34" charset="-128"/>
                <a:cs typeface="Calibri" panose="020F0502020204030204" pitchFamily="34" charset="0"/>
              </a:rPr>
              <a:t>Chapter 1: Information Systems in Global Business Today</a:t>
            </a:r>
          </a:p>
        </p:txBody>
      </p:sp>
      <p:sp>
        <p:nvSpPr>
          <p:cNvPr id="10" name="TextBox 9">
            <a:extLst>
              <a:ext uri="{FF2B5EF4-FFF2-40B4-BE49-F238E27FC236}">
                <a16:creationId xmlns:a16="http://schemas.microsoft.com/office/drawing/2014/main" id="{ACE61439-F3CA-751D-CBC9-B2BAE94E5D0B}"/>
              </a:ext>
            </a:extLst>
          </p:cNvPr>
          <p:cNvSpPr txBox="1">
            <a:spLocks noChangeArrowheads="1"/>
          </p:cNvSpPr>
          <p:nvPr userDrawn="1"/>
        </p:nvSpPr>
        <p:spPr bwMode="auto">
          <a:xfrm>
            <a:off x="1676400" y="1828800"/>
            <a:ext cx="184150" cy="461963"/>
          </a:xfrm>
          <a:prstGeom prst="rect">
            <a:avLst/>
          </a:prstGeom>
          <a:noFill/>
          <a:ln>
            <a:noFill/>
          </a:ln>
        </p:spPr>
        <p:txBody>
          <a:bodyPr wrap="none">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defRPr/>
            </a:pPr>
            <a:endParaRPr lang="en-US" dirty="0">
              <a:ea typeface="+mn-ea"/>
            </a:endParaRPr>
          </a:p>
        </p:txBody>
      </p:sp>
      <p:sp>
        <p:nvSpPr>
          <p:cNvPr id="3" name="Content Placeholder 2"/>
          <p:cNvSpPr>
            <a:spLocks noGrp="1"/>
          </p:cNvSpPr>
          <p:nvPr>
            <p:ph idx="1"/>
          </p:nvPr>
        </p:nvSpPr>
        <p:spPr>
          <a:xfrm>
            <a:off x="457200" y="1828800"/>
            <a:ext cx="8229600" cy="4495800"/>
          </a:xfrm>
          <a:prstGeom prst="rect">
            <a:avLst/>
          </a:prstGeom>
        </p:spPr>
        <p:txBody>
          <a:bodyPr/>
          <a:lstStyle>
            <a:lvl1pPr>
              <a:lnSpc>
                <a:spcPct val="90000"/>
              </a:lnSpc>
              <a:spcBef>
                <a:spcPts val="800"/>
              </a:spcBef>
              <a:spcAft>
                <a:spcPts val="800"/>
              </a:spcAft>
              <a:defRPr sz="3200" b="1">
                <a:solidFill>
                  <a:schemeClr val="tx1">
                    <a:lumMod val="95000"/>
                    <a:lumOff val="5000"/>
                  </a:schemeClr>
                </a:solidFill>
                <a:latin typeface="Calibri" pitchFamily="34" charset="0"/>
              </a:defRPr>
            </a:lvl1pPr>
            <a:lvl2pPr>
              <a:lnSpc>
                <a:spcPct val="90000"/>
              </a:lnSpc>
              <a:spcBef>
                <a:spcPts val="400"/>
              </a:spcBef>
              <a:spcAft>
                <a:spcPts val="600"/>
              </a:spcAft>
              <a:defRPr sz="2600" b="1">
                <a:latin typeface="Calibri" pitchFamily="34" charset="0"/>
              </a:defRPr>
            </a:lvl2pPr>
            <a:lvl3pPr>
              <a:lnSpc>
                <a:spcPct val="90000"/>
              </a:lnSpc>
              <a:spcBef>
                <a:spcPts val="200"/>
              </a:spcBef>
              <a:spcAft>
                <a:spcPts val="400"/>
              </a:spcAft>
              <a:defRPr sz="2400">
                <a:latin typeface="Calibri" pitchFamily="34" charset="0"/>
              </a:defRPr>
            </a:lvl3pPr>
            <a:lvl4pPr>
              <a:spcBef>
                <a:spcPts val="200"/>
              </a:spcBef>
              <a:spcAft>
                <a:spcPts val="400"/>
              </a:spcAft>
              <a:defRPr sz="2000">
                <a:latin typeface="Calibri" pitchFamily="34" charset="0"/>
              </a:defRPr>
            </a:lvl4pPr>
            <a:lvl5pPr>
              <a:spcBef>
                <a:spcPts val="200"/>
              </a:spcBef>
              <a:spcAft>
                <a:spcPts val="400"/>
              </a:spcAft>
              <a:defRPr sz="2000">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p:cNvSpPr>
            <a:spLocks noGrp="1"/>
          </p:cNvSpPr>
          <p:nvPr>
            <p:ph type="body" sz="quarter" idx="15"/>
          </p:nvPr>
        </p:nvSpPr>
        <p:spPr>
          <a:xfrm>
            <a:off x="1485900" y="990600"/>
            <a:ext cx="6172200" cy="381000"/>
          </a:xfrm>
          <a:prstGeom prst="rect">
            <a:avLst/>
          </a:prstGeom>
        </p:spPr>
        <p:txBody>
          <a:bodyPr/>
          <a:lstStyle>
            <a:lvl1pPr marL="0" indent="0" algn="ctr">
              <a:buNone/>
              <a:defRPr sz="2000" b="1">
                <a:latin typeface="Calibri" panose="020F0502020204030204" pitchFamily="34" charset="0"/>
                <a:cs typeface="Calibri" panose="020F0502020204030204" pitchFamily="34" charset="0"/>
              </a:defRPr>
            </a:lvl1pPr>
            <a:lvl2pPr algn="ctr">
              <a:defRPr sz="2000">
                <a:latin typeface="Calibri" panose="020F0502020204030204" pitchFamily="34" charset="0"/>
                <a:cs typeface="Calibri" panose="020F0502020204030204" pitchFamily="34" charset="0"/>
              </a:defRPr>
            </a:lvl2pPr>
            <a:lvl3pPr algn="ctr">
              <a:defRPr sz="1800">
                <a:latin typeface="Calibri" panose="020F0502020204030204" pitchFamily="34" charset="0"/>
                <a:cs typeface="Calibri" panose="020F0502020204030204" pitchFamily="34" charset="0"/>
              </a:defRPr>
            </a:lvl3pPr>
            <a:lvl4pPr algn="ctr">
              <a:defRPr sz="1600">
                <a:latin typeface="Calibri" panose="020F0502020204030204" pitchFamily="34" charset="0"/>
                <a:cs typeface="Calibri" panose="020F0502020204030204" pitchFamily="34" charset="0"/>
              </a:defRPr>
            </a:lvl4pPr>
            <a:lvl5pPr algn="ctr">
              <a:defRPr sz="1600">
                <a:latin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415520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8">
            <a:extLst>
              <a:ext uri="{FF2B5EF4-FFF2-40B4-BE49-F238E27FC236}">
                <a16:creationId xmlns:a16="http://schemas.microsoft.com/office/drawing/2014/main" id="{5258D2C9-A420-7EAA-8061-D6BC96052A27}"/>
              </a:ext>
            </a:extLst>
          </p:cNvPr>
          <p:cNvSpPr>
            <a:spLocks noChangeArrowheads="1"/>
          </p:cNvSpPr>
          <p:nvPr userDrawn="1"/>
        </p:nvSpPr>
        <p:spPr bwMode="auto">
          <a:xfrm>
            <a:off x="1670050" y="6553200"/>
            <a:ext cx="7473950" cy="152400"/>
          </a:xfrm>
          <a:prstGeom prst="rect">
            <a:avLst/>
          </a:prstGeom>
          <a:noFill/>
          <a:ln>
            <a:noFill/>
          </a:ln>
        </p:spPr>
        <p:txBody>
          <a:bodyPr/>
          <a:lstStyle>
            <a:lvl1pPr eaLnBrk="0" hangingPunct="0">
              <a:defRPr sz="2800">
                <a:solidFill>
                  <a:schemeClr val="tx1"/>
                </a:solidFill>
                <a:latin typeface="Arial" panose="020B0604020202020204" pitchFamily="34" charset="0"/>
                <a:ea typeface="MS PGothic" panose="020B0600070205080204" pitchFamily="34" charset="-128"/>
              </a:defRPr>
            </a:lvl1pPr>
            <a:lvl2pPr marL="742950" indent="-285750" eaLnBrk="0" hangingPunct="0">
              <a:defRPr sz="2800">
                <a:solidFill>
                  <a:schemeClr val="tx1"/>
                </a:solidFill>
                <a:latin typeface="Arial" panose="020B0604020202020204" pitchFamily="34" charset="0"/>
                <a:ea typeface="MS PGothic" panose="020B0600070205080204" pitchFamily="34" charset="-128"/>
              </a:defRPr>
            </a:lvl2pPr>
            <a:lvl3pPr marL="1143000" indent="-228600" eaLnBrk="0" hangingPunct="0">
              <a:defRPr sz="2800">
                <a:solidFill>
                  <a:schemeClr val="tx1"/>
                </a:solidFill>
                <a:latin typeface="Arial" panose="020B0604020202020204" pitchFamily="34" charset="0"/>
                <a:ea typeface="MS PGothic" panose="020B0600070205080204" pitchFamily="34" charset="-128"/>
              </a:defRPr>
            </a:lvl3pPr>
            <a:lvl4pPr marL="1600200" indent="-228600" eaLnBrk="0" hangingPunct="0">
              <a:defRPr sz="2800">
                <a:solidFill>
                  <a:schemeClr val="tx1"/>
                </a:solidFill>
                <a:latin typeface="Arial" panose="020B0604020202020204" pitchFamily="34" charset="0"/>
                <a:ea typeface="MS PGothic" panose="020B0600070205080204" pitchFamily="34" charset="-128"/>
              </a:defRPr>
            </a:lvl4pPr>
            <a:lvl5pPr marL="2057400" indent="-228600" eaLnBrk="0" hangingPunct="0">
              <a:defRPr sz="28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9pPr>
          </a:lstStyle>
          <a:p>
            <a:pPr algn="ctr" eaLnBrk="1" hangingPunct="1">
              <a:defRPr/>
            </a:pPr>
            <a:endParaRPr lang="th-TH" sz="1400">
              <a:latin typeface="Times New Roman" panose="02020603050405020304" pitchFamily="18" charset="0"/>
            </a:endParaRPr>
          </a:p>
        </p:txBody>
      </p:sp>
      <p:sp>
        <p:nvSpPr>
          <p:cNvPr id="1027" name="Rectangle 9">
            <a:extLst>
              <a:ext uri="{FF2B5EF4-FFF2-40B4-BE49-F238E27FC236}">
                <a16:creationId xmlns:a16="http://schemas.microsoft.com/office/drawing/2014/main" id="{3E5AFA86-F560-A26F-220B-94C154AC7FC7}"/>
              </a:ext>
            </a:extLst>
          </p:cNvPr>
          <p:cNvSpPr>
            <a:spLocks noGrp="1" noChangeArrowheads="1"/>
          </p:cNvSpPr>
          <p:nvPr>
            <p:ph type="title"/>
          </p:nvPr>
        </p:nvSpPr>
        <p:spPr bwMode="auto">
          <a:xfrm>
            <a:off x="1670050" y="381000"/>
            <a:ext cx="731043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10">
            <a:extLst>
              <a:ext uri="{FF2B5EF4-FFF2-40B4-BE49-F238E27FC236}">
                <a16:creationId xmlns:a16="http://schemas.microsoft.com/office/drawing/2014/main" id="{B54FE449-471D-C0D7-A937-C7A0ADA36EC3}"/>
              </a:ext>
            </a:extLst>
          </p:cNvPr>
          <p:cNvSpPr>
            <a:spLocks noGrp="1" noChangeArrowheads="1"/>
          </p:cNvSpPr>
          <p:nvPr>
            <p:ph type="body" idx="1"/>
          </p:nvPr>
        </p:nvSpPr>
        <p:spPr bwMode="auto">
          <a:xfrm>
            <a:off x="1884363" y="1600200"/>
            <a:ext cx="7031037"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5" name="Rectangle 11">
            <a:extLst>
              <a:ext uri="{FF2B5EF4-FFF2-40B4-BE49-F238E27FC236}">
                <a16:creationId xmlns:a16="http://schemas.microsoft.com/office/drawing/2014/main" id="{E387FC92-81AF-5BA2-BDB0-86E48D0884AE}"/>
              </a:ext>
            </a:extLst>
          </p:cNvPr>
          <p:cNvSpPr>
            <a:spLocks noChangeArrowheads="1"/>
          </p:cNvSpPr>
          <p:nvPr userDrawn="1"/>
        </p:nvSpPr>
        <p:spPr bwMode="auto">
          <a:xfrm>
            <a:off x="0" y="0"/>
            <a:ext cx="533400" cy="6858000"/>
          </a:xfrm>
          <a:prstGeom prst="rect">
            <a:avLst/>
          </a:prstGeom>
          <a:solidFill>
            <a:srgbClr val="F4835A"/>
          </a:solidFill>
          <a:ln w="0">
            <a:solidFill>
              <a:schemeClr val="tx1"/>
            </a:solidFill>
            <a:miter lim="800000"/>
            <a:headEnd/>
            <a:tailEnd/>
          </a:ln>
          <a:effectLst/>
        </p:spPr>
        <p:txBody>
          <a:bodyPr wrap="none" anchor="ctr"/>
          <a:lstStyle/>
          <a:p>
            <a:pPr algn="ctr" eaLnBrk="1" hangingPunct="1">
              <a:defRPr/>
            </a:pPr>
            <a:endParaRPr lang="en-US">
              <a:effectLst>
                <a:outerShdw blurRad="38100" dist="38100" dir="2700000" algn="tl">
                  <a:srgbClr val="000000">
                    <a:alpha val="43137"/>
                  </a:srgbClr>
                </a:outerShdw>
              </a:effectLst>
              <a:latin typeface="Arial" charset="0"/>
              <a:ea typeface="+mn-ea"/>
            </a:endParaRPr>
          </a:p>
        </p:txBody>
      </p:sp>
      <p:sp>
        <p:nvSpPr>
          <p:cNvPr id="1037" name="Rectangle 13">
            <a:extLst>
              <a:ext uri="{FF2B5EF4-FFF2-40B4-BE49-F238E27FC236}">
                <a16:creationId xmlns:a16="http://schemas.microsoft.com/office/drawing/2014/main" id="{FD4C5C05-5A42-21B7-6EE2-BA86DE7A2ACD}"/>
              </a:ext>
            </a:extLst>
          </p:cNvPr>
          <p:cNvSpPr>
            <a:spLocks noChangeArrowheads="1"/>
          </p:cNvSpPr>
          <p:nvPr userDrawn="1"/>
        </p:nvSpPr>
        <p:spPr bwMode="auto">
          <a:xfrm>
            <a:off x="533400" y="0"/>
            <a:ext cx="8610600" cy="381000"/>
          </a:xfrm>
          <a:prstGeom prst="rect">
            <a:avLst/>
          </a:prstGeom>
          <a:solidFill>
            <a:srgbClr val="3034B2"/>
          </a:solidFill>
          <a:ln w="0">
            <a:solidFill>
              <a:schemeClr val="tx1"/>
            </a:solidFill>
            <a:miter lim="800000"/>
            <a:headEnd/>
            <a:tailEnd/>
          </a:ln>
          <a:effectLst/>
        </p:spPr>
        <p:txBody>
          <a:bodyPr wrap="none" anchor="ctr"/>
          <a:lstStyle/>
          <a:p>
            <a:pPr algn="ctr" eaLnBrk="1" hangingPunct="1">
              <a:defRPr/>
            </a:pPr>
            <a:endParaRPr lang="en-US">
              <a:effectLst>
                <a:outerShdw blurRad="38100" dist="38100" dir="2700000" algn="tl">
                  <a:srgbClr val="000000">
                    <a:alpha val="43137"/>
                  </a:srgbClr>
                </a:outerShdw>
              </a:effectLst>
              <a:latin typeface="Arial" charset="0"/>
              <a:ea typeface="+mn-ea"/>
            </a:endParaRPr>
          </a:p>
        </p:txBody>
      </p:sp>
      <p:sp>
        <p:nvSpPr>
          <p:cNvPr id="1043" name="Rectangle 19">
            <a:extLst>
              <a:ext uri="{FF2B5EF4-FFF2-40B4-BE49-F238E27FC236}">
                <a16:creationId xmlns:a16="http://schemas.microsoft.com/office/drawing/2014/main" id="{C202A241-1C7B-B3B4-AD0B-45057E9293A3}"/>
              </a:ext>
            </a:extLst>
          </p:cNvPr>
          <p:cNvSpPr>
            <a:spLocks noChangeArrowheads="1"/>
          </p:cNvSpPr>
          <p:nvPr userDrawn="1"/>
        </p:nvSpPr>
        <p:spPr bwMode="auto">
          <a:xfrm>
            <a:off x="0" y="0"/>
            <a:ext cx="533400" cy="381000"/>
          </a:xfrm>
          <a:prstGeom prst="rect">
            <a:avLst/>
          </a:prstGeom>
          <a:solidFill>
            <a:srgbClr val="C6040B"/>
          </a:solidFill>
          <a:ln w="0">
            <a:solidFill>
              <a:schemeClr val="tx1"/>
            </a:solidFill>
            <a:miter lim="800000"/>
            <a:headEnd/>
            <a:tailEnd/>
          </a:ln>
          <a:effectLst/>
        </p:spPr>
        <p:txBody>
          <a:bodyPr wrap="none" anchor="ctr"/>
          <a:lstStyle/>
          <a:p>
            <a:pPr algn="ctr" eaLnBrk="1" hangingPunct="1">
              <a:defRPr/>
            </a:pPr>
            <a:endParaRPr lang="en-US">
              <a:effectLst>
                <a:outerShdw blurRad="38100" dist="38100" dir="2700000" algn="tl">
                  <a:srgbClr val="000000">
                    <a:alpha val="43137"/>
                  </a:srgbClr>
                </a:outerShdw>
              </a:effectLst>
              <a:latin typeface="Arial" charset="0"/>
              <a:ea typeface="+mn-ea"/>
            </a:endParaRPr>
          </a:p>
        </p:txBody>
      </p:sp>
    </p:spTree>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 id="2147483847" r:id="rId12"/>
    <p:sldLayoutId id="2147483848" r:id="rId13"/>
    <p:sldLayoutId id="2147483849" r:id="rId14"/>
  </p:sldLayoutIdLst>
  <p:txStyles>
    <p:titleStyle>
      <a:lvl1pPr algn="l" rtl="0" eaLnBrk="0" fontAlgn="base" hangingPunct="0">
        <a:lnSpc>
          <a:spcPct val="85000"/>
        </a:lnSpc>
        <a:spcBef>
          <a:spcPct val="0"/>
        </a:spcBef>
        <a:spcAft>
          <a:spcPct val="0"/>
        </a:spcAft>
        <a:defRPr sz="2800" b="1">
          <a:solidFill>
            <a:srgbClr val="C6040B"/>
          </a:solidFill>
          <a:latin typeface="+mj-lt"/>
          <a:ea typeface="MS PGothic" panose="020B0600070205080204" pitchFamily="34" charset="-128"/>
          <a:cs typeface="+mj-cs"/>
        </a:defRPr>
      </a:lvl1pPr>
      <a:lvl2pPr algn="l" rtl="0" eaLnBrk="0" fontAlgn="base" hangingPunct="0">
        <a:lnSpc>
          <a:spcPct val="85000"/>
        </a:lnSpc>
        <a:spcBef>
          <a:spcPct val="0"/>
        </a:spcBef>
        <a:spcAft>
          <a:spcPct val="0"/>
        </a:spcAft>
        <a:defRPr sz="2800" b="1">
          <a:solidFill>
            <a:srgbClr val="C6040B"/>
          </a:solidFill>
          <a:latin typeface="Arial" charset="0"/>
          <a:ea typeface="MS PGothic" panose="020B0600070205080204" pitchFamily="34" charset="-128"/>
        </a:defRPr>
      </a:lvl2pPr>
      <a:lvl3pPr algn="l" rtl="0" eaLnBrk="0" fontAlgn="base" hangingPunct="0">
        <a:lnSpc>
          <a:spcPct val="85000"/>
        </a:lnSpc>
        <a:spcBef>
          <a:spcPct val="0"/>
        </a:spcBef>
        <a:spcAft>
          <a:spcPct val="0"/>
        </a:spcAft>
        <a:defRPr sz="2800" b="1">
          <a:solidFill>
            <a:srgbClr val="C6040B"/>
          </a:solidFill>
          <a:latin typeface="Arial" charset="0"/>
          <a:ea typeface="MS PGothic" panose="020B0600070205080204" pitchFamily="34" charset="-128"/>
        </a:defRPr>
      </a:lvl3pPr>
      <a:lvl4pPr algn="l" rtl="0" eaLnBrk="0" fontAlgn="base" hangingPunct="0">
        <a:lnSpc>
          <a:spcPct val="85000"/>
        </a:lnSpc>
        <a:spcBef>
          <a:spcPct val="0"/>
        </a:spcBef>
        <a:spcAft>
          <a:spcPct val="0"/>
        </a:spcAft>
        <a:defRPr sz="2800" b="1">
          <a:solidFill>
            <a:srgbClr val="C6040B"/>
          </a:solidFill>
          <a:latin typeface="Arial" charset="0"/>
          <a:ea typeface="MS PGothic" panose="020B0600070205080204" pitchFamily="34" charset="-128"/>
        </a:defRPr>
      </a:lvl4pPr>
      <a:lvl5pPr algn="l" rtl="0" eaLnBrk="0" fontAlgn="base" hangingPunct="0">
        <a:lnSpc>
          <a:spcPct val="85000"/>
        </a:lnSpc>
        <a:spcBef>
          <a:spcPct val="0"/>
        </a:spcBef>
        <a:spcAft>
          <a:spcPct val="0"/>
        </a:spcAft>
        <a:defRPr sz="2800" b="1">
          <a:solidFill>
            <a:srgbClr val="C6040B"/>
          </a:solidFill>
          <a:latin typeface="Arial" charset="0"/>
          <a:ea typeface="MS PGothic" panose="020B0600070205080204" pitchFamily="34" charset="-128"/>
        </a:defRPr>
      </a:lvl5pPr>
      <a:lvl6pPr marL="457200" algn="l" rtl="0" fontAlgn="base">
        <a:lnSpc>
          <a:spcPct val="85000"/>
        </a:lnSpc>
        <a:spcBef>
          <a:spcPct val="0"/>
        </a:spcBef>
        <a:spcAft>
          <a:spcPct val="0"/>
        </a:spcAft>
        <a:defRPr sz="2800" b="1">
          <a:solidFill>
            <a:srgbClr val="C6040B"/>
          </a:solidFill>
          <a:latin typeface="Arial" charset="0"/>
        </a:defRPr>
      </a:lvl6pPr>
      <a:lvl7pPr marL="914400" algn="l" rtl="0" fontAlgn="base">
        <a:lnSpc>
          <a:spcPct val="85000"/>
        </a:lnSpc>
        <a:spcBef>
          <a:spcPct val="0"/>
        </a:spcBef>
        <a:spcAft>
          <a:spcPct val="0"/>
        </a:spcAft>
        <a:defRPr sz="2800" b="1">
          <a:solidFill>
            <a:srgbClr val="C6040B"/>
          </a:solidFill>
          <a:latin typeface="Arial" charset="0"/>
        </a:defRPr>
      </a:lvl7pPr>
      <a:lvl8pPr marL="1371600" algn="l" rtl="0" fontAlgn="base">
        <a:lnSpc>
          <a:spcPct val="85000"/>
        </a:lnSpc>
        <a:spcBef>
          <a:spcPct val="0"/>
        </a:spcBef>
        <a:spcAft>
          <a:spcPct val="0"/>
        </a:spcAft>
        <a:defRPr sz="2800" b="1">
          <a:solidFill>
            <a:srgbClr val="C6040B"/>
          </a:solidFill>
          <a:latin typeface="Arial" charset="0"/>
        </a:defRPr>
      </a:lvl8pPr>
      <a:lvl9pPr marL="1828800" algn="l" rtl="0" fontAlgn="base">
        <a:lnSpc>
          <a:spcPct val="85000"/>
        </a:lnSpc>
        <a:spcBef>
          <a:spcPct val="0"/>
        </a:spcBef>
        <a:spcAft>
          <a:spcPct val="0"/>
        </a:spcAft>
        <a:defRPr sz="2800" b="1">
          <a:solidFill>
            <a:srgbClr val="C6040B"/>
          </a:solidFill>
          <a:latin typeface="Arial" charset="0"/>
        </a:defRPr>
      </a:lvl9pPr>
    </p:titleStyle>
    <p:bodyStyle>
      <a:lvl1pPr marL="342900" indent="-342900" algn="l" rtl="0" eaLnBrk="0" fontAlgn="base" hangingPunct="0">
        <a:spcBef>
          <a:spcPct val="20000"/>
        </a:spcBef>
        <a:spcAft>
          <a:spcPct val="0"/>
        </a:spcAft>
        <a:buClr>
          <a:srgbClr val="3034B2"/>
        </a:buClr>
        <a:buFont typeface="Times" pitchFamily="18" charset="0"/>
        <a:buChar char="•"/>
        <a:defRPr sz="3200">
          <a:solidFill>
            <a:schemeClr val="tx1"/>
          </a:solidFill>
          <a:latin typeface="+mn-lt"/>
          <a:ea typeface="MS PGothic" panose="020B0600070205080204" pitchFamily="34" charset="-128"/>
          <a:cs typeface="+mn-cs"/>
        </a:defRPr>
      </a:lvl1pPr>
      <a:lvl2pPr marL="742950" indent="-285750" algn="l" rtl="0" eaLnBrk="0" fontAlgn="base" hangingPunct="0">
        <a:spcBef>
          <a:spcPct val="20000"/>
        </a:spcBef>
        <a:spcAft>
          <a:spcPct val="0"/>
        </a:spcAft>
        <a:buClr>
          <a:srgbClr val="C35732"/>
        </a:buClr>
        <a:buChar char="–"/>
        <a:defRPr sz="2800">
          <a:solidFill>
            <a:schemeClr val="tx1"/>
          </a:solidFill>
          <a:latin typeface="+mn-lt"/>
          <a:ea typeface="MS PGothic" panose="020B0600070205080204" pitchFamily="34" charset="-128"/>
        </a:defRPr>
      </a:lvl2pPr>
      <a:lvl3pPr marL="1143000" indent="-228600" algn="l" rtl="0" eaLnBrk="0" fontAlgn="base" hangingPunct="0">
        <a:spcBef>
          <a:spcPct val="20000"/>
        </a:spcBef>
        <a:spcAft>
          <a:spcPct val="0"/>
        </a:spcAft>
        <a:buFont typeface="Times" pitchFamily="18" charset="0"/>
        <a:buChar char="•"/>
        <a:defRPr sz="24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lr>
          <a:srgbClr val="C6040B"/>
        </a:buClr>
        <a:buChar char="–"/>
        <a:defRPr sz="2000">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lr>
          <a:srgbClr val="3034B2"/>
        </a:buClr>
        <a:buChar char="»"/>
        <a:defRPr sz="2000">
          <a:solidFill>
            <a:schemeClr val="tx1"/>
          </a:solidFill>
          <a:latin typeface="+mn-lt"/>
          <a:ea typeface="MS PGothic" panose="020B0600070205080204" pitchFamily="34" charset="-128"/>
        </a:defRPr>
      </a:lvl5pPr>
      <a:lvl6pPr marL="2514600" indent="-228600" algn="l" rtl="0" fontAlgn="base">
        <a:spcBef>
          <a:spcPct val="20000"/>
        </a:spcBef>
        <a:spcAft>
          <a:spcPct val="0"/>
        </a:spcAft>
        <a:buClr>
          <a:srgbClr val="3034B2"/>
        </a:buClr>
        <a:buChar char="»"/>
        <a:defRPr sz="2000">
          <a:solidFill>
            <a:schemeClr val="tx1"/>
          </a:solidFill>
          <a:latin typeface="+mn-lt"/>
        </a:defRPr>
      </a:lvl6pPr>
      <a:lvl7pPr marL="2971800" indent="-228600" algn="l" rtl="0" fontAlgn="base">
        <a:spcBef>
          <a:spcPct val="20000"/>
        </a:spcBef>
        <a:spcAft>
          <a:spcPct val="0"/>
        </a:spcAft>
        <a:buClr>
          <a:srgbClr val="3034B2"/>
        </a:buClr>
        <a:buChar char="»"/>
        <a:defRPr sz="2000">
          <a:solidFill>
            <a:schemeClr val="tx1"/>
          </a:solidFill>
          <a:latin typeface="+mn-lt"/>
        </a:defRPr>
      </a:lvl7pPr>
      <a:lvl8pPr marL="3429000" indent="-228600" algn="l" rtl="0" fontAlgn="base">
        <a:spcBef>
          <a:spcPct val="20000"/>
        </a:spcBef>
        <a:spcAft>
          <a:spcPct val="0"/>
        </a:spcAft>
        <a:buClr>
          <a:srgbClr val="3034B2"/>
        </a:buClr>
        <a:buChar char="»"/>
        <a:defRPr sz="2000">
          <a:solidFill>
            <a:schemeClr val="tx1"/>
          </a:solidFill>
          <a:latin typeface="+mn-lt"/>
        </a:defRPr>
      </a:lvl8pPr>
      <a:lvl9pPr marL="3886200" indent="-228600" algn="l" rtl="0" fontAlgn="base">
        <a:spcBef>
          <a:spcPct val="20000"/>
        </a:spcBef>
        <a:spcAft>
          <a:spcPct val="0"/>
        </a:spcAft>
        <a:buClr>
          <a:srgbClr val="3034B2"/>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5hENFA3CJUY" TargetMode="External"/><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9.jpeg"/></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www.insightsquared.com/blog/effectiveness-vs-efficiency-whats-the-difference/"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en.wikipedia.org/wiki/Aircraft_ground_handling" TargetMode="External"/><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image.slidesharecdn.com/orgalignmentstrategymapsbsc-100704001800-phpapp02/95/organizational-alignment-using-strategy-maps-and-balanced-scorecard-22-728.jpg?cb=1278202909"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youtube.com/watch?v=3vjpZO-DP7g" TargetMode="External"/><Relationship Id="rId2" Type="http://schemas.openxmlformats.org/officeDocument/2006/relationships/hyperlink" Target="https://www.youtube.com/watch?v=5hENFA3CJUY"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3">
            <a:extLst>
              <a:ext uri="{FF2B5EF4-FFF2-40B4-BE49-F238E27FC236}">
                <a16:creationId xmlns:a16="http://schemas.microsoft.com/office/drawing/2014/main" id="{0CAFAE47-B76E-4849-17C7-50AA38A8B82A}"/>
              </a:ext>
            </a:extLst>
          </p:cNvPr>
          <p:cNvSpPr>
            <a:spLocks noGrp="1" noChangeArrowheads="1"/>
          </p:cNvSpPr>
          <p:nvPr>
            <p:ph type="subTitle" idx="1"/>
          </p:nvPr>
        </p:nvSpPr>
        <p:spPr>
          <a:xfrm>
            <a:off x="609600" y="1447800"/>
            <a:ext cx="8229600" cy="1752600"/>
          </a:xfrm>
        </p:spPr>
        <p:txBody>
          <a:bodyPr/>
          <a:lstStyle/>
          <a:p>
            <a:pPr algn="r" eaLnBrk="1" hangingPunct="1"/>
            <a:r>
              <a:rPr lang="en-US" altLang="en-US" b="1" dirty="0"/>
              <a:t>Business Functions and Performance Measures</a:t>
            </a:r>
          </a:p>
          <a:p>
            <a:pPr algn="r" eaLnBrk="1" hangingPunct="1"/>
            <a:endParaRPr lang="en-US" altLang="en-US" b="1" dirty="0"/>
          </a:p>
          <a:p>
            <a:pPr algn="r" eaLnBrk="1" hangingPunct="1"/>
            <a:r>
              <a:rPr lang="en-US" altLang="en-US" b="1" dirty="0">
                <a:solidFill>
                  <a:srgbClr val="454BFF"/>
                </a:solidFill>
              </a:rPr>
              <a:t>Chapter 1, 4 (</a:t>
            </a:r>
            <a:r>
              <a:rPr lang="en-US" altLang="en-US" b="1" dirty="0" err="1">
                <a:solidFill>
                  <a:srgbClr val="454BFF"/>
                </a:solidFill>
              </a:rPr>
              <a:t>Baltzan</a:t>
            </a:r>
            <a:r>
              <a:rPr lang="en-US" altLang="en-US" b="1" dirty="0">
                <a:solidFill>
                  <a:srgbClr val="454BFF"/>
                </a:solidFill>
              </a:rPr>
              <a:t>)</a:t>
            </a:r>
          </a:p>
        </p:txBody>
      </p:sp>
      <p:sp>
        <p:nvSpPr>
          <p:cNvPr id="5122" name="Rectangle 10">
            <a:extLst>
              <a:ext uri="{FF2B5EF4-FFF2-40B4-BE49-F238E27FC236}">
                <a16:creationId xmlns:a16="http://schemas.microsoft.com/office/drawing/2014/main" id="{7FA16F7F-A023-BB20-6D21-397B3EEF1BEE}"/>
              </a:ext>
            </a:extLst>
          </p:cNvPr>
          <p:cNvSpPr>
            <a:spLocks noChangeArrowheads="1"/>
          </p:cNvSpPr>
          <p:nvPr/>
        </p:nvSpPr>
        <p:spPr bwMode="auto">
          <a:xfrm>
            <a:off x="533400" y="6553200"/>
            <a:ext cx="2667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rgbClr val="3034B2"/>
              </a:buClr>
              <a:buFont typeface="Times" pitchFamily="18" charset="0"/>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C35732"/>
              </a:buClr>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Font typeface="Times" pitchFamily="18" charset="0"/>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rgbClr val="C6040B"/>
              </a:buClr>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lr>
                <a:srgbClr val="3034B2"/>
              </a:buClr>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9pPr>
          </a:lstStyle>
          <a:p>
            <a:pPr>
              <a:spcBef>
                <a:spcPct val="50000"/>
              </a:spcBef>
              <a:buClrTx/>
              <a:buFontTx/>
              <a:buNone/>
            </a:pPr>
            <a:r>
              <a:rPr lang="en-US" altLang="en-US" sz="1200" b="1" i="1">
                <a:solidFill>
                  <a:srgbClr val="201E50"/>
                </a:solidFill>
                <a:latin typeface="Book Antiqua" panose="02040602050305030304" pitchFamily="18" charset="0"/>
              </a:rPr>
              <a:t>McGraw-Hill/Irwin</a:t>
            </a:r>
          </a:p>
        </p:txBody>
      </p:sp>
      <p:sp>
        <p:nvSpPr>
          <p:cNvPr id="5123" name="Rectangle 11">
            <a:extLst>
              <a:ext uri="{FF2B5EF4-FFF2-40B4-BE49-F238E27FC236}">
                <a16:creationId xmlns:a16="http://schemas.microsoft.com/office/drawing/2014/main" id="{4568443F-CADF-E08C-A728-02BC1D45B00B}"/>
              </a:ext>
            </a:extLst>
          </p:cNvPr>
          <p:cNvSpPr>
            <a:spLocks noChangeArrowheads="1"/>
          </p:cNvSpPr>
          <p:nvPr/>
        </p:nvSpPr>
        <p:spPr bwMode="auto">
          <a:xfrm>
            <a:off x="3733800" y="6553200"/>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rgbClr val="3034B2"/>
              </a:buClr>
              <a:buFont typeface="Times" pitchFamily="18" charset="0"/>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C35732"/>
              </a:buClr>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Font typeface="Times" pitchFamily="18" charset="0"/>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rgbClr val="C6040B"/>
              </a:buClr>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lr>
                <a:srgbClr val="3034B2"/>
              </a:buClr>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9pPr>
          </a:lstStyle>
          <a:p>
            <a:pPr algn="r">
              <a:spcBef>
                <a:spcPct val="50000"/>
              </a:spcBef>
              <a:buClrTx/>
              <a:buFontTx/>
              <a:buNone/>
            </a:pPr>
            <a:r>
              <a:rPr lang="en-US" altLang="en-US" sz="1100" b="1" i="1">
                <a:solidFill>
                  <a:srgbClr val="201E50"/>
                </a:solidFill>
                <a:latin typeface="Book Antiqua" panose="02040602050305030304" pitchFamily="18" charset="0"/>
              </a:rPr>
              <a:t>Copyright</a:t>
            </a:r>
            <a:r>
              <a:rPr lang="en-US" altLang="en-US" sz="1100">
                <a:solidFill>
                  <a:srgbClr val="201E50"/>
                </a:solidFill>
                <a:latin typeface="Book Antiqua" panose="02040602050305030304" pitchFamily="18" charset="0"/>
              </a:rPr>
              <a:t> </a:t>
            </a:r>
            <a:r>
              <a:rPr lang="en-US" altLang="en-US" sz="1100" b="1" i="1">
                <a:solidFill>
                  <a:srgbClr val="201E50"/>
                </a:solidFill>
                <a:latin typeface="Book Antiqua" panose="02040602050305030304" pitchFamily="18" charset="0"/>
              </a:rPr>
              <a:t>© 2009 by The McGraw-Hill Companies, Inc. All rights reserved.</a:t>
            </a:r>
          </a:p>
        </p:txBody>
      </p:sp>
      <p:sp>
        <p:nvSpPr>
          <p:cNvPr id="5124" name="Title 1">
            <a:extLst>
              <a:ext uri="{FF2B5EF4-FFF2-40B4-BE49-F238E27FC236}">
                <a16:creationId xmlns:a16="http://schemas.microsoft.com/office/drawing/2014/main" id="{5C7BCB23-BA5F-603D-73C8-71F7915CEB5B}"/>
              </a:ext>
            </a:extLst>
          </p:cNvPr>
          <p:cNvSpPr>
            <a:spLocks noGrp="1" noChangeArrowheads="1"/>
          </p:cNvSpPr>
          <p:nvPr>
            <p:ph type="ctrTitle"/>
          </p:nvPr>
        </p:nvSpPr>
        <p:spPr/>
        <p:txBody>
          <a:bodyPr/>
          <a:lstStyle/>
          <a:p>
            <a:endParaRPr lang="en-US"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AutoShape 2">
            <a:extLst>
              <a:ext uri="{FF2B5EF4-FFF2-40B4-BE49-F238E27FC236}">
                <a16:creationId xmlns:a16="http://schemas.microsoft.com/office/drawing/2014/main" id="{510905FF-AC91-67B2-F83B-44F961997511}"/>
              </a:ext>
            </a:extLst>
          </p:cNvPr>
          <p:cNvSpPr>
            <a:spLocks noGrp="1" noChangeArrowheads="1"/>
          </p:cNvSpPr>
          <p:nvPr>
            <p:ph type="title"/>
          </p:nvPr>
        </p:nvSpPr>
        <p:spPr/>
        <p:txBody>
          <a:bodyPr/>
          <a:lstStyle/>
          <a:p>
            <a:r>
              <a:rPr lang="en-US" altLang="en-US" sz="3600">
                <a:solidFill>
                  <a:srgbClr val="C00000"/>
                </a:solidFill>
              </a:rPr>
              <a:t>LEARNING OUTCOMES</a:t>
            </a:r>
          </a:p>
        </p:txBody>
      </p:sp>
      <p:sp>
        <p:nvSpPr>
          <p:cNvPr id="6146" name="Rectangle 3">
            <a:extLst>
              <a:ext uri="{FF2B5EF4-FFF2-40B4-BE49-F238E27FC236}">
                <a16:creationId xmlns:a16="http://schemas.microsoft.com/office/drawing/2014/main" id="{A79352F2-6191-6EDD-CFFE-4D2E376F57D2}"/>
              </a:ext>
            </a:extLst>
          </p:cNvPr>
          <p:cNvSpPr>
            <a:spLocks noGrp="1" noChangeArrowheads="1"/>
          </p:cNvSpPr>
          <p:nvPr>
            <p:ph idx="1"/>
          </p:nvPr>
        </p:nvSpPr>
        <p:spPr/>
        <p:txBody>
          <a:bodyPr/>
          <a:lstStyle/>
          <a:p>
            <a:pPr marL="609600" indent="-438150">
              <a:lnSpc>
                <a:spcPct val="90000"/>
              </a:lnSpc>
              <a:spcAft>
                <a:spcPts val="1200"/>
              </a:spcAft>
              <a:buFont typeface="Arial" panose="020B0604020202020204" pitchFamily="34" charset="0"/>
              <a:buAutoNum type="arabicPeriod"/>
            </a:pPr>
            <a:r>
              <a:rPr lang="en-US" altLang="en-US" sz="2800">
                <a:solidFill>
                  <a:srgbClr val="000000"/>
                </a:solidFill>
                <a:ea typeface="Times New Roman" panose="02020603050405020304" pitchFamily="18" charset="0"/>
                <a:cs typeface="Courier New" panose="02070309020205020404" pitchFamily="49" charset="0"/>
              </a:rPr>
              <a:t>Relate the strategic competitive with core competence and business functions</a:t>
            </a:r>
          </a:p>
          <a:p>
            <a:pPr marL="609600" indent="-438150">
              <a:lnSpc>
                <a:spcPct val="90000"/>
              </a:lnSpc>
              <a:spcAft>
                <a:spcPts val="1200"/>
              </a:spcAft>
              <a:buFont typeface="Arial" panose="020B0604020202020204" pitchFamily="34" charset="0"/>
              <a:buAutoNum type="arabicPeriod"/>
            </a:pPr>
            <a:r>
              <a:rPr lang="en-US" altLang="en-US" sz="2800">
                <a:solidFill>
                  <a:srgbClr val="0070C0"/>
                </a:solidFill>
                <a:ea typeface="Times New Roman" panose="02020603050405020304" pitchFamily="18" charset="0"/>
                <a:cs typeface="Courier New" panose="02070309020205020404" pitchFamily="49" charset="0"/>
              </a:rPr>
              <a:t>Define metrics and describe the relationship between efficiency and effectiveness metrics</a:t>
            </a:r>
          </a:p>
          <a:p>
            <a:pPr marL="609600" indent="-438150">
              <a:lnSpc>
                <a:spcPct val="90000"/>
              </a:lnSpc>
              <a:spcAft>
                <a:spcPts val="1200"/>
              </a:spcAft>
              <a:buFont typeface="Arial" panose="020B0604020202020204" pitchFamily="34" charset="0"/>
              <a:buAutoNum type="arabicPeriod"/>
            </a:pPr>
            <a:r>
              <a:rPr lang="en-US" altLang="en-US" sz="2800">
                <a:solidFill>
                  <a:srgbClr val="000000"/>
                </a:solidFill>
                <a:ea typeface="Times New Roman" panose="02020603050405020304" pitchFamily="18" charset="0"/>
                <a:cs typeface="Courier New" panose="02070309020205020404" pitchFamily="49" charset="0"/>
              </a:rPr>
              <a:t>Explain why a business would use metrics to measure the success of strategic initiatives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52CD026B-0AB9-76F0-ACCA-F3DCB91D2AA2}"/>
              </a:ext>
            </a:extLst>
          </p:cNvPr>
          <p:cNvSpPr>
            <a:spLocks noGrp="1" noChangeArrowheads="1"/>
          </p:cNvSpPr>
          <p:nvPr>
            <p:ph type="body" idx="1"/>
          </p:nvPr>
        </p:nvSpPr>
        <p:spPr>
          <a:xfrm>
            <a:off x="1143000" y="1295400"/>
            <a:ext cx="7772400" cy="4830763"/>
          </a:xfrm>
        </p:spPr>
        <p:txBody>
          <a:bodyPr/>
          <a:lstStyle/>
          <a:p>
            <a:pPr eaLnBrk="1" hangingPunct="1">
              <a:spcAft>
                <a:spcPct val="10000"/>
              </a:spcAft>
            </a:pPr>
            <a:r>
              <a:rPr lang="en-US" altLang="en-US" sz="2800"/>
              <a:t>View the firm as a chain of basic activities that add value to its products and services</a:t>
            </a:r>
          </a:p>
          <a:p>
            <a:pPr lvl="1" eaLnBrk="1" hangingPunct="1">
              <a:spcAft>
                <a:spcPct val="10000"/>
              </a:spcAft>
            </a:pPr>
            <a:r>
              <a:rPr lang="en-US" altLang="en-US" sz="2400">
                <a:solidFill>
                  <a:schemeClr val="tx2"/>
                </a:solidFill>
              </a:rPr>
              <a:t>Primary processes </a:t>
            </a:r>
            <a:r>
              <a:rPr lang="en-US" altLang="en-US" sz="2400"/>
              <a:t>directly relate to </a:t>
            </a:r>
            <a:r>
              <a:rPr lang="en-US" altLang="en-US" sz="2400" i="1">
                <a:solidFill>
                  <a:srgbClr val="0070C0"/>
                </a:solidFill>
              </a:rPr>
              <a:t>manufacturing </a:t>
            </a:r>
            <a:r>
              <a:rPr lang="en-US" altLang="en-US" sz="2400"/>
              <a:t>or </a:t>
            </a:r>
            <a:r>
              <a:rPr lang="en-US" altLang="en-US" sz="2400" i="1">
                <a:solidFill>
                  <a:srgbClr val="0070C0"/>
                </a:solidFill>
              </a:rPr>
              <a:t>delivering</a:t>
            </a:r>
            <a:r>
              <a:rPr lang="en-US" altLang="en-US" sz="2400"/>
              <a:t> products</a:t>
            </a:r>
          </a:p>
          <a:p>
            <a:pPr lvl="1" eaLnBrk="1" hangingPunct="1">
              <a:spcAft>
                <a:spcPct val="10000"/>
              </a:spcAft>
            </a:pPr>
            <a:r>
              <a:rPr lang="en-US" altLang="en-US" sz="2400">
                <a:solidFill>
                  <a:schemeClr val="tx2"/>
                </a:solidFill>
              </a:rPr>
              <a:t>Support processes </a:t>
            </a:r>
            <a:r>
              <a:rPr lang="en-US" altLang="en-US" sz="2400"/>
              <a:t>help support the day-to-day running of the firm and indirectly contribute to products or services</a:t>
            </a:r>
          </a:p>
          <a:p>
            <a:pPr eaLnBrk="1" hangingPunct="1">
              <a:spcBef>
                <a:spcPct val="25000"/>
              </a:spcBef>
            </a:pPr>
            <a:r>
              <a:rPr lang="en-US" altLang="en-US" sz="2800"/>
              <a:t>Use the value chain to highlight where competitive strategies will add the most value</a:t>
            </a:r>
          </a:p>
        </p:txBody>
      </p:sp>
      <p:sp>
        <p:nvSpPr>
          <p:cNvPr id="15362" name="AutoShape 3">
            <a:extLst>
              <a:ext uri="{FF2B5EF4-FFF2-40B4-BE49-F238E27FC236}">
                <a16:creationId xmlns:a16="http://schemas.microsoft.com/office/drawing/2014/main" id="{28B7938B-F938-584D-C095-5BEFC2681A1E}"/>
              </a:ext>
            </a:extLst>
          </p:cNvPr>
          <p:cNvSpPr>
            <a:spLocks noGrp="1" noChangeArrowheads="1"/>
          </p:cNvSpPr>
          <p:nvPr>
            <p:ph type="title"/>
          </p:nvPr>
        </p:nvSpPr>
        <p:spPr/>
        <p:txBody>
          <a:bodyPr/>
          <a:lstStyle/>
          <a:p>
            <a:pPr eaLnBrk="1" hangingPunct="1"/>
            <a:r>
              <a:rPr lang="en-US" altLang="en-US"/>
              <a:t>The Value Chain and Strategic IS</a:t>
            </a:r>
          </a:p>
        </p:txBody>
      </p:sp>
      <p:sp>
        <p:nvSpPr>
          <p:cNvPr id="15363" name="Rectangle 6">
            <a:extLst>
              <a:ext uri="{FF2B5EF4-FFF2-40B4-BE49-F238E27FC236}">
                <a16:creationId xmlns:a16="http://schemas.microsoft.com/office/drawing/2014/main" id="{0821C6F4-C246-709E-0AEA-E35A41602B11}"/>
              </a:ext>
            </a:extLst>
          </p:cNvPr>
          <p:cNvSpPr>
            <a:spLocks noChangeArrowheads="1"/>
          </p:cNvSpPr>
          <p:nvPr/>
        </p:nvSpPr>
        <p:spPr bwMode="auto">
          <a:xfrm>
            <a:off x="701040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034B2"/>
              </a:buClr>
              <a:buFont typeface="Times" pitchFamily="18" charset="0"/>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C35732"/>
              </a:buClr>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Font typeface="Times" pitchFamily="18" charset="0"/>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rgbClr val="C6040B"/>
              </a:buClr>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lr>
                <a:srgbClr val="3034B2"/>
              </a:buClr>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9pPr>
          </a:lstStyle>
          <a:p>
            <a:pPr algn="r" eaLnBrk="1" hangingPunct="1">
              <a:spcBef>
                <a:spcPct val="0"/>
              </a:spcBef>
              <a:buClrTx/>
              <a:buFontTx/>
              <a:buNone/>
            </a:pPr>
            <a:r>
              <a:rPr lang="en-US" altLang="en-US" sz="1400" b="1"/>
              <a:t>2-</a:t>
            </a:r>
            <a:fld id="{689BAA1F-FC68-ED4A-BF5D-A6E22862CF4A}" type="slidenum">
              <a:rPr lang="en-US" altLang="en-US" sz="1400" b="1"/>
              <a:pPr algn="r" eaLnBrk="1" hangingPunct="1">
                <a:spcBef>
                  <a:spcPct val="0"/>
                </a:spcBef>
                <a:buClrTx/>
                <a:buFontTx/>
                <a:buNone/>
              </a:pPr>
              <a:t>3</a:t>
            </a:fld>
            <a:endParaRPr lang="en-US" altLang="en-US" sz="140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Content Placeholder 9" descr="An illustration that combines The Value Chain with Porter's Five Forces Model. ">
            <a:extLst>
              <a:ext uri="{FF2B5EF4-FFF2-40B4-BE49-F238E27FC236}">
                <a16:creationId xmlns:a16="http://schemas.microsoft.com/office/drawing/2014/main" id="{129C171D-208D-DE5A-6235-A53CCA292DCE}"/>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115093" y="1981200"/>
            <a:ext cx="8990013" cy="4191000"/>
          </a:xfrm>
        </p:spPr>
      </p:pic>
      <p:pic>
        <p:nvPicPr>
          <p:cNvPr id="4" name="Picture 3" descr="A diagram of a company model&#10;&#10;Description automatically generated">
            <a:extLst>
              <a:ext uri="{FF2B5EF4-FFF2-40B4-BE49-F238E27FC236}">
                <a16:creationId xmlns:a16="http://schemas.microsoft.com/office/drawing/2014/main" id="{B877FE62-0A4E-C43E-35F1-EA25C71DF5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092" y="1177458"/>
            <a:ext cx="8990013" cy="5832942"/>
          </a:xfrm>
          <a:prstGeom prst="rect">
            <a:avLst/>
          </a:prstGeom>
        </p:spPr>
      </p:pic>
      <p:sp>
        <p:nvSpPr>
          <p:cNvPr id="13313" name="Content Placeholder 4">
            <a:extLst>
              <a:ext uri="{FF2B5EF4-FFF2-40B4-BE49-F238E27FC236}">
                <a16:creationId xmlns:a16="http://schemas.microsoft.com/office/drawing/2014/main" id="{FEAC4896-8D0E-055D-D102-27ADF487F4D9}"/>
              </a:ext>
            </a:extLst>
          </p:cNvPr>
          <p:cNvSpPr>
            <a:spLocks noGrp="1" noChangeArrowheads="1"/>
          </p:cNvSpPr>
          <p:nvPr>
            <p:ph sz="half" idx="1"/>
          </p:nvPr>
        </p:nvSpPr>
        <p:spPr>
          <a:xfrm>
            <a:off x="-152400" y="481013"/>
            <a:ext cx="9601200" cy="966787"/>
          </a:xfrm>
        </p:spPr>
        <p:txBody>
          <a:bodyPr/>
          <a:lstStyle/>
          <a:p>
            <a:pPr algn="ctr"/>
            <a:r>
              <a:rPr lang="en-US" altLang="en-US" sz="3200" b="1" dirty="0">
                <a:solidFill>
                  <a:srgbClr val="0070C0"/>
                </a:solidFill>
              </a:rPr>
              <a:t>Porter’s Value Chain and 5-Force Model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4"/>
                                        </p:tgtEl>
                                        <p:attrNameLst>
                                          <p:attrName>ppt_x</p:attrName>
                                        </p:attrNameLst>
                                      </p:cBhvr>
                                      <p:tavLst>
                                        <p:tav tm="0">
                                          <p:val>
                                            <p:strVal val="ppt_x"/>
                                          </p:val>
                                        </p:tav>
                                        <p:tav tm="100000">
                                          <p:val>
                                            <p:strVal val="ppt_x"/>
                                          </p:val>
                                        </p:tav>
                                      </p:tavLst>
                                    </p:anim>
                                    <p:anim calcmode="lin" valueType="num">
                                      <p:cBhvr additive="base">
                                        <p:cTn id="7" dur="500"/>
                                        <p:tgtEl>
                                          <p:spTgt spid="4"/>
                                        </p:tgtEl>
                                        <p:attrNameLst>
                                          <p:attrName>ppt_y</p:attrName>
                                        </p:attrNameLst>
                                      </p:cBhvr>
                                      <p:tavLst>
                                        <p:tav tm="0">
                                          <p:val>
                                            <p:strVal val="ppt_y"/>
                                          </p:val>
                                        </p:tav>
                                        <p:tav tm="100000">
                                          <p:val>
                                            <p:strVal val="1+ppt_h/2"/>
                                          </p:val>
                                        </p:tav>
                                      </p:tavLst>
                                    </p:anim>
                                    <p:set>
                                      <p:cBhvr>
                                        <p:cTn id="8"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Title 2">
            <a:extLst>
              <a:ext uri="{FF2B5EF4-FFF2-40B4-BE49-F238E27FC236}">
                <a16:creationId xmlns:a16="http://schemas.microsoft.com/office/drawing/2014/main" id="{50EF8D04-BD24-49D7-2F7F-0FFD49A6939D}"/>
              </a:ext>
            </a:extLst>
          </p:cNvPr>
          <p:cNvSpPr>
            <a:spLocks noGrp="1" noChangeArrowheads="1"/>
          </p:cNvSpPr>
          <p:nvPr>
            <p:ph type="title"/>
          </p:nvPr>
        </p:nvSpPr>
        <p:spPr>
          <a:xfrm>
            <a:off x="457200" y="571500"/>
            <a:ext cx="9144000" cy="609600"/>
          </a:xfrm>
        </p:spPr>
        <p:txBody>
          <a:bodyPr/>
          <a:lstStyle/>
          <a:p>
            <a:r>
              <a:rPr lang="en-US" altLang="en-US"/>
              <a:t>THE CHALLENGE: </a:t>
            </a:r>
            <a:br>
              <a:rPr lang="en-US" altLang="en-US"/>
            </a:br>
            <a:r>
              <a:rPr lang="en-US" altLang="en-US"/>
              <a:t>DEPARTMENTAL COMPANIES</a:t>
            </a:r>
          </a:p>
        </p:txBody>
      </p:sp>
      <p:sp>
        <p:nvSpPr>
          <p:cNvPr id="11266" name="Rectangle 3">
            <a:extLst>
              <a:ext uri="{FF2B5EF4-FFF2-40B4-BE49-F238E27FC236}">
                <a16:creationId xmlns:a16="http://schemas.microsoft.com/office/drawing/2014/main" id="{495731E5-1E5E-83A5-E82E-6C1B3E6C3A2B}"/>
              </a:ext>
            </a:extLst>
          </p:cNvPr>
          <p:cNvSpPr>
            <a:spLocks noGrp="1" noChangeArrowheads="1"/>
          </p:cNvSpPr>
          <p:nvPr>
            <p:ph sz="half" idx="1"/>
          </p:nvPr>
        </p:nvSpPr>
        <p:spPr>
          <a:xfrm>
            <a:off x="-152400" y="1447800"/>
            <a:ext cx="7810500" cy="720725"/>
          </a:xfrm>
        </p:spPr>
        <p:txBody>
          <a:bodyPr/>
          <a:lstStyle/>
          <a:p>
            <a:pPr algn="ctr" eaLnBrk="1" hangingPunct="1">
              <a:buFont typeface="Wingdings" pitchFamily="2" charset="2"/>
              <a:buNone/>
            </a:pPr>
            <a:r>
              <a:rPr lang="en-US" altLang="en-US" sz="2100" b="1" dirty="0"/>
              <a:t>Common Departments Working </a:t>
            </a:r>
            <a:r>
              <a:rPr lang="en-US" altLang="en-US" sz="2100" b="1" dirty="0">
                <a:solidFill>
                  <a:srgbClr val="FF0000"/>
                </a:solidFill>
              </a:rPr>
              <a:t>Interdependently!</a:t>
            </a:r>
          </a:p>
        </p:txBody>
      </p:sp>
      <p:pic>
        <p:nvPicPr>
          <p:cNvPr id="11267" name="Content Placeholder 7" descr="Common departments include accounting, sales, operations management, marketing, finance and human resource. ">
            <a:extLst>
              <a:ext uri="{FF2B5EF4-FFF2-40B4-BE49-F238E27FC236}">
                <a16:creationId xmlns:a16="http://schemas.microsoft.com/office/drawing/2014/main" id="{DD7D6058-25C7-0320-126A-B0C9D5873B5A}"/>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76200" y="1979613"/>
            <a:ext cx="9067800" cy="4616450"/>
          </a:xfrm>
        </p:spPr>
      </p:pic>
      <p:sp>
        <p:nvSpPr>
          <p:cNvPr id="2" name="Oval 1">
            <a:extLst>
              <a:ext uri="{FF2B5EF4-FFF2-40B4-BE49-F238E27FC236}">
                <a16:creationId xmlns:a16="http://schemas.microsoft.com/office/drawing/2014/main" id="{1174645E-C614-4857-980C-3F9A0112DD79}"/>
              </a:ext>
            </a:extLst>
          </p:cNvPr>
          <p:cNvSpPr/>
          <p:nvPr/>
        </p:nvSpPr>
        <p:spPr bwMode="auto">
          <a:xfrm>
            <a:off x="3581400" y="3810000"/>
            <a:ext cx="1828800" cy="1219200"/>
          </a:xfrm>
          <a:prstGeom prst="ellipse">
            <a:avLst/>
          </a:prstGeom>
          <a:solidFill>
            <a:srgbClr val="FFF05B"/>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TH" sz="2000" b="0" i="0" u="none" strike="noStrike" cap="none" normalizeH="0" baseline="0" dirty="0">
                <a:ln>
                  <a:noFill/>
                </a:ln>
                <a:solidFill>
                  <a:schemeClr val="tx1"/>
                </a:solidFill>
                <a:effectLst>
                  <a:outerShdw blurRad="38100" dist="38100" dir="2700000" algn="tl">
                    <a:srgbClr val="000000">
                      <a:alpha val="43137"/>
                    </a:srgbClr>
                  </a:outerShdw>
                </a:effectLst>
                <a:latin typeface="Arial" charset="0"/>
              </a:rPr>
              <a:t>Business Decision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E235956A-7627-42A4-DCF4-29F94875D3F3}"/>
              </a:ext>
            </a:extLst>
          </p:cNvPr>
          <p:cNvSpPr>
            <a:spLocks noGrp="1" noChangeArrowheads="1"/>
          </p:cNvSpPr>
          <p:nvPr>
            <p:ph type="title"/>
          </p:nvPr>
        </p:nvSpPr>
        <p:spPr>
          <a:xfrm>
            <a:off x="685800" y="381000"/>
            <a:ext cx="8229600" cy="1295400"/>
          </a:xfrm>
        </p:spPr>
        <p:txBody>
          <a:bodyPr/>
          <a:lstStyle/>
          <a:p>
            <a:pPr eaLnBrk="1" hangingPunct="1"/>
            <a:r>
              <a:rPr lang="en-US" altLang="en-US" sz="3200" dirty="0">
                <a:solidFill>
                  <a:srgbClr val="C00000"/>
                </a:solidFill>
              </a:rPr>
              <a:t>System thinking</a:t>
            </a:r>
          </a:p>
        </p:txBody>
      </p:sp>
      <p:sp>
        <p:nvSpPr>
          <p:cNvPr id="4" name="Rectangle 3">
            <a:extLst>
              <a:ext uri="{FF2B5EF4-FFF2-40B4-BE49-F238E27FC236}">
                <a16:creationId xmlns:a16="http://schemas.microsoft.com/office/drawing/2014/main" id="{8231475D-B18D-0315-C257-ACDCDD7FBA40}"/>
              </a:ext>
            </a:extLst>
          </p:cNvPr>
          <p:cNvSpPr>
            <a:spLocks noGrp="1" noChangeArrowheads="1"/>
          </p:cNvSpPr>
          <p:nvPr>
            <p:ph idx="1"/>
          </p:nvPr>
        </p:nvSpPr>
        <p:spPr>
          <a:xfrm>
            <a:off x="674688" y="4419600"/>
            <a:ext cx="8240712" cy="2209800"/>
          </a:xfrm>
        </p:spPr>
        <p:txBody>
          <a:bodyPr>
            <a:normAutofit fontScale="92500" lnSpcReduction="20000"/>
          </a:bodyPr>
          <a:lstStyle/>
          <a:p>
            <a:pPr eaLnBrk="1" hangingPunct="1">
              <a:defRPr/>
            </a:pPr>
            <a:endParaRPr lang="en-US" sz="1050" dirty="0"/>
          </a:p>
          <a:p>
            <a:pPr eaLnBrk="1" hangingPunct="1">
              <a:defRPr/>
            </a:pPr>
            <a:r>
              <a:rPr lang="en-US" sz="2800" b="1" dirty="0"/>
              <a:t>Systems thinking </a:t>
            </a:r>
            <a:r>
              <a:rPr lang="en-US" sz="2800" dirty="0"/>
              <a:t>– </a:t>
            </a:r>
            <a:r>
              <a:rPr lang="en-US" dirty="0"/>
              <a:t>A way of monitoring the entire system by viewing multiple inputs being processed or transformed to produce outputs (common purpose) while continuously gathering feedback on each part </a:t>
            </a:r>
          </a:p>
          <a:p>
            <a:pPr eaLnBrk="1" hangingPunct="1">
              <a:defRPr/>
            </a:pPr>
            <a:endParaRPr lang="en-US" sz="2800" dirty="0"/>
          </a:p>
          <a:p>
            <a:pPr eaLnBrk="1" hangingPunct="1">
              <a:defRPr/>
            </a:pPr>
            <a:endParaRPr lang="en-US" sz="2800" dirty="0"/>
          </a:p>
          <a:p>
            <a:pPr eaLnBrk="1" hangingPunct="1">
              <a:defRPr/>
            </a:pPr>
            <a:endParaRPr lang="en-US" sz="2800" dirty="0"/>
          </a:p>
          <a:p>
            <a:pPr eaLnBrk="1" hangingPunct="1">
              <a:buFontTx/>
              <a:buNone/>
              <a:defRPr/>
            </a:pPr>
            <a:endParaRPr lang="en-US" sz="2800" dirty="0"/>
          </a:p>
          <a:p>
            <a:pPr eaLnBrk="1" hangingPunct="1">
              <a:buFontTx/>
              <a:buNone/>
              <a:defRPr/>
            </a:pPr>
            <a:endParaRPr lang="en-US" sz="1050" dirty="0"/>
          </a:p>
        </p:txBody>
      </p:sp>
      <p:pic>
        <p:nvPicPr>
          <p:cNvPr id="18435" name="Picture 5" descr="bal76825_0107.jpg">
            <a:extLst>
              <a:ext uri="{FF2B5EF4-FFF2-40B4-BE49-F238E27FC236}">
                <a16:creationId xmlns:a16="http://schemas.microsoft.com/office/drawing/2014/main" id="{CABB1813-DDCE-8F64-C6CF-132F32308B2A}"/>
              </a:ext>
            </a:extLst>
          </p:cNvPr>
          <p:cNvPicPr>
            <a:picLocks noChangeAspect="1"/>
          </p:cNvPicPr>
          <p:nvPr/>
        </p:nvPicPr>
        <p:blipFill>
          <a:blip r:embed="rId3">
            <a:clrChange>
              <a:clrFrom>
                <a:srgbClr val="FFF9B9"/>
              </a:clrFrom>
              <a:clrTo>
                <a:srgbClr val="FFF9B9">
                  <a:alpha val="0"/>
                </a:srgbClr>
              </a:clrTo>
            </a:clrChange>
            <a:extLst>
              <a:ext uri="{28A0092B-C50C-407E-A947-70E740481C1C}">
                <a14:useLocalDpi xmlns:a14="http://schemas.microsoft.com/office/drawing/2010/main" val="0"/>
              </a:ext>
            </a:extLst>
          </a:blip>
          <a:srcRect l="29858" t="9821" r="2608" b="5357"/>
          <a:stretch>
            <a:fillRect/>
          </a:stretch>
        </p:blipFill>
        <p:spPr bwMode="auto">
          <a:xfrm>
            <a:off x="685800" y="1541463"/>
            <a:ext cx="7772400" cy="305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Title 1">
            <a:extLst>
              <a:ext uri="{FF2B5EF4-FFF2-40B4-BE49-F238E27FC236}">
                <a16:creationId xmlns:a16="http://schemas.microsoft.com/office/drawing/2014/main" id="{BB398C76-97BF-F402-B664-8C63BB51AA8F}"/>
              </a:ext>
            </a:extLst>
          </p:cNvPr>
          <p:cNvSpPr>
            <a:spLocks noGrp="1" noChangeArrowheads="1"/>
          </p:cNvSpPr>
          <p:nvPr>
            <p:ph type="title"/>
          </p:nvPr>
        </p:nvSpPr>
        <p:spPr>
          <a:xfrm>
            <a:off x="1079500" y="76200"/>
            <a:ext cx="6964363" cy="1447800"/>
          </a:xfrm>
        </p:spPr>
        <p:txBody>
          <a:bodyPr/>
          <a:lstStyle/>
          <a:p>
            <a:r>
              <a:rPr lang="en-US" altLang="en-US"/>
              <a:t>Functions of Information System</a:t>
            </a:r>
            <a:br>
              <a:rPr lang="en-US" altLang="en-US"/>
            </a:br>
            <a:endParaRPr lang="en-US" altLang="en-US"/>
          </a:p>
        </p:txBody>
      </p:sp>
      <p:pic>
        <p:nvPicPr>
          <p:cNvPr id="8194" name="Picture Placeholder 10" descr="Fig-1-4_MIS_12e.tif">
            <a:extLst>
              <a:ext uri="{FF2B5EF4-FFF2-40B4-BE49-F238E27FC236}">
                <a16:creationId xmlns:a16="http://schemas.microsoft.com/office/drawing/2014/main" id="{9C46AE2F-F20A-408F-7BCA-67722B8B1AB4}"/>
              </a:ext>
            </a:extLst>
          </p:cNvPr>
          <p:cNvPicPr>
            <a:picLocks noChangeAspect="1"/>
          </p:cNvPicPr>
          <p:nvPr/>
        </p:nvPicPr>
        <p:blipFill>
          <a:blip r:embed="rId2">
            <a:extLst>
              <a:ext uri="{28A0092B-C50C-407E-A947-70E740481C1C}">
                <a14:useLocalDpi xmlns:a14="http://schemas.microsoft.com/office/drawing/2010/main" val="0"/>
              </a:ext>
            </a:extLst>
          </a:blip>
          <a:srcRect l="5768" r="5768"/>
          <a:stretch>
            <a:fillRect/>
          </a:stretch>
        </p:blipFill>
        <p:spPr bwMode="auto">
          <a:xfrm>
            <a:off x="228600" y="957263"/>
            <a:ext cx="7134225" cy="57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pic>
      <p:sp>
        <p:nvSpPr>
          <p:cNvPr id="8195" name="Rectangle 4">
            <a:extLst>
              <a:ext uri="{FF2B5EF4-FFF2-40B4-BE49-F238E27FC236}">
                <a16:creationId xmlns:a16="http://schemas.microsoft.com/office/drawing/2014/main" id="{7F6F984C-25CF-9A29-2017-7B87D98E885E}"/>
              </a:ext>
            </a:extLst>
          </p:cNvPr>
          <p:cNvSpPr>
            <a:spLocks noChangeArrowheads="1"/>
          </p:cNvSpPr>
          <p:nvPr/>
        </p:nvSpPr>
        <p:spPr bwMode="auto">
          <a:xfrm>
            <a:off x="7315200" y="2573338"/>
            <a:ext cx="1905000" cy="347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034B2"/>
              </a:buClr>
              <a:buFont typeface="Times" pitchFamily="18" charset="0"/>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C35732"/>
              </a:buClr>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Font typeface="Times" pitchFamily="18" charset="0"/>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rgbClr val="C6040B"/>
              </a:buClr>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lr>
                <a:srgbClr val="3034B2"/>
              </a:buClr>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FontTx/>
              <a:buNone/>
            </a:pPr>
            <a:r>
              <a:rPr lang="en-US" altLang="en-US" sz="2000"/>
              <a:t>Feedback is info. about output returned to appropriate </a:t>
            </a:r>
            <a:r>
              <a:rPr lang="en-US" altLang="en-US" sz="2000" b="1">
                <a:solidFill>
                  <a:srgbClr val="FF0000"/>
                </a:solidFill>
              </a:rPr>
              <a:t>people</a:t>
            </a:r>
            <a:r>
              <a:rPr lang="en-US" altLang="en-US" sz="2000"/>
              <a:t> or </a:t>
            </a:r>
            <a:r>
              <a:rPr lang="en-US" altLang="en-US" sz="2000" b="1">
                <a:solidFill>
                  <a:srgbClr val="FF0000"/>
                </a:solidFill>
              </a:rPr>
              <a:t>activities</a:t>
            </a:r>
            <a:r>
              <a:rPr lang="en-US" altLang="en-US" sz="2000"/>
              <a:t> in the organization to evaluate and refine the input and process.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AutoShape 2">
            <a:extLst>
              <a:ext uri="{FF2B5EF4-FFF2-40B4-BE49-F238E27FC236}">
                <a16:creationId xmlns:a16="http://schemas.microsoft.com/office/drawing/2014/main" id="{FA78A396-3D3C-10B1-DEFF-00BA7D243827}"/>
              </a:ext>
            </a:extLst>
          </p:cNvPr>
          <p:cNvSpPr>
            <a:spLocks noGrp="1" noChangeArrowheads="1"/>
          </p:cNvSpPr>
          <p:nvPr>
            <p:ph type="title"/>
          </p:nvPr>
        </p:nvSpPr>
        <p:spPr/>
        <p:txBody>
          <a:bodyPr/>
          <a:lstStyle/>
          <a:p>
            <a:r>
              <a:rPr lang="en-US" altLang="en-US" sz="3600">
                <a:solidFill>
                  <a:srgbClr val="C00000"/>
                </a:solidFill>
              </a:rPr>
              <a:t>LEARNING OUTCOMES</a:t>
            </a:r>
          </a:p>
        </p:txBody>
      </p:sp>
      <p:sp>
        <p:nvSpPr>
          <p:cNvPr id="6147" name="Rectangle 3">
            <a:extLst>
              <a:ext uri="{FF2B5EF4-FFF2-40B4-BE49-F238E27FC236}">
                <a16:creationId xmlns:a16="http://schemas.microsoft.com/office/drawing/2014/main" id="{BEDFAB3A-6A7A-B6DC-B9F7-FD2E46312535}"/>
              </a:ext>
            </a:extLst>
          </p:cNvPr>
          <p:cNvSpPr>
            <a:spLocks noGrp="1" noChangeArrowheads="1"/>
          </p:cNvSpPr>
          <p:nvPr>
            <p:ph idx="1"/>
          </p:nvPr>
        </p:nvSpPr>
        <p:spPr/>
        <p:txBody>
          <a:bodyPr/>
          <a:lstStyle/>
          <a:p>
            <a:pPr marL="609600" indent="-438150">
              <a:lnSpc>
                <a:spcPct val="90000"/>
              </a:lnSpc>
              <a:spcAft>
                <a:spcPts val="1200"/>
              </a:spcAft>
              <a:buFont typeface="Arial" panose="020B0604020202020204" pitchFamily="34" charset="0"/>
              <a:buAutoNum type="arabicPeriod"/>
              <a:defRPr/>
            </a:pPr>
            <a:r>
              <a:rPr lang="en-US" altLang="en-US" sz="2800" dirty="0">
                <a:solidFill>
                  <a:schemeClr val="bg1">
                    <a:lumMod val="50000"/>
                  </a:schemeClr>
                </a:solidFill>
                <a:ea typeface="Times New Roman" panose="02020603050405020304" pitchFamily="18" charset="0"/>
                <a:cs typeface="Courier New" panose="02070309020205020404" pitchFamily="49" charset="0"/>
              </a:rPr>
              <a:t>Relate the strategic competitive with core competence and business functions</a:t>
            </a:r>
          </a:p>
          <a:p>
            <a:pPr marL="609600" indent="-438150">
              <a:lnSpc>
                <a:spcPct val="90000"/>
              </a:lnSpc>
              <a:spcAft>
                <a:spcPts val="1200"/>
              </a:spcAft>
              <a:buFont typeface="Arial" panose="020B0604020202020204" pitchFamily="34" charset="0"/>
              <a:buAutoNum type="arabicPeriod"/>
              <a:defRPr/>
            </a:pPr>
            <a:r>
              <a:rPr lang="en-US" altLang="en-US" sz="2800" dirty="0">
                <a:solidFill>
                  <a:srgbClr val="000000"/>
                </a:solidFill>
                <a:ea typeface="Times New Roman" panose="02020603050405020304" pitchFamily="18" charset="0"/>
                <a:cs typeface="Courier New" panose="02070309020205020404" pitchFamily="49" charset="0"/>
              </a:rPr>
              <a:t>Define metrics and describe the relationship between efficiency and effectiveness metrics</a:t>
            </a:r>
          </a:p>
          <a:p>
            <a:pPr marL="609600" indent="-438150">
              <a:lnSpc>
                <a:spcPct val="90000"/>
              </a:lnSpc>
              <a:spcAft>
                <a:spcPts val="1200"/>
              </a:spcAft>
              <a:buFont typeface="Arial" panose="020B0604020202020204" pitchFamily="34" charset="0"/>
              <a:buAutoNum type="arabicPeriod"/>
              <a:defRPr/>
            </a:pPr>
            <a:r>
              <a:rPr lang="en-US" altLang="en-US" sz="2800" dirty="0">
                <a:solidFill>
                  <a:schemeClr val="bg1">
                    <a:lumMod val="50000"/>
                  </a:schemeClr>
                </a:solidFill>
                <a:cs typeface="Courier New" panose="02070309020205020404" pitchFamily="49" charset="0"/>
              </a:rPr>
              <a:t>Explain why a business would use metrics to measure the success of strategic initiatives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id="{247839C2-B9DC-B8CE-29D2-E15344524214}"/>
              </a:ext>
            </a:extLst>
          </p:cNvPr>
          <p:cNvSpPr>
            <a:spLocks noGrp="1" noChangeArrowheads="1"/>
          </p:cNvSpPr>
          <p:nvPr>
            <p:ph type="title"/>
          </p:nvPr>
        </p:nvSpPr>
        <p:spPr>
          <a:xfrm>
            <a:off x="1143000" y="381000"/>
            <a:ext cx="6964363" cy="1201738"/>
          </a:xfrm>
        </p:spPr>
        <p:txBody>
          <a:bodyPr/>
          <a:lstStyle/>
          <a:p>
            <a:r>
              <a:rPr lang="en-US" altLang="en-US" sz="3200">
                <a:solidFill>
                  <a:srgbClr val="C00000"/>
                </a:solidFill>
              </a:rPr>
              <a:t>THE SOLUTION: BUSINESS INFORMATION SYSTEMS</a:t>
            </a:r>
          </a:p>
        </p:txBody>
      </p:sp>
      <p:pic>
        <p:nvPicPr>
          <p:cNvPr id="16386" name="Picture 2">
            <a:extLst>
              <a:ext uri="{FF2B5EF4-FFF2-40B4-BE49-F238E27FC236}">
                <a16:creationId xmlns:a16="http://schemas.microsoft.com/office/drawing/2014/main" id="{521C755E-EB00-0E83-811D-5BC49E9373CA}"/>
              </a:ext>
            </a:extLst>
          </p:cNvPr>
          <p:cNvPicPr>
            <a:picLocks noChangeAspect="1" noChangeArrowheads="1"/>
          </p:cNvPicPr>
          <p:nvPr/>
        </p:nvPicPr>
        <p:blipFill>
          <a:blip r:embed="rId3">
            <a:clrChange>
              <a:clrFrom>
                <a:srgbClr val="DEE994"/>
              </a:clrFrom>
              <a:clrTo>
                <a:srgbClr val="DEE994">
                  <a:alpha val="0"/>
                </a:srgbClr>
              </a:clrTo>
            </a:clrChange>
            <a:extLst>
              <a:ext uri="{28A0092B-C50C-407E-A947-70E740481C1C}">
                <a14:useLocalDpi xmlns:a14="http://schemas.microsoft.com/office/drawing/2010/main" val="0"/>
              </a:ext>
            </a:extLst>
          </a:blip>
          <a:srcRect/>
          <a:stretch>
            <a:fillRect/>
          </a:stretch>
        </p:blipFill>
        <p:spPr bwMode="auto">
          <a:xfrm>
            <a:off x="152400" y="2019300"/>
            <a:ext cx="9005888" cy="430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a:extLst>
              <a:ext uri="{FF2B5EF4-FFF2-40B4-BE49-F238E27FC236}">
                <a16:creationId xmlns:a16="http://schemas.microsoft.com/office/drawing/2014/main" id="{ACD726C6-CD88-DE70-EC0E-1028688C1661}"/>
              </a:ext>
            </a:extLst>
          </p:cNvPr>
          <p:cNvSpPr txBox="1"/>
          <p:nvPr/>
        </p:nvSpPr>
        <p:spPr>
          <a:xfrm>
            <a:off x="990600" y="1524000"/>
            <a:ext cx="6369050" cy="338138"/>
          </a:xfrm>
          <a:prstGeom prst="rect">
            <a:avLst/>
          </a:prstGeom>
          <a:noFill/>
        </p:spPr>
        <p:txBody>
          <a:bodyPr wrap="none">
            <a:spAutoFit/>
          </a:bodyPr>
          <a:lstStyle/>
          <a:p>
            <a:pPr>
              <a:defRPr/>
            </a:pPr>
            <a:r>
              <a:rPr lang="en-US" sz="1600" spc="300" dirty="0"/>
              <a:t>How to measure the performance of our system?</a:t>
            </a:r>
          </a:p>
        </p:txBody>
      </p:sp>
    </p:spTree>
    <p:extLst>
      <p:ext uri="{BB962C8B-B14F-4D97-AF65-F5344CB8AC3E}">
        <p14:creationId xmlns:p14="http://schemas.microsoft.com/office/powerpoint/2010/main" val="1004140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8B472-8FE3-A99B-1E51-019749063C4A}"/>
            </a:ext>
          </a:extLst>
        </p:cNvPr>
        <p:cNvGrpSpPr/>
        <p:nvPr/>
      </p:nvGrpSpPr>
      <p:grpSpPr>
        <a:xfrm>
          <a:off x="0" y="0"/>
          <a:ext cx="0" cy="0"/>
          <a:chOff x="0" y="0"/>
          <a:chExt cx="0" cy="0"/>
        </a:xfrm>
      </p:grpSpPr>
      <p:pic>
        <p:nvPicPr>
          <p:cNvPr id="9217" name="Picture Placeholder 10" descr="Fig-1-4_MIS_12e.tif">
            <a:extLst>
              <a:ext uri="{FF2B5EF4-FFF2-40B4-BE49-F238E27FC236}">
                <a16:creationId xmlns:a16="http://schemas.microsoft.com/office/drawing/2014/main" id="{09F817E2-8C5E-6E44-C63F-930735B01CEA}"/>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t="-542" b="945"/>
          <a:stretch>
            <a:fillRect/>
          </a:stretch>
        </p:blipFill>
        <p:spPr>
          <a:xfrm>
            <a:off x="2832100" y="1096963"/>
            <a:ext cx="6311900" cy="5715000"/>
          </a:xfrm>
          <a:noFill/>
          <a:ln w="9525"/>
          <a:extLst>
            <a:ext uri="{91240B29-F687-4F45-9708-019B960494DF}">
              <a14:hiddenLine xmlns:a14="http://schemas.microsoft.com/office/drawing/2010/main" w="19050">
                <a:solidFill>
                  <a:srgbClr val="000000"/>
                </a:solidFill>
                <a:miter lim="800000"/>
                <a:headEnd/>
                <a:tailEnd/>
              </a14:hiddenLine>
            </a:ext>
          </a:extLst>
        </p:spPr>
      </p:pic>
      <p:sp>
        <p:nvSpPr>
          <p:cNvPr id="9218" name="Text Placeholder 5">
            <a:extLst>
              <a:ext uri="{FF2B5EF4-FFF2-40B4-BE49-F238E27FC236}">
                <a16:creationId xmlns:a16="http://schemas.microsoft.com/office/drawing/2014/main" id="{98AC699D-304A-1348-7C65-4A20EB431BA4}"/>
              </a:ext>
            </a:extLst>
          </p:cNvPr>
          <p:cNvSpPr>
            <a:spLocks noGrp="1" noChangeArrowheads="1"/>
          </p:cNvSpPr>
          <p:nvPr>
            <p:ph type="body" sz="quarter" idx="17"/>
          </p:nvPr>
        </p:nvSpPr>
        <p:spPr>
          <a:xfrm>
            <a:off x="436563" y="1401762"/>
            <a:ext cx="4668837" cy="1646238"/>
          </a:xfrm>
          <a:solidFill>
            <a:schemeClr val="bg1"/>
          </a:solidFill>
        </p:spPr>
        <p:txBody>
          <a:bodyPr/>
          <a:lstStyle/>
          <a:p>
            <a:pPr eaLnBrk="1" hangingPunct="1">
              <a:buFontTx/>
              <a:buNone/>
            </a:pPr>
            <a:r>
              <a:rPr lang="en-US" altLang="en-US" sz="1800" dirty="0"/>
              <a:t>Business organizations are hierarchies consisting of three principal levels: </a:t>
            </a:r>
          </a:p>
          <a:p>
            <a:pPr eaLnBrk="1" hangingPunct="1">
              <a:buFontTx/>
              <a:buNone/>
            </a:pPr>
            <a:r>
              <a:rPr lang="en-US" altLang="en-US" sz="1800" dirty="0"/>
              <a:t>	senior management, </a:t>
            </a:r>
          </a:p>
          <a:p>
            <a:pPr eaLnBrk="1" hangingPunct="1">
              <a:buFontTx/>
              <a:buNone/>
            </a:pPr>
            <a:r>
              <a:rPr lang="en-US" altLang="en-US" sz="1800" dirty="0"/>
              <a:t>	middle management, and 	operational management.</a:t>
            </a:r>
          </a:p>
          <a:p>
            <a:pPr eaLnBrk="1" hangingPunct="1">
              <a:buFontTx/>
              <a:buNone/>
            </a:pPr>
            <a:endParaRPr lang="en-US" altLang="en-US" sz="1800" dirty="0"/>
          </a:p>
        </p:txBody>
      </p:sp>
      <p:sp>
        <p:nvSpPr>
          <p:cNvPr id="9219" name="Text Placeholder 4">
            <a:extLst>
              <a:ext uri="{FF2B5EF4-FFF2-40B4-BE49-F238E27FC236}">
                <a16:creationId xmlns:a16="http://schemas.microsoft.com/office/drawing/2014/main" id="{91734857-764D-7B62-9342-9A36AAB65A8E}"/>
              </a:ext>
            </a:extLst>
          </p:cNvPr>
          <p:cNvSpPr>
            <a:spLocks noGrp="1" noChangeArrowheads="1"/>
          </p:cNvSpPr>
          <p:nvPr>
            <p:ph type="body" sz="quarter" idx="21"/>
          </p:nvPr>
        </p:nvSpPr>
        <p:spPr>
          <a:xfrm>
            <a:off x="436563" y="495300"/>
            <a:ext cx="6311900" cy="533400"/>
          </a:xfrm>
        </p:spPr>
        <p:txBody>
          <a:bodyPr/>
          <a:lstStyle/>
          <a:p>
            <a:pPr eaLnBrk="1" hangingPunct="1"/>
            <a:r>
              <a:rPr lang="en-US" altLang="en-US" sz="3200"/>
              <a:t>Organisation-- Levels in a Firm</a:t>
            </a:r>
          </a:p>
        </p:txBody>
      </p:sp>
      <p:sp>
        <p:nvSpPr>
          <p:cNvPr id="9220" name="TextBox 2">
            <a:extLst>
              <a:ext uri="{FF2B5EF4-FFF2-40B4-BE49-F238E27FC236}">
                <a16:creationId xmlns:a16="http://schemas.microsoft.com/office/drawing/2014/main" id="{A776505E-B686-F6D6-9099-1CE892A02214}"/>
              </a:ext>
            </a:extLst>
          </p:cNvPr>
          <p:cNvSpPr txBox="1">
            <a:spLocks noChangeArrowheads="1"/>
          </p:cNvSpPr>
          <p:nvPr/>
        </p:nvSpPr>
        <p:spPr bwMode="auto">
          <a:xfrm>
            <a:off x="436563" y="3230562"/>
            <a:ext cx="3525837" cy="16462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034B2"/>
              </a:buClr>
              <a:buFont typeface="Times" pitchFamily="18" charset="0"/>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C35732"/>
              </a:buClr>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Font typeface="Times" pitchFamily="18" charset="0"/>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rgbClr val="C6040B"/>
              </a:buClr>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lr>
                <a:srgbClr val="3034B2"/>
              </a:buClr>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9pPr>
          </a:lstStyle>
          <a:p>
            <a:pPr eaLnBrk="1" hangingPunct="1">
              <a:buFontTx/>
              <a:buNone/>
            </a:pPr>
            <a:r>
              <a:rPr lang="en-US" altLang="en-US" sz="1800" dirty="0"/>
              <a:t>Information systems serve each of these levels. </a:t>
            </a:r>
          </a:p>
          <a:p>
            <a:pPr eaLnBrk="1" hangingPunct="1">
              <a:buFontTx/>
              <a:buNone/>
            </a:pPr>
            <a:r>
              <a:rPr lang="en-US" altLang="en-US" sz="1800" dirty="0"/>
              <a:t>Scientists and knowledge workers often work with middle management.</a:t>
            </a:r>
          </a:p>
        </p:txBody>
      </p:sp>
    </p:spTree>
    <p:extLst>
      <p:ext uri="{BB962C8B-B14F-4D97-AF65-F5344CB8AC3E}">
        <p14:creationId xmlns:p14="http://schemas.microsoft.com/office/powerpoint/2010/main" val="3133051048"/>
      </p:ext>
    </p:extLst>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6E242-862E-97C6-379B-BE80FADE3E64}"/>
            </a:ext>
          </a:extLst>
        </p:cNvPr>
        <p:cNvGrpSpPr/>
        <p:nvPr/>
      </p:nvGrpSpPr>
      <p:grpSpPr>
        <a:xfrm>
          <a:off x="0" y="0"/>
          <a:ext cx="0" cy="0"/>
          <a:chOff x="0" y="0"/>
          <a:chExt cx="0" cy="0"/>
        </a:xfrm>
      </p:grpSpPr>
      <p:sp>
        <p:nvSpPr>
          <p:cNvPr id="17411" name="Content Placeholder 4">
            <a:extLst>
              <a:ext uri="{FF2B5EF4-FFF2-40B4-BE49-F238E27FC236}">
                <a16:creationId xmlns:a16="http://schemas.microsoft.com/office/drawing/2014/main" id="{4FDAA209-3A51-19F5-9663-735F4F2CA237}"/>
              </a:ext>
            </a:extLst>
          </p:cNvPr>
          <p:cNvSpPr>
            <a:spLocks noGrp="1"/>
          </p:cNvSpPr>
          <p:nvPr>
            <p:ph idx="1"/>
          </p:nvPr>
        </p:nvSpPr>
        <p:spPr>
          <a:xfrm>
            <a:off x="457200" y="1828800"/>
            <a:ext cx="8229600" cy="3886200"/>
          </a:xfrm>
        </p:spPr>
        <p:txBody>
          <a:bodyPr/>
          <a:lstStyle/>
          <a:p>
            <a:pPr eaLnBrk="1" hangingPunct="1">
              <a:defRPr/>
            </a:pPr>
            <a:r>
              <a:rPr lang="en-US" dirty="0">
                <a:solidFill>
                  <a:srgbClr val="FF0000"/>
                </a:solidFill>
              </a:rPr>
              <a:t>Management dimension </a:t>
            </a:r>
            <a:r>
              <a:rPr lang="en-US" dirty="0"/>
              <a:t>of information systems</a:t>
            </a:r>
          </a:p>
          <a:p>
            <a:pPr lvl="1" eaLnBrk="1" hangingPunct="1">
              <a:defRPr/>
            </a:pPr>
            <a:r>
              <a:rPr lang="en-US" sz="2800" dirty="0"/>
              <a:t>Managers set organizational strategy for responding to business challenges</a:t>
            </a:r>
          </a:p>
          <a:p>
            <a:pPr lvl="1" eaLnBrk="1" hangingPunct="1">
              <a:defRPr/>
            </a:pPr>
            <a:r>
              <a:rPr lang="en-US" sz="2800" dirty="0"/>
              <a:t>In addition, managers must act creatively:</a:t>
            </a:r>
          </a:p>
          <a:p>
            <a:pPr lvl="2" eaLnBrk="1" hangingPunct="1">
              <a:defRPr/>
            </a:pPr>
            <a:r>
              <a:rPr lang="en-US" sz="2800" dirty="0"/>
              <a:t>Creation of new products and services</a:t>
            </a:r>
          </a:p>
          <a:p>
            <a:pPr lvl="2" eaLnBrk="1" hangingPunct="1">
              <a:defRPr/>
            </a:pPr>
            <a:r>
              <a:rPr lang="en-US" sz="2800" dirty="0"/>
              <a:t>Occasionally re-creating the organization</a:t>
            </a:r>
          </a:p>
        </p:txBody>
      </p:sp>
      <p:sp>
        <p:nvSpPr>
          <p:cNvPr id="22530" name="Text Placeholder 5">
            <a:extLst>
              <a:ext uri="{FF2B5EF4-FFF2-40B4-BE49-F238E27FC236}">
                <a16:creationId xmlns:a16="http://schemas.microsoft.com/office/drawing/2014/main" id="{CE8D1FB2-D163-17A5-DF0B-7B5073697CF0}"/>
              </a:ext>
            </a:extLst>
          </p:cNvPr>
          <p:cNvSpPr>
            <a:spLocks noGrp="1" noChangeArrowheads="1"/>
          </p:cNvSpPr>
          <p:nvPr>
            <p:ph type="body" sz="quarter" idx="15"/>
          </p:nvPr>
        </p:nvSpPr>
        <p:spPr/>
        <p:txBody>
          <a:bodyPr/>
          <a:lstStyle/>
          <a:p>
            <a:pPr eaLnBrk="1" hangingPunct="1"/>
            <a:r>
              <a:rPr lang="en-US" altLang="en-US"/>
              <a:t>Perspectives on Information Systems</a:t>
            </a:r>
          </a:p>
        </p:txBody>
      </p:sp>
      <p:sp>
        <p:nvSpPr>
          <p:cNvPr id="2" name="TextBox 1">
            <a:extLst>
              <a:ext uri="{FF2B5EF4-FFF2-40B4-BE49-F238E27FC236}">
                <a16:creationId xmlns:a16="http://schemas.microsoft.com/office/drawing/2014/main" id="{F86D8A94-785A-B323-B794-0BC29A0E98A6}"/>
              </a:ext>
            </a:extLst>
          </p:cNvPr>
          <p:cNvSpPr txBox="1"/>
          <p:nvPr/>
        </p:nvSpPr>
        <p:spPr>
          <a:xfrm>
            <a:off x="800100" y="5562600"/>
            <a:ext cx="7543800" cy="1138773"/>
          </a:xfrm>
          <a:prstGeom prst="rect">
            <a:avLst/>
          </a:prstGeom>
          <a:noFill/>
        </p:spPr>
        <p:txBody>
          <a:bodyPr wrap="square" rtlCol="0">
            <a:spAutoFit/>
          </a:bodyPr>
          <a:lstStyle/>
          <a:p>
            <a:r>
              <a:rPr lang="en-TH" sz="2000" dirty="0"/>
              <a:t>See how Steve Job organize Apple. </a:t>
            </a:r>
            <a:r>
              <a:rPr lang="en-US" sz="2000" dirty="0">
                <a:hlinkClick r:id="rId3"/>
              </a:rPr>
              <a:t>https://www.youtube.com/watch?v=5hENFA3CJUY</a:t>
            </a:r>
            <a:r>
              <a:rPr lang="en-US" sz="2000" dirty="0"/>
              <a:t> </a:t>
            </a:r>
          </a:p>
          <a:p>
            <a:endParaRPr lang="en-TH" dirty="0"/>
          </a:p>
        </p:txBody>
      </p:sp>
      <p:pic>
        <p:nvPicPr>
          <p:cNvPr id="1026" name="Picture 2" descr="ทำความรู้จักวิธีคิดและวิธีทำงานของผู้นำที่ดีและฉลาด Steve Jobs | Brand  Inside">
            <a:extLst>
              <a:ext uri="{FF2B5EF4-FFF2-40B4-BE49-F238E27FC236}">
                <a16:creationId xmlns:a16="http://schemas.microsoft.com/office/drawing/2014/main" id="{E5BE310C-9FE2-662A-2249-F7E4BC50C7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1150" y="5398612"/>
            <a:ext cx="2197100" cy="1459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8969526"/>
      </p:ext>
    </p:extLst>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5" name="Picture 3">
            <a:extLst>
              <a:ext uri="{FF2B5EF4-FFF2-40B4-BE49-F238E27FC236}">
                <a16:creationId xmlns:a16="http://schemas.microsoft.com/office/drawing/2014/main" id="{29A673F3-AB70-BF37-21BF-0BDC81455E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074737"/>
            <a:ext cx="7848600" cy="578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3" name="Title 1">
            <a:extLst>
              <a:ext uri="{FF2B5EF4-FFF2-40B4-BE49-F238E27FC236}">
                <a16:creationId xmlns:a16="http://schemas.microsoft.com/office/drawing/2014/main" id="{8912187C-D027-6F97-9B56-99A47F8FEFDB}"/>
              </a:ext>
            </a:extLst>
          </p:cNvPr>
          <p:cNvSpPr>
            <a:spLocks noGrp="1" noChangeArrowheads="1"/>
          </p:cNvSpPr>
          <p:nvPr>
            <p:ph type="title"/>
          </p:nvPr>
        </p:nvSpPr>
        <p:spPr>
          <a:xfrm>
            <a:off x="1670050" y="381000"/>
            <a:ext cx="7310438" cy="633413"/>
          </a:xfrm>
        </p:spPr>
        <p:txBody>
          <a:bodyPr/>
          <a:lstStyle/>
          <a:p>
            <a:r>
              <a:rPr lang="en-TH" altLang="en-TH" dirty="0"/>
              <a:t>Business Performance Management: Cycle management by KPIs</a:t>
            </a:r>
          </a:p>
        </p:txBody>
      </p:sp>
    </p:spTree>
    <p:extLst>
      <p:ext uri="{BB962C8B-B14F-4D97-AF65-F5344CB8AC3E}">
        <p14:creationId xmlns:p14="http://schemas.microsoft.com/office/powerpoint/2010/main" val="2356801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5" name="Picture 2">
            <a:extLst>
              <a:ext uri="{FF2B5EF4-FFF2-40B4-BE49-F238E27FC236}">
                <a16:creationId xmlns:a16="http://schemas.microsoft.com/office/drawing/2014/main" id="{284BE1F2-F5DD-0C80-10BB-6997A8AA8B2B}"/>
              </a:ext>
            </a:extLst>
          </p:cNvPr>
          <p:cNvPicPr>
            <a:picLocks noChangeAspect="1" noChangeArrowheads="1"/>
          </p:cNvPicPr>
          <p:nvPr/>
        </p:nvPicPr>
        <p:blipFill>
          <a:blip r:embed="rId3">
            <a:clrChange>
              <a:clrFrom>
                <a:srgbClr val="DEE994"/>
              </a:clrFrom>
              <a:clrTo>
                <a:srgbClr val="DEE994">
                  <a:alpha val="0"/>
                </a:srgbClr>
              </a:clrTo>
            </a:clrChange>
            <a:extLst>
              <a:ext uri="{28A0092B-C50C-407E-A947-70E740481C1C}">
                <a14:useLocalDpi xmlns:a14="http://schemas.microsoft.com/office/drawing/2010/main" val="0"/>
              </a:ext>
            </a:extLst>
          </a:blip>
          <a:srcRect/>
          <a:stretch>
            <a:fillRect/>
          </a:stretch>
        </p:blipFill>
        <p:spPr bwMode="auto">
          <a:xfrm>
            <a:off x="-609600" y="42863"/>
            <a:ext cx="9613900"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362" name="AutoShape 2">
            <a:extLst>
              <a:ext uri="{FF2B5EF4-FFF2-40B4-BE49-F238E27FC236}">
                <a16:creationId xmlns:a16="http://schemas.microsoft.com/office/drawing/2014/main" id="{2A31B44B-C836-F622-6954-D9273E04E81E}"/>
              </a:ext>
            </a:extLst>
          </p:cNvPr>
          <p:cNvSpPr>
            <a:spLocks noGrp="1" noChangeArrowheads="1"/>
          </p:cNvSpPr>
          <p:nvPr>
            <p:ph type="title"/>
          </p:nvPr>
        </p:nvSpPr>
        <p:spPr>
          <a:xfrm>
            <a:off x="685800" y="0"/>
            <a:ext cx="7743825" cy="533400"/>
          </a:xfrm>
        </p:spPr>
        <p:txBody>
          <a:bodyPr/>
          <a:lstStyle/>
          <a:p>
            <a:pPr eaLnBrk="1" hangingPunct="1">
              <a:defRPr/>
            </a:pPr>
            <a:r>
              <a:rPr lang="en-US" sz="3600" dirty="0">
                <a:solidFill>
                  <a:schemeClr val="accent3"/>
                </a:solidFill>
              </a:rPr>
              <a:t>METRICS: MEASURING SUCCESS</a:t>
            </a:r>
          </a:p>
        </p:txBody>
      </p:sp>
      <p:sp>
        <p:nvSpPr>
          <p:cNvPr id="26627" name="Rectangle 1">
            <a:extLst>
              <a:ext uri="{FF2B5EF4-FFF2-40B4-BE49-F238E27FC236}">
                <a16:creationId xmlns:a16="http://schemas.microsoft.com/office/drawing/2014/main" id="{B406F8DB-A880-468D-9CA8-E58A420B392A}"/>
              </a:ext>
            </a:extLst>
          </p:cNvPr>
          <p:cNvSpPr>
            <a:spLocks noChangeArrowheads="1"/>
          </p:cNvSpPr>
          <p:nvPr/>
        </p:nvSpPr>
        <p:spPr bwMode="auto">
          <a:xfrm>
            <a:off x="6265863" y="762000"/>
            <a:ext cx="249713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034B2"/>
              </a:buClr>
              <a:buFont typeface="Times" pitchFamily="18" charset="0"/>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C35732"/>
              </a:buClr>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Font typeface="Times" pitchFamily="18" charset="0"/>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rgbClr val="C6040B"/>
              </a:buClr>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lr>
                <a:srgbClr val="3034B2"/>
              </a:buClr>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FontTx/>
              <a:buNone/>
            </a:pPr>
            <a:r>
              <a:rPr lang="en-US" altLang="en-US" sz="1600" u="sng">
                <a:solidFill>
                  <a:srgbClr val="0070C0"/>
                </a:solidFill>
              </a:rPr>
              <a:t>http://www.kpilibrary.com </a:t>
            </a:r>
            <a:endParaRPr lang="en-US" altLang="en-US" sz="1600"/>
          </a:p>
        </p:txBody>
      </p:sp>
      <p:cxnSp>
        <p:nvCxnSpPr>
          <p:cNvPr id="4" name="Straight Arrow Connector 3">
            <a:extLst>
              <a:ext uri="{FF2B5EF4-FFF2-40B4-BE49-F238E27FC236}">
                <a16:creationId xmlns:a16="http://schemas.microsoft.com/office/drawing/2014/main" id="{A86D16FF-C01F-72F1-2BBD-AFF92D8D8C8A}"/>
              </a:ext>
            </a:extLst>
          </p:cNvPr>
          <p:cNvCxnSpPr/>
          <p:nvPr/>
        </p:nvCxnSpPr>
        <p:spPr>
          <a:xfrm flipV="1">
            <a:off x="4267200" y="3657600"/>
            <a:ext cx="2209800" cy="2057400"/>
          </a:xfrm>
          <a:prstGeom prst="straightConnector1">
            <a:avLst/>
          </a:prstGeom>
          <a:ln>
            <a:solidFill>
              <a:srgbClr val="0070C0"/>
            </a:solidFill>
            <a:tailEnd type="triangle"/>
          </a:ln>
        </p:spPr>
        <p:style>
          <a:lnRef idx="3">
            <a:schemeClr val="accent2"/>
          </a:lnRef>
          <a:fillRef idx="0">
            <a:schemeClr val="accent2"/>
          </a:fillRef>
          <a:effectRef idx="2">
            <a:schemeClr val="accent2"/>
          </a:effectRef>
          <a:fontRef idx="minor">
            <a:schemeClr val="tx1"/>
          </a:fontRef>
        </p:style>
      </p:cxnSp>
      <p:cxnSp>
        <p:nvCxnSpPr>
          <p:cNvPr id="6" name="Straight Arrow Connector 5">
            <a:extLst>
              <a:ext uri="{FF2B5EF4-FFF2-40B4-BE49-F238E27FC236}">
                <a16:creationId xmlns:a16="http://schemas.microsoft.com/office/drawing/2014/main" id="{59C30C5E-0D97-71E1-70DE-1C9631E7AB48}"/>
              </a:ext>
            </a:extLst>
          </p:cNvPr>
          <p:cNvCxnSpPr/>
          <p:nvPr/>
        </p:nvCxnSpPr>
        <p:spPr>
          <a:xfrm flipV="1">
            <a:off x="3962400" y="4191000"/>
            <a:ext cx="2438400" cy="1066800"/>
          </a:xfrm>
          <a:prstGeom prst="straightConnector1">
            <a:avLst/>
          </a:prstGeom>
          <a:ln>
            <a:solidFill>
              <a:srgbClr val="C00000"/>
            </a:solidFill>
            <a:headEnd type="none" w="med" len="med"/>
            <a:tailEnd type="arrow" w="med" len="med"/>
          </a:ln>
        </p:spPr>
        <p:style>
          <a:lnRef idx="3">
            <a:schemeClr val="accent4"/>
          </a:lnRef>
          <a:fillRef idx="0">
            <a:schemeClr val="accent4"/>
          </a:fillRef>
          <a:effectRef idx="2">
            <a:schemeClr val="accent4"/>
          </a:effectRef>
          <a:fontRef idx="minor">
            <a:schemeClr val="tx1"/>
          </a:fontRef>
        </p:style>
      </p:cxnSp>
      <p:cxnSp>
        <p:nvCxnSpPr>
          <p:cNvPr id="9" name="Straight Arrow Connector 8">
            <a:extLst>
              <a:ext uri="{FF2B5EF4-FFF2-40B4-BE49-F238E27FC236}">
                <a16:creationId xmlns:a16="http://schemas.microsoft.com/office/drawing/2014/main" id="{82CAF4A0-D23C-DC3D-2AEF-F80F3E711697}"/>
              </a:ext>
            </a:extLst>
          </p:cNvPr>
          <p:cNvCxnSpPr/>
          <p:nvPr/>
        </p:nvCxnSpPr>
        <p:spPr>
          <a:xfrm>
            <a:off x="3962400" y="3924300"/>
            <a:ext cx="2438400" cy="1028700"/>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3F8A7241-BADB-5D6B-40E5-756984263DA4}"/>
              </a:ext>
            </a:extLst>
          </p:cNvPr>
          <p:cNvSpPr>
            <a:spLocks noGrp="1" noChangeArrowheads="1"/>
          </p:cNvSpPr>
          <p:nvPr>
            <p:ph type="title"/>
          </p:nvPr>
        </p:nvSpPr>
        <p:spPr>
          <a:xfrm>
            <a:off x="533400" y="304800"/>
            <a:ext cx="7010400" cy="707677"/>
          </a:xfrm>
        </p:spPr>
        <p:txBody>
          <a:bodyPr/>
          <a:lstStyle/>
          <a:p>
            <a:pPr eaLnBrk="1" hangingPunct="1"/>
            <a:r>
              <a:rPr lang="en-US" altLang="en-US" sz="3600" dirty="0">
                <a:solidFill>
                  <a:srgbClr val="0070C0"/>
                </a:solidFill>
              </a:rPr>
              <a:t>Efficiency and Effectiveness</a:t>
            </a:r>
          </a:p>
        </p:txBody>
      </p:sp>
      <p:sp>
        <p:nvSpPr>
          <p:cNvPr id="32771" name="Rectangle 3">
            <a:extLst>
              <a:ext uri="{FF2B5EF4-FFF2-40B4-BE49-F238E27FC236}">
                <a16:creationId xmlns:a16="http://schemas.microsoft.com/office/drawing/2014/main" id="{7D64CFE5-DCB5-DFD2-8696-DA9E5D775C38}"/>
              </a:ext>
            </a:extLst>
          </p:cNvPr>
          <p:cNvSpPr>
            <a:spLocks noGrp="1" noChangeArrowheads="1"/>
          </p:cNvSpPr>
          <p:nvPr>
            <p:ph type="body" idx="1"/>
          </p:nvPr>
        </p:nvSpPr>
        <p:spPr>
          <a:xfrm>
            <a:off x="533400" y="1295400"/>
            <a:ext cx="2438400" cy="2286000"/>
          </a:xfrm>
        </p:spPr>
        <p:txBody>
          <a:bodyPr>
            <a:normAutofit fontScale="77500" lnSpcReduction="20000"/>
          </a:bodyPr>
          <a:lstStyle/>
          <a:p>
            <a:pPr marL="0" indent="0" eaLnBrk="1" hangingPunct="1">
              <a:buNone/>
              <a:defRPr/>
            </a:pPr>
            <a:r>
              <a:rPr lang="en-US" altLang="en-US" sz="3400" b="1" i="1" dirty="0">
                <a:solidFill>
                  <a:srgbClr val="0070C0"/>
                </a:solidFill>
              </a:rPr>
              <a:t>Efficiency : </a:t>
            </a:r>
            <a:r>
              <a:rPr lang="en-US" altLang="en-US" sz="3400" b="1" i="1" dirty="0"/>
              <a:t>Do the thing right</a:t>
            </a:r>
          </a:p>
          <a:p>
            <a:pPr marL="0" indent="0" eaLnBrk="1" hangingPunct="1">
              <a:spcBef>
                <a:spcPts val="1200"/>
              </a:spcBef>
              <a:buNone/>
              <a:defRPr/>
            </a:pPr>
            <a:r>
              <a:rPr lang="en-US" altLang="en-US" sz="2900" dirty="0"/>
              <a:t>measures the performance of the system (</a:t>
            </a:r>
            <a:r>
              <a:rPr lang="en-US" altLang="en-US" sz="2900" b="1" dirty="0">
                <a:solidFill>
                  <a:srgbClr val="0070C0"/>
                </a:solidFill>
              </a:rPr>
              <a:t>OUTPUT</a:t>
            </a:r>
            <a:r>
              <a:rPr lang="en-US" altLang="en-US" sz="2900" dirty="0"/>
              <a:t>):</a:t>
            </a:r>
          </a:p>
        </p:txBody>
      </p:sp>
      <p:sp>
        <p:nvSpPr>
          <p:cNvPr id="28675" name="Rectangle 1">
            <a:extLst>
              <a:ext uri="{FF2B5EF4-FFF2-40B4-BE49-F238E27FC236}">
                <a16:creationId xmlns:a16="http://schemas.microsoft.com/office/drawing/2014/main" id="{CD4B44C2-AE21-5F31-38EA-604D553D7AA1}"/>
              </a:ext>
            </a:extLst>
          </p:cNvPr>
          <p:cNvSpPr>
            <a:spLocks noChangeArrowheads="1"/>
          </p:cNvSpPr>
          <p:nvPr/>
        </p:nvSpPr>
        <p:spPr bwMode="auto">
          <a:xfrm>
            <a:off x="521368" y="3800406"/>
            <a:ext cx="2438400"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3034B2"/>
              </a:buClr>
              <a:buFont typeface="Times" pitchFamily="18" charset="0"/>
              <a:buChar char="•"/>
              <a:defRPr sz="3200">
                <a:solidFill>
                  <a:schemeClr val="tx1"/>
                </a:solidFill>
                <a:latin typeface="Arial" panose="020B0604020202020204" pitchFamily="34" charset="0"/>
                <a:ea typeface="MS PGothic" panose="020B0600070205080204" pitchFamily="34" charset="-128"/>
              </a:defRPr>
            </a:lvl1pPr>
            <a:lvl2pPr marL="800100" indent="-342900">
              <a:spcBef>
                <a:spcPct val="20000"/>
              </a:spcBef>
              <a:buClr>
                <a:srgbClr val="C35732"/>
              </a:buClr>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Font typeface="Times" pitchFamily="18" charset="0"/>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rgbClr val="C6040B"/>
              </a:buClr>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lr>
                <a:srgbClr val="3034B2"/>
              </a:buClr>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FontTx/>
              <a:buNone/>
            </a:pPr>
            <a:r>
              <a:rPr lang="en-US" altLang="en-US" sz="2400" b="1" i="1" dirty="0">
                <a:solidFill>
                  <a:srgbClr val="0070C0"/>
                </a:solidFill>
              </a:rPr>
              <a:t>Effectiveness </a:t>
            </a:r>
            <a:r>
              <a:rPr lang="en-US" altLang="en-US" sz="2400" b="1" i="1" dirty="0"/>
              <a:t>: Do the right thing</a:t>
            </a:r>
            <a:endParaRPr lang="en-US" altLang="en-US" sz="2400" dirty="0"/>
          </a:p>
          <a:p>
            <a:pPr eaLnBrk="1" hangingPunct="1">
              <a:spcBef>
                <a:spcPts val="1200"/>
              </a:spcBef>
              <a:buClrTx/>
              <a:buFontTx/>
              <a:buNone/>
            </a:pPr>
            <a:r>
              <a:rPr lang="en-US" altLang="en-US" sz="2000" dirty="0"/>
              <a:t>measures the impact on business objectives (</a:t>
            </a:r>
            <a:r>
              <a:rPr lang="en-US" altLang="en-US" sz="2000" b="1" dirty="0">
                <a:solidFill>
                  <a:srgbClr val="0070C0"/>
                </a:solidFill>
              </a:rPr>
              <a:t>OUTCOME</a:t>
            </a:r>
            <a:r>
              <a:rPr lang="en-US" altLang="en-US" sz="2000" dirty="0"/>
              <a:t>), </a:t>
            </a:r>
          </a:p>
        </p:txBody>
      </p:sp>
      <p:pic>
        <p:nvPicPr>
          <p:cNvPr id="2" name="Picture 3">
            <a:extLst>
              <a:ext uri="{FF2B5EF4-FFF2-40B4-BE49-F238E27FC236}">
                <a16:creationId xmlns:a16="http://schemas.microsoft.com/office/drawing/2014/main" id="{0ED3962D-9338-F446-2CBA-C0BBA38F51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1036" y="990600"/>
            <a:ext cx="6367028" cy="5829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DC0D1231-17A8-CF76-F363-EA2167C6BAE5}"/>
              </a:ext>
            </a:extLst>
          </p:cNvPr>
          <p:cNvSpPr>
            <a:spLocks noGrp="1" noChangeArrowheads="1"/>
          </p:cNvSpPr>
          <p:nvPr>
            <p:ph type="title"/>
          </p:nvPr>
        </p:nvSpPr>
        <p:spPr>
          <a:xfrm>
            <a:off x="688975" y="304800"/>
            <a:ext cx="7286625" cy="1201738"/>
          </a:xfrm>
        </p:spPr>
        <p:txBody>
          <a:bodyPr/>
          <a:lstStyle/>
          <a:p>
            <a:pPr eaLnBrk="1" hangingPunct="1"/>
            <a:r>
              <a:rPr lang="en-US" altLang="en-US" sz="3200" dirty="0">
                <a:solidFill>
                  <a:srgbClr val="C00000"/>
                </a:solidFill>
              </a:rPr>
              <a:t>The Interrelation of Efficiency and Effectiveness MIS Metrics</a:t>
            </a:r>
          </a:p>
        </p:txBody>
      </p:sp>
      <p:pic>
        <p:nvPicPr>
          <p:cNvPr id="31746" name="Picture 1">
            <a:extLst>
              <a:ext uri="{FF2B5EF4-FFF2-40B4-BE49-F238E27FC236}">
                <a16:creationId xmlns:a16="http://schemas.microsoft.com/office/drawing/2014/main" id="{2366A2A7-7A3A-99F9-32B4-D05A720E4E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570" t="8009" r="2548" b="3154"/>
          <a:stretch>
            <a:fillRect/>
          </a:stretch>
        </p:blipFill>
        <p:spPr bwMode="auto">
          <a:xfrm>
            <a:off x="1066800" y="1506538"/>
            <a:ext cx="8047038" cy="527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7" name="Rectangle 4">
            <a:extLst>
              <a:ext uri="{FF2B5EF4-FFF2-40B4-BE49-F238E27FC236}">
                <a16:creationId xmlns:a16="http://schemas.microsoft.com/office/drawing/2014/main" id="{D89A5333-17F4-6D3B-D996-8D4C65F15984}"/>
              </a:ext>
            </a:extLst>
          </p:cNvPr>
          <p:cNvSpPr>
            <a:spLocks noChangeArrowheads="1"/>
          </p:cNvSpPr>
          <p:nvPr/>
        </p:nvSpPr>
        <p:spPr bwMode="auto">
          <a:xfrm>
            <a:off x="688975" y="5867400"/>
            <a:ext cx="32734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034B2"/>
              </a:buClr>
              <a:buFont typeface="Times" pitchFamily="18" charset="0"/>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C35732"/>
              </a:buClr>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Font typeface="Times" pitchFamily="18" charset="0"/>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rgbClr val="C6040B"/>
              </a:buClr>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lr>
                <a:srgbClr val="3034B2"/>
              </a:buClr>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FontTx/>
              <a:buNone/>
            </a:pPr>
            <a:r>
              <a:rPr lang="en-US" altLang="en-TH" sz="1600">
                <a:hlinkClick r:id="rId4"/>
              </a:rPr>
              <a:t>https://www.insightsquared.com/blog/effectiveness-vs-efficiency-whats-the-difference/</a:t>
            </a:r>
            <a:r>
              <a:rPr lang="en-US" altLang="en-TH" sz="1600"/>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793" name="Title 1">
            <a:extLst>
              <a:ext uri="{FF2B5EF4-FFF2-40B4-BE49-F238E27FC236}">
                <a16:creationId xmlns:a16="http://schemas.microsoft.com/office/drawing/2014/main" id="{C95A4BD0-5D1A-6ACC-26CD-2250A97919F7}"/>
              </a:ext>
            </a:extLst>
          </p:cNvPr>
          <p:cNvSpPr>
            <a:spLocks noGrp="1" noChangeArrowheads="1"/>
          </p:cNvSpPr>
          <p:nvPr>
            <p:ph type="title"/>
          </p:nvPr>
        </p:nvSpPr>
        <p:spPr>
          <a:xfrm>
            <a:off x="836612" y="762000"/>
            <a:ext cx="8066088" cy="914400"/>
          </a:xfrm>
        </p:spPr>
        <p:txBody>
          <a:bodyPr/>
          <a:lstStyle/>
          <a:p>
            <a:r>
              <a:rPr lang="en-US" altLang="en-TH" dirty="0"/>
              <a:t>Sample cases for Efficiency vs Effectiveness</a:t>
            </a:r>
            <a:br>
              <a:rPr lang="en-US" altLang="en-TH" dirty="0"/>
            </a:br>
            <a:r>
              <a:rPr lang="en-US" altLang="en-TH" b="0" dirty="0">
                <a:solidFill>
                  <a:schemeClr val="tx1"/>
                </a:solidFill>
              </a:rPr>
              <a:t>The IT department has been asked for a pitch and demo to </a:t>
            </a:r>
            <a:r>
              <a:rPr lang="en-US" b="0" i="0" u="none" strike="noStrike" dirty="0">
                <a:solidFill>
                  <a:srgbClr val="000000"/>
                </a:solidFill>
                <a:effectLst/>
                <a:latin typeface="-webkit-standard"/>
              </a:rPr>
              <a:t>give the audience a firsthand experience of its functionality/benefits.</a:t>
            </a:r>
            <a:endParaRPr lang="en-US" altLang="en-TH" dirty="0"/>
          </a:p>
        </p:txBody>
      </p:sp>
      <p:pic>
        <p:nvPicPr>
          <p:cNvPr id="33794" name="Picture 3">
            <a:extLst>
              <a:ext uri="{FF2B5EF4-FFF2-40B4-BE49-F238E27FC236}">
                <a16:creationId xmlns:a16="http://schemas.microsoft.com/office/drawing/2014/main" id="{44B45CCE-84F7-6796-D1BA-7876E2F733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4111" t="8009" r="2550" b="20724"/>
          <a:stretch>
            <a:fillRect/>
          </a:stretch>
        </p:blipFill>
        <p:spPr bwMode="auto">
          <a:xfrm>
            <a:off x="987425" y="2057400"/>
            <a:ext cx="7764463"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ACFE7BCD-A4C5-3C91-5AD8-D8259E8288C6}"/>
              </a:ext>
            </a:extLst>
          </p:cNvPr>
          <p:cNvSpPr>
            <a:spLocks noChangeArrowheads="1"/>
          </p:cNvSpPr>
          <p:nvPr/>
        </p:nvSpPr>
        <p:spPr bwMode="auto">
          <a:xfrm>
            <a:off x="5105400" y="4343400"/>
            <a:ext cx="3505200" cy="1981200"/>
          </a:xfrm>
          <a:prstGeom prst="rect">
            <a:avLst/>
          </a:prstGeom>
          <a:solidFill>
            <a:srgbClr val="FFF05B"/>
          </a:solidFill>
          <a:ln w="38100" algn="ctr">
            <a:solidFill>
              <a:schemeClr val="tx1"/>
            </a:solidFill>
            <a:round/>
            <a:headEnd/>
            <a:tailEnd/>
          </a:ln>
        </p:spPr>
        <p:txBody>
          <a:bodyPr/>
          <a:lstStyle>
            <a:lvl1pPr>
              <a:spcBef>
                <a:spcPct val="20000"/>
              </a:spcBef>
              <a:buClr>
                <a:srgbClr val="3034B2"/>
              </a:buClr>
              <a:buFont typeface="Times" pitchFamily="18" charset="0"/>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C35732"/>
              </a:buClr>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Font typeface="Times" pitchFamily="18" charset="0"/>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rgbClr val="C6040B"/>
              </a:buClr>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lr>
                <a:srgbClr val="3034B2"/>
              </a:buClr>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ClrTx/>
              <a:buFontTx/>
              <a:buNone/>
            </a:pPr>
            <a:r>
              <a:rPr lang="en-US" altLang="en-TH" sz="2000" dirty="0"/>
              <a:t>The team builds a deck and demo in just 3 days. But once they present, the potential client is dissatisfied because the content focused on the wrong things. </a:t>
            </a:r>
          </a:p>
        </p:txBody>
      </p:sp>
      <p:sp>
        <p:nvSpPr>
          <p:cNvPr id="33796" name="Rectangle 5">
            <a:extLst>
              <a:ext uri="{FF2B5EF4-FFF2-40B4-BE49-F238E27FC236}">
                <a16:creationId xmlns:a16="http://schemas.microsoft.com/office/drawing/2014/main" id="{B630C239-3BAE-F90F-814E-233B7F3A6968}"/>
              </a:ext>
            </a:extLst>
          </p:cNvPr>
          <p:cNvSpPr>
            <a:spLocks noChangeArrowheads="1"/>
          </p:cNvSpPr>
          <p:nvPr/>
        </p:nvSpPr>
        <p:spPr bwMode="auto">
          <a:xfrm>
            <a:off x="1524000" y="2286000"/>
            <a:ext cx="3505200" cy="1981200"/>
          </a:xfrm>
          <a:prstGeom prst="rect">
            <a:avLst/>
          </a:prstGeom>
          <a:solidFill>
            <a:srgbClr val="FFF05B"/>
          </a:solidFill>
          <a:ln w="38100" algn="ctr">
            <a:solidFill>
              <a:schemeClr val="tx1"/>
            </a:solidFill>
            <a:round/>
            <a:headEnd/>
            <a:tailEnd/>
          </a:ln>
        </p:spPr>
        <p:txBody>
          <a:bodyPr/>
          <a:lstStyle>
            <a:lvl1pPr>
              <a:spcBef>
                <a:spcPct val="20000"/>
              </a:spcBef>
              <a:buClr>
                <a:srgbClr val="3034B2"/>
              </a:buClr>
              <a:buFont typeface="Times" pitchFamily="18" charset="0"/>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C35732"/>
              </a:buClr>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Font typeface="Times" pitchFamily="18" charset="0"/>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rgbClr val="C6040B"/>
              </a:buClr>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lr>
                <a:srgbClr val="3034B2"/>
              </a:buClr>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ClrTx/>
              <a:buFontTx/>
              <a:buNone/>
            </a:pPr>
            <a:r>
              <a:rPr lang="en-US" altLang="en-TH" sz="2000" dirty="0"/>
              <a:t>The team built a state-of-the-art demo and deck, but it takes them 2 weeks. The customer is dissatisfied with how much time it took to hear back from your team.</a:t>
            </a:r>
          </a:p>
        </p:txBody>
      </p:sp>
      <p:sp>
        <p:nvSpPr>
          <p:cNvPr id="7" name="Rectangle 6">
            <a:extLst>
              <a:ext uri="{FF2B5EF4-FFF2-40B4-BE49-F238E27FC236}">
                <a16:creationId xmlns:a16="http://schemas.microsoft.com/office/drawing/2014/main" id="{6D425BD2-87B5-E230-6075-9597DAAA9AED}"/>
              </a:ext>
            </a:extLst>
          </p:cNvPr>
          <p:cNvSpPr>
            <a:spLocks noChangeArrowheads="1"/>
          </p:cNvSpPr>
          <p:nvPr/>
        </p:nvSpPr>
        <p:spPr bwMode="auto">
          <a:xfrm>
            <a:off x="1524000" y="4343400"/>
            <a:ext cx="3505200" cy="1981200"/>
          </a:xfrm>
          <a:prstGeom prst="rect">
            <a:avLst/>
          </a:prstGeom>
          <a:solidFill>
            <a:srgbClr val="F4835A"/>
          </a:solidFill>
          <a:ln w="38100" algn="ctr">
            <a:solidFill>
              <a:schemeClr val="tx1"/>
            </a:solidFill>
            <a:round/>
            <a:headEnd/>
            <a:tailEnd/>
          </a:ln>
        </p:spPr>
        <p:txBody>
          <a:bodyPr/>
          <a:lstStyle>
            <a:lvl1pPr>
              <a:spcBef>
                <a:spcPct val="20000"/>
              </a:spcBef>
              <a:buClr>
                <a:srgbClr val="3034B2"/>
              </a:buClr>
              <a:buFont typeface="Times" pitchFamily="18" charset="0"/>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C35732"/>
              </a:buClr>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Font typeface="Times" pitchFamily="18" charset="0"/>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rgbClr val="C6040B"/>
              </a:buClr>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lr>
                <a:srgbClr val="3034B2"/>
              </a:buClr>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ClrTx/>
              <a:buFontTx/>
              <a:buNone/>
            </a:pPr>
            <a:r>
              <a:rPr lang="en-US" altLang="en-TH" sz="2000" dirty="0"/>
              <a:t>The team hasn’t built a good out working processes, so no one is clear on who’s doing what! The team is able to scrape something but it doesn’t speak to the value </a:t>
            </a:r>
          </a:p>
        </p:txBody>
      </p:sp>
      <p:sp>
        <p:nvSpPr>
          <p:cNvPr id="8" name="Rectangle 7">
            <a:extLst>
              <a:ext uri="{FF2B5EF4-FFF2-40B4-BE49-F238E27FC236}">
                <a16:creationId xmlns:a16="http://schemas.microsoft.com/office/drawing/2014/main" id="{47B44D00-1BFD-749A-F010-30DFC2A6D9F4}"/>
              </a:ext>
            </a:extLst>
          </p:cNvPr>
          <p:cNvSpPr>
            <a:spLocks noChangeArrowheads="1"/>
          </p:cNvSpPr>
          <p:nvPr/>
        </p:nvSpPr>
        <p:spPr bwMode="auto">
          <a:xfrm>
            <a:off x="5108575" y="2286000"/>
            <a:ext cx="3505200" cy="1981200"/>
          </a:xfrm>
          <a:prstGeom prst="rect">
            <a:avLst/>
          </a:prstGeom>
          <a:solidFill>
            <a:srgbClr val="92D050"/>
          </a:solidFill>
          <a:ln w="38100" algn="ctr">
            <a:solidFill>
              <a:schemeClr val="tx1"/>
            </a:solidFill>
            <a:round/>
            <a:headEnd/>
            <a:tailEnd/>
          </a:ln>
        </p:spPr>
        <p:txBody>
          <a:bodyPr/>
          <a:lstStyle>
            <a:lvl1pPr>
              <a:spcBef>
                <a:spcPct val="20000"/>
              </a:spcBef>
              <a:buClr>
                <a:srgbClr val="3034B2"/>
              </a:buClr>
              <a:buFont typeface="Times" pitchFamily="18" charset="0"/>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C35732"/>
              </a:buClr>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Font typeface="Times" pitchFamily="18" charset="0"/>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rgbClr val="C6040B"/>
              </a:buClr>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lr>
                <a:srgbClr val="3034B2"/>
              </a:buClr>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ClrTx/>
              <a:buFontTx/>
              <a:buNone/>
            </a:pPr>
            <a:r>
              <a:rPr lang="en-US" altLang="en-TH" sz="2000" dirty="0"/>
              <a:t>The team has a clear workflow in place and is able to build a deck and demo in 5 days. the client decides to move forward with your product!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3796"/>
                                        </p:tgtEl>
                                        <p:attrNameLst>
                                          <p:attrName>style.visibility</p:attrName>
                                        </p:attrNameLst>
                                      </p:cBhvr>
                                      <p:to>
                                        <p:strVal val="visible"/>
                                      </p:to>
                                    </p:set>
                                    <p:anim calcmode="lin" valueType="num">
                                      <p:cBhvr additive="base">
                                        <p:cTn id="13" dur="500" fill="hold"/>
                                        <p:tgtEl>
                                          <p:spTgt spid="33796"/>
                                        </p:tgtEl>
                                        <p:attrNameLst>
                                          <p:attrName>ppt_x</p:attrName>
                                        </p:attrNameLst>
                                      </p:cBhvr>
                                      <p:tavLst>
                                        <p:tav tm="0">
                                          <p:val>
                                            <p:strVal val="#ppt_x"/>
                                          </p:val>
                                        </p:tav>
                                        <p:tav tm="100000">
                                          <p:val>
                                            <p:strVal val="#ppt_x"/>
                                          </p:val>
                                        </p:tav>
                                      </p:tavLst>
                                    </p:anim>
                                    <p:anim calcmode="lin" valueType="num">
                                      <p:cBhvr additive="base">
                                        <p:cTn id="14" dur="500" fill="hold"/>
                                        <p:tgtEl>
                                          <p:spTgt spid="3379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1"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anim calcmode="lin" valueType="num">
                                      <p:cBhvr>
                                        <p:cTn id="27" dur="1000" fill="hold"/>
                                        <p:tgtEl>
                                          <p:spTgt spid="7"/>
                                        </p:tgtEl>
                                        <p:attrNameLst>
                                          <p:attrName>ppt_x</p:attrName>
                                        </p:attrNameLst>
                                      </p:cBhvr>
                                      <p:tavLst>
                                        <p:tav tm="0">
                                          <p:val>
                                            <p:strVal val="#ppt_x"/>
                                          </p:val>
                                        </p:tav>
                                        <p:tav tm="100000">
                                          <p:val>
                                            <p:strVal val="#ppt_x"/>
                                          </p:val>
                                        </p:tav>
                                      </p:tavLst>
                                    </p:anim>
                                    <p:anim calcmode="lin" valueType="num">
                                      <p:cBhvr>
                                        <p:cTn id="2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3796" grpId="0" animBg="1"/>
      <p:bldP spid="7" grpId="0" animBg="1"/>
      <p:bldP spid="8" grpId="0" animBg="1"/>
      <p:bldP spid="8"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AutoShape 2">
            <a:extLst>
              <a:ext uri="{FF2B5EF4-FFF2-40B4-BE49-F238E27FC236}">
                <a16:creationId xmlns:a16="http://schemas.microsoft.com/office/drawing/2014/main" id="{1C0EEF5E-3C88-7B1F-86D4-DFD46F146B6B}"/>
              </a:ext>
            </a:extLst>
          </p:cNvPr>
          <p:cNvSpPr>
            <a:spLocks noGrp="1" noChangeArrowheads="1"/>
          </p:cNvSpPr>
          <p:nvPr>
            <p:ph type="title"/>
          </p:nvPr>
        </p:nvSpPr>
        <p:spPr/>
        <p:txBody>
          <a:bodyPr/>
          <a:lstStyle/>
          <a:p>
            <a:r>
              <a:rPr lang="en-US" altLang="en-US" sz="3600">
                <a:solidFill>
                  <a:srgbClr val="C00000"/>
                </a:solidFill>
              </a:rPr>
              <a:t>LEARNING OUTCOMES</a:t>
            </a:r>
          </a:p>
        </p:txBody>
      </p:sp>
      <p:sp>
        <p:nvSpPr>
          <p:cNvPr id="6147" name="Rectangle 3">
            <a:extLst>
              <a:ext uri="{FF2B5EF4-FFF2-40B4-BE49-F238E27FC236}">
                <a16:creationId xmlns:a16="http://schemas.microsoft.com/office/drawing/2014/main" id="{3B2E9BDB-4A24-ACEC-C55A-6FC7E5D65E35}"/>
              </a:ext>
            </a:extLst>
          </p:cNvPr>
          <p:cNvSpPr>
            <a:spLocks noGrp="1" noChangeArrowheads="1"/>
          </p:cNvSpPr>
          <p:nvPr>
            <p:ph idx="1"/>
          </p:nvPr>
        </p:nvSpPr>
        <p:spPr/>
        <p:txBody>
          <a:bodyPr/>
          <a:lstStyle/>
          <a:p>
            <a:pPr marL="609600" indent="-438150">
              <a:lnSpc>
                <a:spcPct val="90000"/>
              </a:lnSpc>
              <a:spcAft>
                <a:spcPts val="1200"/>
              </a:spcAft>
              <a:buFont typeface="Arial" panose="020B0604020202020204" pitchFamily="34" charset="0"/>
              <a:buAutoNum type="arabicPeriod"/>
              <a:defRPr/>
            </a:pPr>
            <a:r>
              <a:rPr lang="en-US" altLang="en-US" sz="2800" dirty="0">
                <a:solidFill>
                  <a:schemeClr val="bg1">
                    <a:lumMod val="50000"/>
                  </a:schemeClr>
                </a:solidFill>
                <a:ea typeface="Times New Roman" panose="02020603050405020304" pitchFamily="18" charset="0"/>
                <a:cs typeface="Courier New" panose="02070309020205020404" pitchFamily="49" charset="0"/>
              </a:rPr>
              <a:t>Relate the strategic competitive with core competence and business functions</a:t>
            </a:r>
          </a:p>
          <a:p>
            <a:pPr marL="609600" indent="-438150">
              <a:lnSpc>
                <a:spcPct val="90000"/>
              </a:lnSpc>
              <a:spcAft>
                <a:spcPts val="1200"/>
              </a:spcAft>
              <a:buFont typeface="Arial" panose="020B0604020202020204" pitchFamily="34" charset="0"/>
              <a:buAutoNum type="arabicPeriod"/>
              <a:defRPr/>
            </a:pPr>
            <a:r>
              <a:rPr lang="en-US" altLang="en-US" sz="2800" dirty="0">
                <a:solidFill>
                  <a:schemeClr val="accent6">
                    <a:lumMod val="75000"/>
                  </a:schemeClr>
                </a:solidFill>
                <a:ea typeface="Times New Roman" panose="02020603050405020304" pitchFamily="18" charset="0"/>
                <a:cs typeface="Courier New" panose="02070309020205020404" pitchFamily="49" charset="0"/>
              </a:rPr>
              <a:t>Define metrics and describe the relationship between efficiency and effectiveness metrics</a:t>
            </a:r>
          </a:p>
          <a:p>
            <a:pPr marL="609600" indent="-438150">
              <a:lnSpc>
                <a:spcPct val="90000"/>
              </a:lnSpc>
              <a:spcAft>
                <a:spcPts val="1200"/>
              </a:spcAft>
              <a:buFont typeface="Arial" panose="020B0604020202020204" pitchFamily="34" charset="0"/>
              <a:buAutoNum type="arabicPeriod"/>
              <a:defRPr/>
            </a:pPr>
            <a:r>
              <a:rPr lang="en-US" altLang="en-US" sz="2800" dirty="0">
                <a:solidFill>
                  <a:srgbClr val="000000"/>
                </a:solidFill>
                <a:ea typeface="Times New Roman" panose="02020603050405020304" pitchFamily="18" charset="0"/>
                <a:cs typeface="Courier New" panose="02070309020205020404" pitchFamily="49" charset="0"/>
              </a:rPr>
              <a:t>Explain why a business would use metrics to measure the success of strategic initiatives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4D06262F-16D1-F948-E7F6-F5D8C8DD1159}"/>
              </a:ext>
            </a:extLst>
          </p:cNvPr>
          <p:cNvSpPr>
            <a:spLocks noGrp="1" noChangeArrowheads="1"/>
          </p:cNvSpPr>
          <p:nvPr>
            <p:ph type="title"/>
          </p:nvPr>
        </p:nvSpPr>
        <p:spPr>
          <a:xfrm>
            <a:off x="685800" y="406400"/>
            <a:ext cx="6964363" cy="1201738"/>
          </a:xfrm>
        </p:spPr>
        <p:txBody>
          <a:bodyPr/>
          <a:lstStyle/>
          <a:p>
            <a:pPr eaLnBrk="1" hangingPunct="1"/>
            <a:r>
              <a:rPr lang="en-US" altLang="en-US"/>
              <a:t>MEASURING ENTERPRISE SUCCESS</a:t>
            </a:r>
          </a:p>
        </p:txBody>
      </p:sp>
      <p:sp>
        <p:nvSpPr>
          <p:cNvPr id="36866" name="Content Placeholder 2">
            <a:extLst>
              <a:ext uri="{FF2B5EF4-FFF2-40B4-BE49-F238E27FC236}">
                <a16:creationId xmlns:a16="http://schemas.microsoft.com/office/drawing/2014/main" id="{81E8ADA4-4AF7-25BD-78E7-7F076FC2A913}"/>
              </a:ext>
            </a:extLst>
          </p:cNvPr>
          <p:cNvSpPr>
            <a:spLocks noGrp="1" noChangeArrowheads="1"/>
          </p:cNvSpPr>
          <p:nvPr>
            <p:ph idx="1"/>
          </p:nvPr>
        </p:nvSpPr>
        <p:spPr>
          <a:xfrm>
            <a:off x="838200" y="1590675"/>
            <a:ext cx="8305800" cy="4962525"/>
          </a:xfrm>
        </p:spPr>
        <p:txBody>
          <a:bodyPr/>
          <a:lstStyle/>
          <a:p>
            <a:pPr eaLnBrk="1" hangingPunct="1">
              <a:spcBef>
                <a:spcPts val="600"/>
              </a:spcBef>
              <a:spcAft>
                <a:spcPts val="1200"/>
              </a:spcAft>
            </a:pPr>
            <a:r>
              <a:rPr lang="en-US" altLang="en-US" sz="2800" b="1"/>
              <a:t>Balanced scorecard</a:t>
            </a:r>
            <a:r>
              <a:rPr lang="en-US" altLang="en-US" sz="2800"/>
              <a:t> – Enables organizations to clarify their vision and strategy and translate them into action</a:t>
            </a:r>
          </a:p>
          <a:p>
            <a:pPr eaLnBrk="1" hangingPunct="1">
              <a:spcBef>
                <a:spcPts val="600"/>
              </a:spcBef>
              <a:spcAft>
                <a:spcPts val="1200"/>
              </a:spcAft>
            </a:pPr>
            <a:r>
              <a:rPr lang="en-US" altLang="en-US" sz="2800"/>
              <a:t>Balanced scorecard views the organization from four perspectives</a:t>
            </a:r>
          </a:p>
          <a:p>
            <a:pPr lvl="1" eaLnBrk="1" hangingPunct="1">
              <a:spcBef>
                <a:spcPts val="600"/>
              </a:spcBef>
            </a:pPr>
            <a:r>
              <a:rPr lang="en-US" altLang="en-US"/>
              <a:t>Learning and growth</a:t>
            </a:r>
          </a:p>
          <a:p>
            <a:pPr lvl="1" eaLnBrk="1" hangingPunct="1">
              <a:spcBef>
                <a:spcPts val="600"/>
              </a:spcBef>
            </a:pPr>
            <a:r>
              <a:rPr lang="en-US" altLang="en-US"/>
              <a:t>Internal business process</a:t>
            </a:r>
          </a:p>
          <a:p>
            <a:pPr lvl="1" eaLnBrk="1" hangingPunct="1">
              <a:spcBef>
                <a:spcPts val="600"/>
              </a:spcBef>
            </a:pPr>
            <a:r>
              <a:rPr lang="en-US" altLang="en-US"/>
              <a:t>Customer</a:t>
            </a:r>
          </a:p>
          <a:p>
            <a:pPr lvl="1" eaLnBrk="1" hangingPunct="1">
              <a:spcBef>
                <a:spcPts val="600"/>
              </a:spcBef>
            </a:pPr>
            <a:r>
              <a:rPr lang="en-US" altLang="en-US"/>
              <a:t>Financial</a:t>
            </a:r>
          </a:p>
          <a:p>
            <a:pPr eaLnBrk="1" hangingPunct="1"/>
            <a:endParaRPr lang="en-US" altLang="en-US" sz="2000"/>
          </a:p>
        </p:txBody>
      </p:sp>
      <p:pic>
        <p:nvPicPr>
          <p:cNvPr id="36867" name="Picture 5" descr="C:\Users\Paige Baltzan\AppData\Local\Microsoft\Windows\Temporary Internet Files\Content.IE5\Q512LBUA\MC900023620[1].wmf">
            <a:extLst>
              <a:ext uri="{FF2B5EF4-FFF2-40B4-BE49-F238E27FC236}">
                <a16:creationId xmlns:a16="http://schemas.microsoft.com/office/drawing/2014/main" id="{2A3F9C0A-0ABA-932E-BAC8-3E1E171CAC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3921125"/>
            <a:ext cx="20574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a:extLst>
              <a:ext uri="{FF2B5EF4-FFF2-40B4-BE49-F238E27FC236}">
                <a16:creationId xmlns:a16="http://schemas.microsoft.com/office/drawing/2014/main" id="{C173629B-C2DD-D5C7-1BED-7A0566D1F021}"/>
              </a:ext>
            </a:extLst>
          </p:cNvPr>
          <p:cNvSpPr>
            <a:spLocks noGrp="1" noChangeArrowheads="1"/>
          </p:cNvSpPr>
          <p:nvPr>
            <p:ph type="title"/>
          </p:nvPr>
        </p:nvSpPr>
        <p:spPr>
          <a:xfrm>
            <a:off x="990600" y="228600"/>
            <a:ext cx="7696200" cy="914400"/>
          </a:xfrm>
        </p:spPr>
        <p:txBody>
          <a:bodyPr/>
          <a:lstStyle/>
          <a:p>
            <a:pPr eaLnBrk="1" hangingPunct="1"/>
            <a:r>
              <a:rPr lang="en-US" altLang="en-US"/>
              <a:t>BSC as a Business Performance METRICS</a:t>
            </a:r>
          </a:p>
        </p:txBody>
      </p:sp>
      <p:pic>
        <p:nvPicPr>
          <p:cNvPr id="38914" name="Picture 7">
            <a:extLst>
              <a:ext uri="{FF2B5EF4-FFF2-40B4-BE49-F238E27FC236}">
                <a16:creationId xmlns:a16="http://schemas.microsoft.com/office/drawing/2014/main" id="{678489D1-B19D-D112-2476-122B3D976E11}"/>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8600" y="955675"/>
            <a:ext cx="8763000"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a:extLst>
              <a:ext uri="{FF2B5EF4-FFF2-40B4-BE49-F238E27FC236}">
                <a16:creationId xmlns:a16="http://schemas.microsoft.com/office/drawing/2014/main" id="{622B60F6-0603-F6E3-ACDD-EEDFB9CE0A16}"/>
              </a:ext>
            </a:extLst>
          </p:cNvPr>
          <p:cNvSpPr>
            <a:spLocks noGrp="1" noChangeArrowheads="1"/>
          </p:cNvSpPr>
          <p:nvPr>
            <p:ph type="title"/>
          </p:nvPr>
        </p:nvSpPr>
        <p:spPr/>
        <p:txBody>
          <a:bodyPr/>
          <a:lstStyle/>
          <a:p>
            <a:endParaRPr lang="en-US" altLang="en-US"/>
          </a:p>
        </p:txBody>
      </p:sp>
      <p:sp>
        <p:nvSpPr>
          <p:cNvPr id="40962" name="Content Placeholder 2">
            <a:extLst>
              <a:ext uri="{FF2B5EF4-FFF2-40B4-BE49-F238E27FC236}">
                <a16:creationId xmlns:a16="http://schemas.microsoft.com/office/drawing/2014/main" id="{A17A0852-01C6-A5A7-67D5-835DE819D314}"/>
              </a:ext>
            </a:extLst>
          </p:cNvPr>
          <p:cNvSpPr>
            <a:spLocks noGrp="1" noChangeArrowheads="1"/>
          </p:cNvSpPr>
          <p:nvPr>
            <p:ph idx="1"/>
          </p:nvPr>
        </p:nvSpPr>
        <p:spPr/>
        <p:txBody>
          <a:bodyPr/>
          <a:lstStyle/>
          <a:p>
            <a:endParaRPr lang="en-US" altLang="en-US"/>
          </a:p>
        </p:txBody>
      </p:sp>
      <p:pic>
        <p:nvPicPr>
          <p:cNvPr id="40963" name="Picture 3">
            <a:extLst>
              <a:ext uri="{FF2B5EF4-FFF2-40B4-BE49-F238E27FC236}">
                <a16:creationId xmlns:a16="http://schemas.microsoft.com/office/drawing/2014/main" id="{364D2B53-FCE6-9FED-4CA1-BEA9FDC7BF08}"/>
              </a:ext>
            </a:extLst>
          </p:cNvPr>
          <p:cNvPicPr>
            <a:picLocks noChangeAspect="1"/>
          </p:cNvPicPr>
          <p:nvPr/>
        </p:nvPicPr>
        <p:blipFill>
          <a:blip r:embed="rId2">
            <a:extLst>
              <a:ext uri="{28A0092B-C50C-407E-A947-70E740481C1C}">
                <a14:useLocalDpi xmlns:a14="http://schemas.microsoft.com/office/drawing/2010/main" val="0"/>
              </a:ext>
            </a:extLst>
          </a:blip>
          <a:srcRect l="9161" t="7504" r="6699" b="6940"/>
          <a:stretch>
            <a:fillRect/>
          </a:stretch>
        </p:blipFill>
        <p:spPr bwMode="auto">
          <a:xfrm>
            <a:off x="315913" y="609600"/>
            <a:ext cx="8599487" cy="578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4" name="TextBox 2">
            <a:extLst>
              <a:ext uri="{FF2B5EF4-FFF2-40B4-BE49-F238E27FC236}">
                <a16:creationId xmlns:a16="http://schemas.microsoft.com/office/drawing/2014/main" id="{1976F2B0-BAC5-2566-67CE-ADD2F7088FAE}"/>
              </a:ext>
            </a:extLst>
          </p:cNvPr>
          <p:cNvSpPr txBox="1">
            <a:spLocks noChangeArrowheads="1"/>
          </p:cNvSpPr>
          <p:nvPr/>
        </p:nvSpPr>
        <p:spPr bwMode="auto">
          <a:xfrm>
            <a:off x="4953000" y="1292225"/>
            <a:ext cx="3581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Arial" panose="020B0604020202020204" pitchFamily="34" charset="0"/>
                <a:ea typeface="MS PGothic" panose="020B0600070205080204" pitchFamily="34" charset="-128"/>
              </a:defRPr>
            </a:lvl1pPr>
            <a:lvl2pPr marL="742950" indent="-285750">
              <a:defRPr sz="2800">
                <a:solidFill>
                  <a:schemeClr val="tx1"/>
                </a:solidFill>
                <a:latin typeface="Arial" panose="020B0604020202020204" pitchFamily="34" charset="0"/>
                <a:ea typeface="MS PGothic" panose="020B0600070205080204" pitchFamily="34" charset="-128"/>
              </a:defRPr>
            </a:lvl2pPr>
            <a:lvl3pPr marL="1143000" indent="-228600">
              <a:defRPr sz="2800">
                <a:solidFill>
                  <a:schemeClr val="tx1"/>
                </a:solidFill>
                <a:latin typeface="Arial" panose="020B0604020202020204" pitchFamily="34" charset="0"/>
                <a:ea typeface="MS PGothic" panose="020B0600070205080204" pitchFamily="34" charset="-128"/>
              </a:defRPr>
            </a:lvl3pPr>
            <a:lvl4pPr marL="1600200" indent="-228600">
              <a:defRPr sz="2800">
                <a:solidFill>
                  <a:schemeClr val="tx1"/>
                </a:solidFill>
                <a:latin typeface="Arial" panose="020B0604020202020204" pitchFamily="34" charset="0"/>
                <a:ea typeface="MS PGothic" panose="020B0600070205080204" pitchFamily="34" charset="-128"/>
              </a:defRPr>
            </a:lvl4pPr>
            <a:lvl5pPr marL="2057400" indent="-228600">
              <a:defRPr sz="28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9pPr>
          </a:lstStyle>
          <a:p>
            <a:r>
              <a:rPr lang="en-TH" altLang="en-TH" sz="1600">
                <a:hlinkClick r:id="rId3"/>
              </a:rPr>
              <a:t>https://en.wikipedia.org/wiki/Aircraft_ground_handling</a:t>
            </a:r>
            <a:r>
              <a:rPr lang="en-TH" altLang="en-TH" sz="1600"/>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a:extLst>
              <a:ext uri="{FF2B5EF4-FFF2-40B4-BE49-F238E27FC236}">
                <a16:creationId xmlns:a16="http://schemas.microsoft.com/office/drawing/2014/main" id="{0F5BC8CF-49C6-0B8E-3549-6B817E3A1515}"/>
              </a:ext>
            </a:extLst>
          </p:cNvPr>
          <p:cNvSpPr>
            <a:spLocks noGrp="1" noChangeArrowheads="1"/>
          </p:cNvSpPr>
          <p:nvPr>
            <p:ph type="title"/>
          </p:nvPr>
        </p:nvSpPr>
        <p:spPr/>
        <p:txBody>
          <a:bodyPr/>
          <a:lstStyle/>
          <a:p>
            <a:endParaRPr lang="en-US" altLang="en-US"/>
          </a:p>
        </p:txBody>
      </p:sp>
      <p:sp>
        <p:nvSpPr>
          <p:cNvPr id="41986" name="Content Placeholder 2">
            <a:extLst>
              <a:ext uri="{FF2B5EF4-FFF2-40B4-BE49-F238E27FC236}">
                <a16:creationId xmlns:a16="http://schemas.microsoft.com/office/drawing/2014/main" id="{B2BC0DCC-1D85-4F5C-C335-496B4B076447}"/>
              </a:ext>
            </a:extLst>
          </p:cNvPr>
          <p:cNvSpPr>
            <a:spLocks noGrp="1" noChangeArrowheads="1"/>
          </p:cNvSpPr>
          <p:nvPr>
            <p:ph idx="1"/>
          </p:nvPr>
        </p:nvSpPr>
        <p:spPr/>
        <p:txBody>
          <a:bodyPr/>
          <a:lstStyle/>
          <a:p>
            <a:endParaRPr lang="en-US" altLang="en-US"/>
          </a:p>
        </p:txBody>
      </p:sp>
      <p:pic>
        <p:nvPicPr>
          <p:cNvPr id="41987" name="Picture 3">
            <a:extLst>
              <a:ext uri="{FF2B5EF4-FFF2-40B4-BE49-F238E27FC236}">
                <a16:creationId xmlns:a16="http://schemas.microsoft.com/office/drawing/2014/main" id="{BCF4FEF9-CD02-69E2-8DCE-BD0034979F71}"/>
              </a:ext>
            </a:extLst>
          </p:cNvPr>
          <p:cNvPicPr>
            <a:picLocks noChangeAspect="1"/>
          </p:cNvPicPr>
          <p:nvPr/>
        </p:nvPicPr>
        <p:blipFill>
          <a:blip r:embed="rId3">
            <a:extLst>
              <a:ext uri="{28A0092B-C50C-407E-A947-70E740481C1C}">
                <a14:useLocalDpi xmlns:a14="http://schemas.microsoft.com/office/drawing/2010/main" val="0"/>
              </a:ext>
            </a:extLst>
          </a:blip>
          <a:srcRect l="8543" t="7259" r="6020" b="3297"/>
          <a:stretch>
            <a:fillRect/>
          </a:stretch>
        </p:blipFill>
        <p:spPr bwMode="auto">
          <a:xfrm>
            <a:off x="293688" y="430213"/>
            <a:ext cx="8686800" cy="642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8" name="Rectangle 4">
            <a:extLst>
              <a:ext uri="{FF2B5EF4-FFF2-40B4-BE49-F238E27FC236}">
                <a16:creationId xmlns:a16="http://schemas.microsoft.com/office/drawing/2014/main" id="{EB39560F-91A1-4B97-6749-0580EAAF1D5C}"/>
              </a:ext>
            </a:extLst>
          </p:cNvPr>
          <p:cNvSpPr>
            <a:spLocks noChangeArrowheads="1"/>
          </p:cNvSpPr>
          <p:nvPr/>
        </p:nvSpPr>
        <p:spPr bwMode="auto">
          <a:xfrm>
            <a:off x="609600" y="5257800"/>
            <a:ext cx="54864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034B2"/>
              </a:buClr>
              <a:buFont typeface="Times" pitchFamily="18" charset="0"/>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C35732"/>
              </a:buClr>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Font typeface="Times" pitchFamily="18" charset="0"/>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rgbClr val="C6040B"/>
              </a:buClr>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lr>
                <a:srgbClr val="3034B2"/>
              </a:buClr>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3034B2"/>
              </a:buClr>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FontTx/>
              <a:buNone/>
            </a:pPr>
            <a:r>
              <a:rPr lang="en-US" altLang="en-US" sz="1200">
                <a:solidFill>
                  <a:srgbClr val="CC3300"/>
                </a:solidFill>
                <a:latin typeface="Tahoma" panose="020B0604030504040204" pitchFamily="34" charset="0"/>
              </a:rPr>
              <a:t>Source: </a:t>
            </a:r>
            <a:r>
              <a:rPr lang="en-US" altLang="en-US" sz="1200">
                <a:solidFill>
                  <a:srgbClr val="CC3300"/>
                </a:solidFill>
                <a:latin typeface="Tahoma" panose="020B0604030504040204" pitchFamily="34" charset="0"/>
                <a:hlinkClick r:id="rId4"/>
              </a:rPr>
              <a:t>http://image.slidesharecdn.com/orgalignmentstrategymapsbsc-100704001800-phpapp02/95/organizational-alignment-using-strategy-maps-and-balanced-scorecard-22-728.jpg?cb=1278202909</a:t>
            </a:r>
            <a:r>
              <a:rPr lang="en-US" altLang="en-US" sz="1200">
                <a:solidFill>
                  <a:srgbClr val="CC3300"/>
                </a:solidFill>
                <a:latin typeface="Tahoma" panose="020B0604030504040204" pitchFamily="34" charset="0"/>
              </a:rPr>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a:extLst>
              <a:ext uri="{FF2B5EF4-FFF2-40B4-BE49-F238E27FC236}">
                <a16:creationId xmlns:a16="http://schemas.microsoft.com/office/drawing/2014/main" id="{8555B68B-997E-71E4-BB28-F84ED0CA47D3}"/>
              </a:ext>
            </a:extLst>
          </p:cNvPr>
          <p:cNvSpPr>
            <a:spLocks noGrp="1" noChangeArrowheads="1"/>
          </p:cNvSpPr>
          <p:nvPr>
            <p:ph type="title"/>
          </p:nvPr>
        </p:nvSpPr>
        <p:spPr/>
        <p:txBody>
          <a:bodyPr/>
          <a:lstStyle/>
          <a:p>
            <a:r>
              <a:rPr lang="en-US" altLang="en-US"/>
              <a:t>Conclusion</a:t>
            </a:r>
          </a:p>
        </p:txBody>
      </p:sp>
      <p:sp>
        <p:nvSpPr>
          <p:cNvPr id="45058" name="Content Placeholder 2">
            <a:extLst>
              <a:ext uri="{FF2B5EF4-FFF2-40B4-BE49-F238E27FC236}">
                <a16:creationId xmlns:a16="http://schemas.microsoft.com/office/drawing/2014/main" id="{4CD193DB-C324-7ABE-702B-C22E0E9AB1F7}"/>
              </a:ext>
            </a:extLst>
          </p:cNvPr>
          <p:cNvSpPr>
            <a:spLocks noGrp="1" noChangeArrowheads="1"/>
          </p:cNvSpPr>
          <p:nvPr>
            <p:ph idx="1"/>
          </p:nvPr>
        </p:nvSpPr>
        <p:spPr>
          <a:xfrm>
            <a:off x="914400" y="1600200"/>
            <a:ext cx="8001000" cy="4876800"/>
          </a:xfrm>
        </p:spPr>
        <p:txBody>
          <a:bodyPr/>
          <a:lstStyle/>
          <a:p>
            <a:pPr eaLnBrk="1" hangingPunct="1">
              <a:spcBef>
                <a:spcPts val="600"/>
              </a:spcBef>
              <a:spcAft>
                <a:spcPts val="600"/>
              </a:spcAft>
            </a:pPr>
            <a:r>
              <a:rPr lang="en-US" altLang="en-US"/>
              <a:t>BIS –Using IT for enhancing values to business in a systematic way.</a:t>
            </a:r>
          </a:p>
          <a:p>
            <a:r>
              <a:rPr lang="en-US" altLang="en-TH"/>
              <a:t>We have learnt two main metrics: CSF and KPI.</a:t>
            </a:r>
          </a:p>
          <a:p>
            <a:r>
              <a:rPr lang="en-US" altLang="en-TH"/>
              <a:t>Effective and Efficient measures and interrelation</a:t>
            </a:r>
          </a:p>
          <a:p>
            <a:pPr eaLnBrk="1" hangingPunct="1">
              <a:spcBef>
                <a:spcPts val="600"/>
              </a:spcBef>
              <a:spcAft>
                <a:spcPts val="600"/>
              </a:spcAft>
            </a:pPr>
            <a:r>
              <a:rPr lang="en-US" altLang="en-US">
                <a:solidFill>
                  <a:srgbClr val="454BFF"/>
                </a:solidFill>
              </a:rPr>
              <a:t>BSC for Enterprise Performance Management system</a:t>
            </a:r>
          </a:p>
          <a:p>
            <a:endParaRPr lang="en-US"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A60B2-83B2-E538-B4FE-FCC9FF80F02B}"/>
              </a:ext>
            </a:extLst>
          </p:cNvPr>
          <p:cNvSpPr>
            <a:spLocks noGrp="1"/>
          </p:cNvSpPr>
          <p:nvPr>
            <p:ph type="title"/>
          </p:nvPr>
        </p:nvSpPr>
        <p:spPr/>
        <p:txBody>
          <a:bodyPr/>
          <a:lstStyle/>
          <a:p>
            <a:r>
              <a:rPr lang="en-TH" dirty="0"/>
              <a:t>Attachment</a:t>
            </a:r>
          </a:p>
        </p:txBody>
      </p:sp>
      <p:sp>
        <p:nvSpPr>
          <p:cNvPr id="3" name="Content Placeholder 2">
            <a:extLst>
              <a:ext uri="{FF2B5EF4-FFF2-40B4-BE49-F238E27FC236}">
                <a16:creationId xmlns:a16="http://schemas.microsoft.com/office/drawing/2014/main" id="{C1BE31FB-27BF-1C2D-C440-10952AFBD7DA}"/>
              </a:ext>
            </a:extLst>
          </p:cNvPr>
          <p:cNvSpPr>
            <a:spLocks noGrp="1"/>
          </p:cNvSpPr>
          <p:nvPr>
            <p:ph idx="1"/>
          </p:nvPr>
        </p:nvSpPr>
        <p:spPr/>
        <p:txBody>
          <a:bodyPr/>
          <a:lstStyle/>
          <a:p>
            <a:r>
              <a:rPr lang="en-TH" dirty="0"/>
              <a:t>Traditional functional organization versus a new paradigm in Apple Corp. </a:t>
            </a:r>
            <a:r>
              <a:rPr lang="en-US" dirty="0">
                <a:hlinkClick r:id="rId2"/>
              </a:rPr>
              <a:t>https://www.youtube.com/watch?v=5hENFA3CJUY</a:t>
            </a:r>
            <a:r>
              <a:rPr lang="en-US" dirty="0"/>
              <a:t> </a:t>
            </a:r>
          </a:p>
          <a:p>
            <a:r>
              <a:rPr lang="en-US" dirty="0"/>
              <a:t>Balanced </a:t>
            </a:r>
            <a:r>
              <a:rPr lang="en-US" dirty="0" err="1"/>
              <a:t>ScoreCard</a:t>
            </a:r>
            <a:r>
              <a:rPr lang="en-US" dirty="0"/>
              <a:t> with Strategy Map </a:t>
            </a:r>
            <a:r>
              <a:rPr lang="en-US" dirty="0">
                <a:hlinkClick r:id="rId3"/>
              </a:rPr>
              <a:t>https://www.youtube.com/watch?v=3vjpZO-DP7g</a:t>
            </a:r>
            <a:r>
              <a:rPr lang="en-US" dirty="0"/>
              <a:t> </a:t>
            </a:r>
            <a:endParaRPr lang="en-TH" dirty="0"/>
          </a:p>
        </p:txBody>
      </p:sp>
    </p:spTree>
    <p:extLst>
      <p:ext uri="{BB962C8B-B14F-4D97-AF65-F5344CB8AC3E}">
        <p14:creationId xmlns:p14="http://schemas.microsoft.com/office/powerpoint/2010/main" val="3174935403"/>
      </p:ext>
    </p:extLst>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A02D47"/>
      </a:dk2>
      <a:lt2>
        <a:srgbClr val="808080"/>
      </a:lt2>
      <a:accent1>
        <a:srgbClr val="E1E1D1"/>
      </a:accent1>
      <a:accent2>
        <a:srgbClr val="C1C09E"/>
      </a:accent2>
      <a:accent3>
        <a:srgbClr val="FFFFFF"/>
      </a:accent3>
      <a:accent4>
        <a:srgbClr val="000000"/>
      </a:accent4>
      <a:accent5>
        <a:srgbClr val="EEEEE5"/>
      </a:accent5>
      <a:accent6>
        <a:srgbClr val="AFAE8F"/>
      </a:accent6>
      <a:hlink>
        <a:srgbClr val="FF9933"/>
      </a:hlink>
      <a:folHlink>
        <a:srgbClr val="969696"/>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05B"/>
        </a:solidFill>
        <a:ln w="381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outerShdw blurRad="38100" dist="38100" dir="2700000" algn="tl">
                <a:srgbClr val="000000">
                  <a:alpha val="43137"/>
                </a:srgbClr>
              </a:outerShdw>
            </a:effectLst>
            <a:latin typeface="Arial" charset="0"/>
          </a:defRPr>
        </a:defPPr>
      </a:lstStyle>
    </a:spDef>
    <a:lnDef>
      <a:spPr bwMode="auto">
        <a:xfrm>
          <a:off x="0" y="0"/>
          <a:ext cx="1" cy="1"/>
        </a:xfrm>
        <a:custGeom>
          <a:avLst/>
          <a:gdLst/>
          <a:ahLst/>
          <a:cxnLst/>
          <a:rect l="0" t="0" r="0" b="0"/>
          <a:pathLst/>
        </a:custGeom>
        <a:solidFill>
          <a:srgbClr val="FFF05B"/>
        </a:solidFill>
        <a:ln w="381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outerShdw blurRad="38100" dist="38100" dir="2700000" algn="tl">
                <a:srgbClr val="000000">
                  <a:alpha val="43137"/>
                </a:srgbClr>
              </a:outerShdw>
            </a:effectLst>
            <a:latin typeface="Arial"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01FC7ADD27A134B92D0C21C975B5030" ma:contentTypeVersion="8" ma:contentTypeDescription="Create a new document." ma:contentTypeScope="" ma:versionID="29b2d8f5016614ee7db90ae61d94d5a1">
  <xsd:schema xmlns:xsd="http://www.w3.org/2001/XMLSchema" xmlns:xs="http://www.w3.org/2001/XMLSchema" xmlns:p="http://schemas.microsoft.com/office/2006/metadata/properties" xmlns:ns2="89c7a8c3-a03a-420b-ac21-90cd38a91df7" targetNamespace="http://schemas.microsoft.com/office/2006/metadata/properties" ma:root="true" ma:fieldsID="230fff80464bdb34158622049499dd70" ns2:_="">
    <xsd:import namespace="89c7a8c3-a03a-420b-ac21-90cd38a91df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9c7a8c3-a03a-420b-ac21-90cd38a91d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F79F199-115D-439A-87BD-F23284988BC4}"/>
</file>

<file path=customXml/itemProps2.xml><?xml version="1.0" encoding="utf-8"?>
<ds:datastoreItem xmlns:ds="http://schemas.openxmlformats.org/officeDocument/2006/customXml" ds:itemID="{5C381B26-B790-4D6D-B915-F542EFA066B6}"/>
</file>

<file path=customXml/itemProps3.xml><?xml version="1.0" encoding="utf-8"?>
<ds:datastoreItem xmlns:ds="http://schemas.openxmlformats.org/officeDocument/2006/customXml" ds:itemID="{811FC240-52F6-4231-9300-6F1602F105F2}"/>
</file>

<file path=docProps/app.xml><?xml version="1.0" encoding="utf-8"?>
<Properties xmlns="http://schemas.openxmlformats.org/officeDocument/2006/extended-properties" xmlns:vt="http://schemas.openxmlformats.org/officeDocument/2006/docPropsVTypes">
  <TotalTime>22774</TotalTime>
  <Words>1897</Words>
  <Application>Microsoft Macintosh PowerPoint</Application>
  <PresentationFormat>On-screen Show (4:3)</PresentationFormat>
  <Paragraphs>157</Paragraphs>
  <Slides>23</Slides>
  <Notes>15</Notes>
  <HiddenSlides>1</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23</vt:i4>
      </vt:variant>
    </vt:vector>
  </HeadingPairs>
  <TitlesOfParts>
    <vt:vector size="35" baseType="lpstr">
      <vt:lpstr>-webkit-standard</vt:lpstr>
      <vt:lpstr>Albertus (W1)</vt:lpstr>
      <vt:lpstr>Arial</vt:lpstr>
      <vt:lpstr>Book Antiqua</vt:lpstr>
      <vt:lpstr>Calibri</vt:lpstr>
      <vt:lpstr>Cambria</vt:lpstr>
      <vt:lpstr>Courier New</vt:lpstr>
      <vt:lpstr>Tahoma</vt:lpstr>
      <vt:lpstr>Times</vt:lpstr>
      <vt:lpstr>Times New Roman</vt:lpstr>
      <vt:lpstr>Wingdings</vt:lpstr>
      <vt:lpstr>Default Design</vt:lpstr>
      <vt:lpstr>PowerPoint Presentation</vt:lpstr>
      <vt:lpstr>LEARNING OUTCOMES</vt:lpstr>
      <vt:lpstr>The Value Chain and Strategic IS</vt:lpstr>
      <vt:lpstr>PowerPoint Presentation</vt:lpstr>
      <vt:lpstr>THE CHALLENGE:  DEPARTMENTAL COMPANIES</vt:lpstr>
      <vt:lpstr>System thinking</vt:lpstr>
      <vt:lpstr>Functions of Information System </vt:lpstr>
      <vt:lpstr>LEARNING OUTCOMES</vt:lpstr>
      <vt:lpstr>THE SOLUTION: BUSINESS INFORMATION SYSTEMS</vt:lpstr>
      <vt:lpstr>PowerPoint Presentation</vt:lpstr>
      <vt:lpstr>PowerPoint Presentation</vt:lpstr>
      <vt:lpstr>Business Performance Management: Cycle management by KPIs</vt:lpstr>
      <vt:lpstr>METRICS: MEASURING SUCCESS</vt:lpstr>
      <vt:lpstr>Efficiency and Effectiveness</vt:lpstr>
      <vt:lpstr>The Interrelation of Efficiency and Effectiveness MIS Metrics</vt:lpstr>
      <vt:lpstr>Sample cases for Efficiency vs Effectiveness The IT department has been asked for a pitch and demo to give the audience a firsthand experience of its functionality/benefits.</vt:lpstr>
      <vt:lpstr>LEARNING OUTCOMES</vt:lpstr>
      <vt:lpstr>MEASURING ENTERPRISE SUCCESS</vt:lpstr>
      <vt:lpstr>BSC as a Business Performance METRICS</vt:lpstr>
      <vt:lpstr>PowerPoint Presentation</vt:lpstr>
      <vt:lpstr>PowerPoint Presentation</vt:lpstr>
      <vt:lpstr>Conclusion</vt:lpstr>
      <vt:lpstr>Attachment</vt:lpstr>
    </vt:vector>
  </TitlesOfParts>
  <Company>McGraw-Hill/Irwin - The McGraw Hill Companies, Inc.</Company>
  <LinksUpToDate>false</LinksUpToDate>
  <SharedDoc>false</SharedDoc>
  <HyperlinkBase>assets/\</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Marketing, 16e</dc:title>
  <dc:subject>Interactive PowerPoint Lecture Slides</dc:subject>
  <dc:creator>William D. Perreault, Jr., Joseph P. Cannon,  and E. J. McCarthy;PPT update by Eric J. Karson and Jay &amp; Mandy Carlson</dc:creator>
  <dc:description>Copyright 2008, The McGraw-Hill Companies, Inc. For use only with Perreault/Cannon/McCarthy or _x000d_
Perreault/ McCarthy texts.</dc:description>
  <cp:lastModifiedBy>BUNTHIT WATANAPA</cp:lastModifiedBy>
  <cp:revision>1572</cp:revision>
  <dcterms:created xsi:type="dcterms:W3CDTF">2001-08-07T02:25:44Z</dcterms:created>
  <dcterms:modified xsi:type="dcterms:W3CDTF">2025-01-17T06:40:28Z</dcterms:modified>
  <cp:category>Basic Marketing Multimedia Lecture Support</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0x010100501FC7ADD27A134B92D0C21C975B5030</vt:lpwstr>
  </property>
</Properties>
</file>