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2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  <p:sldMasterId id="2147483656" r:id="rId2"/>
  </p:sldMasterIdLst>
  <p:notesMasterIdLst>
    <p:notesMasterId r:id="rId40"/>
  </p:notesMasterIdLst>
  <p:handoutMasterIdLst>
    <p:handoutMasterId r:id="rId41"/>
  </p:handoutMasterIdLst>
  <p:sldIdLst>
    <p:sldId id="348" r:id="rId3"/>
    <p:sldId id="317" r:id="rId4"/>
    <p:sldId id="359" r:id="rId5"/>
    <p:sldId id="360" r:id="rId6"/>
    <p:sldId id="328" r:id="rId7"/>
    <p:sldId id="266" r:id="rId8"/>
    <p:sldId id="352" r:id="rId9"/>
    <p:sldId id="332" r:id="rId10"/>
    <p:sldId id="362" r:id="rId11"/>
    <p:sldId id="387" r:id="rId12"/>
    <p:sldId id="392" r:id="rId13"/>
    <p:sldId id="388" r:id="rId14"/>
    <p:sldId id="280" r:id="rId15"/>
    <p:sldId id="353" r:id="rId16"/>
    <p:sldId id="365" r:id="rId17"/>
    <p:sldId id="367" r:id="rId18"/>
    <p:sldId id="355" r:id="rId19"/>
    <p:sldId id="285" r:id="rId20"/>
    <p:sldId id="378" r:id="rId21"/>
    <p:sldId id="379" r:id="rId22"/>
    <p:sldId id="380" r:id="rId23"/>
    <p:sldId id="381" r:id="rId24"/>
    <p:sldId id="382" r:id="rId25"/>
    <p:sldId id="383" r:id="rId26"/>
    <p:sldId id="384" r:id="rId27"/>
    <p:sldId id="385" r:id="rId28"/>
    <p:sldId id="371" r:id="rId29"/>
    <p:sldId id="337" r:id="rId30"/>
    <p:sldId id="338" r:id="rId31"/>
    <p:sldId id="393" r:id="rId32"/>
    <p:sldId id="358" r:id="rId33"/>
    <p:sldId id="394" r:id="rId34"/>
    <p:sldId id="339" r:id="rId35"/>
    <p:sldId id="340" r:id="rId36"/>
    <p:sldId id="341" r:id="rId37"/>
    <p:sldId id="390" r:id="rId38"/>
    <p:sldId id="386" r:id="rId39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b="1" kern="1200">
        <a:solidFill>
          <a:srgbClr val="790015"/>
        </a:solidFill>
        <a:latin typeface="Verdan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201" autoAdjust="0"/>
    <p:restoredTop sz="93767" autoAdjust="0"/>
  </p:normalViewPr>
  <p:slideViewPr>
    <p:cSldViewPr>
      <p:cViewPr varScale="1">
        <p:scale>
          <a:sx n="114" d="100"/>
          <a:sy n="114" d="100"/>
        </p:scale>
        <p:origin x="64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47" Type="http://schemas.openxmlformats.org/officeDocument/2006/relationships/customXml" Target="../customXml/item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48" Type="http://schemas.openxmlformats.org/officeDocument/2006/relationships/customXml" Target="../customXml/item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ustomXml" Target="../customXml/item1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.xml"/><Relationship Id="rId2" Type="http://schemas.openxmlformats.org/officeDocument/2006/relationships/slide" Target="slides/slide7.xml"/><Relationship Id="rId1" Type="http://schemas.openxmlformats.org/officeDocument/2006/relationships/slide" Target="slides/slide2.xml"/><Relationship Id="rId6" Type="http://schemas.openxmlformats.org/officeDocument/2006/relationships/slide" Target="slides/slide32.xml"/><Relationship Id="rId5" Type="http://schemas.openxmlformats.org/officeDocument/2006/relationships/slide" Target="slides/slide31.xml"/><Relationship Id="rId4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E732D543-2906-E7FC-1C2F-BAA3E93230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8" y="222250"/>
            <a:ext cx="3824287" cy="271463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0">
                <a:solidFill>
                  <a:schemeClr val="tx1"/>
                </a:solidFill>
                <a:latin typeface="Times New Roman" panose="02020603050405020304" pitchFamily="18" charset="0"/>
              </a:rPr>
              <a:t>Foundations of Financial Management • Page </a:t>
            </a:r>
            <a:fld id="{EE57BAF5-FFD3-8E43-A0E6-D52FAC372B25}" type="slidenum">
              <a:rPr lang="en-US" altLang="en-US" sz="1200" b="0" smtClean="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defRPr/>
              </a:pPr>
              <a:t>‹#›</a:t>
            </a:fld>
            <a:endParaRPr lang="en-US" altLang="en-US" sz="1200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" name="Line 3">
            <a:extLst>
              <a:ext uri="{FF2B5EF4-FFF2-40B4-BE49-F238E27FC236}">
                <a16:creationId xmlns:a16="http://schemas.microsoft.com/office/drawing/2014/main" id="{82A23FF1-4EA5-BEB6-640E-BC5604CB0E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" y="430213"/>
            <a:ext cx="5762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731C114-7211-9B84-5F49-E2059A96AEB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AC27BD-3C24-A9ED-4CA7-DC36FEF0FA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E52DDD9E-8F0A-1082-E471-F7FF54A4E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E12F5253-A6ED-AA58-DC6D-EBAB6F6F7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4-yr = 11000, 3-yr = 6000, 1 yr = 11000-6000 = 5000</a:t>
            </a:r>
            <a:endParaRPr lang="th-TH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681D274D-D467-D11F-03D4-4B19912324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EE09AF25-AE51-4506-3A8F-F8266BE915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For mutually exclusive, only Bangkok is selected. If not, then all but Singapore will be worth investment/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57D7650-4A75-A6AE-AB0F-A1E0BB4126D8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CB0E5DE3-4BFA-E5EA-EB6E-6F8BC15F06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2EB5F695-F2BB-1F6A-183D-ADB8C11F1A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9B48B096-2EC3-C3B0-86B5-112C8758DCE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12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2C880F9-878E-B0DB-2772-260BC02D9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97CB55B-694B-D1B2-E02E-C64686FF87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022E6FD-F0F3-C76E-3691-498F7D1650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E2161-3DD3-C44E-984B-25854C454A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32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5FDEE9-D2C7-8FCC-1154-8D41677289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AB35A1-777B-8556-2A28-A5D230F95A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02D029-ECA2-B066-18D1-F1966D6D39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1FDF3E-E151-A241-904F-784DD9C60C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558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4D64194-4ACB-8444-4400-68099FFC17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C4A6FA-121C-FE1E-D4AA-16609DFF04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54A31B-5C2D-74AC-8D7D-049F822152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D08A5D-3784-164B-8E48-A86CFD8609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3571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966408-F00B-6D44-0FCA-875E538232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E97078-B615-A3AD-37CA-DD62387DD4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256C4-F536-B2E3-7D5D-FC54C19FD8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429DE9-8302-3848-BC59-7B43281CF7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55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C9FC9AF-89D7-AD4F-AD6B-536085622F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A789761-80DE-6FD5-6635-BA7E1B7E67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C46C568-69AB-B92C-093E-E86168CD8E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BDC5D8-B41B-FF4A-A2FB-31B8885C43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533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7C2F67F-B2B0-EACE-CFB4-4C4273A01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584A44-F4D9-35B9-4753-2EAA9123B9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116832-1BC2-7F2B-A662-EBA14FEE6B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75CD8C-7B3F-A94B-BF06-068694F111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757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9BFC68-65B5-01D8-558C-C64CB4E177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AD0E545-CA0C-A2E3-A642-DFE9182794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5314237-05B0-5B34-98A3-438163C57C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04051-3D63-9046-932E-826FAF9F23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793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255B1E-8011-B6A6-7C48-D0FB1FCF87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5D56E6-56DD-1CAF-71FA-04BCD6A1BB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E16ED3-41B0-D4C3-9A6A-6705A8CB5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D89FC4-7C30-C640-811D-255EF2C3DC6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0723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AD4A1-5B96-2E17-ACA4-44F4230C3E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6EA83B-0D15-C3B0-11CC-EE726ECC9E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85B324-4FA4-9AB9-6CA6-F8D56D30A4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3B3165-680E-ED46-93BD-B9A20341FF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33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1EA3274-FB26-F91F-6643-65F5C9D7D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78734A-BD16-F15B-F8CF-ADF16DCDE8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61C5DE8-3996-46D8-6717-28E015B233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D10CA-B1A2-C641-BEDD-E059DAEED7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046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046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987895-16BE-2A95-2914-D1774FFDA8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34C062-8B20-3CAC-7B35-D71A3466BA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9CFD05-839D-3441-B886-AF0F739C7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193938-986C-224D-A38F-8AE193A299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4042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748853-9515-576C-9DA3-26AED188BE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8524A-62C4-0B4A-14C3-DDCA3A763B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35B1E6-BF53-C8B1-BA3F-7E1C38B0B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B77FE-81E0-C641-B56D-30E06C3DE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7593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9B3386E8-316A-5AA4-D2BA-589878DC88B5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66BFB949-6C42-3C82-8BF6-BA4D51EDDD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BE98DF20-3E33-1A87-B777-F78855B566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105161E1-7E8C-FE46-FD36-EC0F7398C53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chemeClr val="tx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th-TH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A1B9089-8E9F-3779-EB48-E3762C6366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A1BA12B-926A-54DB-F6CF-002D2AF34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B2621CDA-C9F6-7805-FA49-4C6E65CE8E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371425-F914-E542-8C1D-C7A05EFF7D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438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95D455-7F74-E649-7FA6-0161E9BCFB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5EE73B5-FC3B-38DC-81A7-CC7DCD9318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6C0A70-3E97-3DC2-9F61-91D63F1788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C81C50-606C-8849-9947-58F483F5139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6211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6910B5-3A08-718E-F1D8-CA50B1FE66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1C764F-A85F-9381-D9BB-008FAC3047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2619DA-ED0C-2FE2-F71E-B1426949FD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CFDEB3-0B29-064F-8092-3B64E624EB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796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0446E-80A5-9822-71B5-247FAE88FC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2C4997-73F6-25AE-6088-E4E8689388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A929EB-09ED-CE27-6893-8A609378DC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0D5A18-653C-9C4E-B99B-3284A8629D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83222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964AE7-22AB-7C3B-398A-0B81AB7DC9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7A5AA7C-C8A3-1D65-1436-7D9B5DE00A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655B28D-18AA-FF2D-14D6-B5AE770CE5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E8D8D-2DFB-B34B-9A6D-C60859160E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55467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C7E17A4-DCE5-55B8-958D-441AFE0942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F667A4-8F59-B6CC-3DBF-595E6AC124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E4D7325-E412-288C-EAA3-8B093615FA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85084-7B0A-8D4A-965E-F8B19D6FB9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6894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7292343-A2A7-B2E0-AC47-A96329A14B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3F8511F-6BF6-8DF9-46D8-A1B130E03F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BFD4A4D-1DA7-7C35-EB74-B40A67BB51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B4EB6-74E1-BC40-A928-E924D2EB9A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99686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A82CD0-8F72-64E0-31E2-D22AD497AF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604BFA-ADA8-4C5A-226C-5DC0FDA483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EB4C2-F0A5-C229-10EC-4C34C1CF44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5F871B-CF96-774B-AA21-379D87ABAB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89986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h-TH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3271D-8C11-4FFD-C96F-2B55C107C1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E835D5-84EF-1519-6CC9-07D22E640F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D05F05-EB85-67D2-43D8-E0A2DFD78E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B707D-E46A-ED4F-9370-AEA8D0839C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39397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590BB9-D0DD-9820-A2D8-4945462E4B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9D0C69-D8F5-96B1-E7A7-DB74BC6738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E9D0FF-AD2E-0262-7261-0C2A1B2522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46C8C-F7FC-254C-B0C7-F0FD02F732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477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046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0467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3324D2-79BA-8FA1-E95A-FCBA0BF9C8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BFEEB9-167D-46E7-6AEE-1FF438C8FF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DFE76C-4279-C4FF-3778-3BC4AAAE24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C83F63-23C3-FC49-BB39-69460C49C3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2739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367A100-2400-49E4-6D7A-7C1D7DE96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D0B7CC-6E4B-BD49-88B9-C0D3835075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11620" name="Rectangle 4">
            <a:extLst>
              <a:ext uri="{FF2B5EF4-FFF2-40B4-BE49-F238E27FC236}">
                <a16:creationId xmlns:a16="http://schemas.microsoft.com/office/drawing/2014/main" id="{0FF2B8AF-2C4D-5B43-B7E4-45427C619BE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chemeClr val="tx1"/>
                </a:solidFill>
                <a:effectLst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1" name="Rectangle 5">
            <a:extLst>
              <a:ext uri="{FF2B5EF4-FFF2-40B4-BE49-F238E27FC236}">
                <a16:creationId xmlns:a16="http://schemas.microsoft.com/office/drawing/2014/main" id="{A9B1B32C-5B90-4C1B-7926-CBB457D4313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chemeClr val="tx1"/>
                </a:solidFill>
                <a:effectLst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1622" name="Rectangle 6">
            <a:extLst>
              <a:ext uri="{FF2B5EF4-FFF2-40B4-BE49-F238E27FC236}">
                <a16:creationId xmlns:a16="http://schemas.microsoft.com/office/drawing/2014/main" id="{6542BD95-97E9-169F-686F-DB711C6A71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57E9D480-6EA6-4C49-9F07-C266480C1B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AFDEB28-AEFC-742A-6353-D70699F8C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24" name="Line 8">
            <a:extLst>
              <a:ext uri="{FF2B5EF4-FFF2-40B4-BE49-F238E27FC236}">
                <a16:creationId xmlns:a16="http://schemas.microsoft.com/office/drawing/2014/main" id="{38C66893-2DCD-0A8C-A4AD-64F468AD5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066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32C6501-7A75-CDEB-BF83-F7DD4EC79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0DEAFA56-1800-3DA8-3F37-66DE99F69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7" r:id="rId1"/>
    <p:sldLayoutId id="2147484456" r:id="rId2"/>
    <p:sldLayoutId id="2147484457" r:id="rId3"/>
    <p:sldLayoutId id="2147484458" r:id="rId4"/>
    <p:sldLayoutId id="2147484459" r:id="rId5"/>
    <p:sldLayoutId id="2147484460" r:id="rId6"/>
    <p:sldLayoutId id="2147484461" r:id="rId7"/>
    <p:sldLayoutId id="2147484462" r:id="rId8"/>
    <p:sldLayoutId id="2147484463" r:id="rId9"/>
    <p:sldLayoutId id="2147484464" r:id="rId10"/>
    <p:sldLayoutId id="2147484465" r:id="rId11"/>
    <p:sldLayoutId id="214748446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rgbClr val="00279F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rgbClr val="FF0000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rgbClr val="790015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rgbClr val="00B7A5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4E7D5CF-9E84-930D-166D-C7E03505F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D82C3B6-2E1A-64EE-38F3-0FEC15DE9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7220" name="Rectangle 4">
            <a:extLst>
              <a:ext uri="{FF2B5EF4-FFF2-40B4-BE49-F238E27FC236}">
                <a16:creationId xmlns:a16="http://schemas.microsoft.com/office/drawing/2014/main" id="{1D3891B1-3E47-AC68-0D3A-3F73BF6B36C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chemeClr val="tx1"/>
                </a:solidFill>
                <a:effectLst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221" name="Rectangle 5">
            <a:extLst>
              <a:ext uri="{FF2B5EF4-FFF2-40B4-BE49-F238E27FC236}">
                <a16:creationId xmlns:a16="http://schemas.microsoft.com/office/drawing/2014/main" id="{A2C2F0A9-E615-B9C4-BC8F-BFB064139A1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>
                <a:solidFill>
                  <a:schemeClr val="tx1"/>
                </a:solidFill>
                <a:effectLst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7222" name="Rectangle 6">
            <a:extLst>
              <a:ext uri="{FF2B5EF4-FFF2-40B4-BE49-F238E27FC236}">
                <a16:creationId xmlns:a16="http://schemas.microsoft.com/office/drawing/2014/main" id="{EEEA3365-5B82-D1DB-715A-B6A7D077599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E05EFAD-7693-A840-A0CC-630A46EA17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EB47A5D0-BC00-7B92-E5FD-8D403A710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7224" name="Line 8">
            <a:extLst>
              <a:ext uri="{FF2B5EF4-FFF2-40B4-BE49-F238E27FC236}">
                <a16:creationId xmlns:a16="http://schemas.microsoft.com/office/drawing/2014/main" id="{4C726114-F509-5A08-5D72-42316056A82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066800"/>
            <a:ext cx="807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57" name="Rectangle 9">
            <a:extLst>
              <a:ext uri="{FF2B5EF4-FFF2-40B4-BE49-F238E27FC236}">
                <a16:creationId xmlns:a16="http://schemas.microsoft.com/office/drawing/2014/main" id="{88C91EC3-62E7-BCCF-F877-44522E140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18C74D77-FCB5-0C6D-2A2B-81A95E642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none" anchor="ctr"/>
          <a:lstStyle>
            <a:lvl1pPr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th-TH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bg2"/>
          </a:solidFill>
          <a:latin typeface="Garamond" pitchFamily="18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n"/>
        <a:defRPr sz="2400">
          <a:solidFill>
            <a:srgbClr val="00279F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p"/>
        <a:defRPr sz="2000">
          <a:solidFill>
            <a:srgbClr val="FF0000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rgbClr val="790015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 sz="2000">
          <a:solidFill>
            <a:srgbClr val="00B7A5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defRPr>
          <a:solidFill>
            <a:srgbClr val="00B7A5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16.xml"/><Relationship Id="rId4" Type="http://schemas.openxmlformats.org/officeDocument/2006/relationships/image" Target="../media/image16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educ.jmu.edu/~drakepp/principles/module6/cbrisk.pdf" TargetMode="External"/><Relationship Id="rId2" Type="http://schemas.openxmlformats.org/officeDocument/2006/relationships/hyperlink" Target="http://www.edupristine.com/blog/capital-budgeting-techniqu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accountingtools.com/cost-of-capit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A04A10D-C42B-1F51-1D46-274E413F6C3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ln w="28575">
            <a:solidFill>
              <a:schemeClr val="tx1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  <a:defRPr/>
            </a:pPr>
            <a:r>
              <a:rPr lang="en-US" sz="4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Lecture 3</a:t>
            </a:r>
            <a:br>
              <a:rPr lang="en-US" sz="4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4000" dirty="0"/>
              <a:t> </a:t>
            </a:r>
            <a:r>
              <a:rPr lang="en-US" sz="4000" b="1" dirty="0"/>
              <a:t>The Business Investment</a:t>
            </a:r>
            <a:br>
              <a:rPr lang="en-US" sz="4000" b="1" dirty="0"/>
            </a:br>
            <a:r>
              <a:rPr lang="en-US" sz="4000" b="1" dirty="0"/>
              <a:t>Decision 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C83DB14-EB43-7CD9-A6DC-8D278102920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77000" cy="2597150"/>
          </a:xfrm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177800" indent="-177800" algn="l">
              <a:buFont typeface="Wingdings" pitchFamily="2" charset="2"/>
              <a:buChar char="§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key principles of business investment decisions.</a:t>
            </a:r>
          </a:p>
          <a:p>
            <a:pPr marL="177800" indent="-177800" algn="l">
              <a:buFont typeface="Wingdings" pitchFamily="2" charset="2"/>
              <a:buChar char="§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to evaluate investment opportunities using financial metrics.</a:t>
            </a:r>
          </a:p>
          <a:p>
            <a:pPr marL="177800" indent="-177800" algn="l">
              <a:buFont typeface="Wingdings" pitchFamily="2" charset="2"/>
              <a:buChar char="§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the impact of risk.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026">
            <a:extLst>
              <a:ext uri="{FF2B5EF4-FFF2-40B4-BE49-F238E27FC236}">
                <a16:creationId xmlns:a16="http://schemas.microsoft.com/office/drawing/2014/main" id="{62A030F2-48F7-76F3-8A03-2C63C9C3E2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2475" y="285750"/>
            <a:ext cx="8620125" cy="628650"/>
          </a:xfrm>
          <a:noFill/>
        </p:spPr>
        <p:txBody>
          <a:bodyPr/>
          <a:lstStyle/>
          <a:p>
            <a:pPr eaLnBrk="1" hangingPunct="1"/>
            <a:r>
              <a:rPr lang="en-US" altLang="en-US" sz="4000"/>
              <a:t>What is Capital Budgeting?	       </a:t>
            </a:r>
            <a:r>
              <a:rPr lang="en-US" altLang="en-US" sz="2000"/>
              <a:t>LT 12-2</a:t>
            </a:r>
          </a:p>
        </p:txBody>
      </p:sp>
      <p:sp>
        <p:nvSpPr>
          <p:cNvPr id="29698" name="Rectangle 1027">
            <a:extLst>
              <a:ext uri="{FF2B5EF4-FFF2-40B4-BE49-F238E27FC236}">
                <a16:creationId xmlns:a16="http://schemas.microsoft.com/office/drawing/2014/main" id="{88D8609B-D893-CD10-7FCD-35510A1278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51863" cy="4573588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Capital Budgeting: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represents a long-term investment decision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involves the planning of expenditures for a project with a life of many years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usually requires a large initial cash outflow with the expectation of future cash inflows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uses present value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92E2D4C-E094-9347-831A-16666C45E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41EB0E36-7722-0121-D666-A3ADF506B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Concern:</a:t>
            </a:r>
          </a:p>
          <a:p>
            <a:pPr lvl="1" eaLnBrk="1" hangingPunct="1"/>
            <a:r>
              <a:rPr lang="en-US" altLang="en-US" dirty="0"/>
              <a:t>Uncertainty (risk) about annual costs and inflows</a:t>
            </a:r>
          </a:p>
          <a:p>
            <a:pPr lvl="1" eaLnBrk="1" hangingPunct="1"/>
            <a:r>
              <a:rPr lang="en-US" altLang="en-US" dirty="0"/>
              <a:t>Change in environment (external factors), e.g. technology, economic conditions, industry competitiveness</a:t>
            </a:r>
          </a:p>
          <a:p>
            <a:pPr eaLnBrk="1" hangingPunct="1"/>
            <a:r>
              <a:rPr lang="en-US" altLang="en-US" dirty="0"/>
              <a:t>How to incorporate risk into the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B27BB42B-0A76-AA4A-2F4A-B140EB629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Executive consideration</a:t>
            </a:r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2E72E97E-8EB0-6E7C-F7AB-6433B780C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Steps taken in the decision-making process</a:t>
            </a:r>
          </a:p>
          <a:p>
            <a:pPr lvl="1" eaLnBrk="1" hangingPunct="1"/>
            <a:r>
              <a:rPr lang="en-US" altLang="en-US"/>
              <a:t>Search for and discover of investment opportunities</a:t>
            </a:r>
          </a:p>
          <a:p>
            <a:pPr lvl="1" eaLnBrk="1" hangingPunct="1"/>
            <a:r>
              <a:rPr lang="en-US" altLang="en-US"/>
              <a:t>Collection of data</a:t>
            </a:r>
          </a:p>
          <a:p>
            <a:pPr lvl="2" eaLnBrk="1" hangingPunct="1"/>
            <a:r>
              <a:rPr lang="en-US" altLang="en-US"/>
              <a:t>Engineering data</a:t>
            </a:r>
          </a:p>
          <a:p>
            <a:pPr lvl="2" eaLnBrk="1" hangingPunct="1"/>
            <a:r>
              <a:rPr lang="en-US" altLang="en-US"/>
              <a:t>Marketing surveys</a:t>
            </a:r>
          </a:p>
          <a:p>
            <a:pPr lvl="2" eaLnBrk="1" hangingPunct="1"/>
            <a:r>
              <a:rPr lang="en-US" altLang="en-US"/>
              <a:t>Likelihood of various event occurrence</a:t>
            </a:r>
          </a:p>
          <a:p>
            <a:pPr lvl="1" eaLnBrk="1" hangingPunct="1"/>
            <a:r>
              <a:rPr lang="en-US" altLang="en-US"/>
              <a:t>Evaluation and decision making</a:t>
            </a:r>
          </a:p>
          <a:p>
            <a:pPr lvl="1" eaLnBrk="1" hangingPunct="1"/>
            <a:r>
              <a:rPr lang="en-US" altLang="en-US"/>
              <a:t>Reevaluation and adjustment</a:t>
            </a:r>
          </a:p>
          <a:p>
            <a:pPr eaLnBrk="1" hangingPunct="1"/>
            <a:endParaRPr lang="en-US" altLang="en-US"/>
          </a:p>
        </p:txBody>
      </p:sp>
      <p:sp>
        <p:nvSpPr>
          <p:cNvPr id="141316" name="AutoShape 4">
            <a:extLst>
              <a:ext uri="{FF2B5EF4-FFF2-40B4-BE49-F238E27FC236}">
                <a16:creationId xmlns:a16="http://schemas.microsoft.com/office/drawing/2014/main" id="{A5085388-EB57-7028-6ABA-9D636E360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5715000"/>
            <a:ext cx="1828800" cy="4572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49BC69D6-9273-CC6D-211C-7AFB56FCC4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6127750"/>
            <a:ext cx="203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/>
              <a:t>See Figure 12-1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3">
            <a:extLst>
              <a:ext uri="{FF2B5EF4-FFF2-40B4-BE49-F238E27FC236}">
                <a16:creationId xmlns:a16="http://schemas.microsoft.com/office/drawing/2014/main" id="{8D1005E6-EAFA-CF86-16AB-52C5D12A0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2286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12-1</a:t>
            </a:r>
          </a:p>
        </p:txBody>
      </p:sp>
      <p:pic>
        <p:nvPicPr>
          <p:cNvPr id="32770" name="Picture 4" descr="blo42296_1201">
            <a:extLst>
              <a:ext uri="{FF2B5EF4-FFF2-40B4-BE49-F238E27FC236}">
                <a16:creationId xmlns:a16="http://schemas.microsoft.com/office/drawing/2014/main" id="{036010A3-796C-BBD1-F45D-A727E5D12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1300"/>
            <a:ext cx="8534400" cy="666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Text Box 5">
            <a:extLst>
              <a:ext uri="{FF2B5EF4-FFF2-40B4-BE49-F238E27FC236}">
                <a16:creationId xmlns:a16="http://schemas.microsoft.com/office/drawing/2014/main" id="{E3977B0B-F5AA-EB9E-9DA5-44DCB00B2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953000"/>
            <a:ext cx="17018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FIGURE 12-1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Capital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budgeting 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procedures</a:t>
            </a:r>
          </a:p>
        </p:txBody>
      </p:sp>
      <p:sp>
        <p:nvSpPr>
          <p:cNvPr id="32772" name="TextBox 1">
            <a:extLst>
              <a:ext uri="{FF2B5EF4-FFF2-40B4-BE49-F238E27FC236}">
                <a16:creationId xmlns:a16="http://schemas.microsoft.com/office/drawing/2014/main" id="{97281F59-5B53-B0C8-81D1-0F565379E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82900"/>
            <a:ext cx="2209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790015"/>
                </a:solidFill>
              </a:rPr>
              <a:t>Investment Opportunity</a:t>
            </a:r>
          </a:p>
        </p:txBody>
      </p:sp>
      <p:sp>
        <p:nvSpPr>
          <p:cNvPr id="32773" name="TextBox 5">
            <a:extLst>
              <a:ext uri="{FF2B5EF4-FFF2-40B4-BE49-F238E27FC236}">
                <a16:creationId xmlns:a16="http://schemas.microsoft.com/office/drawing/2014/main" id="{9B725223-1CCA-6E43-37AD-0D551A090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438150"/>
            <a:ext cx="220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790015"/>
                </a:solidFill>
              </a:rPr>
              <a:t>-- current status</a:t>
            </a:r>
          </a:p>
        </p:txBody>
      </p:sp>
      <p:sp>
        <p:nvSpPr>
          <p:cNvPr id="32774" name="TextBox 6">
            <a:extLst>
              <a:ext uri="{FF2B5EF4-FFF2-40B4-BE49-F238E27FC236}">
                <a16:creationId xmlns:a16="http://schemas.microsoft.com/office/drawing/2014/main" id="{52DFFEB8-0354-DDC9-E6D5-2306B53DD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681038"/>
            <a:ext cx="2819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790015"/>
                </a:solidFill>
              </a:rPr>
              <a:t>-- Need/Source of money</a:t>
            </a:r>
          </a:p>
        </p:txBody>
      </p:sp>
      <p:sp>
        <p:nvSpPr>
          <p:cNvPr id="32775" name="TextBox 7">
            <a:extLst>
              <a:ext uri="{FF2B5EF4-FFF2-40B4-BE49-F238E27FC236}">
                <a16:creationId xmlns:a16="http://schemas.microsoft.com/office/drawing/2014/main" id="{991D5084-2B9D-15AF-FE8C-EFA0E8EA4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900" y="930275"/>
            <a:ext cx="25527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rgbClr val="790015"/>
                </a:solidFill>
              </a:rPr>
              <a:t>-- Technical feasibility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object 2">
            <a:extLst>
              <a:ext uri="{FF2B5EF4-FFF2-40B4-BE49-F238E27FC236}">
                <a16:creationId xmlns:a16="http://schemas.microsoft.com/office/drawing/2014/main" id="{731DF45D-2CA7-67AB-FA80-7544E5403FF5}"/>
              </a:ext>
            </a:extLst>
          </p:cNvPr>
          <p:cNvSpPr>
            <a:spLocks/>
          </p:cNvSpPr>
          <p:nvPr/>
        </p:nvSpPr>
        <p:spPr bwMode="auto">
          <a:xfrm>
            <a:off x="457200" y="1714500"/>
            <a:ext cx="8229600" cy="0"/>
          </a:xfrm>
          <a:custGeom>
            <a:avLst/>
            <a:gdLst>
              <a:gd name="T0" fmla="*/ 0 w 10972800"/>
              <a:gd name="T1" fmla="*/ 1952923 w 1097280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0972800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F86A1B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794" name="object 3">
            <a:extLst>
              <a:ext uri="{FF2B5EF4-FFF2-40B4-BE49-F238E27FC236}">
                <a16:creationId xmlns:a16="http://schemas.microsoft.com/office/drawing/2014/main" id="{4AB6122C-840E-F3A9-AD69-CEF932FADF30}"/>
              </a:ext>
            </a:extLst>
          </p:cNvPr>
          <p:cNvSpPr>
            <a:spLocks/>
          </p:cNvSpPr>
          <p:nvPr/>
        </p:nvSpPr>
        <p:spPr bwMode="auto">
          <a:xfrm>
            <a:off x="454025" y="5681663"/>
            <a:ext cx="120650" cy="142875"/>
          </a:xfrm>
          <a:custGeom>
            <a:avLst/>
            <a:gdLst>
              <a:gd name="T0" fmla="*/ 0 w 160654"/>
              <a:gd name="T1" fmla="*/ 0 h 191134"/>
              <a:gd name="T2" fmla="*/ 0 w 160654"/>
              <a:gd name="T3" fmla="*/ 33297 h 191134"/>
              <a:gd name="T4" fmla="*/ 28777 w 160654"/>
              <a:gd name="T5" fmla="*/ 16649 h 191134"/>
              <a:gd name="T6" fmla="*/ 0 w 160654"/>
              <a:gd name="T7" fmla="*/ 0 h 1911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654" h="191134">
                <a:moveTo>
                  <a:pt x="0" y="0"/>
                </a:moveTo>
                <a:lnTo>
                  <a:pt x="0" y="190855"/>
                </a:lnTo>
                <a:lnTo>
                  <a:pt x="160413" y="95427"/>
                </a:lnTo>
                <a:lnTo>
                  <a:pt x="0" y="0"/>
                </a:lnTo>
                <a:close/>
              </a:path>
            </a:pathLst>
          </a:custGeom>
          <a:solidFill>
            <a:srgbClr val="F86A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795" name="object 4">
            <a:extLst>
              <a:ext uri="{FF2B5EF4-FFF2-40B4-BE49-F238E27FC236}">
                <a16:creationId xmlns:a16="http://schemas.microsoft.com/office/drawing/2014/main" id="{0E37A9D7-4AB2-6636-AF73-476C0A990EE7}"/>
              </a:ext>
            </a:extLst>
          </p:cNvPr>
          <p:cNvSpPr>
            <a:spLocks/>
          </p:cNvSpPr>
          <p:nvPr/>
        </p:nvSpPr>
        <p:spPr bwMode="auto">
          <a:xfrm>
            <a:off x="1247775" y="1957388"/>
            <a:ext cx="720725" cy="3417887"/>
          </a:xfrm>
          <a:custGeom>
            <a:avLst/>
            <a:gdLst>
              <a:gd name="T0" fmla="*/ 20729 w 959485"/>
              <a:gd name="T1" fmla="*/ 18625 h 4557395"/>
              <a:gd name="T2" fmla="*/ 43148 w 959485"/>
              <a:gd name="T3" fmla="*/ 44365 h 4557395"/>
              <a:gd name="T4" fmla="*/ 63773 w 959485"/>
              <a:gd name="T5" fmla="*/ 71069 h 4557395"/>
              <a:gd name="T6" fmla="*/ 82606 w 959485"/>
              <a:gd name="T7" fmla="*/ 98656 h 4557395"/>
              <a:gd name="T8" fmla="*/ 99645 w 959485"/>
              <a:gd name="T9" fmla="*/ 127044 h 4557395"/>
              <a:gd name="T10" fmla="*/ 114889 w 959485"/>
              <a:gd name="T11" fmla="*/ 156156 h 4557395"/>
              <a:gd name="T12" fmla="*/ 128340 w 959485"/>
              <a:gd name="T13" fmla="*/ 185910 h 4557395"/>
              <a:gd name="T14" fmla="*/ 139999 w 959485"/>
              <a:gd name="T15" fmla="*/ 216225 h 4557395"/>
              <a:gd name="T16" fmla="*/ 149862 w 959485"/>
              <a:gd name="T17" fmla="*/ 247023 h 4557395"/>
              <a:gd name="T18" fmla="*/ 157934 w 959485"/>
              <a:gd name="T19" fmla="*/ 278221 h 4557395"/>
              <a:gd name="T20" fmla="*/ 164211 w 959485"/>
              <a:gd name="T21" fmla="*/ 309740 h 4557395"/>
              <a:gd name="T22" fmla="*/ 168694 w 959485"/>
              <a:gd name="T23" fmla="*/ 341501 h 4557395"/>
              <a:gd name="T24" fmla="*/ 171385 w 959485"/>
              <a:gd name="T25" fmla="*/ 373421 h 4557395"/>
              <a:gd name="T26" fmla="*/ 172282 w 959485"/>
              <a:gd name="T27" fmla="*/ 405422 h 4557395"/>
              <a:gd name="T28" fmla="*/ 171385 w 959485"/>
              <a:gd name="T29" fmla="*/ 437422 h 4557395"/>
              <a:gd name="T30" fmla="*/ 168694 w 959485"/>
              <a:gd name="T31" fmla="*/ 469343 h 4557395"/>
              <a:gd name="T32" fmla="*/ 164211 w 959485"/>
              <a:gd name="T33" fmla="*/ 501103 h 4557395"/>
              <a:gd name="T34" fmla="*/ 157934 w 959485"/>
              <a:gd name="T35" fmla="*/ 532622 h 4557395"/>
              <a:gd name="T36" fmla="*/ 149862 w 959485"/>
              <a:gd name="T37" fmla="*/ 563820 h 4557395"/>
              <a:gd name="T38" fmla="*/ 139999 w 959485"/>
              <a:gd name="T39" fmla="*/ 594617 h 4557395"/>
              <a:gd name="T40" fmla="*/ 128340 w 959485"/>
              <a:gd name="T41" fmla="*/ 624932 h 4557395"/>
              <a:gd name="T42" fmla="*/ 114889 w 959485"/>
              <a:gd name="T43" fmla="*/ 654684 h 4557395"/>
              <a:gd name="T44" fmla="*/ 99645 w 959485"/>
              <a:gd name="T45" fmla="*/ 683796 h 4557395"/>
              <a:gd name="T46" fmla="*/ 82606 w 959485"/>
              <a:gd name="T47" fmla="*/ 712183 h 4557395"/>
              <a:gd name="T48" fmla="*/ 63773 w 959485"/>
              <a:gd name="T49" fmla="*/ 739769 h 4557395"/>
              <a:gd name="T50" fmla="*/ 43148 w 959485"/>
              <a:gd name="T51" fmla="*/ 766472 h 4557395"/>
              <a:gd name="T52" fmla="*/ 20729 w 959485"/>
              <a:gd name="T53" fmla="*/ 792211 h 4557395"/>
              <a:gd name="T54" fmla="*/ 0 w 959485"/>
              <a:gd name="T55" fmla="*/ 808119 h 4557395"/>
              <a:gd name="T56" fmla="*/ 23812 w 959485"/>
              <a:gd name="T57" fmla="*/ 783089 h 4557395"/>
              <a:gd name="T58" fmla="*/ 45809 w 959485"/>
              <a:gd name="T59" fmla="*/ 757025 h 4557395"/>
              <a:gd name="T60" fmla="*/ 65993 w 959485"/>
              <a:gd name="T61" fmla="*/ 730008 h 4557395"/>
              <a:gd name="T62" fmla="*/ 84362 w 959485"/>
              <a:gd name="T63" fmla="*/ 702121 h 4557395"/>
              <a:gd name="T64" fmla="*/ 100917 w 959485"/>
              <a:gd name="T65" fmla="*/ 673445 h 4557395"/>
              <a:gd name="T66" fmla="*/ 115657 w 959485"/>
              <a:gd name="T67" fmla="*/ 644062 h 4557395"/>
              <a:gd name="T68" fmla="*/ 128584 w 959485"/>
              <a:gd name="T69" fmla="*/ 614055 h 4557395"/>
              <a:gd name="T70" fmla="*/ 139696 w 959485"/>
              <a:gd name="T71" fmla="*/ 583504 h 4557395"/>
              <a:gd name="T72" fmla="*/ 148994 w 959485"/>
              <a:gd name="T73" fmla="*/ 552493 h 4557395"/>
              <a:gd name="T74" fmla="*/ 156478 w 959485"/>
              <a:gd name="T75" fmla="*/ 521103 h 4557395"/>
              <a:gd name="T76" fmla="*/ 162147 w 959485"/>
              <a:gd name="T77" fmla="*/ 489415 h 4557395"/>
              <a:gd name="T78" fmla="*/ 166002 w 959485"/>
              <a:gd name="T79" fmla="*/ 457513 h 4557395"/>
              <a:gd name="T80" fmla="*/ 168043 w 959485"/>
              <a:gd name="T81" fmla="*/ 425478 h 4557395"/>
              <a:gd name="T82" fmla="*/ 168271 w 959485"/>
              <a:gd name="T83" fmla="*/ 393390 h 4557395"/>
              <a:gd name="T84" fmla="*/ 166683 w 959485"/>
              <a:gd name="T85" fmla="*/ 361335 h 4557395"/>
              <a:gd name="T86" fmla="*/ 163281 w 959485"/>
              <a:gd name="T87" fmla="*/ 329391 h 4557395"/>
              <a:gd name="T88" fmla="*/ 158065 w 959485"/>
              <a:gd name="T89" fmla="*/ 297643 h 4557395"/>
              <a:gd name="T90" fmla="*/ 151035 w 959485"/>
              <a:gd name="T91" fmla="*/ 266171 h 4557395"/>
              <a:gd name="T92" fmla="*/ 142191 w 959485"/>
              <a:gd name="T93" fmla="*/ 235058 h 4557395"/>
              <a:gd name="T94" fmla="*/ 131532 w 959485"/>
              <a:gd name="T95" fmla="*/ 204384 h 4557395"/>
              <a:gd name="T96" fmla="*/ 119059 w 959485"/>
              <a:gd name="T97" fmla="*/ 174234 h 4557395"/>
              <a:gd name="T98" fmla="*/ 104772 w 959485"/>
              <a:gd name="T99" fmla="*/ 144688 h 4557395"/>
              <a:gd name="T100" fmla="*/ 88670 w 959485"/>
              <a:gd name="T101" fmla="*/ 115827 h 4557395"/>
              <a:gd name="T102" fmla="*/ 70755 w 959485"/>
              <a:gd name="T103" fmla="*/ 87736 h 4557395"/>
              <a:gd name="T104" fmla="*/ 51025 w 959485"/>
              <a:gd name="T105" fmla="*/ 60494 h 4557395"/>
              <a:gd name="T106" fmla="*/ 29481 w 959485"/>
              <a:gd name="T107" fmla="*/ 34185 h 4557395"/>
              <a:gd name="T108" fmla="*/ 6123 w 959485"/>
              <a:gd name="T109" fmla="*/ 8890 h 4557395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959485" h="4557395">
                <a:moveTo>
                  <a:pt x="15240" y="0"/>
                </a:moveTo>
                <a:lnTo>
                  <a:pt x="49249" y="34513"/>
                </a:lnTo>
                <a:lnTo>
                  <a:pt x="82634" y="69408"/>
                </a:lnTo>
                <a:lnTo>
                  <a:pt x="115395" y="104676"/>
                </a:lnTo>
                <a:lnTo>
                  <a:pt x="147532" y="140310"/>
                </a:lnTo>
                <a:lnTo>
                  <a:pt x="179045" y="176304"/>
                </a:lnTo>
                <a:lnTo>
                  <a:pt x="209934" y="212651"/>
                </a:lnTo>
                <a:lnTo>
                  <a:pt x="240199" y="249343"/>
                </a:lnTo>
                <a:lnTo>
                  <a:pt x="269840" y="286373"/>
                </a:lnTo>
                <a:lnTo>
                  <a:pt x="298857" y="323734"/>
                </a:lnTo>
                <a:lnTo>
                  <a:pt x="327250" y="361420"/>
                </a:lnTo>
                <a:lnTo>
                  <a:pt x="355019" y="399423"/>
                </a:lnTo>
                <a:lnTo>
                  <a:pt x="382164" y="437736"/>
                </a:lnTo>
                <a:lnTo>
                  <a:pt x="408685" y="476352"/>
                </a:lnTo>
                <a:lnTo>
                  <a:pt x="434582" y="515264"/>
                </a:lnTo>
                <a:lnTo>
                  <a:pt x="459855" y="554466"/>
                </a:lnTo>
                <a:lnTo>
                  <a:pt x="484504" y="593949"/>
                </a:lnTo>
                <a:lnTo>
                  <a:pt x="508528" y="633707"/>
                </a:lnTo>
                <a:lnTo>
                  <a:pt x="531929" y="673732"/>
                </a:lnTo>
                <a:lnTo>
                  <a:pt x="554706" y="714019"/>
                </a:lnTo>
                <a:lnTo>
                  <a:pt x="576859" y="754559"/>
                </a:lnTo>
                <a:lnTo>
                  <a:pt x="598387" y="795347"/>
                </a:lnTo>
                <a:lnTo>
                  <a:pt x="619292" y="836373"/>
                </a:lnTo>
                <a:lnTo>
                  <a:pt x="639573" y="877633"/>
                </a:lnTo>
                <a:lnTo>
                  <a:pt x="659230" y="919117"/>
                </a:lnTo>
                <a:lnTo>
                  <a:pt x="678262" y="960821"/>
                </a:lnTo>
                <a:lnTo>
                  <a:pt x="696671" y="1002736"/>
                </a:lnTo>
                <a:lnTo>
                  <a:pt x="714455" y="1044855"/>
                </a:lnTo>
                <a:lnTo>
                  <a:pt x="731616" y="1087171"/>
                </a:lnTo>
                <a:lnTo>
                  <a:pt x="748153" y="1129678"/>
                </a:lnTo>
                <a:lnTo>
                  <a:pt x="764065" y="1172368"/>
                </a:lnTo>
                <a:lnTo>
                  <a:pt x="779354" y="1215235"/>
                </a:lnTo>
                <a:lnTo>
                  <a:pt x="794018" y="1258270"/>
                </a:lnTo>
                <a:lnTo>
                  <a:pt x="808059" y="1301468"/>
                </a:lnTo>
                <a:lnTo>
                  <a:pt x="821475" y="1344821"/>
                </a:lnTo>
                <a:lnTo>
                  <a:pt x="834267" y="1388321"/>
                </a:lnTo>
                <a:lnTo>
                  <a:pt x="846436" y="1431963"/>
                </a:lnTo>
                <a:lnTo>
                  <a:pt x="857980" y="1475738"/>
                </a:lnTo>
                <a:lnTo>
                  <a:pt x="868901" y="1519641"/>
                </a:lnTo>
                <a:lnTo>
                  <a:pt x="879197" y="1563663"/>
                </a:lnTo>
                <a:lnTo>
                  <a:pt x="888869" y="1607798"/>
                </a:lnTo>
                <a:lnTo>
                  <a:pt x="897918" y="1652039"/>
                </a:lnTo>
                <a:lnTo>
                  <a:pt x="906342" y="1696378"/>
                </a:lnTo>
                <a:lnTo>
                  <a:pt x="914142" y="1740809"/>
                </a:lnTo>
                <a:lnTo>
                  <a:pt x="921318" y="1785325"/>
                </a:lnTo>
                <a:lnTo>
                  <a:pt x="927871" y="1829918"/>
                </a:lnTo>
                <a:lnTo>
                  <a:pt x="933799" y="1874582"/>
                </a:lnTo>
                <a:lnTo>
                  <a:pt x="939103" y="1919309"/>
                </a:lnTo>
                <a:lnTo>
                  <a:pt x="943783" y="1964092"/>
                </a:lnTo>
                <a:lnTo>
                  <a:pt x="947839" y="2008925"/>
                </a:lnTo>
                <a:lnTo>
                  <a:pt x="951271" y="2053800"/>
                </a:lnTo>
                <a:lnTo>
                  <a:pt x="954080" y="2098710"/>
                </a:lnTo>
                <a:lnTo>
                  <a:pt x="956264" y="2143648"/>
                </a:lnTo>
                <a:lnTo>
                  <a:pt x="957824" y="2188608"/>
                </a:lnTo>
                <a:lnTo>
                  <a:pt x="958760" y="2233581"/>
                </a:lnTo>
                <a:lnTo>
                  <a:pt x="959072" y="2278562"/>
                </a:lnTo>
                <a:lnTo>
                  <a:pt x="958760" y="2323543"/>
                </a:lnTo>
                <a:lnTo>
                  <a:pt x="957824" y="2368516"/>
                </a:lnTo>
                <a:lnTo>
                  <a:pt x="956264" y="2413476"/>
                </a:lnTo>
                <a:lnTo>
                  <a:pt x="954080" y="2458414"/>
                </a:lnTo>
                <a:lnTo>
                  <a:pt x="951271" y="2503324"/>
                </a:lnTo>
                <a:lnTo>
                  <a:pt x="947839" y="2548199"/>
                </a:lnTo>
                <a:lnTo>
                  <a:pt x="943783" y="2593031"/>
                </a:lnTo>
                <a:lnTo>
                  <a:pt x="939103" y="2637815"/>
                </a:lnTo>
                <a:lnTo>
                  <a:pt x="933799" y="2682541"/>
                </a:lnTo>
                <a:lnTo>
                  <a:pt x="927871" y="2727205"/>
                </a:lnTo>
                <a:lnTo>
                  <a:pt x="921318" y="2771797"/>
                </a:lnTo>
                <a:lnTo>
                  <a:pt x="914142" y="2816313"/>
                </a:lnTo>
                <a:lnTo>
                  <a:pt x="906342" y="2860743"/>
                </a:lnTo>
                <a:lnTo>
                  <a:pt x="897918" y="2905082"/>
                </a:lnTo>
                <a:lnTo>
                  <a:pt x="888869" y="2949322"/>
                </a:lnTo>
                <a:lnTo>
                  <a:pt x="879197" y="2993457"/>
                </a:lnTo>
                <a:lnTo>
                  <a:pt x="868901" y="3037479"/>
                </a:lnTo>
                <a:lnTo>
                  <a:pt x="857980" y="3081381"/>
                </a:lnTo>
                <a:lnTo>
                  <a:pt x="846436" y="3125156"/>
                </a:lnTo>
                <a:lnTo>
                  <a:pt x="834267" y="3168797"/>
                </a:lnTo>
                <a:lnTo>
                  <a:pt x="821475" y="3212297"/>
                </a:lnTo>
                <a:lnTo>
                  <a:pt x="808059" y="3255649"/>
                </a:lnTo>
                <a:lnTo>
                  <a:pt x="794018" y="3298846"/>
                </a:lnTo>
                <a:lnTo>
                  <a:pt x="779354" y="3341880"/>
                </a:lnTo>
                <a:lnTo>
                  <a:pt x="764065" y="3384746"/>
                </a:lnTo>
                <a:lnTo>
                  <a:pt x="748153" y="3427435"/>
                </a:lnTo>
                <a:lnTo>
                  <a:pt x="731616" y="3469941"/>
                </a:lnTo>
                <a:lnTo>
                  <a:pt x="714455" y="3512257"/>
                </a:lnTo>
                <a:lnTo>
                  <a:pt x="696671" y="3554375"/>
                </a:lnTo>
                <a:lnTo>
                  <a:pt x="678262" y="3596289"/>
                </a:lnTo>
                <a:lnTo>
                  <a:pt x="659230" y="3637992"/>
                </a:lnTo>
                <a:lnTo>
                  <a:pt x="639573" y="3679475"/>
                </a:lnTo>
                <a:lnTo>
                  <a:pt x="619292" y="3720734"/>
                </a:lnTo>
                <a:lnTo>
                  <a:pt x="598387" y="3761759"/>
                </a:lnTo>
                <a:lnTo>
                  <a:pt x="576859" y="3802545"/>
                </a:lnTo>
                <a:lnTo>
                  <a:pt x="554706" y="3843085"/>
                </a:lnTo>
                <a:lnTo>
                  <a:pt x="531929" y="3883370"/>
                </a:lnTo>
                <a:lnTo>
                  <a:pt x="508528" y="3923395"/>
                </a:lnTo>
                <a:lnTo>
                  <a:pt x="484504" y="3963152"/>
                </a:lnTo>
                <a:lnTo>
                  <a:pt x="459855" y="4002633"/>
                </a:lnTo>
                <a:lnTo>
                  <a:pt x="434582" y="4041833"/>
                </a:lnTo>
                <a:lnTo>
                  <a:pt x="408685" y="4080744"/>
                </a:lnTo>
                <a:lnTo>
                  <a:pt x="382164" y="4119359"/>
                </a:lnTo>
                <a:lnTo>
                  <a:pt x="355019" y="4157671"/>
                </a:lnTo>
                <a:lnTo>
                  <a:pt x="327250" y="4195672"/>
                </a:lnTo>
                <a:lnTo>
                  <a:pt x="298857" y="4233356"/>
                </a:lnTo>
                <a:lnTo>
                  <a:pt x="269840" y="4270716"/>
                </a:lnTo>
                <a:lnTo>
                  <a:pt x="240199" y="4307745"/>
                </a:lnTo>
                <a:lnTo>
                  <a:pt x="209934" y="4344435"/>
                </a:lnTo>
                <a:lnTo>
                  <a:pt x="179045" y="4380780"/>
                </a:lnTo>
                <a:lnTo>
                  <a:pt x="147532" y="4416773"/>
                </a:lnTo>
                <a:lnTo>
                  <a:pt x="115395" y="4452406"/>
                </a:lnTo>
                <a:lnTo>
                  <a:pt x="82634" y="4487672"/>
                </a:lnTo>
                <a:lnTo>
                  <a:pt x="49249" y="4522565"/>
                </a:lnTo>
                <a:lnTo>
                  <a:pt x="15240" y="4557077"/>
                </a:lnTo>
                <a:lnTo>
                  <a:pt x="0" y="4541812"/>
                </a:lnTo>
                <a:lnTo>
                  <a:pt x="34086" y="4507214"/>
                </a:lnTo>
                <a:lnTo>
                  <a:pt x="67541" y="4472231"/>
                </a:lnTo>
                <a:lnTo>
                  <a:pt x="100365" y="4436871"/>
                </a:lnTo>
                <a:lnTo>
                  <a:pt x="132557" y="4401139"/>
                </a:lnTo>
                <a:lnTo>
                  <a:pt x="164118" y="4365045"/>
                </a:lnTo>
                <a:lnTo>
                  <a:pt x="195049" y="4328594"/>
                </a:lnTo>
                <a:lnTo>
                  <a:pt x="225347" y="4291794"/>
                </a:lnTo>
                <a:lnTo>
                  <a:pt x="255015" y="4254653"/>
                </a:lnTo>
                <a:lnTo>
                  <a:pt x="284051" y="4217177"/>
                </a:lnTo>
                <a:lnTo>
                  <a:pt x="312457" y="4179373"/>
                </a:lnTo>
                <a:lnTo>
                  <a:pt x="340231" y="4141250"/>
                </a:lnTo>
                <a:lnTo>
                  <a:pt x="367373" y="4102813"/>
                </a:lnTo>
                <a:lnTo>
                  <a:pt x="393885" y="4064070"/>
                </a:lnTo>
                <a:lnTo>
                  <a:pt x="419765" y="4025029"/>
                </a:lnTo>
                <a:lnTo>
                  <a:pt x="445014" y="3985696"/>
                </a:lnTo>
                <a:lnTo>
                  <a:pt x="469632" y="3946080"/>
                </a:lnTo>
                <a:lnTo>
                  <a:pt x="493619" y="3906186"/>
                </a:lnTo>
                <a:lnTo>
                  <a:pt x="516974" y="3866022"/>
                </a:lnTo>
                <a:lnTo>
                  <a:pt x="539698" y="3825596"/>
                </a:lnTo>
                <a:lnTo>
                  <a:pt x="561791" y="3784914"/>
                </a:lnTo>
                <a:lnTo>
                  <a:pt x="583253" y="3743984"/>
                </a:lnTo>
                <a:lnTo>
                  <a:pt x="604083" y="3702813"/>
                </a:lnTo>
                <a:lnTo>
                  <a:pt x="624283" y="3661408"/>
                </a:lnTo>
                <a:lnTo>
                  <a:pt x="643851" y="3619776"/>
                </a:lnTo>
                <a:lnTo>
                  <a:pt x="662787" y="3577925"/>
                </a:lnTo>
                <a:lnTo>
                  <a:pt x="681093" y="3535861"/>
                </a:lnTo>
                <a:lnTo>
                  <a:pt x="698767" y="3493593"/>
                </a:lnTo>
                <a:lnTo>
                  <a:pt x="715811" y="3451127"/>
                </a:lnTo>
                <a:lnTo>
                  <a:pt x="732222" y="3408469"/>
                </a:lnTo>
                <a:lnTo>
                  <a:pt x="748003" y="3365629"/>
                </a:lnTo>
                <a:lnTo>
                  <a:pt x="763153" y="3322612"/>
                </a:lnTo>
                <a:lnTo>
                  <a:pt x="777671" y="3279426"/>
                </a:lnTo>
                <a:lnTo>
                  <a:pt x="791558" y="3236078"/>
                </a:lnTo>
                <a:lnTo>
                  <a:pt x="804813" y="3192576"/>
                </a:lnTo>
                <a:lnTo>
                  <a:pt x="817438" y="3148926"/>
                </a:lnTo>
                <a:lnTo>
                  <a:pt x="829431" y="3105135"/>
                </a:lnTo>
                <a:lnTo>
                  <a:pt x="840793" y="3061212"/>
                </a:lnTo>
                <a:lnTo>
                  <a:pt x="851524" y="3017163"/>
                </a:lnTo>
                <a:lnTo>
                  <a:pt x="861624" y="2972995"/>
                </a:lnTo>
                <a:lnTo>
                  <a:pt x="871092" y="2928715"/>
                </a:lnTo>
                <a:lnTo>
                  <a:pt x="879929" y="2884331"/>
                </a:lnTo>
                <a:lnTo>
                  <a:pt x="888135" y="2839850"/>
                </a:lnTo>
                <a:lnTo>
                  <a:pt x="895710" y="2795279"/>
                </a:lnTo>
                <a:lnTo>
                  <a:pt x="902654" y="2750625"/>
                </a:lnTo>
                <a:lnTo>
                  <a:pt x="908966" y="2705896"/>
                </a:lnTo>
                <a:lnTo>
                  <a:pt x="914647" y="2661098"/>
                </a:lnTo>
                <a:lnTo>
                  <a:pt x="919697" y="2616239"/>
                </a:lnTo>
                <a:lnTo>
                  <a:pt x="924115" y="2571326"/>
                </a:lnTo>
                <a:lnTo>
                  <a:pt x="927903" y="2526367"/>
                </a:lnTo>
                <a:lnTo>
                  <a:pt x="931059" y="2481368"/>
                </a:lnTo>
                <a:lnTo>
                  <a:pt x="933584" y="2436336"/>
                </a:lnTo>
                <a:lnTo>
                  <a:pt x="935477" y="2391279"/>
                </a:lnTo>
                <a:lnTo>
                  <a:pt x="936740" y="2346205"/>
                </a:lnTo>
                <a:lnTo>
                  <a:pt x="937371" y="2301119"/>
                </a:lnTo>
                <a:lnTo>
                  <a:pt x="937371" y="2256030"/>
                </a:lnTo>
                <a:lnTo>
                  <a:pt x="936740" y="2210945"/>
                </a:lnTo>
                <a:lnTo>
                  <a:pt x="935477" y="2165870"/>
                </a:lnTo>
                <a:lnTo>
                  <a:pt x="933584" y="2120814"/>
                </a:lnTo>
                <a:lnTo>
                  <a:pt x="931059" y="2075782"/>
                </a:lnTo>
                <a:lnTo>
                  <a:pt x="927903" y="2030783"/>
                </a:lnTo>
                <a:lnTo>
                  <a:pt x="924115" y="1985824"/>
                </a:lnTo>
                <a:lnTo>
                  <a:pt x="919697" y="1940911"/>
                </a:lnTo>
                <a:lnTo>
                  <a:pt x="914647" y="1896052"/>
                </a:lnTo>
                <a:lnTo>
                  <a:pt x="908966" y="1851255"/>
                </a:lnTo>
                <a:lnTo>
                  <a:pt x="902654" y="1806526"/>
                </a:lnTo>
                <a:lnTo>
                  <a:pt x="895710" y="1761872"/>
                </a:lnTo>
                <a:lnTo>
                  <a:pt x="888135" y="1717301"/>
                </a:lnTo>
                <a:lnTo>
                  <a:pt x="879929" y="1672820"/>
                </a:lnTo>
                <a:lnTo>
                  <a:pt x="871092" y="1628437"/>
                </a:lnTo>
                <a:lnTo>
                  <a:pt x="861624" y="1584157"/>
                </a:lnTo>
                <a:lnTo>
                  <a:pt x="851524" y="1539990"/>
                </a:lnTo>
                <a:lnTo>
                  <a:pt x="840793" y="1495940"/>
                </a:lnTo>
                <a:lnTo>
                  <a:pt x="829431" y="1452017"/>
                </a:lnTo>
                <a:lnTo>
                  <a:pt x="817438" y="1408227"/>
                </a:lnTo>
                <a:lnTo>
                  <a:pt x="804813" y="1364578"/>
                </a:lnTo>
                <a:lnTo>
                  <a:pt x="791558" y="1321076"/>
                </a:lnTo>
                <a:lnTo>
                  <a:pt x="777671" y="1277728"/>
                </a:lnTo>
                <a:lnTo>
                  <a:pt x="763153" y="1234543"/>
                </a:lnTo>
                <a:lnTo>
                  <a:pt x="748003" y="1191526"/>
                </a:lnTo>
                <a:lnTo>
                  <a:pt x="732222" y="1148686"/>
                </a:lnTo>
                <a:lnTo>
                  <a:pt x="715811" y="1106030"/>
                </a:lnTo>
                <a:lnTo>
                  <a:pt x="698767" y="1063564"/>
                </a:lnTo>
                <a:lnTo>
                  <a:pt x="681093" y="1021296"/>
                </a:lnTo>
                <a:lnTo>
                  <a:pt x="662787" y="979233"/>
                </a:lnTo>
                <a:lnTo>
                  <a:pt x="643851" y="937383"/>
                </a:lnTo>
                <a:lnTo>
                  <a:pt x="624283" y="895752"/>
                </a:lnTo>
                <a:lnTo>
                  <a:pt x="604083" y="854347"/>
                </a:lnTo>
                <a:lnTo>
                  <a:pt x="583253" y="813177"/>
                </a:lnTo>
                <a:lnTo>
                  <a:pt x="561791" y="772247"/>
                </a:lnTo>
                <a:lnTo>
                  <a:pt x="539698" y="731566"/>
                </a:lnTo>
                <a:lnTo>
                  <a:pt x="516974" y="691140"/>
                </a:lnTo>
                <a:lnTo>
                  <a:pt x="493619" y="650977"/>
                </a:lnTo>
                <a:lnTo>
                  <a:pt x="469632" y="611084"/>
                </a:lnTo>
                <a:lnTo>
                  <a:pt x="445014" y="571468"/>
                </a:lnTo>
                <a:lnTo>
                  <a:pt x="419765" y="532136"/>
                </a:lnTo>
                <a:lnTo>
                  <a:pt x="393885" y="493096"/>
                </a:lnTo>
                <a:lnTo>
                  <a:pt x="367373" y="454354"/>
                </a:lnTo>
                <a:lnTo>
                  <a:pt x="340231" y="415918"/>
                </a:lnTo>
                <a:lnTo>
                  <a:pt x="312457" y="377795"/>
                </a:lnTo>
                <a:lnTo>
                  <a:pt x="284051" y="339993"/>
                </a:lnTo>
                <a:lnTo>
                  <a:pt x="255015" y="302517"/>
                </a:lnTo>
                <a:lnTo>
                  <a:pt x="225347" y="265377"/>
                </a:lnTo>
                <a:lnTo>
                  <a:pt x="195049" y="228578"/>
                </a:lnTo>
                <a:lnTo>
                  <a:pt x="164118" y="192128"/>
                </a:lnTo>
                <a:lnTo>
                  <a:pt x="132557" y="156035"/>
                </a:lnTo>
                <a:lnTo>
                  <a:pt x="100365" y="120305"/>
                </a:lnTo>
                <a:lnTo>
                  <a:pt x="67541" y="84945"/>
                </a:lnTo>
                <a:lnTo>
                  <a:pt x="34086" y="49963"/>
                </a:lnTo>
                <a:lnTo>
                  <a:pt x="0" y="15366"/>
                </a:lnTo>
                <a:lnTo>
                  <a:pt x="15240" y="0"/>
                </a:lnTo>
                <a:close/>
              </a:path>
            </a:pathLst>
          </a:custGeom>
          <a:noFill/>
          <a:ln w="19050">
            <a:solidFill>
              <a:srgbClr val="C6521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796" name="object 5">
            <a:extLst>
              <a:ext uri="{FF2B5EF4-FFF2-40B4-BE49-F238E27FC236}">
                <a16:creationId xmlns:a16="http://schemas.microsoft.com/office/drawing/2014/main" id="{F5B6F2FF-E7EF-AA21-FCC1-4F0E1467C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3258" y="2104058"/>
            <a:ext cx="5508934" cy="6032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790015"/>
                </a:solidFill>
              </a:rPr>
              <a:t>Basic Methods for Investment Decision</a:t>
            </a:r>
          </a:p>
        </p:txBody>
      </p:sp>
      <p:sp>
        <p:nvSpPr>
          <p:cNvPr id="33797" name="object 6">
            <a:extLst>
              <a:ext uri="{FF2B5EF4-FFF2-40B4-BE49-F238E27FC236}">
                <a16:creationId xmlns:a16="http://schemas.microsoft.com/office/drawing/2014/main" id="{EE84499C-736E-9069-E5DC-DDF454747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6188" y="2012950"/>
            <a:ext cx="471487" cy="47148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>
              <a:solidFill>
                <a:srgbClr val="790015"/>
              </a:solidFill>
            </a:endParaRPr>
          </a:p>
        </p:txBody>
      </p:sp>
      <p:sp>
        <p:nvSpPr>
          <p:cNvPr id="33798" name="object 7">
            <a:extLst>
              <a:ext uri="{FF2B5EF4-FFF2-40B4-BE49-F238E27FC236}">
                <a16:creationId xmlns:a16="http://schemas.microsoft.com/office/drawing/2014/main" id="{48B4A3E7-0723-DBD9-0555-259E8450EFE7}"/>
              </a:ext>
            </a:extLst>
          </p:cNvPr>
          <p:cNvSpPr>
            <a:spLocks/>
          </p:cNvSpPr>
          <p:nvPr/>
        </p:nvSpPr>
        <p:spPr bwMode="auto">
          <a:xfrm>
            <a:off x="1246188" y="2012950"/>
            <a:ext cx="471487" cy="471488"/>
          </a:xfrm>
          <a:custGeom>
            <a:avLst/>
            <a:gdLst>
              <a:gd name="T0" fmla="*/ 0 w 629919"/>
              <a:gd name="T1" fmla="*/ 55382 h 629919"/>
              <a:gd name="T2" fmla="*/ 600 w 629919"/>
              <a:gd name="T3" fmla="*/ 47197 h 629919"/>
              <a:gd name="T4" fmla="*/ 2344 w 629919"/>
              <a:gd name="T5" fmla="*/ 39384 h 629919"/>
              <a:gd name="T6" fmla="*/ 5146 w 629919"/>
              <a:gd name="T7" fmla="*/ 32031 h 629919"/>
              <a:gd name="T8" fmla="*/ 8920 w 629919"/>
              <a:gd name="T9" fmla="*/ 25223 h 629919"/>
              <a:gd name="T10" fmla="*/ 13582 w 629919"/>
              <a:gd name="T11" fmla="*/ 19044 h 629919"/>
              <a:gd name="T12" fmla="*/ 19044 w 629919"/>
              <a:gd name="T13" fmla="*/ 13582 h 629919"/>
              <a:gd name="T14" fmla="*/ 25223 w 629919"/>
              <a:gd name="T15" fmla="*/ 8921 h 629919"/>
              <a:gd name="T16" fmla="*/ 32030 w 629919"/>
              <a:gd name="T17" fmla="*/ 5146 h 629919"/>
              <a:gd name="T18" fmla="*/ 39384 w 629919"/>
              <a:gd name="T19" fmla="*/ 2344 h 629919"/>
              <a:gd name="T20" fmla="*/ 47196 w 629919"/>
              <a:gd name="T21" fmla="*/ 600 h 629919"/>
              <a:gd name="T22" fmla="*/ 55381 w 629919"/>
              <a:gd name="T23" fmla="*/ 0 h 629919"/>
              <a:gd name="T24" fmla="*/ 63568 w 629919"/>
              <a:gd name="T25" fmla="*/ 600 h 629919"/>
              <a:gd name="T26" fmla="*/ 71379 w 629919"/>
              <a:gd name="T27" fmla="*/ 2344 h 629919"/>
              <a:gd name="T28" fmla="*/ 78733 w 629919"/>
              <a:gd name="T29" fmla="*/ 5146 h 629919"/>
              <a:gd name="T30" fmla="*/ 85540 w 629919"/>
              <a:gd name="T31" fmla="*/ 8921 h 629919"/>
              <a:gd name="T32" fmla="*/ 91719 w 629919"/>
              <a:gd name="T33" fmla="*/ 13582 h 629919"/>
              <a:gd name="T34" fmla="*/ 97181 w 629919"/>
              <a:gd name="T35" fmla="*/ 19044 h 629919"/>
              <a:gd name="T36" fmla="*/ 101842 w 629919"/>
              <a:gd name="T37" fmla="*/ 25223 h 629919"/>
              <a:gd name="T38" fmla="*/ 105617 w 629919"/>
              <a:gd name="T39" fmla="*/ 32031 h 629919"/>
              <a:gd name="T40" fmla="*/ 108419 w 629919"/>
              <a:gd name="T41" fmla="*/ 39384 h 629919"/>
              <a:gd name="T42" fmla="*/ 110163 w 629919"/>
              <a:gd name="T43" fmla="*/ 47197 h 629919"/>
              <a:gd name="T44" fmla="*/ 110764 w 629919"/>
              <a:gd name="T45" fmla="*/ 55382 h 629919"/>
              <a:gd name="T46" fmla="*/ 110163 w 629919"/>
              <a:gd name="T47" fmla="*/ 63568 h 629919"/>
              <a:gd name="T48" fmla="*/ 108419 w 629919"/>
              <a:gd name="T49" fmla="*/ 71380 h 629919"/>
              <a:gd name="T50" fmla="*/ 105617 w 629919"/>
              <a:gd name="T51" fmla="*/ 78734 h 629919"/>
              <a:gd name="T52" fmla="*/ 101842 w 629919"/>
              <a:gd name="T53" fmla="*/ 85541 h 629919"/>
              <a:gd name="T54" fmla="*/ 97181 w 629919"/>
              <a:gd name="T55" fmla="*/ 91721 h 629919"/>
              <a:gd name="T56" fmla="*/ 91719 w 629919"/>
              <a:gd name="T57" fmla="*/ 97182 h 629919"/>
              <a:gd name="T58" fmla="*/ 85540 w 629919"/>
              <a:gd name="T59" fmla="*/ 101843 h 629919"/>
              <a:gd name="T60" fmla="*/ 78733 w 629919"/>
              <a:gd name="T61" fmla="*/ 105618 h 629919"/>
              <a:gd name="T62" fmla="*/ 71379 w 629919"/>
              <a:gd name="T63" fmla="*/ 108420 h 629919"/>
              <a:gd name="T64" fmla="*/ 63568 w 629919"/>
              <a:gd name="T65" fmla="*/ 110164 h 629919"/>
              <a:gd name="T66" fmla="*/ 55381 w 629919"/>
              <a:gd name="T67" fmla="*/ 110765 h 629919"/>
              <a:gd name="T68" fmla="*/ 47196 w 629919"/>
              <a:gd name="T69" fmla="*/ 110164 h 629919"/>
              <a:gd name="T70" fmla="*/ 39384 w 629919"/>
              <a:gd name="T71" fmla="*/ 108420 h 629919"/>
              <a:gd name="T72" fmla="*/ 32030 w 629919"/>
              <a:gd name="T73" fmla="*/ 105618 h 629919"/>
              <a:gd name="T74" fmla="*/ 25223 w 629919"/>
              <a:gd name="T75" fmla="*/ 101843 h 629919"/>
              <a:gd name="T76" fmla="*/ 19044 w 629919"/>
              <a:gd name="T77" fmla="*/ 97182 h 629919"/>
              <a:gd name="T78" fmla="*/ 13582 w 629919"/>
              <a:gd name="T79" fmla="*/ 91721 h 629919"/>
              <a:gd name="T80" fmla="*/ 8920 w 629919"/>
              <a:gd name="T81" fmla="*/ 85541 h 629919"/>
              <a:gd name="T82" fmla="*/ 5146 w 629919"/>
              <a:gd name="T83" fmla="*/ 78734 h 629919"/>
              <a:gd name="T84" fmla="*/ 2344 w 629919"/>
              <a:gd name="T85" fmla="*/ 71380 h 629919"/>
              <a:gd name="T86" fmla="*/ 600 w 629919"/>
              <a:gd name="T87" fmla="*/ 63568 h 629919"/>
              <a:gd name="T88" fmla="*/ 0 w 629919"/>
              <a:gd name="T89" fmla="*/ 55382 h 62991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629919" h="629919">
                <a:moveTo>
                  <a:pt x="0" y="314960"/>
                </a:moveTo>
                <a:lnTo>
                  <a:pt x="3414" y="268407"/>
                </a:lnTo>
                <a:lnTo>
                  <a:pt x="13331" y="223979"/>
                </a:lnTo>
                <a:lnTo>
                  <a:pt x="29266" y="182162"/>
                </a:lnTo>
                <a:lnTo>
                  <a:pt x="50731" y="143442"/>
                </a:lnTo>
                <a:lnTo>
                  <a:pt x="77240" y="108305"/>
                </a:lnTo>
                <a:lnTo>
                  <a:pt x="108305" y="77240"/>
                </a:lnTo>
                <a:lnTo>
                  <a:pt x="143442" y="50731"/>
                </a:lnTo>
                <a:lnTo>
                  <a:pt x="182162" y="29266"/>
                </a:lnTo>
                <a:lnTo>
                  <a:pt x="223979" y="13331"/>
                </a:lnTo>
                <a:lnTo>
                  <a:pt x="268407" y="3414"/>
                </a:lnTo>
                <a:lnTo>
                  <a:pt x="314960" y="0"/>
                </a:lnTo>
                <a:lnTo>
                  <a:pt x="361512" y="3414"/>
                </a:lnTo>
                <a:lnTo>
                  <a:pt x="405940" y="13331"/>
                </a:lnTo>
                <a:lnTo>
                  <a:pt x="447757" y="29266"/>
                </a:lnTo>
                <a:lnTo>
                  <a:pt x="486477" y="50731"/>
                </a:lnTo>
                <a:lnTo>
                  <a:pt x="521614" y="77240"/>
                </a:lnTo>
                <a:lnTo>
                  <a:pt x="552679" y="108305"/>
                </a:lnTo>
                <a:lnTo>
                  <a:pt x="579188" y="143442"/>
                </a:lnTo>
                <a:lnTo>
                  <a:pt x="600653" y="182162"/>
                </a:lnTo>
                <a:lnTo>
                  <a:pt x="616588" y="223979"/>
                </a:lnTo>
                <a:lnTo>
                  <a:pt x="626505" y="268407"/>
                </a:lnTo>
                <a:lnTo>
                  <a:pt x="629919" y="314960"/>
                </a:lnTo>
                <a:lnTo>
                  <a:pt x="626505" y="361512"/>
                </a:lnTo>
                <a:lnTo>
                  <a:pt x="616588" y="405940"/>
                </a:lnTo>
                <a:lnTo>
                  <a:pt x="600653" y="447757"/>
                </a:lnTo>
                <a:lnTo>
                  <a:pt x="579188" y="486477"/>
                </a:lnTo>
                <a:lnTo>
                  <a:pt x="552679" y="521614"/>
                </a:lnTo>
                <a:lnTo>
                  <a:pt x="521614" y="552679"/>
                </a:lnTo>
                <a:lnTo>
                  <a:pt x="486477" y="579188"/>
                </a:lnTo>
                <a:lnTo>
                  <a:pt x="447757" y="600653"/>
                </a:lnTo>
                <a:lnTo>
                  <a:pt x="405940" y="616588"/>
                </a:lnTo>
                <a:lnTo>
                  <a:pt x="361512" y="626505"/>
                </a:lnTo>
                <a:lnTo>
                  <a:pt x="314960" y="629920"/>
                </a:lnTo>
                <a:lnTo>
                  <a:pt x="268407" y="626505"/>
                </a:lnTo>
                <a:lnTo>
                  <a:pt x="223979" y="616588"/>
                </a:lnTo>
                <a:lnTo>
                  <a:pt x="182162" y="600653"/>
                </a:lnTo>
                <a:lnTo>
                  <a:pt x="143442" y="579188"/>
                </a:lnTo>
                <a:lnTo>
                  <a:pt x="108305" y="552679"/>
                </a:lnTo>
                <a:lnTo>
                  <a:pt x="77240" y="521614"/>
                </a:lnTo>
                <a:lnTo>
                  <a:pt x="50731" y="486477"/>
                </a:lnTo>
                <a:lnTo>
                  <a:pt x="29266" y="447757"/>
                </a:lnTo>
                <a:lnTo>
                  <a:pt x="13331" y="405940"/>
                </a:lnTo>
                <a:lnTo>
                  <a:pt x="3414" y="361512"/>
                </a:lnTo>
                <a:lnTo>
                  <a:pt x="0" y="314960"/>
                </a:lnTo>
                <a:close/>
              </a:path>
            </a:pathLst>
          </a:custGeom>
          <a:noFill/>
          <a:ln w="9525">
            <a:solidFill>
              <a:srgbClr val="F86A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799" name="object 8">
            <a:extLst>
              <a:ext uri="{FF2B5EF4-FFF2-40B4-BE49-F238E27FC236}">
                <a16:creationId xmlns:a16="http://schemas.microsoft.com/office/drawing/2014/main" id="{B2BBDE8D-12E6-9F17-479E-E1CDFB371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2925" y="2659063"/>
            <a:ext cx="6042025" cy="6032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790015"/>
              </a:solidFill>
            </a:endParaRPr>
          </a:p>
        </p:txBody>
      </p:sp>
      <p:sp>
        <p:nvSpPr>
          <p:cNvPr id="33800" name="object 9">
            <a:extLst>
              <a:ext uri="{FF2B5EF4-FFF2-40B4-BE49-F238E27FC236}">
                <a16:creationId xmlns:a16="http://schemas.microsoft.com/office/drawing/2014/main" id="{694C0308-977D-76AA-509A-562DA3277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138" y="2681288"/>
            <a:ext cx="473075" cy="473075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>
              <a:solidFill>
                <a:srgbClr val="790015"/>
              </a:solidFill>
            </a:endParaRPr>
          </a:p>
        </p:txBody>
      </p:sp>
      <p:sp>
        <p:nvSpPr>
          <p:cNvPr id="33801" name="object 10">
            <a:extLst>
              <a:ext uri="{FF2B5EF4-FFF2-40B4-BE49-F238E27FC236}">
                <a16:creationId xmlns:a16="http://schemas.microsoft.com/office/drawing/2014/main" id="{222B1CC2-62BF-BDEF-8678-FEEA3F547BB8}"/>
              </a:ext>
            </a:extLst>
          </p:cNvPr>
          <p:cNvSpPr>
            <a:spLocks/>
          </p:cNvSpPr>
          <p:nvPr/>
        </p:nvSpPr>
        <p:spPr bwMode="auto">
          <a:xfrm>
            <a:off x="1608138" y="2681288"/>
            <a:ext cx="473075" cy="473075"/>
          </a:xfrm>
          <a:custGeom>
            <a:avLst/>
            <a:gdLst>
              <a:gd name="T0" fmla="*/ 0 w 630555"/>
              <a:gd name="T1" fmla="*/ 56192 h 630555"/>
              <a:gd name="T2" fmla="*/ 610 w 630555"/>
              <a:gd name="T3" fmla="*/ 47889 h 630555"/>
              <a:gd name="T4" fmla="*/ 2379 w 630555"/>
              <a:gd name="T5" fmla="*/ 39964 h 630555"/>
              <a:gd name="T6" fmla="*/ 5223 w 630555"/>
              <a:gd name="T7" fmla="*/ 32505 h 630555"/>
              <a:gd name="T8" fmla="*/ 9053 w 630555"/>
              <a:gd name="T9" fmla="*/ 25597 h 630555"/>
              <a:gd name="T10" fmla="*/ 13782 w 630555"/>
              <a:gd name="T11" fmla="*/ 19328 h 630555"/>
              <a:gd name="T12" fmla="*/ 19324 w 630555"/>
              <a:gd name="T13" fmla="*/ 13784 h 630555"/>
              <a:gd name="T14" fmla="*/ 25591 w 630555"/>
              <a:gd name="T15" fmla="*/ 9054 h 630555"/>
              <a:gd name="T16" fmla="*/ 32496 w 630555"/>
              <a:gd name="T17" fmla="*/ 5223 h 630555"/>
              <a:gd name="T18" fmla="*/ 39952 w 630555"/>
              <a:gd name="T19" fmla="*/ 2379 h 630555"/>
              <a:gd name="T20" fmla="*/ 47872 w 630555"/>
              <a:gd name="T21" fmla="*/ 610 h 630555"/>
              <a:gd name="T22" fmla="*/ 56169 w 630555"/>
              <a:gd name="T23" fmla="*/ 0 h 630555"/>
              <a:gd name="T24" fmla="*/ 64471 w 630555"/>
              <a:gd name="T25" fmla="*/ 610 h 630555"/>
              <a:gd name="T26" fmla="*/ 72396 w 630555"/>
              <a:gd name="T27" fmla="*/ 2379 h 630555"/>
              <a:gd name="T28" fmla="*/ 79856 w 630555"/>
              <a:gd name="T29" fmla="*/ 5223 h 630555"/>
              <a:gd name="T30" fmla="*/ 86764 w 630555"/>
              <a:gd name="T31" fmla="*/ 9054 h 630555"/>
              <a:gd name="T32" fmla="*/ 93033 w 630555"/>
              <a:gd name="T33" fmla="*/ 13784 h 630555"/>
              <a:gd name="T34" fmla="*/ 98576 w 630555"/>
              <a:gd name="T35" fmla="*/ 19328 h 630555"/>
              <a:gd name="T36" fmla="*/ 103307 w 630555"/>
              <a:gd name="T37" fmla="*/ 25597 h 630555"/>
              <a:gd name="T38" fmla="*/ 107137 w 630555"/>
              <a:gd name="T39" fmla="*/ 32505 h 630555"/>
              <a:gd name="T40" fmla="*/ 109981 w 630555"/>
              <a:gd name="T41" fmla="*/ 39964 h 630555"/>
              <a:gd name="T42" fmla="*/ 111752 w 630555"/>
              <a:gd name="T43" fmla="*/ 47889 h 630555"/>
              <a:gd name="T44" fmla="*/ 112361 w 630555"/>
              <a:gd name="T45" fmla="*/ 56192 h 630555"/>
              <a:gd name="T46" fmla="*/ 111752 w 630555"/>
              <a:gd name="T47" fmla="*/ 64489 h 630555"/>
              <a:gd name="T48" fmla="*/ 109981 w 630555"/>
              <a:gd name="T49" fmla="*/ 72408 h 630555"/>
              <a:gd name="T50" fmla="*/ 107137 w 630555"/>
              <a:gd name="T51" fmla="*/ 79864 h 630555"/>
              <a:gd name="T52" fmla="*/ 103307 w 630555"/>
              <a:gd name="T53" fmla="*/ 86770 h 630555"/>
              <a:gd name="T54" fmla="*/ 98576 w 630555"/>
              <a:gd name="T55" fmla="*/ 93036 h 630555"/>
              <a:gd name="T56" fmla="*/ 93033 w 630555"/>
              <a:gd name="T57" fmla="*/ 98579 h 630555"/>
              <a:gd name="T58" fmla="*/ 86764 w 630555"/>
              <a:gd name="T59" fmla="*/ 103307 h 630555"/>
              <a:gd name="T60" fmla="*/ 79856 w 630555"/>
              <a:gd name="T61" fmla="*/ 107138 h 630555"/>
              <a:gd name="T62" fmla="*/ 72396 w 630555"/>
              <a:gd name="T63" fmla="*/ 109981 h 630555"/>
              <a:gd name="T64" fmla="*/ 64471 w 630555"/>
              <a:gd name="T65" fmla="*/ 111752 h 630555"/>
              <a:gd name="T66" fmla="*/ 56169 w 630555"/>
              <a:gd name="T67" fmla="*/ 112361 h 630555"/>
              <a:gd name="T68" fmla="*/ 47872 w 630555"/>
              <a:gd name="T69" fmla="*/ 111752 h 630555"/>
              <a:gd name="T70" fmla="*/ 39952 w 630555"/>
              <a:gd name="T71" fmla="*/ 109981 h 630555"/>
              <a:gd name="T72" fmla="*/ 32496 w 630555"/>
              <a:gd name="T73" fmla="*/ 107138 h 630555"/>
              <a:gd name="T74" fmla="*/ 25591 w 630555"/>
              <a:gd name="T75" fmla="*/ 103307 h 630555"/>
              <a:gd name="T76" fmla="*/ 19324 w 630555"/>
              <a:gd name="T77" fmla="*/ 98579 h 630555"/>
              <a:gd name="T78" fmla="*/ 13782 w 630555"/>
              <a:gd name="T79" fmla="*/ 93036 h 630555"/>
              <a:gd name="T80" fmla="*/ 9053 w 630555"/>
              <a:gd name="T81" fmla="*/ 86770 h 630555"/>
              <a:gd name="T82" fmla="*/ 5223 w 630555"/>
              <a:gd name="T83" fmla="*/ 79864 h 630555"/>
              <a:gd name="T84" fmla="*/ 2379 w 630555"/>
              <a:gd name="T85" fmla="*/ 72408 h 630555"/>
              <a:gd name="T86" fmla="*/ 610 w 630555"/>
              <a:gd name="T87" fmla="*/ 64489 h 630555"/>
              <a:gd name="T88" fmla="*/ 0 w 630555"/>
              <a:gd name="T89" fmla="*/ 56192 h 630555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630555" h="630555">
                <a:moveTo>
                  <a:pt x="0" y="315087"/>
                </a:moveTo>
                <a:lnTo>
                  <a:pt x="3416" y="268532"/>
                </a:lnTo>
                <a:lnTo>
                  <a:pt x="13341" y="224095"/>
                </a:lnTo>
                <a:lnTo>
                  <a:pt x="29286" y="182266"/>
                </a:lnTo>
                <a:lnTo>
                  <a:pt x="50763" y="143531"/>
                </a:lnTo>
                <a:lnTo>
                  <a:pt x="77282" y="108378"/>
                </a:lnTo>
                <a:lnTo>
                  <a:pt x="108357" y="77294"/>
                </a:lnTo>
                <a:lnTo>
                  <a:pt x="143498" y="50769"/>
                </a:lnTo>
                <a:lnTo>
                  <a:pt x="182217" y="29289"/>
                </a:lnTo>
                <a:lnTo>
                  <a:pt x="224026" y="13342"/>
                </a:lnTo>
                <a:lnTo>
                  <a:pt x="268436" y="3416"/>
                </a:lnTo>
                <a:lnTo>
                  <a:pt x="314960" y="0"/>
                </a:lnTo>
                <a:lnTo>
                  <a:pt x="361514" y="3416"/>
                </a:lnTo>
                <a:lnTo>
                  <a:pt x="405951" y="13342"/>
                </a:lnTo>
                <a:lnTo>
                  <a:pt x="447780" y="29289"/>
                </a:lnTo>
                <a:lnTo>
                  <a:pt x="486515" y="50769"/>
                </a:lnTo>
                <a:lnTo>
                  <a:pt x="521668" y="77294"/>
                </a:lnTo>
                <a:lnTo>
                  <a:pt x="552752" y="108378"/>
                </a:lnTo>
                <a:lnTo>
                  <a:pt x="579277" y="143531"/>
                </a:lnTo>
                <a:lnTo>
                  <a:pt x="600757" y="182266"/>
                </a:lnTo>
                <a:lnTo>
                  <a:pt x="616704" y="224095"/>
                </a:lnTo>
                <a:lnTo>
                  <a:pt x="626630" y="268532"/>
                </a:lnTo>
                <a:lnTo>
                  <a:pt x="630047" y="315087"/>
                </a:lnTo>
                <a:lnTo>
                  <a:pt x="626630" y="361610"/>
                </a:lnTo>
                <a:lnTo>
                  <a:pt x="616704" y="406020"/>
                </a:lnTo>
                <a:lnTo>
                  <a:pt x="600757" y="447829"/>
                </a:lnTo>
                <a:lnTo>
                  <a:pt x="579277" y="486548"/>
                </a:lnTo>
                <a:lnTo>
                  <a:pt x="552752" y="521689"/>
                </a:lnTo>
                <a:lnTo>
                  <a:pt x="521668" y="552764"/>
                </a:lnTo>
                <a:lnTo>
                  <a:pt x="486515" y="579283"/>
                </a:lnTo>
                <a:lnTo>
                  <a:pt x="447780" y="600760"/>
                </a:lnTo>
                <a:lnTo>
                  <a:pt x="405951" y="616705"/>
                </a:lnTo>
                <a:lnTo>
                  <a:pt x="361514" y="626630"/>
                </a:lnTo>
                <a:lnTo>
                  <a:pt x="314960" y="630046"/>
                </a:lnTo>
                <a:lnTo>
                  <a:pt x="268436" y="626630"/>
                </a:lnTo>
                <a:lnTo>
                  <a:pt x="224026" y="616705"/>
                </a:lnTo>
                <a:lnTo>
                  <a:pt x="182217" y="600760"/>
                </a:lnTo>
                <a:lnTo>
                  <a:pt x="143498" y="579283"/>
                </a:lnTo>
                <a:lnTo>
                  <a:pt x="108357" y="552764"/>
                </a:lnTo>
                <a:lnTo>
                  <a:pt x="77282" y="521689"/>
                </a:lnTo>
                <a:lnTo>
                  <a:pt x="50763" y="486548"/>
                </a:lnTo>
                <a:lnTo>
                  <a:pt x="29286" y="447829"/>
                </a:lnTo>
                <a:lnTo>
                  <a:pt x="13341" y="406020"/>
                </a:lnTo>
                <a:lnTo>
                  <a:pt x="3416" y="361610"/>
                </a:lnTo>
                <a:lnTo>
                  <a:pt x="0" y="315087"/>
                </a:lnTo>
                <a:close/>
              </a:path>
            </a:pathLst>
          </a:custGeom>
          <a:noFill/>
          <a:ln w="9525">
            <a:solidFill>
              <a:srgbClr val="F86A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802" name="object 11">
            <a:extLst>
              <a:ext uri="{FF2B5EF4-FFF2-40B4-BE49-F238E27FC236}">
                <a16:creationId xmlns:a16="http://schemas.microsoft.com/office/drawing/2014/main" id="{5A27552B-0491-F3FF-6275-C044AE3A3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3363913"/>
            <a:ext cx="6027737" cy="60325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790015"/>
              </a:solidFill>
            </a:endParaRPr>
          </a:p>
        </p:txBody>
      </p:sp>
      <p:sp>
        <p:nvSpPr>
          <p:cNvPr id="33803" name="object 12">
            <a:extLst>
              <a:ext uri="{FF2B5EF4-FFF2-40B4-BE49-F238E27FC236}">
                <a16:creationId xmlns:a16="http://schemas.microsoft.com/office/drawing/2014/main" id="{2F8DCB1B-0605-7D62-E76F-3A5E64620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386138"/>
            <a:ext cx="471488" cy="473075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>
              <a:solidFill>
                <a:srgbClr val="790015"/>
              </a:solidFill>
            </a:endParaRPr>
          </a:p>
        </p:txBody>
      </p:sp>
      <p:sp>
        <p:nvSpPr>
          <p:cNvPr id="33804" name="object 13">
            <a:extLst>
              <a:ext uri="{FF2B5EF4-FFF2-40B4-BE49-F238E27FC236}">
                <a16:creationId xmlns:a16="http://schemas.microsoft.com/office/drawing/2014/main" id="{C039E30C-34E4-C830-8A0D-097031174D9C}"/>
              </a:ext>
            </a:extLst>
          </p:cNvPr>
          <p:cNvSpPr>
            <a:spLocks/>
          </p:cNvSpPr>
          <p:nvPr/>
        </p:nvSpPr>
        <p:spPr bwMode="auto">
          <a:xfrm>
            <a:off x="1752600" y="3386138"/>
            <a:ext cx="471488" cy="473075"/>
          </a:xfrm>
          <a:custGeom>
            <a:avLst/>
            <a:gdLst>
              <a:gd name="T0" fmla="*/ 0 w 629919"/>
              <a:gd name="T1" fmla="*/ 56170 h 630554"/>
              <a:gd name="T2" fmla="*/ 600 w 629919"/>
              <a:gd name="T3" fmla="*/ 47872 h 630554"/>
              <a:gd name="T4" fmla="*/ 2344 w 629919"/>
              <a:gd name="T5" fmla="*/ 39952 h 630554"/>
              <a:gd name="T6" fmla="*/ 5146 w 629919"/>
              <a:gd name="T7" fmla="*/ 32496 h 630554"/>
              <a:gd name="T8" fmla="*/ 8921 w 629919"/>
              <a:gd name="T9" fmla="*/ 25591 h 630554"/>
              <a:gd name="T10" fmla="*/ 13582 w 629919"/>
              <a:gd name="T11" fmla="*/ 19324 h 630554"/>
              <a:gd name="T12" fmla="*/ 19044 w 629919"/>
              <a:gd name="T13" fmla="*/ 13782 h 630554"/>
              <a:gd name="T14" fmla="*/ 25223 w 629919"/>
              <a:gd name="T15" fmla="*/ 9053 h 630554"/>
              <a:gd name="T16" fmla="*/ 32031 w 629919"/>
              <a:gd name="T17" fmla="*/ 5223 h 630554"/>
              <a:gd name="T18" fmla="*/ 39384 w 629919"/>
              <a:gd name="T19" fmla="*/ 2379 h 630554"/>
              <a:gd name="T20" fmla="*/ 47197 w 629919"/>
              <a:gd name="T21" fmla="*/ 610 h 630554"/>
              <a:gd name="T22" fmla="*/ 55382 w 629919"/>
              <a:gd name="T23" fmla="*/ 0 h 630554"/>
              <a:gd name="T24" fmla="*/ 63568 w 629919"/>
              <a:gd name="T25" fmla="*/ 610 h 630554"/>
              <a:gd name="T26" fmla="*/ 71380 w 629919"/>
              <a:gd name="T27" fmla="*/ 2379 h 630554"/>
              <a:gd name="T28" fmla="*/ 78734 w 629919"/>
              <a:gd name="T29" fmla="*/ 5223 h 630554"/>
              <a:gd name="T30" fmla="*/ 85541 w 629919"/>
              <a:gd name="T31" fmla="*/ 9053 h 630554"/>
              <a:gd name="T32" fmla="*/ 91721 w 629919"/>
              <a:gd name="T33" fmla="*/ 13782 h 630554"/>
              <a:gd name="T34" fmla="*/ 97182 w 629919"/>
              <a:gd name="T35" fmla="*/ 19324 h 630554"/>
              <a:gd name="T36" fmla="*/ 101843 w 629919"/>
              <a:gd name="T37" fmla="*/ 25591 h 630554"/>
              <a:gd name="T38" fmla="*/ 105618 w 629919"/>
              <a:gd name="T39" fmla="*/ 32496 h 630554"/>
              <a:gd name="T40" fmla="*/ 108420 w 629919"/>
              <a:gd name="T41" fmla="*/ 39952 h 630554"/>
              <a:gd name="T42" fmla="*/ 110164 w 629919"/>
              <a:gd name="T43" fmla="*/ 47872 h 630554"/>
              <a:gd name="T44" fmla="*/ 110765 w 629919"/>
              <a:gd name="T45" fmla="*/ 56170 h 630554"/>
              <a:gd name="T46" fmla="*/ 110164 w 629919"/>
              <a:gd name="T47" fmla="*/ 64472 h 630554"/>
              <a:gd name="T48" fmla="*/ 108420 w 629919"/>
              <a:gd name="T49" fmla="*/ 72397 h 630554"/>
              <a:gd name="T50" fmla="*/ 105618 w 629919"/>
              <a:gd name="T51" fmla="*/ 79856 h 630554"/>
              <a:gd name="T52" fmla="*/ 101843 w 629919"/>
              <a:gd name="T53" fmla="*/ 86765 h 630554"/>
              <a:gd name="T54" fmla="*/ 97182 w 629919"/>
              <a:gd name="T55" fmla="*/ 93034 h 630554"/>
              <a:gd name="T56" fmla="*/ 91721 w 629919"/>
              <a:gd name="T57" fmla="*/ 98577 h 630554"/>
              <a:gd name="T58" fmla="*/ 85541 w 629919"/>
              <a:gd name="T59" fmla="*/ 103308 h 630554"/>
              <a:gd name="T60" fmla="*/ 78734 w 629919"/>
              <a:gd name="T61" fmla="*/ 107138 h 630554"/>
              <a:gd name="T62" fmla="*/ 71380 w 629919"/>
              <a:gd name="T63" fmla="*/ 109982 h 630554"/>
              <a:gd name="T64" fmla="*/ 63568 w 629919"/>
              <a:gd name="T65" fmla="*/ 111752 h 630554"/>
              <a:gd name="T66" fmla="*/ 55382 w 629919"/>
              <a:gd name="T67" fmla="*/ 112362 h 630554"/>
              <a:gd name="T68" fmla="*/ 47197 w 629919"/>
              <a:gd name="T69" fmla="*/ 111752 h 630554"/>
              <a:gd name="T70" fmla="*/ 39384 w 629919"/>
              <a:gd name="T71" fmla="*/ 109982 h 630554"/>
              <a:gd name="T72" fmla="*/ 32031 w 629919"/>
              <a:gd name="T73" fmla="*/ 107138 h 630554"/>
              <a:gd name="T74" fmla="*/ 25223 w 629919"/>
              <a:gd name="T75" fmla="*/ 103308 h 630554"/>
              <a:gd name="T76" fmla="*/ 19044 w 629919"/>
              <a:gd name="T77" fmla="*/ 98577 h 630554"/>
              <a:gd name="T78" fmla="*/ 13582 w 629919"/>
              <a:gd name="T79" fmla="*/ 93034 h 630554"/>
              <a:gd name="T80" fmla="*/ 8921 w 629919"/>
              <a:gd name="T81" fmla="*/ 86765 h 630554"/>
              <a:gd name="T82" fmla="*/ 5146 w 629919"/>
              <a:gd name="T83" fmla="*/ 79856 h 630554"/>
              <a:gd name="T84" fmla="*/ 2344 w 629919"/>
              <a:gd name="T85" fmla="*/ 72397 h 630554"/>
              <a:gd name="T86" fmla="*/ 600 w 629919"/>
              <a:gd name="T87" fmla="*/ 64472 h 630554"/>
              <a:gd name="T88" fmla="*/ 0 w 629919"/>
              <a:gd name="T89" fmla="*/ 56170 h 63055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629919" h="630554">
                <a:moveTo>
                  <a:pt x="0" y="314960"/>
                </a:moveTo>
                <a:lnTo>
                  <a:pt x="3414" y="268436"/>
                </a:lnTo>
                <a:lnTo>
                  <a:pt x="13331" y="224026"/>
                </a:lnTo>
                <a:lnTo>
                  <a:pt x="29266" y="182217"/>
                </a:lnTo>
                <a:lnTo>
                  <a:pt x="50731" y="143498"/>
                </a:lnTo>
                <a:lnTo>
                  <a:pt x="77240" y="108357"/>
                </a:lnTo>
                <a:lnTo>
                  <a:pt x="108305" y="77282"/>
                </a:lnTo>
                <a:lnTo>
                  <a:pt x="143442" y="50763"/>
                </a:lnTo>
                <a:lnTo>
                  <a:pt x="182162" y="29286"/>
                </a:lnTo>
                <a:lnTo>
                  <a:pt x="223979" y="13341"/>
                </a:lnTo>
                <a:lnTo>
                  <a:pt x="268407" y="3416"/>
                </a:lnTo>
                <a:lnTo>
                  <a:pt x="314960" y="0"/>
                </a:lnTo>
                <a:lnTo>
                  <a:pt x="361512" y="3416"/>
                </a:lnTo>
                <a:lnTo>
                  <a:pt x="405940" y="13341"/>
                </a:lnTo>
                <a:lnTo>
                  <a:pt x="447757" y="29286"/>
                </a:lnTo>
                <a:lnTo>
                  <a:pt x="486477" y="50763"/>
                </a:lnTo>
                <a:lnTo>
                  <a:pt x="521614" y="77282"/>
                </a:lnTo>
                <a:lnTo>
                  <a:pt x="552679" y="108357"/>
                </a:lnTo>
                <a:lnTo>
                  <a:pt x="579188" y="143498"/>
                </a:lnTo>
                <a:lnTo>
                  <a:pt x="600653" y="182217"/>
                </a:lnTo>
                <a:lnTo>
                  <a:pt x="616588" y="224026"/>
                </a:lnTo>
                <a:lnTo>
                  <a:pt x="626505" y="268436"/>
                </a:lnTo>
                <a:lnTo>
                  <a:pt x="629919" y="314960"/>
                </a:lnTo>
                <a:lnTo>
                  <a:pt x="626505" y="361514"/>
                </a:lnTo>
                <a:lnTo>
                  <a:pt x="616588" y="405951"/>
                </a:lnTo>
                <a:lnTo>
                  <a:pt x="600653" y="447780"/>
                </a:lnTo>
                <a:lnTo>
                  <a:pt x="579188" y="486515"/>
                </a:lnTo>
                <a:lnTo>
                  <a:pt x="552679" y="521668"/>
                </a:lnTo>
                <a:lnTo>
                  <a:pt x="521614" y="552752"/>
                </a:lnTo>
                <a:lnTo>
                  <a:pt x="486477" y="579277"/>
                </a:lnTo>
                <a:lnTo>
                  <a:pt x="447757" y="600757"/>
                </a:lnTo>
                <a:lnTo>
                  <a:pt x="405940" y="616704"/>
                </a:lnTo>
                <a:lnTo>
                  <a:pt x="361512" y="626630"/>
                </a:lnTo>
                <a:lnTo>
                  <a:pt x="314960" y="630046"/>
                </a:lnTo>
                <a:lnTo>
                  <a:pt x="268407" y="626630"/>
                </a:lnTo>
                <a:lnTo>
                  <a:pt x="223979" y="616704"/>
                </a:lnTo>
                <a:lnTo>
                  <a:pt x="182162" y="600757"/>
                </a:lnTo>
                <a:lnTo>
                  <a:pt x="143442" y="579277"/>
                </a:lnTo>
                <a:lnTo>
                  <a:pt x="108305" y="552752"/>
                </a:lnTo>
                <a:lnTo>
                  <a:pt x="77240" y="521668"/>
                </a:lnTo>
                <a:lnTo>
                  <a:pt x="50731" y="486515"/>
                </a:lnTo>
                <a:lnTo>
                  <a:pt x="29266" y="447780"/>
                </a:lnTo>
                <a:lnTo>
                  <a:pt x="13331" y="405951"/>
                </a:lnTo>
                <a:lnTo>
                  <a:pt x="3414" y="361514"/>
                </a:lnTo>
                <a:lnTo>
                  <a:pt x="0" y="314960"/>
                </a:lnTo>
                <a:close/>
              </a:path>
            </a:pathLst>
          </a:custGeom>
          <a:noFill/>
          <a:ln w="9525">
            <a:solidFill>
              <a:srgbClr val="F86A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805" name="object 14">
            <a:extLst>
              <a:ext uri="{FF2B5EF4-FFF2-40B4-BE49-F238E27FC236}">
                <a16:creationId xmlns:a16="http://schemas.microsoft.com/office/drawing/2014/main" id="{5F98C687-35A0-8244-A2B0-FFF462B85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4094163"/>
            <a:ext cx="6027737" cy="60325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790015"/>
              </a:solidFill>
            </a:endParaRPr>
          </a:p>
        </p:txBody>
      </p:sp>
      <p:sp>
        <p:nvSpPr>
          <p:cNvPr id="33806" name="object 15">
            <a:extLst>
              <a:ext uri="{FF2B5EF4-FFF2-40B4-BE49-F238E27FC236}">
                <a16:creationId xmlns:a16="http://schemas.microsoft.com/office/drawing/2014/main" id="{3B9EAE9B-34AB-CFD8-4C78-CAA2FCA25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838" y="4117975"/>
            <a:ext cx="473075" cy="473075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>
              <a:solidFill>
                <a:srgbClr val="790015"/>
              </a:solidFill>
            </a:endParaRPr>
          </a:p>
        </p:txBody>
      </p:sp>
      <p:sp>
        <p:nvSpPr>
          <p:cNvPr id="33807" name="object 16">
            <a:extLst>
              <a:ext uri="{FF2B5EF4-FFF2-40B4-BE49-F238E27FC236}">
                <a16:creationId xmlns:a16="http://schemas.microsoft.com/office/drawing/2014/main" id="{08FDEC38-ADB6-F58D-457A-6D6AC4E4BEF5}"/>
              </a:ext>
            </a:extLst>
          </p:cNvPr>
          <p:cNvSpPr>
            <a:spLocks/>
          </p:cNvSpPr>
          <p:nvPr/>
        </p:nvSpPr>
        <p:spPr bwMode="auto">
          <a:xfrm>
            <a:off x="1620838" y="4117975"/>
            <a:ext cx="473075" cy="473075"/>
          </a:xfrm>
          <a:custGeom>
            <a:avLst/>
            <a:gdLst>
              <a:gd name="T0" fmla="*/ 0 w 629919"/>
              <a:gd name="T1" fmla="*/ 56170 h 630554"/>
              <a:gd name="T2" fmla="*/ 613 w 629919"/>
              <a:gd name="T3" fmla="*/ 47872 h 630554"/>
              <a:gd name="T4" fmla="*/ 2392 w 629919"/>
              <a:gd name="T5" fmla="*/ 39952 h 630554"/>
              <a:gd name="T6" fmla="*/ 5251 w 629919"/>
              <a:gd name="T7" fmla="*/ 32496 h 630554"/>
              <a:gd name="T8" fmla="*/ 9102 w 629919"/>
              <a:gd name="T9" fmla="*/ 25591 h 630554"/>
              <a:gd name="T10" fmla="*/ 13859 w 629919"/>
              <a:gd name="T11" fmla="*/ 19324 h 630554"/>
              <a:gd name="T12" fmla="*/ 19432 w 629919"/>
              <a:gd name="T13" fmla="*/ 13782 h 630554"/>
              <a:gd name="T14" fmla="*/ 25736 w 629919"/>
              <a:gd name="T15" fmla="*/ 9053 h 630554"/>
              <a:gd name="T16" fmla="*/ 32683 w 629919"/>
              <a:gd name="T17" fmla="*/ 5223 h 630554"/>
              <a:gd name="T18" fmla="*/ 40187 w 629919"/>
              <a:gd name="T19" fmla="*/ 2379 h 630554"/>
              <a:gd name="T20" fmla="*/ 48158 w 629919"/>
              <a:gd name="T21" fmla="*/ 610 h 630554"/>
              <a:gd name="T22" fmla="*/ 56510 w 629919"/>
              <a:gd name="T23" fmla="*/ 0 h 630554"/>
              <a:gd name="T24" fmla="*/ 64862 w 629919"/>
              <a:gd name="T25" fmla="*/ 610 h 630554"/>
              <a:gd name="T26" fmla="*/ 72834 w 629919"/>
              <a:gd name="T27" fmla="*/ 2379 h 630554"/>
              <a:gd name="T28" fmla="*/ 80337 w 629919"/>
              <a:gd name="T29" fmla="*/ 5223 h 630554"/>
              <a:gd name="T30" fmla="*/ 87284 w 629919"/>
              <a:gd name="T31" fmla="*/ 9053 h 630554"/>
              <a:gd name="T32" fmla="*/ 93588 w 629919"/>
              <a:gd name="T33" fmla="*/ 13782 h 630554"/>
              <a:gd name="T34" fmla="*/ 99162 w 629919"/>
              <a:gd name="T35" fmla="*/ 19324 h 630554"/>
              <a:gd name="T36" fmla="*/ 103918 w 629919"/>
              <a:gd name="T37" fmla="*/ 25591 h 630554"/>
              <a:gd name="T38" fmla="*/ 107770 w 629919"/>
              <a:gd name="T39" fmla="*/ 32496 h 630554"/>
              <a:gd name="T40" fmla="*/ 110629 w 629919"/>
              <a:gd name="T41" fmla="*/ 39952 h 630554"/>
              <a:gd name="T42" fmla="*/ 112407 w 629919"/>
              <a:gd name="T43" fmla="*/ 47872 h 630554"/>
              <a:gd name="T44" fmla="*/ 113021 w 629919"/>
              <a:gd name="T45" fmla="*/ 56170 h 630554"/>
              <a:gd name="T46" fmla="*/ 112407 w 629919"/>
              <a:gd name="T47" fmla="*/ 64472 h 630554"/>
              <a:gd name="T48" fmla="*/ 110629 w 629919"/>
              <a:gd name="T49" fmla="*/ 72397 h 630554"/>
              <a:gd name="T50" fmla="*/ 107770 w 629919"/>
              <a:gd name="T51" fmla="*/ 79856 h 630554"/>
              <a:gd name="T52" fmla="*/ 103918 w 629919"/>
              <a:gd name="T53" fmla="*/ 86765 h 630554"/>
              <a:gd name="T54" fmla="*/ 99162 w 629919"/>
              <a:gd name="T55" fmla="*/ 93034 h 630554"/>
              <a:gd name="T56" fmla="*/ 93588 w 629919"/>
              <a:gd name="T57" fmla="*/ 98577 h 630554"/>
              <a:gd name="T58" fmla="*/ 87284 w 629919"/>
              <a:gd name="T59" fmla="*/ 103308 h 630554"/>
              <a:gd name="T60" fmla="*/ 80337 w 629919"/>
              <a:gd name="T61" fmla="*/ 107138 h 630554"/>
              <a:gd name="T62" fmla="*/ 72834 w 629919"/>
              <a:gd name="T63" fmla="*/ 109982 h 630554"/>
              <a:gd name="T64" fmla="*/ 64862 w 629919"/>
              <a:gd name="T65" fmla="*/ 111752 h 630554"/>
              <a:gd name="T66" fmla="*/ 56510 w 629919"/>
              <a:gd name="T67" fmla="*/ 112362 h 630554"/>
              <a:gd name="T68" fmla="*/ 48158 w 629919"/>
              <a:gd name="T69" fmla="*/ 111752 h 630554"/>
              <a:gd name="T70" fmla="*/ 40187 w 629919"/>
              <a:gd name="T71" fmla="*/ 109982 h 630554"/>
              <a:gd name="T72" fmla="*/ 32683 w 629919"/>
              <a:gd name="T73" fmla="*/ 107138 h 630554"/>
              <a:gd name="T74" fmla="*/ 25736 w 629919"/>
              <a:gd name="T75" fmla="*/ 103308 h 630554"/>
              <a:gd name="T76" fmla="*/ 19432 w 629919"/>
              <a:gd name="T77" fmla="*/ 98577 h 630554"/>
              <a:gd name="T78" fmla="*/ 13859 w 629919"/>
              <a:gd name="T79" fmla="*/ 93034 h 630554"/>
              <a:gd name="T80" fmla="*/ 9102 w 629919"/>
              <a:gd name="T81" fmla="*/ 86765 h 630554"/>
              <a:gd name="T82" fmla="*/ 5251 w 629919"/>
              <a:gd name="T83" fmla="*/ 79856 h 630554"/>
              <a:gd name="T84" fmla="*/ 2392 w 629919"/>
              <a:gd name="T85" fmla="*/ 72397 h 630554"/>
              <a:gd name="T86" fmla="*/ 613 w 629919"/>
              <a:gd name="T87" fmla="*/ 64472 h 630554"/>
              <a:gd name="T88" fmla="*/ 0 w 629919"/>
              <a:gd name="T89" fmla="*/ 56170 h 630554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629919" h="630554">
                <a:moveTo>
                  <a:pt x="0" y="314960"/>
                </a:moveTo>
                <a:lnTo>
                  <a:pt x="3414" y="268436"/>
                </a:lnTo>
                <a:lnTo>
                  <a:pt x="13331" y="224026"/>
                </a:lnTo>
                <a:lnTo>
                  <a:pt x="29266" y="182217"/>
                </a:lnTo>
                <a:lnTo>
                  <a:pt x="50731" y="143498"/>
                </a:lnTo>
                <a:lnTo>
                  <a:pt x="77240" y="108357"/>
                </a:lnTo>
                <a:lnTo>
                  <a:pt x="108305" y="77282"/>
                </a:lnTo>
                <a:lnTo>
                  <a:pt x="143442" y="50763"/>
                </a:lnTo>
                <a:lnTo>
                  <a:pt x="182162" y="29286"/>
                </a:lnTo>
                <a:lnTo>
                  <a:pt x="223979" y="13341"/>
                </a:lnTo>
                <a:lnTo>
                  <a:pt x="268407" y="3416"/>
                </a:lnTo>
                <a:lnTo>
                  <a:pt x="314960" y="0"/>
                </a:lnTo>
                <a:lnTo>
                  <a:pt x="361512" y="3416"/>
                </a:lnTo>
                <a:lnTo>
                  <a:pt x="405940" y="13341"/>
                </a:lnTo>
                <a:lnTo>
                  <a:pt x="447757" y="29286"/>
                </a:lnTo>
                <a:lnTo>
                  <a:pt x="486477" y="50763"/>
                </a:lnTo>
                <a:lnTo>
                  <a:pt x="521614" y="77282"/>
                </a:lnTo>
                <a:lnTo>
                  <a:pt x="552679" y="108357"/>
                </a:lnTo>
                <a:lnTo>
                  <a:pt x="579188" y="143498"/>
                </a:lnTo>
                <a:lnTo>
                  <a:pt x="600653" y="182217"/>
                </a:lnTo>
                <a:lnTo>
                  <a:pt x="616588" y="224026"/>
                </a:lnTo>
                <a:lnTo>
                  <a:pt x="626505" y="268436"/>
                </a:lnTo>
                <a:lnTo>
                  <a:pt x="629919" y="314960"/>
                </a:lnTo>
                <a:lnTo>
                  <a:pt x="626505" y="361514"/>
                </a:lnTo>
                <a:lnTo>
                  <a:pt x="616588" y="405951"/>
                </a:lnTo>
                <a:lnTo>
                  <a:pt x="600653" y="447780"/>
                </a:lnTo>
                <a:lnTo>
                  <a:pt x="579188" y="486515"/>
                </a:lnTo>
                <a:lnTo>
                  <a:pt x="552679" y="521668"/>
                </a:lnTo>
                <a:lnTo>
                  <a:pt x="521614" y="552752"/>
                </a:lnTo>
                <a:lnTo>
                  <a:pt x="486477" y="579277"/>
                </a:lnTo>
                <a:lnTo>
                  <a:pt x="447757" y="600757"/>
                </a:lnTo>
                <a:lnTo>
                  <a:pt x="405940" y="616704"/>
                </a:lnTo>
                <a:lnTo>
                  <a:pt x="361512" y="626630"/>
                </a:lnTo>
                <a:lnTo>
                  <a:pt x="314960" y="630047"/>
                </a:lnTo>
                <a:lnTo>
                  <a:pt x="268407" y="626630"/>
                </a:lnTo>
                <a:lnTo>
                  <a:pt x="223979" y="616704"/>
                </a:lnTo>
                <a:lnTo>
                  <a:pt x="182162" y="600757"/>
                </a:lnTo>
                <a:lnTo>
                  <a:pt x="143442" y="579277"/>
                </a:lnTo>
                <a:lnTo>
                  <a:pt x="108305" y="552752"/>
                </a:lnTo>
                <a:lnTo>
                  <a:pt x="77240" y="521668"/>
                </a:lnTo>
                <a:lnTo>
                  <a:pt x="50731" y="486515"/>
                </a:lnTo>
                <a:lnTo>
                  <a:pt x="29266" y="447780"/>
                </a:lnTo>
                <a:lnTo>
                  <a:pt x="13331" y="405951"/>
                </a:lnTo>
                <a:lnTo>
                  <a:pt x="3414" y="361514"/>
                </a:lnTo>
                <a:lnTo>
                  <a:pt x="0" y="314960"/>
                </a:lnTo>
                <a:close/>
              </a:path>
            </a:pathLst>
          </a:custGeom>
          <a:noFill/>
          <a:ln w="9524">
            <a:solidFill>
              <a:srgbClr val="F86A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33808" name="object 17">
            <a:extLst>
              <a:ext uri="{FF2B5EF4-FFF2-40B4-BE49-F238E27FC236}">
                <a16:creationId xmlns:a16="http://schemas.microsoft.com/office/drawing/2014/main" id="{71189243-BB4E-C71D-BA9C-48F43CFB1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0975" y="4810125"/>
            <a:ext cx="6170613" cy="604838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790015"/>
              </a:solidFill>
            </a:endParaRPr>
          </a:p>
        </p:txBody>
      </p:sp>
      <p:sp>
        <p:nvSpPr>
          <p:cNvPr id="33809" name="object 18">
            <a:extLst>
              <a:ext uri="{FF2B5EF4-FFF2-40B4-BE49-F238E27FC236}">
                <a16:creationId xmlns:a16="http://schemas.microsoft.com/office/drawing/2014/main" id="{DBD28146-7B26-7897-2089-AC445E436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700" y="4818063"/>
            <a:ext cx="471488" cy="473075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0">
              <a:solidFill>
                <a:srgbClr val="790015"/>
              </a:solidFill>
            </a:endParaRPr>
          </a:p>
        </p:txBody>
      </p:sp>
      <p:sp>
        <p:nvSpPr>
          <p:cNvPr id="33810" name="object 19">
            <a:extLst>
              <a:ext uri="{FF2B5EF4-FFF2-40B4-BE49-F238E27FC236}">
                <a16:creationId xmlns:a16="http://schemas.microsoft.com/office/drawing/2014/main" id="{2729751E-DDA2-386E-62E2-B7A3B99CE452}"/>
              </a:ext>
            </a:extLst>
          </p:cNvPr>
          <p:cNvSpPr>
            <a:spLocks/>
          </p:cNvSpPr>
          <p:nvPr/>
        </p:nvSpPr>
        <p:spPr bwMode="auto">
          <a:xfrm>
            <a:off x="1282700" y="4818063"/>
            <a:ext cx="471488" cy="473075"/>
          </a:xfrm>
          <a:custGeom>
            <a:avLst/>
            <a:gdLst>
              <a:gd name="T0" fmla="*/ 0 w 630555"/>
              <a:gd name="T1" fmla="*/ 56510 h 629920"/>
              <a:gd name="T2" fmla="*/ 597 w 630555"/>
              <a:gd name="T3" fmla="*/ 48157 h 629920"/>
              <a:gd name="T4" fmla="*/ 2331 w 630555"/>
              <a:gd name="T5" fmla="*/ 40186 h 629920"/>
              <a:gd name="T6" fmla="*/ 5119 w 630555"/>
              <a:gd name="T7" fmla="*/ 32683 h 629920"/>
              <a:gd name="T8" fmla="*/ 8872 w 630555"/>
              <a:gd name="T9" fmla="*/ 25736 h 629920"/>
              <a:gd name="T10" fmla="*/ 13508 w 630555"/>
              <a:gd name="T11" fmla="*/ 19432 h 629920"/>
              <a:gd name="T12" fmla="*/ 18938 w 630555"/>
              <a:gd name="T13" fmla="*/ 13858 h 629920"/>
              <a:gd name="T14" fmla="*/ 25080 w 630555"/>
              <a:gd name="T15" fmla="*/ 9102 h 629920"/>
              <a:gd name="T16" fmla="*/ 31848 w 630555"/>
              <a:gd name="T17" fmla="*/ 5250 h 629920"/>
              <a:gd name="T18" fmla="*/ 39155 w 630555"/>
              <a:gd name="T19" fmla="*/ 2392 h 629920"/>
              <a:gd name="T20" fmla="*/ 46917 w 630555"/>
              <a:gd name="T21" fmla="*/ 613 h 629920"/>
              <a:gd name="T22" fmla="*/ 55048 w 630555"/>
              <a:gd name="T23" fmla="*/ 0 h 629920"/>
              <a:gd name="T24" fmla="*/ 63185 w 630555"/>
              <a:gd name="T25" fmla="*/ 613 h 629920"/>
              <a:gd name="T26" fmla="*/ 70951 w 630555"/>
              <a:gd name="T27" fmla="*/ 2392 h 629920"/>
              <a:gd name="T28" fmla="*/ 78262 w 630555"/>
              <a:gd name="T29" fmla="*/ 5250 h 629920"/>
              <a:gd name="T30" fmla="*/ 85032 w 630555"/>
              <a:gd name="T31" fmla="*/ 9102 h 629920"/>
              <a:gd name="T32" fmla="*/ 91176 w 630555"/>
              <a:gd name="T33" fmla="*/ 13858 h 629920"/>
              <a:gd name="T34" fmla="*/ 96609 w 630555"/>
              <a:gd name="T35" fmla="*/ 19432 h 629920"/>
              <a:gd name="T36" fmla="*/ 101245 w 630555"/>
              <a:gd name="T37" fmla="*/ 25736 h 629920"/>
              <a:gd name="T38" fmla="*/ 104998 w 630555"/>
              <a:gd name="T39" fmla="*/ 32683 h 629920"/>
              <a:gd name="T40" fmla="*/ 107787 w 630555"/>
              <a:gd name="T41" fmla="*/ 40186 h 629920"/>
              <a:gd name="T42" fmla="*/ 109521 w 630555"/>
              <a:gd name="T43" fmla="*/ 48157 h 629920"/>
              <a:gd name="T44" fmla="*/ 110118 w 630555"/>
              <a:gd name="T45" fmla="*/ 56510 h 629920"/>
              <a:gd name="T46" fmla="*/ 109521 w 630555"/>
              <a:gd name="T47" fmla="*/ 64862 h 629920"/>
              <a:gd name="T48" fmla="*/ 107787 w 630555"/>
              <a:gd name="T49" fmla="*/ 72834 h 629920"/>
              <a:gd name="T50" fmla="*/ 104998 w 630555"/>
              <a:gd name="T51" fmla="*/ 80336 h 629920"/>
              <a:gd name="T52" fmla="*/ 101245 w 630555"/>
              <a:gd name="T53" fmla="*/ 87283 h 629920"/>
              <a:gd name="T54" fmla="*/ 96609 w 630555"/>
              <a:gd name="T55" fmla="*/ 93588 h 629920"/>
              <a:gd name="T56" fmla="*/ 91176 w 630555"/>
              <a:gd name="T57" fmla="*/ 99161 h 629920"/>
              <a:gd name="T58" fmla="*/ 85032 w 630555"/>
              <a:gd name="T59" fmla="*/ 103917 h 629920"/>
              <a:gd name="T60" fmla="*/ 78262 w 630555"/>
              <a:gd name="T61" fmla="*/ 107768 h 629920"/>
              <a:gd name="T62" fmla="*/ 70951 w 630555"/>
              <a:gd name="T63" fmla="*/ 110628 h 629920"/>
              <a:gd name="T64" fmla="*/ 63185 w 630555"/>
              <a:gd name="T65" fmla="*/ 112406 h 629920"/>
              <a:gd name="T66" fmla="*/ 55048 w 630555"/>
              <a:gd name="T67" fmla="*/ 113019 h 629920"/>
              <a:gd name="T68" fmla="*/ 46917 w 630555"/>
              <a:gd name="T69" fmla="*/ 112406 h 629920"/>
              <a:gd name="T70" fmla="*/ 39155 w 630555"/>
              <a:gd name="T71" fmla="*/ 110628 h 629920"/>
              <a:gd name="T72" fmla="*/ 31848 w 630555"/>
              <a:gd name="T73" fmla="*/ 107768 h 629920"/>
              <a:gd name="T74" fmla="*/ 25080 w 630555"/>
              <a:gd name="T75" fmla="*/ 103917 h 629920"/>
              <a:gd name="T76" fmla="*/ 18938 w 630555"/>
              <a:gd name="T77" fmla="*/ 99161 h 629920"/>
              <a:gd name="T78" fmla="*/ 13508 w 630555"/>
              <a:gd name="T79" fmla="*/ 93588 h 629920"/>
              <a:gd name="T80" fmla="*/ 8872 w 630555"/>
              <a:gd name="T81" fmla="*/ 87283 h 629920"/>
              <a:gd name="T82" fmla="*/ 5119 w 630555"/>
              <a:gd name="T83" fmla="*/ 80336 h 629920"/>
              <a:gd name="T84" fmla="*/ 2331 w 630555"/>
              <a:gd name="T85" fmla="*/ 72834 h 629920"/>
              <a:gd name="T86" fmla="*/ 597 w 630555"/>
              <a:gd name="T87" fmla="*/ 64862 h 629920"/>
              <a:gd name="T88" fmla="*/ 0 w 630555"/>
              <a:gd name="T89" fmla="*/ 56510 h 62992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630555" h="629920">
                <a:moveTo>
                  <a:pt x="0" y="314960"/>
                </a:moveTo>
                <a:lnTo>
                  <a:pt x="3416" y="268407"/>
                </a:lnTo>
                <a:lnTo>
                  <a:pt x="13341" y="223979"/>
                </a:lnTo>
                <a:lnTo>
                  <a:pt x="29286" y="182162"/>
                </a:lnTo>
                <a:lnTo>
                  <a:pt x="50763" y="143442"/>
                </a:lnTo>
                <a:lnTo>
                  <a:pt x="77282" y="108305"/>
                </a:lnTo>
                <a:lnTo>
                  <a:pt x="108357" y="77240"/>
                </a:lnTo>
                <a:lnTo>
                  <a:pt x="143498" y="50731"/>
                </a:lnTo>
                <a:lnTo>
                  <a:pt x="182217" y="29266"/>
                </a:lnTo>
                <a:lnTo>
                  <a:pt x="224026" y="13331"/>
                </a:lnTo>
                <a:lnTo>
                  <a:pt x="268436" y="3414"/>
                </a:lnTo>
                <a:lnTo>
                  <a:pt x="314960" y="0"/>
                </a:lnTo>
                <a:lnTo>
                  <a:pt x="361514" y="3414"/>
                </a:lnTo>
                <a:lnTo>
                  <a:pt x="405951" y="13331"/>
                </a:lnTo>
                <a:lnTo>
                  <a:pt x="447780" y="29266"/>
                </a:lnTo>
                <a:lnTo>
                  <a:pt x="486515" y="50731"/>
                </a:lnTo>
                <a:lnTo>
                  <a:pt x="521668" y="77240"/>
                </a:lnTo>
                <a:lnTo>
                  <a:pt x="552752" y="108305"/>
                </a:lnTo>
                <a:lnTo>
                  <a:pt x="579277" y="143442"/>
                </a:lnTo>
                <a:lnTo>
                  <a:pt x="600757" y="182162"/>
                </a:lnTo>
                <a:lnTo>
                  <a:pt x="616704" y="223979"/>
                </a:lnTo>
                <a:lnTo>
                  <a:pt x="626630" y="268407"/>
                </a:lnTo>
                <a:lnTo>
                  <a:pt x="630047" y="314960"/>
                </a:lnTo>
                <a:lnTo>
                  <a:pt x="626630" y="361512"/>
                </a:lnTo>
                <a:lnTo>
                  <a:pt x="616704" y="405940"/>
                </a:lnTo>
                <a:lnTo>
                  <a:pt x="600757" y="447757"/>
                </a:lnTo>
                <a:lnTo>
                  <a:pt x="579277" y="486477"/>
                </a:lnTo>
                <a:lnTo>
                  <a:pt x="552752" y="521614"/>
                </a:lnTo>
                <a:lnTo>
                  <a:pt x="521668" y="552679"/>
                </a:lnTo>
                <a:lnTo>
                  <a:pt x="486515" y="579188"/>
                </a:lnTo>
                <a:lnTo>
                  <a:pt x="447780" y="600653"/>
                </a:lnTo>
                <a:lnTo>
                  <a:pt x="405951" y="616588"/>
                </a:lnTo>
                <a:lnTo>
                  <a:pt x="361514" y="626505"/>
                </a:lnTo>
                <a:lnTo>
                  <a:pt x="314960" y="629919"/>
                </a:lnTo>
                <a:lnTo>
                  <a:pt x="268436" y="626505"/>
                </a:lnTo>
                <a:lnTo>
                  <a:pt x="224026" y="616588"/>
                </a:lnTo>
                <a:lnTo>
                  <a:pt x="182217" y="600653"/>
                </a:lnTo>
                <a:lnTo>
                  <a:pt x="143498" y="579188"/>
                </a:lnTo>
                <a:lnTo>
                  <a:pt x="108357" y="552679"/>
                </a:lnTo>
                <a:lnTo>
                  <a:pt x="77282" y="521614"/>
                </a:lnTo>
                <a:lnTo>
                  <a:pt x="50763" y="486477"/>
                </a:lnTo>
                <a:lnTo>
                  <a:pt x="29286" y="447757"/>
                </a:lnTo>
                <a:lnTo>
                  <a:pt x="13341" y="405940"/>
                </a:lnTo>
                <a:lnTo>
                  <a:pt x="3416" y="361512"/>
                </a:lnTo>
                <a:lnTo>
                  <a:pt x="0" y="314960"/>
                </a:lnTo>
                <a:close/>
              </a:path>
            </a:pathLst>
          </a:custGeom>
          <a:noFill/>
          <a:ln w="9524">
            <a:solidFill>
              <a:srgbClr val="F86A1B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A51A7CF-2C1A-6B68-8598-C519F6E9D6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4350" y="509588"/>
            <a:ext cx="6169025" cy="503237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3200" b="1" spc="-4" dirty="0">
                <a:solidFill>
                  <a:srgbClr val="081D58"/>
                </a:solidFill>
              </a:rPr>
              <a:t>Investment decision</a:t>
            </a:r>
            <a:r>
              <a:rPr sz="3200" b="1" spc="-26" dirty="0">
                <a:solidFill>
                  <a:srgbClr val="081D58"/>
                </a:solidFill>
              </a:rPr>
              <a:t> </a:t>
            </a:r>
            <a:r>
              <a:rPr lang="en-US" sz="3200" b="1" spc="-4" dirty="0">
                <a:solidFill>
                  <a:srgbClr val="081D58"/>
                </a:solidFill>
              </a:rPr>
              <a:t>methods</a:t>
            </a:r>
            <a:endParaRPr sz="3200" b="1" dirty="0">
              <a:solidFill>
                <a:srgbClr val="081D58"/>
              </a:solidFill>
            </a:endParaRPr>
          </a:p>
        </p:txBody>
      </p:sp>
      <p:sp>
        <p:nvSpPr>
          <p:cNvPr id="33813" name="object 25">
            <a:extLst>
              <a:ext uri="{FF2B5EF4-FFF2-40B4-BE49-F238E27FC236}">
                <a16:creationId xmlns:a16="http://schemas.microsoft.com/office/drawing/2014/main" id="{7E2D999A-794E-D917-84CF-9ABD405724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857250"/>
            <a:ext cx="0" cy="739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76" rIns="0" bIns="0">
            <a:spAutoFit/>
          </a:bodyPr>
          <a:lstStyle>
            <a:lvl1pPr marL="1905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fld id="{A71D8F5F-3717-C74D-AD60-4D6EAFAFAC36}" type="slidenum">
              <a:rPr lang="en-US" altLang="en-US" sz="2400" b="1" smtClean="0">
                <a:solidFill>
                  <a:srgbClr val="790015"/>
                </a:solidFill>
              </a:rPr>
              <a:pPr algn="l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2400" b="1">
              <a:solidFill>
                <a:srgbClr val="790015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8B6B7E-3E7C-56F8-7B2F-B86E740D257F}"/>
              </a:ext>
            </a:extLst>
          </p:cNvPr>
          <p:cNvSpPr/>
          <p:nvPr/>
        </p:nvSpPr>
        <p:spPr>
          <a:xfrm>
            <a:off x="2265556" y="2679197"/>
            <a:ext cx="2039938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0" spc="-15" dirty="0">
                <a:latin typeface="Gill Sans MT"/>
                <a:cs typeface="Gill Sans MT"/>
              </a:rPr>
              <a:t>Payback</a:t>
            </a:r>
            <a:r>
              <a:rPr lang="en-US" b="0" dirty="0">
                <a:latin typeface="Gill Sans MT"/>
                <a:cs typeface="Gill Sans MT"/>
              </a:rPr>
              <a:t> </a:t>
            </a:r>
            <a:r>
              <a:rPr lang="en-US" b="0" spc="-11" dirty="0">
                <a:latin typeface="Gill Sans MT"/>
                <a:cs typeface="Gill Sans MT"/>
              </a:rPr>
              <a:t>Period</a:t>
            </a:r>
            <a:endParaRPr lang="en-US" b="0" dirty="0"/>
          </a:p>
        </p:txBody>
      </p:sp>
      <p:sp>
        <p:nvSpPr>
          <p:cNvPr id="33815" name="Rectangle 26">
            <a:extLst>
              <a:ext uri="{FF2B5EF4-FFF2-40B4-BE49-F238E27FC236}">
                <a16:creationId xmlns:a16="http://schemas.microsoft.com/office/drawing/2014/main" id="{45008B66-FD1E-5690-5A90-FF6B937D9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4627563"/>
            <a:ext cx="6296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141288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77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rgbClr val="790015"/>
                </a:solidFill>
                <a:latin typeface="Gill Sans MT" panose="020B0502020104020203" pitchFamily="34" charset="77"/>
              </a:rPr>
              <a:t>Internal Rate of Return (IRR) </a:t>
            </a:r>
          </a:p>
        </p:txBody>
      </p:sp>
      <p:sp>
        <p:nvSpPr>
          <p:cNvPr id="33816" name="Rectangle 27">
            <a:extLst>
              <a:ext uri="{FF2B5EF4-FFF2-40B4-BE49-F238E27FC236}">
                <a16:creationId xmlns:a16="http://schemas.microsoft.com/office/drawing/2014/main" id="{07F83287-9272-84BD-F78B-857AF10EA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3100" y="3932238"/>
            <a:ext cx="55149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141288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77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 dirty="0">
                <a:solidFill>
                  <a:srgbClr val="790015"/>
                </a:solidFill>
                <a:latin typeface="Gill Sans MT" panose="020B0502020104020203" pitchFamily="34" charset="77"/>
              </a:rPr>
              <a:t>Profitability Index (PI)</a:t>
            </a:r>
          </a:p>
        </p:txBody>
      </p:sp>
      <p:sp>
        <p:nvSpPr>
          <p:cNvPr id="33817" name="Rectangle 28">
            <a:extLst>
              <a:ext uri="{FF2B5EF4-FFF2-40B4-BE49-F238E27FC236}">
                <a16:creationId xmlns:a16="http://schemas.microsoft.com/office/drawing/2014/main" id="{898A424D-24CB-3B59-488E-34FE79DA3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9938" y="3192463"/>
            <a:ext cx="5737225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61963" indent="-141288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77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0">
                <a:solidFill>
                  <a:srgbClr val="790015"/>
                </a:solidFill>
                <a:latin typeface="Gill Sans MT" panose="020B0502020104020203" pitchFamily="34" charset="77"/>
              </a:rPr>
              <a:t>Net Present Value (NPV)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77E4E89F-FEC7-4940-9A2C-0DE941248E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361950"/>
            <a:ext cx="8620125" cy="78105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Payback Method	                     </a:t>
            </a:r>
            <a:r>
              <a:rPr lang="en-US" altLang="en-US" sz="2500"/>
              <a:t>LT 12-4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B52FB58C-6804-4739-3EEE-71AC407DD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2575" y="1263650"/>
            <a:ext cx="8551863" cy="506095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 sz="2400"/>
              <a:t> computes the amount of time required to recoup the initial investment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 sz="2400"/>
              <a:t> a “</a:t>
            </a:r>
            <a:r>
              <a:rPr lang="en-US" altLang="en-US" sz="2400" b="1"/>
              <a:t>cutoff period</a:t>
            </a:r>
            <a:r>
              <a:rPr lang="en-US" altLang="en-US" sz="2400"/>
              <a:t>” is established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/>
          </a:p>
          <a:p>
            <a:pPr eaLnBrk="1" hangingPunct="1">
              <a:buFont typeface="Wingdings" pitchFamily="2" charset="2"/>
              <a:buNone/>
            </a:pPr>
            <a:r>
              <a:rPr lang="en-US" altLang="en-US" sz="2500"/>
              <a:t>Advantages:</a:t>
            </a:r>
            <a:endParaRPr lang="en-US" altLang="en-US" sz="1800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 sz="2000"/>
              <a:t> easy to use (“quick and dirty” approach)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 sz="2000"/>
              <a:t> emphasizes liquidity</a:t>
            </a:r>
          </a:p>
          <a:p>
            <a:pPr marL="1085850" lvl="2" eaLnBrk="1" hangingPunct="1"/>
            <a:r>
              <a:rPr lang="en-US" altLang="en-US" sz="1800"/>
              <a:t>In US, max. time horizon = 3-5 yrs..</a:t>
            </a:r>
          </a:p>
          <a:p>
            <a:pPr marL="1085850" lvl="2" eaLnBrk="1" hangingPunct="1"/>
            <a:r>
              <a:rPr lang="en-US" altLang="en-US" sz="1800"/>
              <a:t>A rapid payback may be important to those in industries with rapid technological change</a:t>
            </a:r>
          </a:p>
        </p:txBody>
      </p:sp>
      <p:sp>
        <p:nvSpPr>
          <p:cNvPr id="116741" name="AutoShape 5">
            <a:extLst>
              <a:ext uri="{FF2B5EF4-FFF2-40B4-BE49-F238E27FC236}">
                <a16:creationId xmlns:a16="http://schemas.microsoft.com/office/drawing/2014/main" id="{C72EC5CC-2C8E-C2E9-7CAA-74CE23573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5105400"/>
            <a:ext cx="1371600" cy="3810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820" name="Text Box 6">
            <a:extLst>
              <a:ext uri="{FF2B5EF4-FFF2-40B4-BE49-F238E27FC236}">
                <a16:creationId xmlns:a16="http://schemas.microsoft.com/office/drawing/2014/main" id="{6955D09E-6972-D264-3957-D0B69C8B8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5518150"/>
            <a:ext cx="1666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/>
              <a:t>See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3">
            <a:extLst>
              <a:ext uri="{FF2B5EF4-FFF2-40B4-BE49-F238E27FC236}">
                <a16:creationId xmlns:a16="http://schemas.microsoft.com/office/drawing/2014/main" id="{F6D5D704-B3B7-3C30-2F2C-8E93F7522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04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12-3</a:t>
            </a:r>
          </a:p>
        </p:txBody>
      </p:sp>
      <p:pic>
        <p:nvPicPr>
          <p:cNvPr id="35842" name="Picture 4" descr="Table 12-3">
            <a:extLst>
              <a:ext uri="{FF2B5EF4-FFF2-40B4-BE49-F238E27FC236}">
                <a16:creationId xmlns:a16="http://schemas.microsoft.com/office/drawing/2014/main" id="{C9D1A74C-4F91-4F55-49DA-78E4688A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 b="4054"/>
          <a:stretch>
            <a:fillRect/>
          </a:stretch>
        </p:blipFill>
        <p:spPr bwMode="auto">
          <a:xfrm>
            <a:off x="304800" y="1143000"/>
            <a:ext cx="86868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3" name="Text Box 5">
            <a:extLst>
              <a:ext uri="{FF2B5EF4-FFF2-40B4-BE49-F238E27FC236}">
                <a16:creationId xmlns:a16="http://schemas.microsoft.com/office/drawing/2014/main" id="{2DCA3BC3-352F-B5F2-7701-C64C2C6B7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457200"/>
            <a:ext cx="27257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Investment alternatives</a:t>
            </a: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35164F98-7DA0-EDF7-91EC-31B285DA4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886200"/>
            <a:ext cx="8229600" cy="29718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Payback period for investment A is 2 years</a:t>
            </a:r>
          </a:p>
          <a:p>
            <a:pPr eaLnBrk="1" hangingPunct="1"/>
            <a:r>
              <a:rPr lang="en-US" altLang="en-US" sz="2400" dirty="0"/>
              <a:t>Payback period for investment B is 3.8 years</a:t>
            </a:r>
          </a:p>
          <a:p>
            <a:pPr lvl="1" eaLnBrk="1" hangingPunct="1"/>
            <a:r>
              <a:rPr lang="en-US" altLang="en-US" sz="2000" dirty="0"/>
              <a:t>Interpolate of 4000 : 5000 * (year 4-3 = 1) </a:t>
            </a:r>
            <a:r>
              <a:rPr lang="en-US" altLang="en-US" sz="2000" dirty="0">
                <a:sym typeface="Wingdings" pitchFamily="2" charset="2"/>
              </a:rPr>
              <a:t> 0.8 * 1</a:t>
            </a:r>
            <a:endParaRPr lang="en-US" altLang="en-US" sz="2000" dirty="0"/>
          </a:p>
          <a:p>
            <a:pPr eaLnBrk="1" hangingPunct="1"/>
            <a:r>
              <a:rPr lang="en-US" altLang="en-US" sz="2400" i="1" dirty="0">
                <a:solidFill>
                  <a:srgbClr val="FF0000"/>
                </a:solidFill>
              </a:rPr>
              <a:t>Total inflows of A = $12,000 and B = $16,000, Which one is better in terms of payback period?</a:t>
            </a:r>
          </a:p>
          <a:p>
            <a:pPr eaLnBrk="1" hangingPunct="1"/>
            <a:endParaRPr lang="en-US" altLang="en-US" sz="2400" i="1" dirty="0">
              <a:solidFill>
                <a:srgbClr val="FF0000"/>
              </a:solidFill>
            </a:endParaRPr>
          </a:p>
        </p:txBody>
      </p:sp>
      <p:sp>
        <p:nvSpPr>
          <p:cNvPr id="86024" name="AutoShape 8">
            <a:extLst>
              <a:ext uri="{FF2B5EF4-FFF2-40B4-BE49-F238E27FC236}">
                <a16:creationId xmlns:a16="http://schemas.microsoft.com/office/drawing/2014/main" id="{1B271BCC-8D61-D874-8D86-7069498F3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6019800"/>
            <a:ext cx="1752600" cy="45720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846" name="Text Box 9">
            <a:extLst>
              <a:ext uri="{FF2B5EF4-FFF2-40B4-BE49-F238E27FC236}">
                <a16:creationId xmlns:a16="http://schemas.microsoft.com/office/drawing/2014/main" id="{05FFCB15-E755-E2EB-D76C-D6D2A38D3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6356350"/>
            <a:ext cx="2652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/>
              <a:t>Discuss disadvantage</a:t>
            </a:r>
          </a:p>
        </p:txBody>
      </p:sp>
      <p:sp>
        <p:nvSpPr>
          <p:cNvPr id="86026" name="AutoShape 10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BC841B44-5D68-AE3A-27A1-A2AC08C83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124200"/>
            <a:ext cx="838200" cy="1066800"/>
          </a:xfrm>
          <a:prstGeom prst="actionButtonReturn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1955E2D1-1D1C-732C-43D3-7EFE54120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Payback period (ii)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8EAB4C70-03B4-EE2B-49AB-3DB6453DDE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buFont typeface="Wingdings" pitchFamily="2" charset="2"/>
              <a:buNone/>
            </a:pPr>
            <a:r>
              <a:rPr lang="en-US" altLang="en-US" sz="2900" dirty="0"/>
              <a:t>Disadvantages:</a:t>
            </a:r>
            <a:endParaRPr lang="en-US" altLang="en-US" sz="2000" dirty="0"/>
          </a:p>
          <a:p>
            <a:pPr marL="914400" lvl="1" indent="-457200" eaLnBrk="1" hangingPunct="1">
              <a:buFont typeface="Wingdings" pitchFamily="2" charset="2"/>
              <a:buAutoNum type="arabicParenBoth"/>
            </a:pPr>
            <a:r>
              <a:rPr lang="en-US" altLang="en-US" dirty="0"/>
              <a:t>ignores inflows after the cutoff period and</a:t>
            </a:r>
          </a:p>
          <a:p>
            <a:pPr marL="914400" lvl="1" indent="-457200" eaLnBrk="1" hangingPunct="1">
              <a:buFont typeface="Wingdings" pitchFamily="2" charset="2"/>
              <a:buAutoNum type="arabicParenBoth"/>
            </a:pPr>
            <a:r>
              <a:rPr lang="en-US" altLang="en-US" dirty="0"/>
              <a:t>fails to consider the time value of money</a:t>
            </a:r>
          </a:p>
          <a:p>
            <a:pPr marL="1295400" lvl="2" indent="-381000" eaLnBrk="1" hangingPunct="1"/>
            <a:r>
              <a:rPr lang="en-US" altLang="en-US" dirty="0"/>
              <a:t>Compare the project with inflows of $1000 and $9000 and another one with inflows of $9000 and $1000?</a:t>
            </a:r>
          </a:p>
        </p:txBody>
      </p:sp>
      <p:sp>
        <p:nvSpPr>
          <p:cNvPr id="145412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C664896-18F5-7CA7-A988-D526FC482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1400" y="6019800"/>
            <a:ext cx="1143000" cy="609600"/>
          </a:xfrm>
          <a:prstGeom prst="actionButtonBeginning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D4024410-FE1D-CE5F-1A51-08B1044DB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61950"/>
            <a:ext cx="8620125" cy="704850"/>
          </a:xfrm>
          <a:noFill/>
        </p:spPr>
        <p:txBody>
          <a:bodyPr/>
          <a:lstStyle/>
          <a:p>
            <a:pPr eaLnBrk="1" hangingPunct="1"/>
            <a:r>
              <a:rPr lang="en-US" altLang="en-US" sz="4000"/>
              <a:t>Net Present Value	                    </a:t>
            </a:r>
            <a:r>
              <a:rPr lang="en-US" altLang="en-US" sz="2000"/>
              <a:t>LT 12-6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50B4A799-C37A-9381-9B82-77E4C6DC8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556625" cy="5195888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3600" dirty="0"/>
              <a:t>Net Present Value (NPV):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sz="2800" dirty="0"/>
              <a:t> the present value of the cash inflows minus the present value of the cash outflows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sz="2800" dirty="0"/>
              <a:t> the cash inflows are discounted back over the life of the investment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sz="2800" dirty="0">
                <a:cs typeface="Times New Roman" panose="02020603050405020304" pitchFamily="18" charset="0"/>
              </a:rPr>
              <a:t>–</a:t>
            </a:r>
            <a:r>
              <a:rPr lang="en-US" altLang="en-US" sz="2800" dirty="0"/>
              <a:t> </a:t>
            </a:r>
            <a:r>
              <a:rPr lang="en-US" altLang="en-US" sz="2800" dirty="0">
                <a:solidFill>
                  <a:srgbClr val="FF3300"/>
                </a:solidFill>
              </a:rPr>
              <a:t>the basic discount rate is usually the firm’s cost of capital</a:t>
            </a:r>
          </a:p>
          <a:p>
            <a:pPr marL="1246188" lvl="1" indent="-277813" eaLnBrk="1" hangingPunct="1">
              <a:buFont typeface="Wingdings" pitchFamily="2" charset="2"/>
              <a:buChar char="Ø"/>
              <a:tabLst>
                <a:tab pos="1146175" algn="l"/>
              </a:tabLst>
            </a:pPr>
            <a:r>
              <a:rPr lang="en-US" altLang="en-US" dirty="0"/>
              <a:t>Average of debt and common equity (stock)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39BAB-B6E2-B310-3E3A-BCB535F70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88987"/>
          </a:xfrm>
        </p:spPr>
        <p:txBody>
          <a:bodyPr wrap="square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TH" sz="3700"/>
              <a:t>Compounding and Discounting of cashflow</a:t>
            </a:r>
          </a:p>
        </p:txBody>
      </p:sp>
      <p:pic>
        <p:nvPicPr>
          <p:cNvPr id="4" name="Picture 9" descr="fig04_02">
            <a:extLst>
              <a:ext uri="{FF2B5EF4-FFF2-40B4-BE49-F238E27FC236}">
                <a16:creationId xmlns:a16="http://schemas.microsoft.com/office/drawing/2014/main" id="{BFA6201A-4EAA-6740-370B-21DE89047D7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762000" y="1435352"/>
            <a:ext cx="4038600" cy="2540409"/>
          </a:xfrm>
          <a:prstGeom prst="rect">
            <a:avLst/>
          </a:prstGeom>
          <a:noFill/>
        </p:spPr>
      </p:pic>
      <p:graphicFrame>
        <p:nvGraphicFramePr>
          <p:cNvPr id="5" name="Object 0">
            <a:hlinkClick r:id="" action="ppaction://ole?verb=0"/>
            <a:extLst>
              <a:ext uri="{FF2B5EF4-FFF2-40B4-BE49-F238E27FC236}">
                <a16:creationId xmlns:a16="http://schemas.microsoft.com/office/drawing/2014/main" id="{1CF56744-88AD-AA76-FE30-4FFE66C02F8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96884550"/>
              </p:ext>
            </p:extLst>
          </p:nvPr>
        </p:nvGraphicFramePr>
        <p:xfrm>
          <a:off x="4038600" y="5433799"/>
          <a:ext cx="4038600" cy="2321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564240" imgH="3773160" progId="Equation.3">
                  <p:embed/>
                </p:oleObj>
              </mc:Choice>
              <mc:Fallback>
                <p:oleObj name="Equation" r:id="rId3" imgW="6564240" imgH="3773160" progId="Equation.3">
                  <p:embed/>
                  <p:pic>
                    <p:nvPicPr>
                      <p:cNvPr id="1026" name="Object 0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5433799"/>
                        <a:ext cx="4038600" cy="2321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813AFBA-E6A2-F75F-0662-B86DFE246DE8}"/>
              </a:ext>
            </a:extLst>
          </p:cNvPr>
          <p:cNvSpPr txBox="1"/>
          <p:nvPr/>
        </p:nvSpPr>
        <p:spPr>
          <a:xfrm>
            <a:off x="3553664" y="4419600"/>
            <a:ext cx="5133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H" dirty="0"/>
              <a:t>Discounting</a:t>
            </a:r>
          </a:p>
          <a:p>
            <a:r>
              <a:rPr lang="en-TH" dirty="0"/>
              <a:t>- Finding Present Value (PV)</a:t>
            </a:r>
          </a:p>
        </p:txBody>
      </p:sp>
    </p:spTree>
    <p:extLst>
      <p:ext uri="{BB962C8B-B14F-4D97-AF65-F5344CB8AC3E}">
        <p14:creationId xmlns:p14="http://schemas.microsoft.com/office/powerpoint/2010/main" val="4142051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8C04EE64-E5A3-A93C-2EB2-82C47BF03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NPV 10% discount rate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EB7A0E52-DD29-6098-E0BF-004CA4E046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4572000"/>
            <a:ext cx="8229600" cy="2057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By NPV, which investment is chosen, why?</a:t>
            </a:r>
          </a:p>
        </p:txBody>
      </p:sp>
      <p:pic>
        <p:nvPicPr>
          <p:cNvPr id="44035" name="Picture 4" descr="FFEFC349">
            <a:extLst>
              <a:ext uri="{FF2B5EF4-FFF2-40B4-BE49-F238E27FC236}">
                <a16:creationId xmlns:a16="http://schemas.microsoft.com/office/drawing/2014/main" id="{479921F9-1C43-91E6-8E45-95DB444CF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00" t="2698" r="3000" b="8263"/>
          <a:stretch>
            <a:fillRect/>
          </a:stretch>
        </p:blipFill>
        <p:spPr bwMode="auto">
          <a:xfrm>
            <a:off x="609600" y="1295400"/>
            <a:ext cx="7848600" cy="301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object 4">
            <a:extLst>
              <a:ext uri="{FF2B5EF4-FFF2-40B4-BE49-F238E27FC236}">
                <a16:creationId xmlns:a16="http://schemas.microsoft.com/office/drawing/2014/main" id="{AF647D3D-5C0D-6AFA-1DB8-4ABBF229F58F}"/>
              </a:ext>
            </a:extLst>
          </p:cNvPr>
          <p:cNvSpPr>
            <a:spLocks/>
          </p:cNvSpPr>
          <p:nvPr/>
        </p:nvSpPr>
        <p:spPr bwMode="auto">
          <a:xfrm>
            <a:off x="1676400" y="2482850"/>
            <a:ext cx="6707188" cy="835025"/>
          </a:xfrm>
          <a:custGeom>
            <a:avLst/>
            <a:gdLst>
              <a:gd name="T0" fmla="*/ 1921932 w 8514715"/>
              <a:gd name="T1" fmla="*/ 0 h 1113789"/>
              <a:gd name="T2" fmla="*/ 14994 w 8514715"/>
              <a:gd name="T3" fmla="*/ 0 h 1113789"/>
              <a:gd name="T4" fmla="*/ 9153 w 8514715"/>
              <a:gd name="T5" fmla="*/ 918 h 1113789"/>
              <a:gd name="T6" fmla="*/ 4388 w 8514715"/>
              <a:gd name="T7" fmla="*/ 3425 h 1113789"/>
              <a:gd name="T8" fmla="*/ 1177 w 8514715"/>
              <a:gd name="T9" fmla="*/ 7145 h 1113789"/>
              <a:gd name="T10" fmla="*/ 0 w 8514715"/>
              <a:gd name="T11" fmla="*/ 11704 h 1113789"/>
              <a:gd name="T12" fmla="*/ 0 w 8514715"/>
              <a:gd name="T13" fmla="*/ 186076 h 1113789"/>
              <a:gd name="T14" fmla="*/ 1177 w 8514715"/>
              <a:gd name="T15" fmla="*/ 190635 h 1113789"/>
              <a:gd name="T16" fmla="*/ 4388 w 8514715"/>
              <a:gd name="T17" fmla="*/ 194355 h 1113789"/>
              <a:gd name="T18" fmla="*/ 9153 w 8514715"/>
              <a:gd name="T19" fmla="*/ 196862 h 1113789"/>
              <a:gd name="T20" fmla="*/ 14994 w 8514715"/>
              <a:gd name="T21" fmla="*/ 197780 h 1113789"/>
              <a:gd name="T22" fmla="*/ 1921932 w 8514715"/>
              <a:gd name="T23" fmla="*/ 197780 h 1113789"/>
              <a:gd name="T24" fmla="*/ 1927772 w 8514715"/>
              <a:gd name="T25" fmla="*/ 196862 h 1113789"/>
              <a:gd name="T26" fmla="*/ 1932537 w 8514715"/>
              <a:gd name="T27" fmla="*/ 194355 h 1113789"/>
              <a:gd name="T28" fmla="*/ 1935749 w 8514715"/>
              <a:gd name="T29" fmla="*/ 190635 h 1113789"/>
              <a:gd name="T30" fmla="*/ 1936926 w 8514715"/>
              <a:gd name="T31" fmla="*/ 186076 h 1113789"/>
              <a:gd name="T32" fmla="*/ 1936926 w 8514715"/>
              <a:gd name="T33" fmla="*/ 11704 h 1113789"/>
              <a:gd name="T34" fmla="*/ 1935749 w 8514715"/>
              <a:gd name="T35" fmla="*/ 7145 h 1113789"/>
              <a:gd name="T36" fmla="*/ 1932537 w 8514715"/>
              <a:gd name="T37" fmla="*/ 3425 h 1113789"/>
              <a:gd name="T38" fmla="*/ 1927772 w 8514715"/>
              <a:gd name="T39" fmla="*/ 918 h 1113789"/>
              <a:gd name="T40" fmla="*/ 1921932 w 8514715"/>
              <a:gd name="T41" fmla="*/ 0 h 1113789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0" t="0" r="r" b="b"/>
            <a:pathLst>
              <a:path w="8514715" h="1113789">
                <a:moveTo>
                  <a:pt x="8448675" y="0"/>
                </a:moveTo>
                <a:lnTo>
                  <a:pt x="65912" y="0"/>
                </a:lnTo>
                <a:lnTo>
                  <a:pt x="40237" y="5173"/>
                </a:lnTo>
                <a:lnTo>
                  <a:pt x="19288" y="19288"/>
                </a:lnTo>
                <a:lnTo>
                  <a:pt x="5173" y="40237"/>
                </a:lnTo>
                <a:lnTo>
                  <a:pt x="0" y="65912"/>
                </a:lnTo>
                <a:lnTo>
                  <a:pt x="0" y="1047877"/>
                </a:lnTo>
                <a:lnTo>
                  <a:pt x="5173" y="1073552"/>
                </a:lnTo>
                <a:lnTo>
                  <a:pt x="19288" y="1094501"/>
                </a:lnTo>
                <a:lnTo>
                  <a:pt x="40237" y="1108616"/>
                </a:lnTo>
                <a:lnTo>
                  <a:pt x="65912" y="1113790"/>
                </a:lnTo>
                <a:lnTo>
                  <a:pt x="8448675" y="1113790"/>
                </a:lnTo>
                <a:lnTo>
                  <a:pt x="8474350" y="1108616"/>
                </a:lnTo>
                <a:lnTo>
                  <a:pt x="8495299" y="1094501"/>
                </a:lnTo>
                <a:lnTo>
                  <a:pt x="8509414" y="1073552"/>
                </a:lnTo>
                <a:lnTo>
                  <a:pt x="8514588" y="1047877"/>
                </a:lnTo>
                <a:lnTo>
                  <a:pt x="8514588" y="65912"/>
                </a:lnTo>
                <a:lnTo>
                  <a:pt x="8509414" y="40237"/>
                </a:lnTo>
                <a:lnTo>
                  <a:pt x="8495299" y="19288"/>
                </a:lnTo>
                <a:lnTo>
                  <a:pt x="8474350" y="5173"/>
                </a:lnTo>
                <a:lnTo>
                  <a:pt x="8448675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5058" name="object 7">
            <a:extLst>
              <a:ext uri="{FF2B5EF4-FFF2-40B4-BE49-F238E27FC236}">
                <a16:creationId xmlns:a16="http://schemas.microsoft.com/office/drawing/2014/main" id="{348EF8E2-64FC-7BFD-47A1-6437DE9CD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1676400"/>
            <a:ext cx="8056562" cy="487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049" rIns="0" bIns="0">
            <a:spAutoFit/>
          </a:bodyPr>
          <a:lstStyle>
            <a:lvl1pPr marL="252413" indent="-204788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tabLst>
                <a:tab pos="252413" algn="l"/>
              </a:tabLst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tabLst>
                <a:tab pos="252413" algn="l"/>
              </a:tabLst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tabLst>
                <a:tab pos="252413" algn="l"/>
              </a:tabLst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524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5"/>
              </a:spcBef>
              <a:buClrTx/>
              <a:buSzTx/>
              <a:buFontTx/>
              <a:buNone/>
            </a:pPr>
            <a:r>
              <a:rPr lang="en-US" altLang="en-US" sz="1500" b="0" dirty="0">
                <a:solidFill>
                  <a:srgbClr val="797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</a:t>
            </a:r>
            <a:r>
              <a:rPr lang="en-US" altLang="en-US" sz="15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present value of a project’s future cash flows divided by the initial  investment</a:t>
            </a:r>
          </a:p>
          <a:p>
            <a:pPr>
              <a:spcBef>
                <a:spcPts val="38"/>
              </a:spcBef>
              <a:buClrTx/>
              <a:buSzTx/>
              <a:buFontTx/>
              <a:buNone/>
            </a:pPr>
            <a:endParaRPr lang="en-US" altLang="en-US" sz="2100" b="0" dirty="0">
              <a:solidFill>
                <a:srgbClr val="0027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  <a:buClrTx/>
              <a:buSzTx/>
              <a:buFontTx/>
              <a:buNone/>
            </a:pPr>
            <a:endParaRPr lang="en-US" altLang="en-US" sz="1800" b="0" dirty="0">
              <a:solidFill>
                <a:srgbClr val="0027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5"/>
              </a:spcBef>
              <a:buClrTx/>
              <a:buSzTx/>
              <a:buFontTx/>
              <a:buNone/>
            </a:pPr>
            <a:endParaRPr lang="en-US" altLang="en-US" sz="1800" b="0" dirty="0">
              <a:solidFill>
                <a:srgbClr val="0027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100" b="0" dirty="0">
              <a:solidFill>
                <a:srgbClr val="0027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measures how much investors get for each Dollar they invest in the project</a:t>
            </a:r>
          </a:p>
          <a:p>
            <a:pPr>
              <a:spcBef>
                <a:spcPts val="4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1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NPV is positive</a:t>
            </a: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PI &gt; 1</a:t>
            </a:r>
          </a:p>
          <a:p>
            <a:pPr>
              <a:spcBef>
                <a:spcPts val="4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100" b="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NPV is negative</a:t>
            </a: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PI  &lt; 1</a:t>
            </a:r>
          </a:p>
          <a:p>
            <a:pPr>
              <a:spcBef>
                <a:spcPts val="4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1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 = Invest, only when PI &gt; 1</a:t>
            </a:r>
          </a:p>
          <a:p>
            <a:pPr>
              <a:spcBef>
                <a:spcPts val="45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is commonly referred to </a:t>
            </a:r>
            <a:r>
              <a:rPr lang="en-US" altLang="en-US" sz="2400" i="1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benefit-cost ratio</a:t>
            </a:r>
            <a:endParaRPr lang="en-US" altLang="en-US" sz="2100" i="1" dirty="0">
              <a:solidFill>
                <a:srgbClr val="00279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67D029B-CE3E-B88D-7228-73557F165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2925" y="461963"/>
            <a:ext cx="4064000" cy="503237"/>
          </a:xfrm>
        </p:spPr>
        <p:txBody>
          <a:bodyPr lIns="0" tIns="9525" rIns="0" bIns="0" rtlCol="0">
            <a:spAutoFit/>
          </a:bodyPr>
          <a:lstStyle/>
          <a:p>
            <a:pPr marL="9525">
              <a:spcBef>
                <a:spcPts val="75"/>
              </a:spcBef>
              <a:defRPr/>
            </a:pPr>
            <a:r>
              <a:rPr sz="3200" b="1" spc="-4" dirty="0">
                <a:solidFill>
                  <a:srgbClr val="00279F"/>
                </a:solidFill>
              </a:rPr>
              <a:t>Profitability Index</a:t>
            </a:r>
            <a:r>
              <a:rPr sz="3200" b="1" spc="-49" dirty="0">
                <a:solidFill>
                  <a:srgbClr val="00279F"/>
                </a:solidFill>
              </a:rPr>
              <a:t> </a:t>
            </a:r>
            <a:r>
              <a:rPr sz="3200" b="1" spc="-4" dirty="0">
                <a:solidFill>
                  <a:srgbClr val="00279F"/>
                </a:solidFill>
              </a:rPr>
              <a:t>(PI)</a:t>
            </a:r>
            <a:endParaRPr sz="3200" b="1" dirty="0">
              <a:solidFill>
                <a:srgbClr val="00279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765C9-3965-87D3-0C6A-F9B0C50DEA2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28800" y="2630556"/>
            <a:ext cx="6631046" cy="539507"/>
          </a:xfrm>
          <a:prstGeom prst="rect">
            <a:avLst/>
          </a:prstGeom>
          <a:blipFill>
            <a:blip r:embed="rId2"/>
            <a:stretch>
              <a:fillRect t="-4545" b="-15909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32BC55-7600-D064-AEDE-DCD1C3D72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04798"/>
              </p:ext>
            </p:extLst>
          </p:nvPr>
        </p:nvGraphicFramePr>
        <p:xfrm>
          <a:off x="5125738" y="4397462"/>
          <a:ext cx="3394539" cy="60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1513">
                  <a:extLst>
                    <a:ext uri="{9D8B030D-6E8A-4147-A177-3AD203B41FA5}">
                      <a16:colId xmlns:a16="http://schemas.microsoft.com/office/drawing/2014/main" val="313686209"/>
                    </a:ext>
                  </a:extLst>
                </a:gridCol>
                <a:gridCol w="1131513">
                  <a:extLst>
                    <a:ext uri="{9D8B030D-6E8A-4147-A177-3AD203B41FA5}">
                      <a16:colId xmlns:a16="http://schemas.microsoft.com/office/drawing/2014/main" val="2369527018"/>
                    </a:ext>
                  </a:extLst>
                </a:gridCol>
                <a:gridCol w="1131513">
                  <a:extLst>
                    <a:ext uri="{9D8B030D-6E8A-4147-A177-3AD203B41FA5}">
                      <a16:colId xmlns:a16="http://schemas.microsoft.com/office/drawing/2014/main" val="665739643"/>
                    </a:ext>
                  </a:extLst>
                </a:gridCol>
              </a:tblGrid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>
                          <a:effectLst/>
                        </a:rPr>
                        <a:t>Investment A, PI = 10177/10000 = 1.017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66647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l" fontAlgn="b"/>
                      <a:endParaRPr lang="en-TH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TH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TH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4051176"/>
                  </a:ext>
                </a:extLst>
              </a:tr>
              <a:tr h="2032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sz="1200" u="none" strike="noStrike" dirty="0">
                          <a:effectLst/>
                        </a:rPr>
                        <a:t>Investment B, PI = 11414/10000 = 1.141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TH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33369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7F07EE3-7B63-BA68-F59D-A37F1B8C1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61950"/>
            <a:ext cx="8620125" cy="70485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Internal Rate of Return</a:t>
            </a:r>
            <a:endParaRPr lang="en-US" altLang="en-US" sz="2500"/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27C531FE-C82B-3851-DF9D-BA4A047CD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2575" y="1447800"/>
            <a:ext cx="8785225" cy="506095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3200"/>
              <a:t>Internal Rate of Return (IRR):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/>
              <a:t> represents </a:t>
            </a:r>
            <a:r>
              <a:rPr lang="en-US" altLang="en-US" i="1"/>
              <a:t>a yield </a:t>
            </a:r>
            <a:r>
              <a:rPr lang="en-US" altLang="en-US"/>
              <a:t>or </a:t>
            </a:r>
            <a:r>
              <a:rPr lang="en-US" altLang="en-US" i="1"/>
              <a:t>an interest rate on an investment</a:t>
            </a:r>
            <a:r>
              <a:rPr lang="en-US" altLang="en-US"/>
              <a:t> </a:t>
            </a:r>
            <a:endParaRPr lang="en-US" altLang="en-US" i="1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/>
              <a:t> requires calculating the interest rate that equates the cash outflows (cost) with the cash inflows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>
                <a:cs typeface="Times New Roman" panose="02020603050405020304" pitchFamily="18" charset="0"/>
              </a:rPr>
              <a:t>–</a:t>
            </a:r>
            <a:r>
              <a:rPr lang="en-US" altLang="en-US"/>
              <a:t> Or the interest rate that makes NPV = 0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en-US"/>
          </a:p>
          <a:p>
            <a:pPr lvl="1" eaLnBrk="1" hangingPunct="1">
              <a:buFont typeface="Wingdings" pitchFamily="2" charset="2"/>
              <a:buNone/>
            </a:pPr>
            <a:endParaRPr lang="en-US" altLang="en-US"/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/>
              <a:t>E.g. For investment A:</a:t>
            </a:r>
          </a:p>
        </p:txBody>
      </p:sp>
      <p:sp>
        <p:nvSpPr>
          <p:cNvPr id="4" name="object 7">
            <a:extLst>
              <a:ext uri="{FF2B5EF4-FFF2-40B4-BE49-F238E27FC236}">
                <a16:creationId xmlns:a16="http://schemas.microsoft.com/office/drawing/2014/main" id="{A1D7FF8D-E217-4020-83A7-94F92E7331E1}"/>
              </a:ext>
            </a:extLst>
          </p:cNvPr>
          <p:cNvSpPr txBox="1"/>
          <p:nvPr/>
        </p:nvSpPr>
        <p:spPr>
          <a:xfrm>
            <a:off x="2208213" y="3968750"/>
            <a:ext cx="1471612" cy="893763"/>
          </a:xfrm>
          <a:prstGeom prst="rect">
            <a:avLst/>
          </a:prstGeom>
        </p:spPr>
        <p:txBody>
          <a:bodyPr lIns="0" tIns="81280" rIns="0" bIns="0">
            <a:spAutoFit/>
          </a:bodyPr>
          <a:lstStyle/>
          <a:p>
            <a:pPr algn="ctr">
              <a:spcBef>
                <a:spcPts val="640"/>
              </a:spcBef>
              <a:defRPr/>
            </a:pPr>
            <a:r>
              <a:rPr spc="-65" dirty="0">
                <a:latin typeface="Cambria Math"/>
                <a:cs typeface="Cambria Math"/>
              </a:rPr>
              <a:t>𝐶𝐹</a:t>
            </a:r>
            <a:r>
              <a:rPr sz="2625" spc="-97" baseline="-15873" dirty="0">
                <a:latin typeface="Cambria Math"/>
                <a:cs typeface="Cambria Math"/>
              </a:rPr>
              <a:t>𝑡</a:t>
            </a:r>
            <a:endParaRPr sz="2625" baseline="-15873" dirty="0">
              <a:latin typeface="Cambria Math"/>
              <a:cs typeface="Cambria Math"/>
            </a:endParaRPr>
          </a:p>
          <a:p>
            <a:pPr algn="ctr">
              <a:spcBef>
                <a:spcPts val="540"/>
              </a:spcBef>
              <a:defRPr/>
            </a:pPr>
            <a:r>
              <a:rPr spc="-5" dirty="0">
                <a:latin typeface="Cambria Math"/>
                <a:cs typeface="Cambria Math"/>
              </a:rPr>
              <a:t>(1 </a:t>
            </a:r>
            <a:r>
              <a:rPr dirty="0">
                <a:latin typeface="Cambria Math"/>
                <a:cs typeface="Cambria Math"/>
              </a:rPr>
              <a:t>+</a:t>
            </a:r>
            <a:r>
              <a:rPr spc="-75" dirty="0">
                <a:latin typeface="Cambria Math"/>
                <a:cs typeface="Cambria Math"/>
              </a:rPr>
              <a:t> </a:t>
            </a:r>
            <a:r>
              <a:rPr spc="30" dirty="0">
                <a:latin typeface="Cambria Math"/>
                <a:cs typeface="Cambria Math"/>
              </a:rPr>
              <a:t>𝐼𝑅𝑅)</a:t>
            </a:r>
            <a:r>
              <a:rPr sz="2625" spc="44" baseline="22222" dirty="0">
                <a:latin typeface="Cambria Math"/>
                <a:cs typeface="Cambria Math"/>
              </a:rPr>
              <a:t>𝑡</a:t>
            </a:r>
            <a:endParaRPr sz="2625" baseline="22222" dirty="0">
              <a:latin typeface="Cambria Math"/>
              <a:cs typeface="Cambria Math"/>
            </a:endParaRPr>
          </a:p>
        </p:txBody>
      </p:sp>
      <p:sp>
        <p:nvSpPr>
          <p:cNvPr id="46084" name="object 8">
            <a:extLst>
              <a:ext uri="{FF2B5EF4-FFF2-40B4-BE49-F238E27FC236}">
                <a16:creationId xmlns:a16="http://schemas.microsoft.com/office/drawing/2014/main" id="{C9C90F19-4D5E-59BC-62F5-4E660C0AFCFB}"/>
              </a:ext>
            </a:extLst>
          </p:cNvPr>
          <p:cNvSpPr>
            <a:spLocks/>
          </p:cNvSpPr>
          <p:nvPr/>
        </p:nvSpPr>
        <p:spPr bwMode="auto">
          <a:xfrm>
            <a:off x="2244725" y="4497388"/>
            <a:ext cx="1416050" cy="0"/>
          </a:xfrm>
          <a:custGeom>
            <a:avLst/>
            <a:gdLst>
              <a:gd name="T0" fmla="*/ 0 w 1414779"/>
              <a:gd name="T1" fmla="*/ 1421912 w 141477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414779">
                <a:moveTo>
                  <a:pt x="0" y="0"/>
                </a:moveTo>
                <a:lnTo>
                  <a:pt x="1414271" y="0"/>
                </a:lnTo>
              </a:path>
            </a:pathLst>
          </a:custGeom>
          <a:noFill/>
          <a:ln w="19812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FF7B929D-00F3-CC46-E9BE-B76A07C1EB5D}"/>
              </a:ext>
            </a:extLst>
          </p:cNvPr>
          <p:cNvSpPr txBox="1"/>
          <p:nvPr/>
        </p:nvSpPr>
        <p:spPr>
          <a:xfrm>
            <a:off x="3730625" y="4267200"/>
            <a:ext cx="1274763" cy="39211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dirty="0">
                <a:latin typeface="Cambria Math"/>
                <a:cs typeface="Cambria Math"/>
              </a:rPr>
              <a:t>=</a:t>
            </a:r>
            <a:r>
              <a:rPr spc="40" dirty="0">
                <a:latin typeface="Cambria Math"/>
                <a:cs typeface="Cambria Math"/>
              </a:rPr>
              <a:t> </a:t>
            </a:r>
            <a:r>
              <a:rPr lang="en-TH" spc="-5" dirty="0">
                <a:latin typeface="Cambria Math"/>
                <a:cs typeface="Cambria Math"/>
              </a:rPr>
              <a:t>𝑂𝑢𝑡𝑙𝑎𝑦</a:t>
            </a:r>
            <a:endParaRPr dirty="0">
              <a:latin typeface="Cambria Math"/>
              <a:cs typeface="Cambria Math"/>
            </a:endParaRPr>
          </a:p>
        </p:txBody>
      </p:sp>
      <p:sp>
        <p:nvSpPr>
          <p:cNvPr id="46086" name="object 5">
            <a:extLst>
              <a:ext uri="{FF2B5EF4-FFF2-40B4-BE49-F238E27FC236}">
                <a16:creationId xmlns:a16="http://schemas.microsoft.com/office/drawing/2014/main" id="{9BB8C48D-A399-8F5B-AA88-C18E9AED7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00" y="5867400"/>
            <a:ext cx="131762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−10,000 +</a:t>
            </a:r>
          </a:p>
        </p:txBody>
      </p:sp>
      <p:sp>
        <p:nvSpPr>
          <p:cNvPr id="46087" name="object 6">
            <a:extLst>
              <a:ext uri="{FF2B5EF4-FFF2-40B4-BE49-F238E27FC236}">
                <a16:creationId xmlns:a16="http://schemas.microsoft.com/office/drawing/2014/main" id="{240B8DFF-1BAE-7F2B-D404-EC837555D9D2}"/>
              </a:ext>
            </a:extLst>
          </p:cNvPr>
          <p:cNvSpPr>
            <a:spLocks/>
          </p:cNvSpPr>
          <p:nvPr/>
        </p:nvSpPr>
        <p:spPr bwMode="auto">
          <a:xfrm>
            <a:off x="2155825" y="6105525"/>
            <a:ext cx="1038225" cy="236538"/>
          </a:xfrm>
          <a:custGeom>
            <a:avLst/>
            <a:gdLst>
              <a:gd name="T0" fmla="*/ 962659 w 1038225"/>
              <a:gd name="T1" fmla="*/ 0 h 236220"/>
              <a:gd name="T2" fmla="*/ 959231 w 1038225"/>
              <a:gd name="T3" fmla="*/ 9729 h 236220"/>
              <a:gd name="T4" fmla="*/ 972871 w 1038225"/>
              <a:gd name="T5" fmla="*/ 15683 h 236220"/>
              <a:gd name="T6" fmla="*/ 984631 w 1038225"/>
              <a:gd name="T7" fmla="*/ 23941 h 236220"/>
              <a:gd name="T8" fmla="*/ 1008485 w 1038225"/>
              <a:gd name="T9" fmla="*/ 62277 h 236220"/>
              <a:gd name="T10" fmla="*/ 1016254 w 1038225"/>
              <a:gd name="T11" fmla="*/ 117658 h 236220"/>
              <a:gd name="T12" fmla="*/ 1015392 w 1038225"/>
              <a:gd name="T13" fmla="*/ 138664 h 236220"/>
              <a:gd name="T14" fmla="*/ 1002283 w 1038225"/>
              <a:gd name="T15" fmla="*/ 189995 h 236220"/>
              <a:gd name="T16" fmla="*/ 973066 w 1038225"/>
              <a:gd name="T17" fmla="*/ 222043 h 236220"/>
              <a:gd name="T18" fmla="*/ 959611 w 1038225"/>
              <a:gd name="T19" fmla="*/ 228020 h 236220"/>
              <a:gd name="T20" fmla="*/ 962659 w 1038225"/>
              <a:gd name="T21" fmla="*/ 237749 h 236220"/>
              <a:gd name="T22" fmla="*/ 1007647 w 1038225"/>
              <a:gd name="T23" fmla="*/ 210689 h 236220"/>
              <a:gd name="T24" fmla="*/ 1032986 w 1038225"/>
              <a:gd name="T25" fmla="*/ 160900 h 236220"/>
              <a:gd name="T26" fmla="*/ 1037844 w 1038225"/>
              <a:gd name="T27" fmla="*/ 118939 h 236220"/>
              <a:gd name="T28" fmla="*/ 1036627 w 1038225"/>
              <a:gd name="T29" fmla="*/ 97172 h 236220"/>
              <a:gd name="T30" fmla="*/ 1026860 w 1038225"/>
              <a:gd name="T31" fmla="*/ 58534 h 236220"/>
              <a:gd name="T32" fmla="*/ 994664 w 1038225"/>
              <a:gd name="T33" fmla="*/ 15299 h 236220"/>
              <a:gd name="T34" fmla="*/ 979709 w 1038225"/>
              <a:gd name="T35" fmla="*/ 6267 h 236220"/>
              <a:gd name="T36" fmla="*/ 962659 w 1038225"/>
              <a:gd name="T37" fmla="*/ 0 h 236220"/>
              <a:gd name="T38" fmla="*/ 75183 w 1038225"/>
              <a:gd name="T39" fmla="*/ 0 h 236220"/>
              <a:gd name="T40" fmla="*/ 30214 w 1038225"/>
              <a:gd name="T41" fmla="*/ 27112 h 236220"/>
              <a:gd name="T42" fmla="*/ 4857 w 1038225"/>
              <a:gd name="T43" fmla="*/ 77025 h 236220"/>
              <a:gd name="T44" fmla="*/ 0 w 1038225"/>
              <a:gd name="T45" fmla="*/ 118939 h 236220"/>
              <a:gd name="T46" fmla="*/ 1214 w 1038225"/>
              <a:gd name="T47" fmla="*/ 140759 h 236220"/>
              <a:gd name="T48" fmla="*/ 10929 w 1038225"/>
              <a:gd name="T49" fmla="*/ 179361 h 236220"/>
              <a:gd name="T50" fmla="*/ 43068 w 1038225"/>
              <a:gd name="T51" fmla="*/ 222466 h 236220"/>
              <a:gd name="T52" fmla="*/ 75183 w 1038225"/>
              <a:gd name="T53" fmla="*/ 237749 h 236220"/>
              <a:gd name="T54" fmla="*/ 78231 w 1038225"/>
              <a:gd name="T55" fmla="*/ 228020 h 236220"/>
              <a:gd name="T56" fmla="*/ 64777 w 1038225"/>
              <a:gd name="T57" fmla="*/ 222043 h 236220"/>
              <a:gd name="T58" fmla="*/ 53181 w 1038225"/>
              <a:gd name="T59" fmla="*/ 213712 h 236220"/>
              <a:gd name="T60" fmla="*/ 29392 w 1038225"/>
              <a:gd name="T61" fmla="*/ 174821 h 236220"/>
              <a:gd name="T62" fmla="*/ 21462 w 1038225"/>
              <a:gd name="T63" fmla="*/ 117658 h 236220"/>
              <a:gd name="T64" fmla="*/ 22344 w 1038225"/>
              <a:gd name="T65" fmla="*/ 97422 h 236220"/>
              <a:gd name="T66" fmla="*/ 35559 w 1038225"/>
              <a:gd name="T67" fmla="*/ 47370 h 236220"/>
              <a:gd name="T68" fmla="*/ 64992 w 1038225"/>
              <a:gd name="T69" fmla="*/ 15683 h 236220"/>
              <a:gd name="T70" fmla="*/ 78612 w 1038225"/>
              <a:gd name="T71" fmla="*/ 9729 h 236220"/>
              <a:gd name="T72" fmla="*/ 75183 w 1038225"/>
              <a:gd name="T73" fmla="*/ 0 h 23622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038225" h="236220">
                <a:moveTo>
                  <a:pt x="962659" y="0"/>
                </a:moveTo>
                <a:lnTo>
                  <a:pt x="959231" y="9651"/>
                </a:lnTo>
                <a:lnTo>
                  <a:pt x="972871" y="15557"/>
                </a:lnTo>
                <a:lnTo>
                  <a:pt x="984631" y="23749"/>
                </a:lnTo>
                <a:lnTo>
                  <a:pt x="1008485" y="61777"/>
                </a:lnTo>
                <a:lnTo>
                  <a:pt x="1016254" y="116712"/>
                </a:lnTo>
                <a:lnTo>
                  <a:pt x="1015392" y="137550"/>
                </a:lnTo>
                <a:lnTo>
                  <a:pt x="1002283" y="188468"/>
                </a:lnTo>
                <a:lnTo>
                  <a:pt x="973066" y="220257"/>
                </a:lnTo>
                <a:lnTo>
                  <a:pt x="959611" y="226187"/>
                </a:lnTo>
                <a:lnTo>
                  <a:pt x="962659" y="235838"/>
                </a:lnTo>
                <a:lnTo>
                  <a:pt x="1007647" y="208996"/>
                </a:lnTo>
                <a:lnTo>
                  <a:pt x="1032986" y="159607"/>
                </a:lnTo>
                <a:lnTo>
                  <a:pt x="1037844" y="117983"/>
                </a:lnTo>
                <a:lnTo>
                  <a:pt x="1036627" y="96391"/>
                </a:lnTo>
                <a:lnTo>
                  <a:pt x="1026860" y="58064"/>
                </a:lnTo>
                <a:lnTo>
                  <a:pt x="994664" y="15176"/>
                </a:lnTo>
                <a:lnTo>
                  <a:pt x="979709" y="6219"/>
                </a:lnTo>
                <a:lnTo>
                  <a:pt x="962659" y="0"/>
                </a:lnTo>
                <a:close/>
              </a:path>
              <a:path w="1038225" h="236220">
                <a:moveTo>
                  <a:pt x="75183" y="0"/>
                </a:moveTo>
                <a:lnTo>
                  <a:pt x="30214" y="26896"/>
                </a:lnTo>
                <a:lnTo>
                  <a:pt x="4857" y="76406"/>
                </a:lnTo>
                <a:lnTo>
                  <a:pt x="0" y="117983"/>
                </a:lnTo>
                <a:lnTo>
                  <a:pt x="1214" y="139628"/>
                </a:lnTo>
                <a:lnTo>
                  <a:pt x="10929" y="177919"/>
                </a:lnTo>
                <a:lnTo>
                  <a:pt x="43068" y="220678"/>
                </a:lnTo>
                <a:lnTo>
                  <a:pt x="75183" y="235838"/>
                </a:lnTo>
                <a:lnTo>
                  <a:pt x="78231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392" y="173416"/>
                </a:lnTo>
                <a:lnTo>
                  <a:pt x="21462" y="116712"/>
                </a:lnTo>
                <a:lnTo>
                  <a:pt x="22344" y="96639"/>
                </a:lnTo>
                <a:lnTo>
                  <a:pt x="35559" y="46989"/>
                </a:lnTo>
                <a:lnTo>
                  <a:pt x="64992" y="15557"/>
                </a:lnTo>
                <a:lnTo>
                  <a:pt x="78612" y="9651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6088" name="object 7">
            <a:extLst>
              <a:ext uri="{FF2B5EF4-FFF2-40B4-BE49-F238E27FC236}">
                <a16:creationId xmlns:a16="http://schemas.microsoft.com/office/drawing/2014/main" id="{5FA3C536-DE8E-81B1-2D25-E6A486D28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0275" y="5608638"/>
            <a:ext cx="1157288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0485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5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5,000</a:t>
            </a:r>
          </a:p>
          <a:p>
            <a:pPr algn="ctr"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1 + 𝐼𝑅𝑅 </a:t>
            </a:r>
            <a:r>
              <a:rPr lang="en-US" altLang="en-US" sz="2100" baseline="23000">
                <a:solidFill>
                  <a:srgbClr val="790015"/>
                </a:solidFill>
                <a:latin typeface="Cambria Math" panose="02040503050406030204" pitchFamily="18" charset="0"/>
              </a:rPr>
              <a:t>1</a:t>
            </a:r>
          </a:p>
        </p:txBody>
      </p:sp>
      <p:sp>
        <p:nvSpPr>
          <p:cNvPr id="46089" name="object 8">
            <a:extLst>
              <a:ext uri="{FF2B5EF4-FFF2-40B4-BE49-F238E27FC236}">
                <a16:creationId xmlns:a16="http://schemas.microsoft.com/office/drawing/2014/main" id="{2F21A16E-4B61-7352-C5F0-AAE68775B567}"/>
              </a:ext>
            </a:extLst>
          </p:cNvPr>
          <p:cNvSpPr>
            <a:spLocks/>
          </p:cNvSpPr>
          <p:nvPr/>
        </p:nvSpPr>
        <p:spPr bwMode="auto">
          <a:xfrm>
            <a:off x="2133600" y="6053138"/>
            <a:ext cx="1196975" cy="0"/>
          </a:xfrm>
          <a:custGeom>
            <a:avLst/>
            <a:gdLst>
              <a:gd name="T0" fmla="*/ 0 w 1196339"/>
              <a:gd name="T1" fmla="*/ 1200160 w 119633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196339">
                <a:moveTo>
                  <a:pt x="0" y="0"/>
                </a:moveTo>
                <a:lnTo>
                  <a:pt x="1196339" y="0"/>
                </a:lnTo>
              </a:path>
            </a:pathLst>
          </a:custGeom>
          <a:noFill/>
          <a:ln w="16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6090" name="object 9">
            <a:extLst>
              <a:ext uri="{FF2B5EF4-FFF2-40B4-BE49-F238E27FC236}">
                <a16:creationId xmlns:a16="http://schemas.microsoft.com/office/drawing/2014/main" id="{B25E63F7-59F2-2DD5-82C1-6D096136D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5025" y="5857875"/>
            <a:ext cx="215900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+</a:t>
            </a:r>
          </a:p>
        </p:txBody>
      </p:sp>
      <p:sp>
        <p:nvSpPr>
          <p:cNvPr id="46091" name="object 10">
            <a:extLst>
              <a:ext uri="{FF2B5EF4-FFF2-40B4-BE49-F238E27FC236}">
                <a16:creationId xmlns:a16="http://schemas.microsoft.com/office/drawing/2014/main" id="{8FD8CBA4-26ED-B2BD-9DD0-78FA893E7ACF}"/>
              </a:ext>
            </a:extLst>
          </p:cNvPr>
          <p:cNvSpPr>
            <a:spLocks/>
          </p:cNvSpPr>
          <p:nvPr/>
        </p:nvSpPr>
        <p:spPr bwMode="auto">
          <a:xfrm>
            <a:off x="3657600" y="6105525"/>
            <a:ext cx="1038225" cy="236538"/>
          </a:xfrm>
          <a:custGeom>
            <a:avLst/>
            <a:gdLst>
              <a:gd name="T0" fmla="*/ 962659 w 1038225"/>
              <a:gd name="T1" fmla="*/ 0 h 236220"/>
              <a:gd name="T2" fmla="*/ 959230 w 1038225"/>
              <a:gd name="T3" fmla="*/ 9729 h 236220"/>
              <a:gd name="T4" fmla="*/ 972871 w 1038225"/>
              <a:gd name="T5" fmla="*/ 15683 h 236220"/>
              <a:gd name="T6" fmla="*/ 984630 w 1038225"/>
              <a:gd name="T7" fmla="*/ 23941 h 236220"/>
              <a:gd name="T8" fmla="*/ 1008485 w 1038225"/>
              <a:gd name="T9" fmla="*/ 62277 h 236220"/>
              <a:gd name="T10" fmla="*/ 1016253 w 1038225"/>
              <a:gd name="T11" fmla="*/ 117658 h 236220"/>
              <a:gd name="T12" fmla="*/ 1015392 w 1038225"/>
              <a:gd name="T13" fmla="*/ 138664 h 236220"/>
              <a:gd name="T14" fmla="*/ 1002283 w 1038225"/>
              <a:gd name="T15" fmla="*/ 189995 h 236220"/>
              <a:gd name="T16" fmla="*/ 973066 w 1038225"/>
              <a:gd name="T17" fmla="*/ 222043 h 236220"/>
              <a:gd name="T18" fmla="*/ 959611 w 1038225"/>
              <a:gd name="T19" fmla="*/ 228020 h 236220"/>
              <a:gd name="T20" fmla="*/ 962659 w 1038225"/>
              <a:gd name="T21" fmla="*/ 237749 h 236220"/>
              <a:gd name="T22" fmla="*/ 1007647 w 1038225"/>
              <a:gd name="T23" fmla="*/ 210689 h 236220"/>
              <a:gd name="T24" fmla="*/ 1032986 w 1038225"/>
              <a:gd name="T25" fmla="*/ 160900 h 236220"/>
              <a:gd name="T26" fmla="*/ 1037843 w 1038225"/>
              <a:gd name="T27" fmla="*/ 118939 h 236220"/>
              <a:gd name="T28" fmla="*/ 1036627 w 1038225"/>
              <a:gd name="T29" fmla="*/ 97172 h 236220"/>
              <a:gd name="T30" fmla="*/ 1026860 w 1038225"/>
              <a:gd name="T31" fmla="*/ 58534 h 236220"/>
              <a:gd name="T32" fmla="*/ 994663 w 1038225"/>
              <a:gd name="T33" fmla="*/ 15299 h 236220"/>
              <a:gd name="T34" fmla="*/ 979709 w 1038225"/>
              <a:gd name="T35" fmla="*/ 6267 h 236220"/>
              <a:gd name="T36" fmla="*/ 962659 w 1038225"/>
              <a:gd name="T37" fmla="*/ 0 h 236220"/>
              <a:gd name="T38" fmla="*/ 75183 w 1038225"/>
              <a:gd name="T39" fmla="*/ 0 h 236220"/>
              <a:gd name="T40" fmla="*/ 30214 w 1038225"/>
              <a:gd name="T41" fmla="*/ 27112 h 236220"/>
              <a:gd name="T42" fmla="*/ 4857 w 1038225"/>
              <a:gd name="T43" fmla="*/ 77025 h 236220"/>
              <a:gd name="T44" fmla="*/ 0 w 1038225"/>
              <a:gd name="T45" fmla="*/ 118939 h 236220"/>
              <a:gd name="T46" fmla="*/ 1214 w 1038225"/>
              <a:gd name="T47" fmla="*/ 140759 h 236220"/>
              <a:gd name="T48" fmla="*/ 10929 w 1038225"/>
              <a:gd name="T49" fmla="*/ 179361 h 236220"/>
              <a:gd name="T50" fmla="*/ 43068 w 1038225"/>
              <a:gd name="T51" fmla="*/ 222466 h 236220"/>
              <a:gd name="T52" fmla="*/ 75183 w 1038225"/>
              <a:gd name="T53" fmla="*/ 237749 h 236220"/>
              <a:gd name="T54" fmla="*/ 78231 w 1038225"/>
              <a:gd name="T55" fmla="*/ 228020 h 236220"/>
              <a:gd name="T56" fmla="*/ 64777 w 1038225"/>
              <a:gd name="T57" fmla="*/ 222043 h 236220"/>
              <a:gd name="T58" fmla="*/ 53181 w 1038225"/>
              <a:gd name="T59" fmla="*/ 213712 h 236220"/>
              <a:gd name="T60" fmla="*/ 29392 w 1038225"/>
              <a:gd name="T61" fmla="*/ 174821 h 236220"/>
              <a:gd name="T62" fmla="*/ 21462 w 1038225"/>
              <a:gd name="T63" fmla="*/ 117658 h 236220"/>
              <a:gd name="T64" fmla="*/ 22344 w 1038225"/>
              <a:gd name="T65" fmla="*/ 97422 h 236220"/>
              <a:gd name="T66" fmla="*/ 35559 w 1038225"/>
              <a:gd name="T67" fmla="*/ 47370 h 236220"/>
              <a:gd name="T68" fmla="*/ 64992 w 1038225"/>
              <a:gd name="T69" fmla="*/ 15683 h 236220"/>
              <a:gd name="T70" fmla="*/ 78612 w 1038225"/>
              <a:gd name="T71" fmla="*/ 9729 h 236220"/>
              <a:gd name="T72" fmla="*/ 75183 w 1038225"/>
              <a:gd name="T73" fmla="*/ 0 h 23622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038225" h="236220">
                <a:moveTo>
                  <a:pt x="962659" y="0"/>
                </a:moveTo>
                <a:lnTo>
                  <a:pt x="959230" y="9651"/>
                </a:lnTo>
                <a:lnTo>
                  <a:pt x="972871" y="15557"/>
                </a:lnTo>
                <a:lnTo>
                  <a:pt x="984630" y="23749"/>
                </a:lnTo>
                <a:lnTo>
                  <a:pt x="1008485" y="61777"/>
                </a:lnTo>
                <a:lnTo>
                  <a:pt x="1016253" y="116712"/>
                </a:lnTo>
                <a:lnTo>
                  <a:pt x="1015392" y="137550"/>
                </a:lnTo>
                <a:lnTo>
                  <a:pt x="1002283" y="188468"/>
                </a:lnTo>
                <a:lnTo>
                  <a:pt x="973066" y="220257"/>
                </a:lnTo>
                <a:lnTo>
                  <a:pt x="959611" y="226187"/>
                </a:lnTo>
                <a:lnTo>
                  <a:pt x="962659" y="235838"/>
                </a:lnTo>
                <a:lnTo>
                  <a:pt x="1007647" y="208996"/>
                </a:lnTo>
                <a:lnTo>
                  <a:pt x="1032986" y="159607"/>
                </a:lnTo>
                <a:lnTo>
                  <a:pt x="1037843" y="117983"/>
                </a:lnTo>
                <a:lnTo>
                  <a:pt x="1036627" y="96391"/>
                </a:lnTo>
                <a:lnTo>
                  <a:pt x="1026860" y="58064"/>
                </a:lnTo>
                <a:lnTo>
                  <a:pt x="994663" y="15176"/>
                </a:lnTo>
                <a:lnTo>
                  <a:pt x="979709" y="6219"/>
                </a:lnTo>
                <a:lnTo>
                  <a:pt x="962659" y="0"/>
                </a:lnTo>
                <a:close/>
              </a:path>
              <a:path w="1038225" h="236220">
                <a:moveTo>
                  <a:pt x="75183" y="0"/>
                </a:moveTo>
                <a:lnTo>
                  <a:pt x="30214" y="26896"/>
                </a:lnTo>
                <a:lnTo>
                  <a:pt x="4857" y="76406"/>
                </a:lnTo>
                <a:lnTo>
                  <a:pt x="0" y="117983"/>
                </a:lnTo>
                <a:lnTo>
                  <a:pt x="1214" y="139628"/>
                </a:lnTo>
                <a:lnTo>
                  <a:pt x="10929" y="177919"/>
                </a:lnTo>
                <a:lnTo>
                  <a:pt x="43068" y="220678"/>
                </a:lnTo>
                <a:lnTo>
                  <a:pt x="75183" y="235838"/>
                </a:lnTo>
                <a:lnTo>
                  <a:pt x="78231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392" y="173416"/>
                </a:lnTo>
                <a:lnTo>
                  <a:pt x="21462" y="116712"/>
                </a:lnTo>
                <a:lnTo>
                  <a:pt x="22344" y="96639"/>
                </a:lnTo>
                <a:lnTo>
                  <a:pt x="35559" y="46989"/>
                </a:lnTo>
                <a:lnTo>
                  <a:pt x="64992" y="15557"/>
                </a:lnTo>
                <a:lnTo>
                  <a:pt x="78612" y="9651"/>
                </a:lnTo>
                <a:lnTo>
                  <a:pt x="7518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6092" name="object 11">
            <a:extLst>
              <a:ext uri="{FF2B5EF4-FFF2-40B4-BE49-F238E27FC236}">
                <a16:creationId xmlns:a16="http://schemas.microsoft.com/office/drawing/2014/main" id="{4BC3D40A-FD6D-47A9-014D-739B42F5B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2050" y="5608638"/>
            <a:ext cx="11620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0485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5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5,000</a:t>
            </a:r>
          </a:p>
          <a:p>
            <a:pPr algn="ctr"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1 + 𝐼𝑅𝑅 </a:t>
            </a:r>
            <a:r>
              <a:rPr lang="en-US" altLang="en-US" sz="2100" baseline="23000">
                <a:solidFill>
                  <a:srgbClr val="790015"/>
                </a:solidFill>
                <a:latin typeface="Cambria Math" panose="02040503050406030204" pitchFamily="18" charset="0"/>
              </a:rPr>
              <a:t>2</a:t>
            </a:r>
          </a:p>
        </p:txBody>
      </p:sp>
      <p:sp>
        <p:nvSpPr>
          <p:cNvPr id="46093" name="object 12">
            <a:extLst>
              <a:ext uri="{FF2B5EF4-FFF2-40B4-BE49-F238E27FC236}">
                <a16:creationId xmlns:a16="http://schemas.microsoft.com/office/drawing/2014/main" id="{6F13125B-424C-FC95-D198-83EAB5568D04}"/>
              </a:ext>
            </a:extLst>
          </p:cNvPr>
          <p:cNvSpPr>
            <a:spLocks/>
          </p:cNvSpPr>
          <p:nvPr/>
        </p:nvSpPr>
        <p:spPr bwMode="auto">
          <a:xfrm>
            <a:off x="3635375" y="6053138"/>
            <a:ext cx="1201738" cy="0"/>
          </a:xfrm>
          <a:custGeom>
            <a:avLst/>
            <a:gdLst>
              <a:gd name="T0" fmla="*/ 0 w 1202689"/>
              <a:gd name="T1" fmla="*/ 1196742 w 1202689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202689">
                <a:moveTo>
                  <a:pt x="0" y="0"/>
                </a:moveTo>
                <a:lnTo>
                  <a:pt x="1202436" y="0"/>
                </a:lnTo>
              </a:path>
            </a:pathLst>
          </a:custGeom>
          <a:noFill/>
          <a:ln w="16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6094" name="object 13">
            <a:extLst>
              <a:ext uri="{FF2B5EF4-FFF2-40B4-BE49-F238E27FC236}">
                <a16:creationId xmlns:a16="http://schemas.microsoft.com/office/drawing/2014/main" id="{8A04B38D-8934-27CA-1E5C-A2160CD04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1563" y="5857875"/>
            <a:ext cx="215900" cy="33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335" rIns="0" bIns="0">
            <a:spAutoFit/>
          </a:bodyPr>
          <a:lstStyle>
            <a:lvl1pPr marL="127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1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+</a:t>
            </a:r>
          </a:p>
        </p:txBody>
      </p:sp>
      <p:sp>
        <p:nvSpPr>
          <p:cNvPr id="46095" name="object 14">
            <a:extLst>
              <a:ext uri="{FF2B5EF4-FFF2-40B4-BE49-F238E27FC236}">
                <a16:creationId xmlns:a16="http://schemas.microsoft.com/office/drawing/2014/main" id="{16406E95-74C5-F110-4083-53DF510ED386}"/>
              </a:ext>
            </a:extLst>
          </p:cNvPr>
          <p:cNvSpPr>
            <a:spLocks/>
          </p:cNvSpPr>
          <p:nvPr/>
        </p:nvSpPr>
        <p:spPr bwMode="auto">
          <a:xfrm>
            <a:off x="5162550" y="6105525"/>
            <a:ext cx="1038225" cy="236538"/>
          </a:xfrm>
          <a:custGeom>
            <a:avLst/>
            <a:gdLst>
              <a:gd name="T0" fmla="*/ 962660 w 1038225"/>
              <a:gd name="T1" fmla="*/ 0 h 236220"/>
              <a:gd name="T2" fmla="*/ 959230 w 1038225"/>
              <a:gd name="T3" fmla="*/ 9729 h 236220"/>
              <a:gd name="T4" fmla="*/ 972871 w 1038225"/>
              <a:gd name="T5" fmla="*/ 15683 h 236220"/>
              <a:gd name="T6" fmla="*/ 984630 w 1038225"/>
              <a:gd name="T7" fmla="*/ 23941 h 236220"/>
              <a:gd name="T8" fmla="*/ 1008485 w 1038225"/>
              <a:gd name="T9" fmla="*/ 62277 h 236220"/>
              <a:gd name="T10" fmla="*/ 1016253 w 1038225"/>
              <a:gd name="T11" fmla="*/ 117658 h 236220"/>
              <a:gd name="T12" fmla="*/ 1015392 w 1038225"/>
              <a:gd name="T13" fmla="*/ 138664 h 236220"/>
              <a:gd name="T14" fmla="*/ 1002284 w 1038225"/>
              <a:gd name="T15" fmla="*/ 189995 h 236220"/>
              <a:gd name="T16" fmla="*/ 973066 w 1038225"/>
              <a:gd name="T17" fmla="*/ 222043 h 236220"/>
              <a:gd name="T18" fmla="*/ 959612 w 1038225"/>
              <a:gd name="T19" fmla="*/ 228020 h 236220"/>
              <a:gd name="T20" fmla="*/ 962660 w 1038225"/>
              <a:gd name="T21" fmla="*/ 237749 h 236220"/>
              <a:gd name="T22" fmla="*/ 1007647 w 1038225"/>
              <a:gd name="T23" fmla="*/ 210689 h 236220"/>
              <a:gd name="T24" fmla="*/ 1032986 w 1038225"/>
              <a:gd name="T25" fmla="*/ 160900 h 236220"/>
              <a:gd name="T26" fmla="*/ 1037844 w 1038225"/>
              <a:gd name="T27" fmla="*/ 118939 h 236220"/>
              <a:gd name="T28" fmla="*/ 1036627 w 1038225"/>
              <a:gd name="T29" fmla="*/ 97172 h 236220"/>
              <a:gd name="T30" fmla="*/ 1026860 w 1038225"/>
              <a:gd name="T31" fmla="*/ 58534 h 236220"/>
              <a:gd name="T32" fmla="*/ 994664 w 1038225"/>
              <a:gd name="T33" fmla="*/ 15299 h 236220"/>
              <a:gd name="T34" fmla="*/ 979709 w 1038225"/>
              <a:gd name="T35" fmla="*/ 6267 h 236220"/>
              <a:gd name="T36" fmla="*/ 962660 w 1038225"/>
              <a:gd name="T37" fmla="*/ 0 h 236220"/>
              <a:gd name="T38" fmla="*/ 75184 w 1038225"/>
              <a:gd name="T39" fmla="*/ 0 h 236220"/>
              <a:gd name="T40" fmla="*/ 30214 w 1038225"/>
              <a:gd name="T41" fmla="*/ 27112 h 236220"/>
              <a:gd name="T42" fmla="*/ 4857 w 1038225"/>
              <a:gd name="T43" fmla="*/ 77025 h 236220"/>
              <a:gd name="T44" fmla="*/ 0 w 1038225"/>
              <a:gd name="T45" fmla="*/ 118939 h 236220"/>
              <a:gd name="T46" fmla="*/ 1214 w 1038225"/>
              <a:gd name="T47" fmla="*/ 140759 h 236220"/>
              <a:gd name="T48" fmla="*/ 10929 w 1038225"/>
              <a:gd name="T49" fmla="*/ 179361 h 236220"/>
              <a:gd name="T50" fmla="*/ 43068 w 1038225"/>
              <a:gd name="T51" fmla="*/ 222466 h 236220"/>
              <a:gd name="T52" fmla="*/ 75184 w 1038225"/>
              <a:gd name="T53" fmla="*/ 237749 h 236220"/>
              <a:gd name="T54" fmla="*/ 78232 w 1038225"/>
              <a:gd name="T55" fmla="*/ 228020 h 236220"/>
              <a:gd name="T56" fmla="*/ 64777 w 1038225"/>
              <a:gd name="T57" fmla="*/ 222043 h 236220"/>
              <a:gd name="T58" fmla="*/ 53181 w 1038225"/>
              <a:gd name="T59" fmla="*/ 213712 h 236220"/>
              <a:gd name="T60" fmla="*/ 29392 w 1038225"/>
              <a:gd name="T61" fmla="*/ 174821 h 236220"/>
              <a:gd name="T62" fmla="*/ 21463 w 1038225"/>
              <a:gd name="T63" fmla="*/ 117658 h 236220"/>
              <a:gd name="T64" fmla="*/ 22344 w 1038225"/>
              <a:gd name="T65" fmla="*/ 97422 h 236220"/>
              <a:gd name="T66" fmla="*/ 35560 w 1038225"/>
              <a:gd name="T67" fmla="*/ 47370 h 236220"/>
              <a:gd name="T68" fmla="*/ 64992 w 1038225"/>
              <a:gd name="T69" fmla="*/ 15683 h 236220"/>
              <a:gd name="T70" fmla="*/ 78613 w 1038225"/>
              <a:gd name="T71" fmla="*/ 9729 h 236220"/>
              <a:gd name="T72" fmla="*/ 75184 w 1038225"/>
              <a:gd name="T73" fmla="*/ 0 h 23622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0" t="0" r="r" b="b"/>
            <a:pathLst>
              <a:path w="1038225" h="236220">
                <a:moveTo>
                  <a:pt x="962660" y="0"/>
                </a:moveTo>
                <a:lnTo>
                  <a:pt x="959230" y="9651"/>
                </a:lnTo>
                <a:lnTo>
                  <a:pt x="972871" y="15557"/>
                </a:lnTo>
                <a:lnTo>
                  <a:pt x="984630" y="23749"/>
                </a:lnTo>
                <a:lnTo>
                  <a:pt x="1008485" y="61777"/>
                </a:lnTo>
                <a:lnTo>
                  <a:pt x="1016253" y="116712"/>
                </a:lnTo>
                <a:lnTo>
                  <a:pt x="1015392" y="137550"/>
                </a:lnTo>
                <a:lnTo>
                  <a:pt x="1002284" y="188468"/>
                </a:lnTo>
                <a:lnTo>
                  <a:pt x="973066" y="220257"/>
                </a:lnTo>
                <a:lnTo>
                  <a:pt x="959612" y="226187"/>
                </a:lnTo>
                <a:lnTo>
                  <a:pt x="962660" y="235838"/>
                </a:lnTo>
                <a:lnTo>
                  <a:pt x="1007647" y="208996"/>
                </a:lnTo>
                <a:lnTo>
                  <a:pt x="1032986" y="159607"/>
                </a:lnTo>
                <a:lnTo>
                  <a:pt x="1037844" y="117983"/>
                </a:lnTo>
                <a:lnTo>
                  <a:pt x="1036627" y="96391"/>
                </a:lnTo>
                <a:lnTo>
                  <a:pt x="1026860" y="58064"/>
                </a:lnTo>
                <a:lnTo>
                  <a:pt x="994664" y="15176"/>
                </a:lnTo>
                <a:lnTo>
                  <a:pt x="979709" y="6219"/>
                </a:lnTo>
                <a:lnTo>
                  <a:pt x="962660" y="0"/>
                </a:lnTo>
                <a:close/>
              </a:path>
              <a:path w="1038225" h="236220">
                <a:moveTo>
                  <a:pt x="75184" y="0"/>
                </a:moveTo>
                <a:lnTo>
                  <a:pt x="30214" y="26896"/>
                </a:lnTo>
                <a:lnTo>
                  <a:pt x="4857" y="76406"/>
                </a:lnTo>
                <a:lnTo>
                  <a:pt x="0" y="117983"/>
                </a:lnTo>
                <a:lnTo>
                  <a:pt x="1214" y="139628"/>
                </a:lnTo>
                <a:lnTo>
                  <a:pt x="10929" y="177919"/>
                </a:lnTo>
                <a:lnTo>
                  <a:pt x="43068" y="220678"/>
                </a:lnTo>
                <a:lnTo>
                  <a:pt x="75184" y="235838"/>
                </a:lnTo>
                <a:lnTo>
                  <a:pt x="78232" y="226187"/>
                </a:lnTo>
                <a:lnTo>
                  <a:pt x="64777" y="220257"/>
                </a:lnTo>
                <a:lnTo>
                  <a:pt x="53181" y="211994"/>
                </a:lnTo>
                <a:lnTo>
                  <a:pt x="29392" y="173416"/>
                </a:lnTo>
                <a:lnTo>
                  <a:pt x="21463" y="116712"/>
                </a:lnTo>
                <a:lnTo>
                  <a:pt x="22344" y="96639"/>
                </a:lnTo>
                <a:lnTo>
                  <a:pt x="35560" y="46989"/>
                </a:lnTo>
                <a:lnTo>
                  <a:pt x="64992" y="15557"/>
                </a:lnTo>
                <a:lnTo>
                  <a:pt x="78613" y="9651"/>
                </a:lnTo>
                <a:lnTo>
                  <a:pt x="7518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46096" name="object 15">
            <a:extLst>
              <a:ext uri="{FF2B5EF4-FFF2-40B4-BE49-F238E27FC236}">
                <a16:creationId xmlns:a16="http://schemas.microsoft.com/office/drawing/2014/main" id="{6D0762B2-EA95-AD20-9C27-70C184BC8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8588" y="5608638"/>
            <a:ext cx="11620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70485" rIns="0" bIns="0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5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2,000</a:t>
            </a:r>
          </a:p>
          <a:p>
            <a:pPr algn="ctr"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790015"/>
                </a:solidFill>
                <a:latin typeface="Cambria Math" panose="02040503050406030204" pitchFamily="18" charset="0"/>
              </a:rPr>
              <a:t>1 + 𝐼𝑅𝑅 </a:t>
            </a:r>
            <a:r>
              <a:rPr lang="en-US" altLang="en-US" sz="2100" baseline="23000">
                <a:solidFill>
                  <a:srgbClr val="790015"/>
                </a:solidFill>
                <a:latin typeface="Cambria Math" panose="02040503050406030204" pitchFamily="18" charset="0"/>
              </a:rPr>
              <a:t>3</a:t>
            </a:r>
          </a:p>
        </p:txBody>
      </p:sp>
      <p:sp>
        <p:nvSpPr>
          <p:cNvPr id="46097" name="object 16">
            <a:extLst>
              <a:ext uri="{FF2B5EF4-FFF2-40B4-BE49-F238E27FC236}">
                <a16:creationId xmlns:a16="http://schemas.microsoft.com/office/drawing/2014/main" id="{E4BDC0B9-2080-1EC2-5CFA-8EAE8F9ED2B7}"/>
              </a:ext>
            </a:extLst>
          </p:cNvPr>
          <p:cNvSpPr>
            <a:spLocks/>
          </p:cNvSpPr>
          <p:nvPr/>
        </p:nvSpPr>
        <p:spPr bwMode="auto">
          <a:xfrm>
            <a:off x="5140325" y="6053138"/>
            <a:ext cx="1203325" cy="0"/>
          </a:xfrm>
          <a:custGeom>
            <a:avLst/>
            <a:gdLst>
              <a:gd name="T0" fmla="*/ 0 w 1202690"/>
              <a:gd name="T1" fmla="*/ 1206251 w 120269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1202690">
                <a:moveTo>
                  <a:pt x="0" y="0"/>
                </a:moveTo>
                <a:lnTo>
                  <a:pt x="1202436" y="0"/>
                </a:lnTo>
              </a:path>
            </a:pathLst>
          </a:custGeom>
          <a:noFill/>
          <a:ln w="167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28" name="object 25">
            <a:extLst>
              <a:ext uri="{FF2B5EF4-FFF2-40B4-BE49-F238E27FC236}">
                <a16:creationId xmlns:a16="http://schemas.microsoft.com/office/drawing/2014/main" id="{FCDACCC1-4D86-7F04-5F9B-C6FE5DF91F61}"/>
              </a:ext>
            </a:extLst>
          </p:cNvPr>
          <p:cNvSpPr txBox="1"/>
          <p:nvPr/>
        </p:nvSpPr>
        <p:spPr>
          <a:xfrm>
            <a:off x="6646863" y="5851525"/>
            <a:ext cx="820737" cy="32067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12700">
              <a:spcBef>
                <a:spcPts val="105"/>
              </a:spcBef>
              <a:defRPr/>
            </a:pPr>
            <a:r>
              <a:rPr sz="2000" dirty="0">
                <a:latin typeface="Cambria Math"/>
                <a:cs typeface="Cambria Math"/>
              </a:rPr>
              <a:t>=</a:t>
            </a:r>
            <a:r>
              <a:rPr sz="2000" spc="45" dirty="0">
                <a:latin typeface="Cambria Math"/>
                <a:cs typeface="Cambria Math"/>
              </a:rPr>
              <a:t> </a:t>
            </a:r>
            <a:r>
              <a:rPr lang="en-US" sz="2000" spc="45" dirty="0">
                <a:latin typeface="Cambria Math"/>
                <a:cs typeface="Cambria Math"/>
              </a:rPr>
              <a:t> </a:t>
            </a:r>
            <a:r>
              <a:rPr sz="2000" dirty="0">
                <a:latin typeface="Cambria Math"/>
                <a:cs typeface="Cambria Math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F65ED9A5-C548-234D-958B-61CF6326E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788988"/>
          </a:xfrm>
        </p:spPr>
        <p:txBody>
          <a:bodyPr/>
          <a:lstStyle/>
          <a:p>
            <a:pPr eaLnBrk="1" hangingPunct="1"/>
            <a:r>
              <a:rPr lang="en-US" altLang="en-US" sz="4000"/>
              <a:t>IRR: Trial and Error for investment A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76C78DBD-A075-505F-6CE9-8E8A3FD0F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479800"/>
            <a:ext cx="8229600" cy="26177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To be more accurate, the results can be interpolated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1800"/>
              <a:t>Distance of 10177 – 9874 = $303 	[10% -&gt; 12%]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1800"/>
              <a:t>Distance of 10177 – 10000 = $177</a:t>
            </a:r>
          </a:p>
          <a:p>
            <a:pPr lvl="2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1800"/>
              <a:t>(177 / 303) * 2 = </a:t>
            </a:r>
            <a:r>
              <a:rPr lang="en-US" altLang="en-US" sz="1800">
                <a:sym typeface="Wingdings" pitchFamily="2" charset="2"/>
              </a:rPr>
              <a:t>1.17%</a:t>
            </a:r>
          </a:p>
          <a:p>
            <a:pPr lvl="2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1800">
                <a:sym typeface="Wingdings" pitchFamily="2" charset="2"/>
              </a:rPr>
              <a:t>So, the answer is 10% + 1.17 = 11.17% IRR 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/>
              <a:t>For investment B, the same process give IRR = 14.33%, </a:t>
            </a:r>
            <a:r>
              <a:rPr lang="en-US" altLang="en-US" sz="2000" b="1" i="1">
                <a:solidFill>
                  <a:srgbClr val="FF0000"/>
                </a:solidFill>
              </a:rPr>
              <a:t>which investment is better, then?</a:t>
            </a:r>
          </a:p>
        </p:txBody>
      </p:sp>
      <p:graphicFrame>
        <p:nvGraphicFramePr>
          <p:cNvPr id="47107" name="Object 2">
            <a:extLst>
              <a:ext uri="{FF2B5EF4-FFF2-40B4-BE49-F238E27FC236}">
                <a16:creationId xmlns:a16="http://schemas.microsoft.com/office/drawing/2014/main" id="{ED28B405-2D38-16DE-DE59-5712F59DA9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447800"/>
          <a:ext cx="8408988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864100" imgH="914400" progId="Excel.Sheet.12">
                  <p:embed/>
                </p:oleObj>
              </mc:Choice>
              <mc:Fallback>
                <p:oleObj name="Worksheet" r:id="rId2" imgW="4864100" imgH="914400" progId="Excel.Shee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447800"/>
                        <a:ext cx="8408988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5FA30B2B-52C4-F7A3-8F2B-8CEEDE3F9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Selection strategy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C703996C-B7C2-C1A1-507B-7D0362EFAB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43000"/>
            <a:ext cx="8153400" cy="5334000"/>
          </a:xfrm>
        </p:spPr>
        <p:txBody>
          <a:bodyPr/>
          <a:lstStyle/>
          <a:p>
            <a:pPr eaLnBrk="1" hangingPunct="1"/>
            <a:r>
              <a:rPr lang="en-US" altLang="en-US" sz="2000"/>
              <a:t>For IRR and NPV, to be acceptable, the profitability must equal or exceed the cost of capital</a:t>
            </a:r>
          </a:p>
          <a:p>
            <a:pPr eaLnBrk="1" hangingPunct="1"/>
            <a:r>
              <a:rPr lang="en-US" altLang="en-US" sz="2000"/>
              <a:t>If investments (projects) are </a:t>
            </a:r>
            <a:r>
              <a:rPr lang="en-US" altLang="en-US" sz="2000" i="1" u="sng"/>
              <a:t>mutually exclusive</a:t>
            </a:r>
            <a:r>
              <a:rPr lang="en-US" altLang="en-US" sz="2000"/>
              <a:t>, then only one of which will be picked.</a:t>
            </a:r>
          </a:p>
          <a:p>
            <a:pPr eaLnBrk="1" hangingPunct="1"/>
            <a:r>
              <a:rPr lang="en-US" altLang="en-US" sz="2000"/>
              <a:t>Example</a:t>
            </a:r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eaLnBrk="1" hangingPunct="1"/>
            <a:endParaRPr lang="en-US" altLang="en-US" sz="2000"/>
          </a:p>
          <a:p>
            <a:pPr lvl="1" eaLnBrk="1" hangingPunct="1"/>
            <a:endParaRPr lang="en-US" altLang="en-US" sz="1800"/>
          </a:p>
          <a:p>
            <a:pPr lvl="1" eaLnBrk="1" hangingPunct="1"/>
            <a:r>
              <a:rPr lang="en-US" altLang="en-US" sz="1800"/>
              <a:t>If the investment is mutually exclusive, which project will be selected?</a:t>
            </a:r>
          </a:p>
          <a:p>
            <a:pPr lvl="1" eaLnBrk="1" hangingPunct="1"/>
            <a:r>
              <a:rPr lang="en-US" altLang="en-US" sz="1800"/>
              <a:t>If not mutually exclusive, which projects will be selected?</a:t>
            </a:r>
          </a:p>
          <a:p>
            <a:pPr eaLnBrk="1" hangingPunct="1"/>
            <a:r>
              <a:rPr lang="en-US" altLang="en-US" sz="2000"/>
              <a:t>What about the investments in Table 12-3, if cost of capital is 12%</a:t>
            </a:r>
          </a:p>
        </p:txBody>
      </p:sp>
      <p:graphicFrame>
        <p:nvGraphicFramePr>
          <p:cNvPr id="48131" name="Object 55">
            <a:extLst>
              <a:ext uri="{FF2B5EF4-FFF2-40B4-BE49-F238E27FC236}">
                <a16:creationId xmlns:a16="http://schemas.microsoft.com/office/drawing/2014/main" id="{4FD9ACD1-AC72-915F-D3E9-BC1F26A37B3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362200" y="2617788"/>
          <a:ext cx="3124200" cy="157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92300" imgH="952500" progId="Excel.Sheet.8">
                  <p:embed/>
                </p:oleObj>
              </mc:Choice>
              <mc:Fallback>
                <p:oleObj name="Worksheet" r:id="rId3" imgW="1892300" imgH="952500" progId="Excel.Sheet.8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617788"/>
                        <a:ext cx="3124200" cy="157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85" name="AutoShape 5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ABFB3D5-2EA6-EF55-98BC-FB503E786A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6172200"/>
            <a:ext cx="609600" cy="304800"/>
          </a:xfrm>
          <a:prstGeom prst="actionButtonBackPrevious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734DC292-FE93-678F-A647-AFCB21923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381000"/>
            <a:ext cx="8620125" cy="762000"/>
          </a:xfrm>
          <a:noFill/>
        </p:spPr>
        <p:txBody>
          <a:bodyPr/>
          <a:lstStyle/>
          <a:p>
            <a:pPr eaLnBrk="1" hangingPunct="1"/>
            <a:r>
              <a:rPr lang="en-US" altLang="en-US"/>
              <a:t>Accept/Reject Decision		</a:t>
            </a:r>
            <a:endParaRPr lang="en-US" altLang="en-US" sz="250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3FA9BE5E-3745-3599-297D-F59FAD2FC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2575" y="1935163"/>
            <a:ext cx="8551863" cy="45735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Payback Method (PB):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if PB period &lt; cutoff period, </a:t>
            </a:r>
            <a:r>
              <a:rPr lang="en-US" altLang="en-US" u="sng" dirty="0"/>
              <a:t>accept</a:t>
            </a:r>
            <a:r>
              <a:rPr lang="en-US" altLang="en-US" dirty="0"/>
              <a:t> the project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if PB period &gt; cutoff period, </a:t>
            </a:r>
            <a:r>
              <a:rPr lang="en-US" altLang="en-US" u="sng" dirty="0"/>
              <a:t>reject</a:t>
            </a:r>
            <a:r>
              <a:rPr lang="en-US" altLang="en-US" dirty="0"/>
              <a:t> the project</a:t>
            </a:r>
          </a:p>
          <a:p>
            <a:pPr eaLnBrk="1" hangingPunct="1">
              <a:buNone/>
            </a:pPr>
            <a:r>
              <a:rPr lang="en-US" altLang="en-US" dirty="0"/>
              <a:t>Net Present Value (NPV):</a:t>
            </a:r>
          </a:p>
          <a:p>
            <a:pPr lvl="1" eaLnBrk="1" hangingPunct="1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if NPV &gt; 0, </a:t>
            </a:r>
            <a:r>
              <a:rPr lang="en-US" altLang="en-US" u="sng" dirty="0"/>
              <a:t>accept</a:t>
            </a:r>
            <a:r>
              <a:rPr lang="en-US" altLang="en-US" dirty="0"/>
              <a:t> the project</a:t>
            </a:r>
          </a:p>
          <a:p>
            <a:pPr lvl="1" eaLnBrk="1" hangingPunct="1"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if NPV &lt; 0, </a:t>
            </a:r>
            <a:r>
              <a:rPr lang="en-US" altLang="en-US" u="sng" dirty="0"/>
              <a:t>reject</a:t>
            </a:r>
            <a:r>
              <a:rPr lang="en-US" altLang="en-US" dirty="0"/>
              <a:t> the project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/>
              <a:t>Internal Rate of Return (IRR):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if IRR &gt; cost of capital, </a:t>
            </a:r>
            <a:r>
              <a:rPr lang="en-US" altLang="en-US" u="sng" dirty="0"/>
              <a:t>accept</a:t>
            </a:r>
            <a:r>
              <a:rPr lang="en-US" altLang="en-US" dirty="0"/>
              <a:t> the project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en-US" dirty="0">
                <a:cs typeface="Times New Roman" panose="02020603050405020304" pitchFamily="18" charset="0"/>
              </a:rPr>
              <a:t>–</a:t>
            </a:r>
            <a:r>
              <a:rPr lang="en-US" altLang="en-US" dirty="0"/>
              <a:t> if IRR &lt; cost of capital, </a:t>
            </a:r>
            <a:r>
              <a:rPr lang="en-US" altLang="en-US" u="sng" dirty="0"/>
              <a:t>reject</a:t>
            </a:r>
            <a:r>
              <a:rPr lang="en-US" altLang="en-US" dirty="0"/>
              <a:t> the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object 3">
            <a:extLst>
              <a:ext uri="{FF2B5EF4-FFF2-40B4-BE49-F238E27FC236}">
                <a16:creationId xmlns:a16="http://schemas.microsoft.com/office/drawing/2014/main" id="{8AB2B0C5-1264-9BC9-BEA4-E58865F9BED2}"/>
              </a:ext>
            </a:extLst>
          </p:cNvPr>
          <p:cNvSpPr>
            <a:spLocks/>
          </p:cNvSpPr>
          <p:nvPr/>
        </p:nvSpPr>
        <p:spPr bwMode="auto">
          <a:xfrm>
            <a:off x="454025" y="5681663"/>
            <a:ext cx="120650" cy="142875"/>
          </a:xfrm>
          <a:custGeom>
            <a:avLst/>
            <a:gdLst>
              <a:gd name="T0" fmla="*/ 0 w 160654"/>
              <a:gd name="T1" fmla="*/ 0 h 191134"/>
              <a:gd name="T2" fmla="*/ 0 w 160654"/>
              <a:gd name="T3" fmla="*/ 33297 h 191134"/>
              <a:gd name="T4" fmla="*/ 28777 w 160654"/>
              <a:gd name="T5" fmla="*/ 16649 h 191134"/>
              <a:gd name="T6" fmla="*/ 0 w 160654"/>
              <a:gd name="T7" fmla="*/ 0 h 19113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60654" h="191134">
                <a:moveTo>
                  <a:pt x="0" y="0"/>
                </a:moveTo>
                <a:lnTo>
                  <a:pt x="0" y="190855"/>
                </a:lnTo>
                <a:lnTo>
                  <a:pt x="160413" y="95427"/>
                </a:lnTo>
                <a:lnTo>
                  <a:pt x="0" y="0"/>
                </a:lnTo>
                <a:close/>
              </a:path>
            </a:pathLst>
          </a:custGeom>
          <a:solidFill>
            <a:srgbClr val="F86A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51202" name="object 4">
            <a:extLst>
              <a:ext uri="{FF2B5EF4-FFF2-40B4-BE49-F238E27FC236}">
                <a16:creationId xmlns:a16="http://schemas.microsoft.com/office/drawing/2014/main" id="{D229F0EA-23F5-3583-E1B5-6FD6795EE527}"/>
              </a:ext>
            </a:extLst>
          </p:cNvPr>
          <p:cNvSpPr>
            <a:spLocks/>
          </p:cNvSpPr>
          <p:nvPr/>
        </p:nvSpPr>
        <p:spPr bwMode="auto">
          <a:xfrm>
            <a:off x="3336925" y="1824038"/>
            <a:ext cx="4741863" cy="238125"/>
          </a:xfrm>
          <a:custGeom>
            <a:avLst/>
            <a:gdLst>
              <a:gd name="T0" fmla="*/ 0 w 6322059"/>
              <a:gd name="T1" fmla="*/ 56397 h 317500"/>
              <a:gd name="T2" fmla="*/ 1125550 w 6322059"/>
              <a:gd name="T3" fmla="*/ 56397 h 317500"/>
              <a:gd name="T4" fmla="*/ 1125550 w 6322059"/>
              <a:gd name="T5" fmla="*/ 0 h 317500"/>
              <a:gd name="T6" fmla="*/ 0 w 6322059"/>
              <a:gd name="T7" fmla="*/ 0 h 317500"/>
              <a:gd name="T8" fmla="*/ 0 w 6322059"/>
              <a:gd name="T9" fmla="*/ 56397 h 3175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22059" h="317500">
                <a:moveTo>
                  <a:pt x="0" y="316872"/>
                </a:moveTo>
                <a:lnTo>
                  <a:pt x="6321523" y="316872"/>
                </a:lnTo>
                <a:lnTo>
                  <a:pt x="6321523" y="0"/>
                </a:lnTo>
                <a:lnTo>
                  <a:pt x="0" y="0"/>
                </a:lnTo>
                <a:lnTo>
                  <a:pt x="0" y="31687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TH"/>
          </a:p>
        </p:txBody>
      </p:sp>
      <p:sp>
        <p:nvSpPr>
          <p:cNvPr id="51203" name="object 9">
            <a:extLst>
              <a:ext uri="{FF2B5EF4-FFF2-40B4-BE49-F238E27FC236}">
                <a16:creationId xmlns:a16="http://schemas.microsoft.com/office/drawing/2014/main" id="{131EB6D1-8969-691F-7789-2E0C604D54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857250"/>
            <a:ext cx="0" cy="7397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476" rIns="0" bIns="0">
            <a:spAutoFit/>
          </a:bodyPr>
          <a:lstStyle>
            <a:lvl1pPr marL="1905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0" hangingPunct="0">
              <a:spcBef>
                <a:spcPct val="0"/>
              </a:spcBef>
              <a:buClrTx/>
              <a:buSzTx/>
              <a:buFontTx/>
              <a:buNone/>
            </a:pPr>
            <a:fld id="{8214CD24-342F-DC43-AB8D-6A8E9BAF265F}" type="slidenum">
              <a:rPr lang="en-US" altLang="en-US" sz="2400" b="1" smtClean="0">
                <a:solidFill>
                  <a:srgbClr val="790015"/>
                </a:solidFill>
              </a:rPr>
              <a:pPr algn="l" eaLnBrk="0" hangingPunct="0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2400" b="1">
              <a:solidFill>
                <a:srgbClr val="790015"/>
              </a:solidFill>
            </a:endParaRPr>
          </a:p>
        </p:txBody>
      </p:sp>
      <p:sp>
        <p:nvSpPr>
          <p:cNvPr id="51204" name="object 7">
            <a:extLst>
              <a:ext uri="{FF2B5EF4-FFF2-40B4-BE49-F238E27FC236}">
                <a16:creationId xmlns:a16="http://schemas.microsoft.com/office/drawing/2014/main" id="{4631DA71-3E02-CABC-DF9F-F3E50F8BD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822575"/>
            <a:ext cx="7848600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049" rIns="0" bIns="0">
            <a:spAutoFit/>
          </a:bodyPr>
          <a:lstStyle>
            <a:lvl1pPr marL="214313" indent="-204788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tabLst>
                <a:tab pos="214313" algn="l"/>
              </a:tabLst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tabLst>
                <a:tab pos="214313" algn="l"/>
              </a:tabLst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tabLst>
                <a:tab pos="214313" algn="l"/>
              </a:tabLst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tabLst>
                <a:tab pos="214313" algn="l"/>
              </a:tabLst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75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00279F"/>
                </a:solidFill>
                <a:latin typeface="Wingdings 3" pitchFamily="2" charset="2"/>
              </a:rPr>
              <a:t></a:t>
            </a:r>
            <a:r>
              <a:rPr lang="en-US" altLang="en-US" sz="20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b="0" dirty="0">
                <a:solidFill>
                  <a:srgbClr val="00279F"/>
                </a:solidFill>
                <a:latin typeface="Gill Sans MT" panose="020B0502020104020203" pitchFamily="34" charset="77"/>
              </a:rPr>
              <a:t>Project A has a much smaller outlay than project B,  although  they have similar cash flow pattern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00279F"/>
                </a:solidFill>
                <a:latin typeface="Wingdings 3" pitchFamily="2" charset="2"/>
              </a:rPr>
              <a:t></a:t>
            </a:r>
            <a:r>
              <a:rPr lang="en-US" altLang="en-US" sz="20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b="0" dirty="0">
                <a:solidFill>
                  <a:srgbClr val="00279F"/>
                </a:solidFill>
                <a:latin typeface="Gill Sans MT" panose="020B0502020104020203" pitchFamily="34" charset="77"/>
              </a:rPr>
              <a:t>However, size of project B is larger than size of project A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00279F"/>
                </a:solidFill>
                <a:latin typeface="Wingdings 3" pitchFamily="2" charset="2"/>
              </a:rPr>
              <a:t></a:t>
            </a:r>
            <a:r>
              <a:rPr lang="en-US" altLang="en-US" sz="20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000" b="0" dirty="0">
                <a:solidFill>
                  <a:srgbClr val="00279F"/>
                </a:solidFill>
                <a:latin typeface="Gill Sans MT" panose="020B0502020104020203" pitchFamily="34" charset="77"/>
              </a:rPr>
              <a:t>Would you rather have a small project with higher IRR or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00279F"/>
                </a:solidFill>
                <a:latin typeface="Gill Sans MT" panose="020B0502020104020203" pitchFamily="34" charset="77"/>
              </a:rPr>
              <a:t>large project with lower IRR?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0027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000" b="0" dirty="0">
                <a:solidFill>
                  <a:srgbClr val="00279F"/>
                </a:solidFill>
                <a:latin typeface="Gill Sans MT" panose="020B0502020104020203" pitchFamily="34" charset="77"/>
              </a:rPr>
              <a:t>In this case, the larger project with lower IRR has better NPV</a:t>
            </a:r>
          </a:p>
          <a:p>
            <a:pPr>
              <a:spcBef>
                <a:spcPts val="450"/>
              </a:spcBef>
              <a:buClrTx/>
              <a:buSzTx/>
              <a:buFontTx/>
              <a:buNone/>
            </a:pPr>
            <a:r>
              <a:rPr lang="en-US" altLang="en-US" sz="2000" b="0" dirty="0">
                <a:solidFill>
                  <a:srgbClr val="797A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000" dirty="0">
                <a:solidFill>
                  <a:srgbClr val="790015"/>
                </a:solidFill>
                <a:latin typeface="Gill Sans MT" panose="020B0502020104020203" pitchFamily="34" charset="77"/>
              </a:rPr>
              <a:t>&lt;&lt;&lt;NPV shows the amount of gain, or wealth increase&gt;&gt;&gt;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3872EEE-C1A8-235A-129A-1193BAF628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9738" y="438150"/>
            <a:ext cx="8628062" cy="563563"/>
          </a:xfrm>
        </p:spPr>
        <p:txBody>
          <a:bodyPr lIns="0" tIns="10001" rIns="0" bIns="0" rtlCol="0">
            <a:spAutoFit/>
          </a:bodyPr>
          <a:lstStyle/>
          <a:p>
            <a:pPr marL="9525">
              <a:spcBef>
                <a:spcPts val="79"/>
              </a:spcBef>
              <a:defRPr/>
            </a:pPr>
            <a:r>
              <a:rPr sz="3600" spc="-4" dirty="0">
                <a:solidFill>
                  <a:srgbClr val="434342"/>
                </a:solidFill>
              </a:rPr>
              <a:t>Ranking conflict between </a:t>
            </a:r>
            <a:r>
              <a:rPr sz="3600" dirty="0">
                <a:solidFill>
                  <a:srgbClr val="434342"/>
                </a:solidFill>
              </a:rPr>
              <a:t>NPV </a:t>
            </a:r>
            <a:r>
              <a:rPr sz="3600" spc="-4" dirty="0">
                <a:solidFill>
                  <a:srgbClr val="434342"/>
                </a:solidFill>
              </a:rPr>
              <a:t>and </a:t>
            </a:r>
            <a:r>
              <a:rPr sz="3600" dirty="0">
                <a:solidFill>
                  <a:srgbClr val="434342"/>
                </a:solidFill>
              </a:rPr>
              <a:t>IRR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0637AF1-F59F-E1A9-FFB4-85F2DE4002B1}"/>
              </a:ext>
            </a:extLst>
          </p:cNvPr>
          <p:cNvGraphicFramePr>
            <a:graphicFrameLocks noGrp="1"/>
          </p:cNvGraphicFramePr>
          <p:nvPr/>
        </p:nvGraphicFramePr>
        <p:xfrm>
          <a:off x="1504950" y="1463675"/>
          <a:ext cx="6134100" cy="1196975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113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4763" marR="4763" marT="4768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NPV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IRR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A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$53.18 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$1.53 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34.90%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19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Project B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-400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170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$126.25 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$1.32 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25.21%</a:t>
                      </a:r>
                    </a:p>
                  </a:txBody>
                  <a:tcPr marL="4763" marR="4763" marT="4768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2A75657-6AC1-FC38-571C-48C26937ACB9}"/>
              </a:ext>
            </a:extLst>
          </p:cNvPr>
          <p:cNvSpPr/>
          <p:nvPr/>
        </p:nvSpPr>
        <p:spPr bwMode="auto">
          <a:xfrm>
            <a:off x="762000" y="4495800"/>
            <a:ext cx="8001000" cy="91440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TH" sz="2400" b="1" i="0" u="none" strike="noStrike" cap="none" normalizeH="0" baseline="0">
              <a:ln>
                <a:noFill/>
              </a:ln>
              <a:solidFill>
                <a:srgbClr val="79001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9E2D922A-3F76-A1A8-C6A1-6E15759D86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Risk-Adjusted Discount Rate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49F1569E-15F1-9A84-68C7-BCC9C292AF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Different capital expenditure proposals with different risk levels would require different discount rates</a:t>
            </a:r>
          </a:p>
          <a:p>
            <a:pPr lvl="1"/>
            <a:r>
              <a:rPr lang="en-US" altLang="en-US"/>
              <a:t>Project with normal amount of risk discounted at the cost of capital</a:t>
            </a:r>
          </a:p>
          <a:p>
            <a:pPr lvl="1"/>
            <a:r>
              <a:rPr lang="en-US" altLang="en-US"/>
              <a:t>Project with greater than normal risk discounted at higher rate (as shown in the following slide)</a:t>
            </a:r>
          </a:p>
          <a:p>
            <a:r>
              <a:rPr lang="en-IN" altLang="en-US"/>
              <a:t>Risk is assumed to be measured by the coefficient of variation (V)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3813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D6AF4E12-D540-BDA1-1AFB-ECBF5B6BD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533400"/>
            <a:ext cx="2438400" cy="2667000"/>
          </a:xfrm>
        </p:spPr>
        <p:txBody>
          <a:bodyPr/>
          <a:lstStyle/>
          <a:p>
            <a:r>
              <a:rPr lang="en-US" altLang="en-US" sz="3200"/>
              <a:t>Relationship of Risk </a:t>
            </a:r>
            <a:br>
              <a:rPr lang="en-US" altLang="en-US" sz="3200"/>
            </a:br>
            <a:r>
              <a:rPr lang="en-US" altLang="en-US" sz="3200"/>
              <a:t>to Discount Rate</a:t>
            </a:r>
          </a:p>
        </p:txBody>
      </p:sp>
      <p:pic>
        <p:nvPicPr>
          <p:cNvPr id="55301" name="Picture 5" descr="bLo27200_1305">
            <a:extLst>
              <a:ext uri="{FF2B5EF4-FFF2-40B4-BE49-F238E27FC236}">
                <a16:creationId xmlns:a16="http://schemas.microsoft.com/office/drawing/2014/main" id="{F3712019-39A5-8D4A-0102-E98515510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228600"/>
            <a:ext cx="6456362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2" name="Rectangle 6">
            <a:extLst>
              <a:ext uri="{FF2B5EF4-FFF2-40B4-BE49-F238E27FC236}">
                <a16:creationId xmlns:a16="http://schemas.microsoft.com/office/drawing/2014/main" id="{F54A559A-AC92-25EB-B93A-F14BCF1DC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791200"/>
            <a:ext cx="861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820024"/>
              </a:buClr>
              <a:buSzTx/>
              <a:buFontTx/>
              <a:buChar char="•"/>
            </a:pPr>
            <a:r>
              <a:rPr lang="en-IN" altLang="en-US" sz="2000">
                <a:solidFill>
                  <a:srgbClr val="080049"/>
                </a:solidFill>
              </a:rPr>
              <a:t>This is an example of being increasingly risk-averse at higher levels of risk and potential return</a:t>
            </a:r>
            <a:endParaRPr lang="en-US" altLang="en-US" sz="2000">
              <a:solidFill>
                <a:srgbClr val="0800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61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6B59B2E5-F22F-80AA-3397-64161E8014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Increasing Risk over Time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2DFFA4A3-5151-A896-5BD7-CE1710AA4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Accurate forecasting becomes more obscure farther out in time</a:t>
            </a:r>
          </a:p>
          <a:p>
            <a:r>
              <a:rPr lang="en-US" altLang="en-US"/>
              <a:t>Unexpected events:</a:t>
            </a:r>
          </a:p>
          <a:p>
            <a:pPr lvl="1"/>
            <a:r>
              <a:rPr lang="en-US" altLang="en-US"/>
              <a:t>Create a higher standard deviation in cash flows</a:t>
            </a:r>
          </a:p>
          <a:p>
            <a:pPr lvl="1"/>
            <a:r>
              <a:rPr lang="en-US" altLang="en-US"/>
              <a:t>Increase risk associated with long-lived projects</a:t>
            </a:r>
          </a:p>
          <a:p>
            <a:r>
              <a:rPr lang="en-US" altLang="en-US"/>
              <a:t>Use of progressively higher discount rates to compensate for risk tends to penalize later cash flows more than earlier ones</a:t>
            </a:r>
          </a:p>
        </p:txBody>
      </p:sp>
    </p:spTree>
    <p:extLst>
      <p:ext uri="{BB962C8B-B14F-4D97-AF65-F5344CB8AC3E}">
        <p14:creationId xmlns:p14="http://schemas.microsoft.com/office/powerpoint/2010/main" val="1905170340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57E8C37B-3FAD-C581-CB3B-CD5C52284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Qualitative Measures</a:t>
            </a:r>
          </a:p>
        </p:txBody>
      </p:sp>
      <p:sp>
        <p:nvSpPr>
          <p:cNvPr id="63490" name="Rectangle 3">
            <a:extLst>
              <a:ext uri="{FF2B5EF4-FFF2-40B4-BE49-F238E27FC236}">
                <a16:creationId xmlns:a16="http://schemas.microsoft.com/office/drawing/2014/main" id="{C3CC8243-5444-1DE8-5CBA-1245A7E8DA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Setting up of risk classes based on qualitative considerations</a:t>
            </a:r>
          </a:p>
          <a:p>
            <a:r>
              <a:rPr lang="en-US" altLang="en-US"/>
              <a:t>This again equates the discount rate to the perceived risk</a:t>
            </a:r>
          </a:p>
          <a:p>
            <a:r>
              <a:rPr lang="en-US" altLang="en-US"/>
              <a:t>Example of such risk classes illustrated in the following slide</a:t>
            </a:r>
          </a:p>
        </p:txBody>
      </p:sp>
    </p:spTree>
    <p:extLst>
      <p:ext uri="{BB962C8B-B14F-4D97-AF65-F5344CB8AC3E}">
        <p14:creationId xmlns:p14="http://schemas.microsoft.com/office/powerpoint/2010/main" val="4060269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7550A132-7741-F2B6-F89C-D02C4F967A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Risk Categories and Discount rates </a:t>
            </a:r>
          </a:p>
        </p:txBody>
      </p:sp>
      <p:pic>
        <p:nvPicPr>
          <p:cNvPr id="64514" name="Picture 3">
            <a:extLst>
              <a:ext uri="{FF2B5EF4-FFF2-40B4-BE49-F238E27FC236}">
                <a16:creationId xmlns:a16="http://schemas.microsoft.com/office/drawing/2014/main" id="{091D8303-5FB1-E6D9-1FF0-123A2A61C18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9" t="648" r="7309"/>
          <a:stretch>
            <a:fillRect/>
          </a:stretch>
        </p:blipFill>
        <p:spPr>
          <a:xfrm>
            <a:off x="1220788" y="1928813"/>
            <a:ext cx="6778625" cy="3586162"/>
          </a:xfrm>
          <a:noFill/>
          <a:ln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65611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>
            <a:extLst>
              <a:ext uri="{FF2B5EF4-FFF2-40B4-BE49-F238E27FC236}">
                <a16:creationId xmlns:a16="http://schemas.microsoft.com/office/drawing/2014/main" id="{118E5D69-814E-F492-2376-2FD10D671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Capital Budgeting Analysis</a:t>
            </a:r>
          </a:p>
        </p:txBody>
      </p:sp>
      <p:sp>
        <p:nvSpPr>
          <p:cNvPr id="99333" name="Rectangle 5">
            <a:extLst>
              <a:ext uri="{FF2B5EF4-FFF2-40B4-BE49-F238E27FC236}">
                <a16:creationId xmlns:a16="http://schemas.microsoft.com/office/drawing/2014/main" id="{5BD048D0-EF10-7C4B-63AF-F934235B1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610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820024"/>
              </a:buClr>
              <a:buSzTx/>
              <a:buFontTx/>
              <a:buChar char="•"/>
            </a:pPr>
            <a:r>
              <a:rPr lang="en-IN" altLang="en-US" sz="2000">
                <a:solidFill>
                  <a:srgbClr val="080049"/>
                </a:solidFill>
              </a:rPr>
              <a:t>This following table shows Investment B as a preferred investment based on NPV calculation without considering the risk factor</a:t>
            </a:r>
            <a:endParaRPr lang="en-US" altLang="en-US" sz="2000">
              <a:solidFill>
                <a:srgbClr val="080049"/>
              </a:solidFill>
            </a:endParaRPr>
          </a:p>
          <a:p>
            <a:pPr eaLnBrk="1" hangingPunct="1">
              <a:buClr>
                <a:srgbClr val="820024"/>
              </a:buClr>
              <a:buSzTx/>
              <a:buFontTx/>
              <a:buNone/>
            </a:pPr>
            <a:r>
              <a:rPr lang="en-US" altLang="en-US" sz="2000">
                <a:solidFill>
                  <a:srgbClr val="080049"/>
                </a:solidFill>
              </a:rPr>
              <a:t>  </a:t>
            </a:r>
            <a:r>
              <a:rPr lang="en-US" altLang="en-US" sz="2000">
                <a:solidFill>
                  <a:srgbClr val="FF0000"/>
                </a:solidFill>
              </a:rPr>
              <a:t>Table 13–4</a:t>
            </a:r>
          </a:p>
        </p:txBody>
      </p:sp>
      <p:pic>
        <p:nvPicPr>
          <p:cNvPr id="65539" name="Picture 6">
            <a:extLst>
              <a:ext uri="{FF2B5EF4-FFF2-40B4-BE49-F238E27FC236}">
                <a16:creationId xmlns:a16="http://schemas.microsoft.com/office/drawing/2014/main" id="{33B90235-B70A-10D8-64B6-7118344F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971800"/>
            <a:ext cx="81026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667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8A2D4F17-87A7-9AA9-F8CB-845019CD1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30213"/>
            <a:ext cx="8229600" cy="788987"/>
          </a:xfrm>
        </p:spPr>
        <p:txBody>
          <a:bodyPr/>
          <a:lstStyle/>
          <a:p>
            <a:r>
              <a:rPr lang="en-US" altLang="en-US" sz="4000"/>
              <a:t>Capital Budgeting Decision Adjusted for Risk: Example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00062F08-0630-D342-6A32-2C8DDD305A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FF0000"/>
                </a:solidFill>
              </a:rPr>
              <a:t>Investment A </a:t>
            </a:r>
            <a:r>
              <a:rPr lang="en-US" altLang="en-US"/>
              <a:t>calls for an addition to normal product line and is assigned discount rate of 10%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Investment B </a:t>
            </a:r>
            <a:r>
              <a:rPr lang="en-US" altLang="en-US"/>
              <a:t>represents a new product in foreign market and must carry 20% discount rate to adjust for a large risk component</a:t>
            </a:r>
            <a:endParaRPr lang="en-US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097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D4C6F8AC-4049-5517-5614-FAA66D1B5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/>
              <a:t>Capital Budgeting Decision Adjusted for Risk: Example (cont’d)</a:t>
            </a:r>
          </a:p>
        </p:txBody>
      </p:sp>
      <p:sp>
        <p:nvSpPr>
          <p:cNvPr id="98310" name="Rectangle 6">
            <a:extLst>
              <a:ext uri="{FF2B5EF4-FFF2-40B4-BE49-F238E27FC236}">
                <a16:creationId xmlns:a16="http://schemas.microsoft.com/office/drawing/2014/main" id="{968AEBE0-28FE-9D87-D788-1A1D819B6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419600"/>
            <a:ext cx="8610600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/>
          <a:p>
            <a:pPr eaLnBrk="1" hangingPunct="1">
              <a:spcBef>
                <a:spcPct val="20000"/>
              </a:spcBef>
              <a:buClr>
                <a:srgbClr val="820024"/>
              </a:buClr>
              <a:defRPr/>
            </a:pPr>
            <a:endParaRPr lang="en-IN" sz="2000" dirty="0">
              <a:solidFill>
                <a:srgbClr val="080049"/>
              </a:solidFill>
              <a:cs typeface="Arial" charset="0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rgbClr val="820024"/>
              </a:buClr>
              <a:buFontTx/>
              <a:buChar char="•"/>
              <a:defRPr/>
            </a:pPr>
            <a:r>
              <a:rPr lang="en-IN" sz="2000" dirty="0">
                <a:solidFill>
                  <a:srgbClr val="080049"/>
                </a:solidFill>
                <a:cs typeface="Arial" charset="0"/>
              </a:rPr>
              <a:t>Investment A is the only acceptable alternative after adjusting the risk factor</a:t>
            </a:r>
            <a:endParaRPr lang="en-US" sz="2000" dirty="0">
              <a:solidFill>
                <a:srgbClr val="080049"/>
              </a:solidFill>
              <a:cs typeface="Arial" charset="0"/>
            </a:endParaRPr>
          </a:p>
        </p:txBody>
      </p:sp>
      <p:pic>
        <p:nvPicPr>
          <p:cNvPr id="67587" name="Picture 7">
            <a:extLst>
              <a:ext uri="{FF2B5EF4-FFF2-40B4-BE49-F238E27FC236}">
                <a16:creationId xmlns:a16="http://schemas.microsoft.com/office/drawing/2014/main" id="{FA93AC70-11CB-BFE5-E475-6439A786A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70585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115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EBC3686B-065E-5F71-49DF-EA42F7BB2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686800" cy="560388"/>
          </a:xfrm>
        </p:spPr>
        <p:txBody>
          <a:bodyPr/>
          <a:lstStyle/>
          <a:p>
            <a:pPr eaLnBrk="1" hangingPunct="1"/>
            <a:r>
              <a:rPr lang="en-US" altLang="en-US" sz="3200">
                <a:solidFill>
                  <a:srgbClr val="00279F"/>
                </a:solidFill>
              </a:rPr>
              <a:t>Combining cash flow analysis and selection strategy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086E0317-944C-F527-60E3-E362FF120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altLang="en-US" sz="2400"/>
              <a:t>The rule of depreciation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400"/>
              <a:t>calculate a depreciation schedule using the appropriate MACRS class 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1800"/>
              <a:t>MACRS = Modified accelerated cost recovery system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1800"/>
              <a:t>Some referred as ADR = asset depreciation range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1800"/>
              <a:t>Asset can  be written off more rapidly than the midpoint of their ADR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1800"/>
              <a:t>If midpoint of an asset’s useful life = 4 years, then it might be written off over 3 years. (</a:t>
            </a:r>
            <a:r>
              <a:rPr lang="en-US" altLang="en-US" sz="1800">
                <a:hlinkClick r:id="rId2" action="ppaction://hlinksldjump"/>
              </a:rPr>
              <a:t>Table 12-8</a:t>
            </a:r>
            <a:r>
              <a:rPr lang="en-US" altLang="en-US" sz="1800"/>
              <a:t>)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/>
              <a:t>The rate of depreciation (in US) is developed with the use of the half-year convention (treats as if it were put in service in midyear)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1800"/>
              <a:t>Refer to </a:t>
            </a:r>
            <a:r>
              <a:rPr lang="en-US" altLang="en-US" sz="1800">
                <a:hlinkClick r:id="rId3" action="ppaction://hlinksldjump"/>
              </a:rPr>
              <a:t>Table 12-9</a:t>
            </a:r>
            <a:endParaRPr lang="en-US" altLang="en-US" sz="1800"/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2000">
                <a:hlinkClick r:id="rId4" action="ppaction://hlinksldjump"/>
              </a:rPr>
              <a:t>Table 12-10 </a:t>
            </a:r>
            <a:r>
              <a:rPr lang="en-US" altLang="en-US" sz="2000"/>
              <a:t>shows the depreciation schedule for a $50,000 asset you purchase, if it falls in 5-yr MACRS category.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endParaRPr lang="en-US" altLang="en-US"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3">
            <a:extLst>
              <a:ext uri="{FF2B5EF4-FFF2-40B4-BE49-F238E27FC236}">
                <a16:creationId xmlns:a16="http://schemas.microsoft.com/office/drawing/2014/main" id="{30E353CC-1D2F-A480-BDB9-73910A390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048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12-8</a:t>
            </a:r>
          </a:p>
        </p:txBody>
      </p:sp>
      <p:pic>
        <p:nvPicPr>
          <p:cNvPr id="53250" name="Picture 4" descr="Table 12-8">
            <a:extLst>
              <a:ext uri="{FF2B5EF4-FFF2-40B4-BE49-F238E27FC236}">
                <a16:creationId xmlns:a16="http://schemas.microsoft.com/office/drawing/2014/main" id="{56B91445-47BF-CE8F-CAD4-63B0B5BE3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125" y="639763"/>
            <a:ext cx="7686675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Text Box 5">
            <a:extLst>
              <a:ext uri="{FF2B5EF4-FFF2-40B4-BE49-F238E27FC236}">
                <a16:creationId xmlns:a16="http://schemas.microsoft.com/office/drawing/2014/main" id="{F1C844F2-CCF4-E189-9455-7F65AAE74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-31750"/>
            <a:ext cx="41497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12-8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Categories for depreciation write-off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4" descr="Table 12-9">
            <a:extLst>
              <a:ext uri="{FF2B5EF4-FFF2-40B4-BE49-F238E27FC236}">
                <a16:creationId xmlns:a16="http://schemas.microsoft.com/office/drawing/2014/main" id="{27AE7416-8E40-BCFD-5BE1-19260C429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0"/>
            <a:ext cx="7315200" cy="619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4" name="Text Box 5">
            <a:extLst>
              <a:ext uri="{FF2B5EF4-FFF2-40B4-BE49-F238E27FC236}">
                <a16:creationId xmlns:a16="http://schemas.microsoft.com/office/drawing/2014/main" id="{FB513135-73A8-25B0-DEAA-952CBBACC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981200"/>
            <a:ext cx="16002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12-9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Depreciation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percentages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(expressed in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decimals)</a:t>
            </a:r>
          </a:p>
        </p:txBody>
      </p:sp>
      <p:sp>
        <p:nvSpPr>
          <p:cNvPr id="92166" name="AutoShape 6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448CCD57-78B3-EDC3-1FEC-9FA85CE07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791200"/>
            <a:ext cx="762000" cy="762000"/>
          </a:xfrm>
          <a:prstGeom prst="actionButtonReturn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97B5-0AEA-DECC-18B9-F4E6246E7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458200" cy="788987"/>
          </a:xfrm>
        </p:spPr>
        <p:txBody>
          <a:bodyPr/>
          <a:lstStyle/>
          <a:p>
            <a:r>
              <a:rPr lang="en-TH" dirty="0"/>
              <a:t>Depreciation write-off rate (Thailand)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A512E-946F-9B1F-6A09-BEA609819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H" dirty="0"/>
              <a:t>According to GFMIS (</a:t>
            </a:r>
            <a:r>
              <a:rPr lang="th-TH" dirty="0"/>
              <a:t>กรมบัญชีกลาง)</a:t>
            </a:r>
            <a:endParaRPr lang="en-T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494BE-AD5E-FD85-61D8-3EB05364D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52600"/>
            <a:ext cx="7772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18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7CB421FC-57DE-33D8-1D43-2FCF42838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13750" cy="533400"/>
          </a:xfrm>
          <a:noFill/>
        </p:spPr>
        <p:txBody>
          <a:bodyPr/>
          <a:lstStyle/>
          <a:p>
            <a:pPr eaLnBrk="1" hangingPunct="1"/>
            <a:r>
              <a:rPr lang="en-US" altLang="en-US" sz="3600" dirty="0">
                <a:latin typeface="Times New Roman" panose="02020603050405020304" pitchFamily="18" charset="0"/>
              </a:rPr>
              <a:t>Investment decision with more practical</a:t>
            </a:r>
            <a:r>
              <a:rPr lang="en-US" altLang="en-US" sz="3600" dirty="0"/>
              <a:t>	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EB148DFE-C47D-55CD-76B2-D83B74FAE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5175" cy="5334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To make the investment decision in a more realistic business case: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Calculate the depreciation schedule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Figure earnings, expenses and cash flow (CF)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Discount the cash flows back to the present to determine whether the machine should be purchased  (only if NPV &gt; 0)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altLang="en-US" sz="2400" dirty="0">
              <a:solidFill>
                <a:srgbClr val="00279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B58B0-64F2-AB74-76FB-A05E7690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30CAFA89-0DDB-6915-7E1D-14EB93143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13750" cy="533400"/>
          </a:xfrm>
          <a:noFill/>
        </p:spPr>
        <p:txBody>
          <a:bodyPr/>
          <a:lstStyle/>
          <a:p>
            <a:pPr eaLnBrk="1" hangingPunct="1"/>
            <a:r>
              <a:rPr lang="en-US" altLang="en-US" sz="3600" dirty="0">
                <a:latin typeface="Times New Roman" panose="02020603050405020304" pitchFamily="18" charset="0"/>
              </a:rPr>
              <a:t>Sample Case of Investment decision </a:t>
            </a:r>
            <a:r>
              <a:rPr lang="en-US" altLang="en-US" sz="3600" dirty="0"/>
              <a:t>	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2AEC3C2D-FB76-D31E-94BC-CFF734784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385175" cy="53340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Example: a $50,000 Investing decision: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buFont typeface="Wingdings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</a:t>
            </a:r>
            <a:r>
              <a:rPr lang="en-US" altLang="en-US" sz="2400" dirty="0">
                <a:solidFill>
                  <a:srgbClr val="00279F"/>
                </a:solidFill>
                <a:latin typeface="Times New Roman" panose="02020603050405020304" pitchFamily="18" charset="0"/>
              </a:rPr>
              <a:t>Given the depreciation schedule as in Table 12-10 (5-yrs MACRS), if the project will generate income of $18,500 for the first 3 yrs, and $12,000 for the last 3 yrs, tax rate of 35%, and a cost of capital of 10%, should we invest this project?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endParaRPr lang="en-US" altLang="en-US" sz="2400" dirty="0">
              <a:solidFill>
                <a:srgbClr val="00279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57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ext Box 3">
            <a:extLst>
              <a:ext uri="{FF2B5EF4-FFF2-40B4-BE49-F238E27FC236}">
                <a16:creationId xmlns:a16="http://schemas.microsoft.com/office/drawing/2014/main" id="{8270DDAA-D1F0-CE9A-5A2B-0A544CC6E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2286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12-10</a:t>
            </a:r>
          </a:p>
        </p:txBody>
      </p:sp>
      <p:pic>
        <p:nvPicPr>
          <p:cNvPr id="56322" name="Picture 4" descr="Table 12-10">
            <a:extLst>
              <a:ext uri="{FF2B5EF4-FFF2-40B4-BE49-F238E27FC236}">
                <a16:creationId xmlns:a16="http://schemas.microsoft.com/office/drawing/2014/main" id="{6CB6D17D-066C-ABAC-6EDE-66F439A22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11375"/>
            <a:ext cx="8686800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3" name="Text Box 5">
            <a:extLst>
              <a:ext uri="{FF2B5EF4-FFF2-40B4-BE49-F238E27FC236}">
                <a16:creationId xmlns:a16="http://schemas.microsoft.com/office/drawing/2014/main" id="{6DF42F4A-DF79-C143-FDB6-CD882FABC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1387475"/>
            <a:ext cx="25733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12-10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Depreciation schedule</a:t>
            </a:r>
          </a:p>
        </p:txBody>
      </p:sp>
      <p:sp>
        <p:nvSpPr>
          <p:cNvPr id="93191" name="AutoShape 7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6406B9E5-B7D2-DAB5-98BC-6C3AD29A4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6096000"/>
            <a:ext cx="838200" cy="762000"/>
          </a:xfrm>
          <a:prstGeom prst="actionButtonReturn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3">
            <a:extLst>
              <a:ext uri="{FF2B5EF4-FFF2-40B4-BE49-F238E27FC236}">
                <a16:creationId xmlns:a16="http://schemas.microsoft.com/office/drawing/2014/main" id="{D5AB6EAE-59FC-520D-F180-8C3D7836C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286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12-11</a:t>
            </a:r>
          </a:p>
        </p:txBody>
      </p:sp>
      <p:pic>
        <p:nvPicPr>
          <p:cNvPr id="57346" name="Picture 4" descr="Table 12-11">
            <a:extLst>
              <a:ext uri="{FF2B5EF4-FFF2-40B4-BE49-F238E27FC236}">
                <a16:creationId xmlns:a16="http://schemas.microsoft.com/office/drawing/2014/main" id="{C38EA4A6-27A2-A40C-CB13-824F36BE7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0" y="2516188"/>
            <a:ext cx="8791575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7" name="Text Box 5">
            <a:extLst>
              <a:ext uri="{FF2B5EF4-FFF2-40B4-BE49-F238E27FC236}">
                <a16:creationId xmlns:a16="http://schemas.microsoft.com/office/drawing/2014/main" id="{1138F732-F942-5458-00C7-770DEA2DC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1495425"/>
            <a:ext cx="27638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12-11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Cash flow related to the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purchase of machinery</a:t>
            </a:r>
          </a:p>
        </p:txBody>
      </p:sp>
      <p:sp>
        <p:nvSpPr>
          <p:cNvPr id="94214" name="AutoShape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C53820C-70FA-8A6C-BF38-1BFFB61B4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352800"/>
            <a:ext cx="533400" cy="457200"/>
          </a:xfrm>
          <a:prstGeom prst="actionButtonDocumen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3">
            <a:extLst>
              <a:ext uri="{FF2B5EF4-FFF2-40B4-BE49-F238E27FC236}">
                <a16:creationId xmlns:a16="http://schemas.microsoft.com/office/drawing/2014/main" id="{FAE59DDD-3F01-B8D2-E81F-7BD65EDC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28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PPT 12-12</a:t>
            </a:r>
          </a:p>
        </p:txBody>
      </p:sp>
      <p:sp>
        <p:nvSpPr>
          <p:cNvPr id="58370" name="Text Box 5">
            <a:extLst>
              <a:ext uri="{FF2B5EF4-FFF2-40B4-BE49-F238E27FC236}">
                <a16:creationId xmlns:a16="http://schemas.microsoft.com/office/drawing/2014/main" id="{E22B1E62-574A-9792-2413-64C1BFEAA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" y="1651000"/>
            <a:ext cx="2073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TABLE 12-12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Net present value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 sz="2000">
                <a:latin typeface="Times New Roman" panose="02020603050405020304" pitchFamily="18" charset="0"/>
              </a:rPr>
              <a:t>analysis</a:t>
            </a:r>
          </a:p>
        </p:txBody>
      </p:sp>
      <p:pic>
        <p:nvPicPr>
          <p:cNvPr id="58371" name="Picture 8" descr="E26DD5C1">
            <a:extLst>
              <a:ext uri="{FF2B5EF4-FFF2-40B4-BE49-F238E27FC236}">
                <a16:creationId xmlns:a16="http://schemas.microsoft.com/office/drawing/2014/main" id="{CA26343C-92F8-83D1-F1FB-129D8DD98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1" t="4404" r="18478" b="9724"/>
          <a:stretch>
            <a:fillRect/>
          </a:stretch>
        </p:blipFill>
        <p:spPr bwMode="auto">
          <a:xfrm>
            <a:off x="2209800" y="1066800"/>
            <a:ext cx="64008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2" name="Text Box 9">
            <a:extLst>
              <a:ext uri="{FF2B5EF4-FFF2-40B4-BE49-F238E27FC236}">
                <a16:creationId xmlns:a16="http://schemas.microsoft.com/office/drawing/2014/main" id="{0DA0C2ED-24AA-A253-AB49-BD178E5BA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5289550"/>
            <a:ext cx="83978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rgbClr val="00279F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rgbClr val="FF0000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rgbClr val="79001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 sz="2000">
                <a:solidFill>
                  <a:srgbClr val="00B7A5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/>
              <a:t>All the cash flows in Table 12-11 are discounted back to the present with the cost of capital at 10%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i="1">
              <a:solidFill>
                <a:srgbClr val="00279F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>
                <a:solidFill>
                  <a:srgbClr val="00279F"/>
                </a:solidFill>
              </a:rPr>
              <a:t>Should we buy the machine?</a:t>
            </a:r>
          </a:p>
        </p:txBody>
      </p:sp>
      <p:sp>
        <p:nvSpPr>
          <p:cNvPr id="95242" name="AutoShape 1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8B9EA04-981B-1ED3-E8B3-FE3B739D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6172200"/>
            <a:ext cx="838200" cy="685800"/>
          </a:xfrm>
          <a:prstGeom prst="actionButtonHome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243" name="AutoShape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4625BA3-5DDB-B714-190B-041ADCEA1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114800"/>
            <a:ext cx="990600" cy="609600"/>
          </a:xfrm>
          <a:prstGeom prst="actionButtonDocumen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th-TH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ชื่อเรื่อง 1">
            <a:extLst>
              <a:ext uri="{FF2B5EF4-FFF2-40B4-BE49-F238E27FC236}">
                <a16:creationId xmlns:a16="http://schemas.microsoft.com/office/drawing/2014/main" id="{2BEFDEF1-09C0-CD78-7D15-F3C2D504D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Topic review</a:t>
            </a:r>
          </a:p>
        </p:txBody>
      </p:sp>
      <p:sp>
        <p:nvSpPr>
          <p:cNvPr id="68610" name="ตัวแทนเนื้อหา 2">
            <a:extLst>
              <a:ext uri="{FF2B5EF4-FFF2-40B4-BE49-F238E27FC236}">
                <a16:creationId xmlns:a16="http://schemas.microsoft.com/office/drawing/2014/main" id="{811374F8-4C47-6D2C-6B53-3F4091642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3 main methods for capital budgeting</a:t>
            </a:r>
          </a:p>
          <a:p>
            <a:pPr lvl="1"/>
            <a:r>
              <a:rPr lang="en-US" altLang="en-US"/>
              <a:t>Payback period, IRR and NPV</a:t>
            </a:r>
          </a:p>
          <a:p>
            <a:r>
              <a:rPr lang="en-US" altLang="en-US"/>
              <a:t>Each, having different criteria for deciding accept or reject the projects.</a:t>
            </a:r>
          </a:p>
          <a:p>
            <a:r>
              <a:rPr lang="en-US" altLang="en-US"/>
              <a:t>To be realistic, the consideration of capital budgeting should consider the effect of depreciation and tax policies to the net cash flow </a:t>
            </a:r>
          </a:p>
          <a:p>
            <a:r>
              <a:rPr lang="en-US" altLang="en-US"/>
              <a:t>Further effective capital budgeting can be achieved by adjusting the discount rate according to the perceived risk.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ชื่อเรื่อง 1">
            <a:extLst>
              <a:ext uri="{FF2B5EF4-FFF2-40B4-BE49-F238E27FC236}">
                <a16:creationId xmlns:a16="http://schemas.microsoft.com/office/drawing/2014/main" id="{FC28E403-C1D5-338F-56E2-BB7B432176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Further readings</a:t>
            </a:r>
          </a:p>
        </p:txBody>
      </p:sp>
      <p:sp>
        <p:nvSpPr>
          <p:cNvPr id="69634" name="ตัวแทนเนื้อหา 2">
            <a:extLst>
              <a:ext uri="{FF2B5EF4-FFF2-40B4-BE49-F238E27FC236}">
                <a16:creationId xmlns:a16="http://schemas.microsoft.com/office/drawing/2014/main" id="{41DE4B31-D27C-CB3F-E2DC-6AD1E60904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Capital budgeting concepts </a:t>
            </a:r>
            <a:r>
              <a:rPr lang="en-US" altLang="en-US">
                <a:hlinkClick r:id="rId2"/>
              </a:rPr>
              <a:t>http://www.edupristine.com/blog/capital-budgeting-techniques</a:t>
            </a:r>
            <a:r>
              <a:rPr lang="en-US" altLang="en-US"/>
              <a:t> </a:t>
            </a:r>
          </a:p>
          <a:p>
            <a:r>
              <a:rPr lang="en-US" altLang="en-US"/>
              <a:t>Capital budgeting and risk analysis </a:t>
            </a:r>
            <a:r>
              <a:rPr lang="en-US" altLang="en-US">
                <a:hlinkClick r:id="rId3"/>
              </a:rPr>
              <a:t>http://educ.jmu.edu/~drakepp/principles/module6/cbrisk.pdf</a:t>
            </a:r>
            <a:r>
              <a:rPr lang="en-US" altLang="en-US"/>
              <a:t> </a:t>
            </a:r>
          </a:p>
          <a:p>
            <a:r>
              <a:rPr lang="en-US" altLang="en-US"/>
              <a:t>Cost of capital </a:t>
            </a:r>
            <a:r>
              <a:rPr lang="en-US" altLang="en-US">
                <a:hlinkClick r:id="rId4"/>
              </a:rPr>
              <a:t>http://www.accountingtools.com/cost-of-capital</a:t>
            </a:r>
            <a:r>
              <a:rPr lang="en-US" alt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790015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790015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Level">
  <a:themeElements>
    <a:clrScheme name="1_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1_Level">
      <a:majorFont>
        <a:latin typeface="Garamond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790015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790015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pitchFamily="34" charset="0"/>
          </a:defRPr>
        </a:defPPr>
      </a:lstStyle>
    </a:lnDef>
  </a:objectDefaults>
  <a:extraClrSchemeLst>
    <a:extraClrScheme>
      <a:clrScheme name="1_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1FC7ADD27A134B92D0C21C975B5030" ma:contentTypeVersion="8" ma:contentTypeDescription="Create a new document." ma:contentTypeScope="" ma:versionID="29b2d8f5016614ee7db90ae61d94d5a1">
  <xsd:schema xmlns:xsd="http://www.w3.org/2001/XMLSchema" xmlns:xs="http://www.w3.org/2001/XMLSchema" xmlns:p="http://schemas.microsoft.com/office/2006/metadata/properties" xmlns:ns2="89c7a8c3-a03a-420b-ac21-90cd38a91df7" targetNamespace="http://schemas.microsoft.com/office/2006/metadata/properties" ma:root="true" ma:fieldsID="230fff80464bdb34158622049499dd70" ns2:_="">
    <xsd:import namespace="89c7a8c3-a03a-420b-ac21-90cd38a91d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c7a8c3-a03a-420b-ac21-90cd38a91d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D77BAB8-4C2B-4B74-9ABC-317DAA1CFA2C}"/>
</file>

<file path=customXml/itemProps2.xml><?xml version="1.0" encoding="utf-8"?>
<ds:datastoreItem xmlns:ds="http://schemas.openxmlformats.org/officeDocument/2006/customXml" ds:itemID="{902F46A9-95EB-4A1E-96B0-53C1F08EC6F7}"/>
</file>

<file path=customXml/itemProps3.xml><?xml version="1.0" encoding="utf-8"?>
<ds:datastoreItem xmlns:ds="http://schemas.openxmlformats.org/officeDocument/2006/customXml" ds:itemID="{62F696D8-8941-4FD0-8AA1-0F400739DCD4}"/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5533</TotalTime>
  <Pages>59</Pages>
  <Words>1798</Words>
  <Application>Microsoft Macintosh PowerPoint</Application>
  <PresentationFormat>On-screen Show (4:3)</PresentationFormat>
  <Paragraphs>252</Paragraphs>
  <Slides>37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1" baseType="lpstr">
      <vt:lpstr>Aptos Narrow</vt:lpstr>
      <vt:lpstr>Arial</vt:lpstr>
      <vt:lpstr>Calibri</vt:lpstr>
      <vt:lpstr>Cambria Math</vt:lpstr>
      <vt:lpstr>Garamond</vt:lpstr>
      <vt:lpstr>Gill Sans MT</vt:lpstr>
      <vt:lpstr>Times New Roman</vt:lpstr>
      <vt:lpstr>Verdana</vt:lpstr>
      <vt:lpstr>Wingdings</vt:lpstr>
      <vt:lpstr>Wingdings 3</vt:lpstr>
      <vt:lpstr>Level</vt:lpstr>
      <vt:lpstr>1_Level</vt:lpstr>
      <vt:lpstr>Worksheet</vt:lpstr>
      <vt:lpstr>Equation</vt:lpstr>
      <vt:lpstr>Lecture 3  The Business Investment Decision </vt:lpstr>
      <vt:lpstr>What is Capital Budgeting?        LT 12-2</vt:lpstr>
      <vt:lpstr>Introduction</vt:lpstr>
      <vt:lpstr>Executive consideration</vt:lpstr>
      <vt:lpstr>PowerPoint Presentation</vt:lpstr>
      <vt:lpstr>Investment decision methods</vt:lpstr>
      <vt:lpstr>Payback Method                      LT 12-4</vt:lpstr>
      <vt:lpstr>PowerPoint Presentation</vt:lpstr>
      <vt:lpstr>Payback period (ii)</vt:lpstr>
      <vt:lpstr>Net Present Value                     LT 12-6</vt:lpstr>
      <vt:lpstr>Compounding and Discounting of cashflow</vt:lpstr>
      <vt:lpstr>NPV 10% discount rate</vt:lpstr>
      <vt:lpstr>Profitability Index (PI)</vt:lpstr>
      <vt:lpstr>Internal Rate of Return</vt:lpstr>
      <vt:lpstr>IRR: Trial and Error for investment A</vt:lpstr>
      <vt:lpstr>Selection strategy</vt:lpstr>
      <vt:lpstr>Accept/Reject Decision  </vt:lpstr>
      <vt:lpstr>Ranking conflict between NPV and IRR</vt:lpstr>
      <vt:lpstr>Risk-Adjusted Discount Rate</vt:lpstr>
      <vt:lpstr>Relationship of Risk  to Discount Rate</vt:lpstr>
      <vt:lpstr>Increasing Risk over Time</vt:lpstr>
      <vt:lpstr>Qualitative Measures</vt:lpstr>
      <vt:lpstr>Risk Categories and Discount rates </vt:lpstr>
      <vt:lpstr>Capital Budgeting Analysis</vt:lpstr>
      <vt:lpstr>Capital Budgeting Decision Adjusted for Risk: Example</vt:lpstr>
      <vt:lpstr>Capital Budgeting Decision Adjusted for Risk: Example (cont’d)</vt:lpstr>
      <vt:lpstr>Combining cash flow analysis and selection strategy</vt:lpstr>
      <vt:lpstr>PowerPoint Presentation</vt:lpstr>
      <vt:lpstr>PowerPoint Presentation</vt:lpstr>
      <vt:lpstr>Depreciation write-off rate (Thailand)</vt:lpstr>
      <vt:lpstr>Investment decision with more practical </vt:lpstr>
      <vt:lpstr>Sample Case of Investment decision  </vt:lpstr>
      <vt:lpstr>PowerPoint Presentation</vt:lpstr>
      <vt:lpstr>PowerPoint Presentation</vt:lpstr>
      <vt:lpstr>PowerPoint Presentation</vt:lpstr>
      <vt:lpstr>Topic review</vt:lpstr>
      <vt:lpstr>Further readings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Ross Template</dc:title>
  <dc:creator>Jack Whidden</dc:creator>
  <cp:lastModifiedBy>BUNTHIT WATANAPA</cp:lastModifiedBy>
  <cp:revision>165</cp:revision>
  <cp:lastPrinted>1999-05-10T18:06:53Z</cp:lastPrinted>
  <dcterms:created xsi:type="dcterms:W3CDTF">1996-07-12T14:22:08Z</dcterms:created>
  <dcterms:modified xsi:type="dcterms:W3CDTF">2025-01-24T02:51:53Z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0x010100501FC7ADD27A134B92D0C21C975B5030</vt:lpwstr>
  </property>
</Properties>
</file>