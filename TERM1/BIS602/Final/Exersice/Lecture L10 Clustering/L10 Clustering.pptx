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2" r:id="rId1"/>
  </p:sldMasterIdLst>
  <p:notesMasterIdLst>
    <p:notesMasterId r:id="rId23"/>
  </p:notesMasterIdLst>
  <p:handoutMasterIdLst>
    <p:handoutMasterId r:id="rId24"/>
  </p:handoutMasterIdLst>
  <p:sldIdLst>
    <p:sldId id="364" r:id="rId2"/>
    <p:sldId id="384" r:id="rId3"/>
    <p:sldId id="396" r:id="rId4"/>
    <p:sldId id="404" r:id="rId5"/>
    <p:sldId id="301" r:id="rId6"/>
    <p:sldId id="407" r:id="rId7"/>
    <p:sldId id="305" r:id="rId8"/>
    <p:sldId id="419" r:id="rId9"/>
    <p:sldId id="421" r:id="rId10"/>
    <p:sldId id="307" r:id="rId11"/>
    <p:sldId id="308" r:id="rId12"/>
    <p:sldId id="309" r:id="rId13"/>
    <p:sldId id="441" r:id="rId14"/>
    <p:sldId id="468" r:id="rId15"/>
    <p:sldId id="467" r:id="rId16"/>
    <p:sldId id="469" r:id="rId17"/>
    <p:sldId id="471" r:id="rId18"/>
    <p:sldId id="443" r:id="rId19"/>
    <p:sldId id="447" r:id="rId20"/>
    <p:sldId id="450" r:id="rId21"/>
    <p:sldId id="453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CC3300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CC3300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CC3300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CC3300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CC3300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800" b="1" kern="1200">
        <a:solidFill>
          <a:srgbClr val="CC3300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800" b="1" kern="1200">
        <a:solidFill>
          <a:srgbClr val="CC3300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800" b="1" kern="1200">
        <a:solidFill>
          <a:srgbClr val="CC3300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800" b="1" kern="1200">
        <a:solidFill>
          <a:srgbClr val="CC3300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79" autoAdjust="0"/>
    <p:restoredTop sz="91885" autoAdjust="0"/>
  </p:normalViewPr>
  <p:slideViewPr>
    <p:cSldViewPr>
      <p:cViewPr varScale="1">
        <p:scale>
          <a:sx n="93" d="100"/>
          <a:sy n="93" d="100"/>
        </p:scale>
        <p:origin x="216" y="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bundid/Teaching/BIS602/2-2024/Lectures/L10%20Clustering%20(Descriptive2)/K-Mean%20Cluster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082801709906909"/>
          <c:y val="0.14031614814389134"/>
          <c:w val="0.82642080334707146"/>
          <c:h val="0.78585565870745611"/>
        </c:manualLayout>
      </c:layout>
      <c:scatterChart>
        <c:scatterStyle val="lineMarker"/>
        <c:varyColors val="0"/>
        <c:ser>
          <c:idx val="0"/>
          <c:order val="0"/>
          <c:tx>
            <c:strRef>
              <c:f>'Clustering, k=2'!$E$9</c:f>
              <c:strCache>
                <c:ptCount val="1"/>
                <c:pt idx="0">
                  <c:v>Biology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lt1"/>
              </a:solidFill>
              <a:ln w="38100">
                <a:solidFill>
                  <a:schemeClr val="accent1">
                    <a:alpha val="60000"/>
                  </a:schemeClr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5C464B9B-9CBD-1343-B255-05D012A2F294}" type="CELLRANGE">
                      <a:rPr lang="en-TH"/>
                      <a:pPr/>
                      <a:t>[CELLRANGE]</a:t>
                    </a:fld>
                    <a:endParaRPr lang="en-TH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AD93-6B41-AD94-A2B3C3315BD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BD835A4-959B-664A-A30E-96B517CF3BA7}" type="CELLRANGE">
                      <a:rPr lang="en-TH"/>
                      <a:pPr/>
                      <a:t>[CELLRANGE]</a:t>
                    </a:fld>
                    <a:endParaRPr lang="en-TH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AD93-6B41-AD94-A2B3C3315BD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FA7471E-1D00-F848-8608-44F53D9D6A08}" type="CELLRANGE">
                      <a:rPr lang="en-TH"/>
                      <a:pPr/>
                      <a:t>[CELLRANGE]</a:t>
                    </a:fld>
                    <a:endParaRPr lang="en-TH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AD93-6B41-AD94-A2B3C3315BD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D51F0860-78DC-414A-A659-6F01449F7AD4}" type="CELLRANGE">
                      <a:rPr lang="en-TH"/>
                      <a:pPr/>
                      <a:t>[CELLRANGE]</a:t>
                    </a:fld>
                    <a:endParaRPr lang="en-TH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D93-6B41-AD94-A2B3C3315BD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80668AC5-7134-C949-AEC9-EBFC0339F403}" type="CELLRANGE">
                      <a:rPr lang="en-TH"/>
                      <a:pPr/>
                      <a:t>[CELLRANGE]</a:t>
                    </a:fld>
                    <a:endParaRPr lang="en-TH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AD93-6B41-AD94-A2B3C3315BD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9A78478B-69B7-5B42-AC37-2135CA72514F}" type="CELLRANGE">
                      <a:rPr lang="en-TH"/>
                      <a:pPr/>
                      <a:t>[CELLRANGE]</a:t>
                    </a:fld>
                    <a:endParaRPr lang="en-TH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AD93-6B41-AD94-A2B3C3315B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TH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'Clustering, k=2'!$D$10:$D$15</c:f>
              <c:numCache>
                <c:formatCode>General</c:formatCode>
                <c:ptCount val="6"/>
                <c:pt idx="0">
                  <c:v>3.5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  <c:pt idx="5">
                  <c:v>4</c:v>
                </c:pt>
              </c:numCache>
            </c:numRef>
          </c:xVal>
          <c:yVal>
            <c:numRef>
              <c:f>'Clustering, k=2'!$E$10:$E$15</c:f>
              <c:numCache>
                <c:formatCode>General</c:formatCode>
                <c:ptCount val="6"/>
                <c:pt idx="0">
                  <c:v>3</c:v>
                </c:pt>
                <c:pt idx="1">
                  <c:v>2.5</c:v>
                </c:pt>
                <c:pt idx="2">
                  <c:v>3.5</c:v>
                </c:pt>
                <c:pt idx="3">
                  <c:v>3</c:v>
                </c:pt>
                <c:pt idx="4">
                  <c:v>2</c:v>
                </c:pt>
                <c:pt idx="5">
                  <c:v>3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'Clustering, k=2'!$B$10:$B$15</c15:f>
                <c15:dlblRangeCache>
                  <c:ptCount val="6"/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AD93-6B41-AD94-A2B3C3315B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0816352"/>
        <c:axId val="1720812544"/>
      </c:scatterChart>
      <c:valAx>
        <c:axId val="17208163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Physics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TH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TH"/>
          </a:p>
        </c:txPr>
        <c:crossAx val="1720812544"/>
        <c:crosses val="autoZero"/>
        <c:crossBetween val="midCat"/>
      </c:valAx>
      <c:valAx>
        <c:axId val="1720812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Biology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TH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TH"/>
          </a:p>
        </c:txPr>
        <c:crossAx val="17208163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TH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>
            <a:alpha val="6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38100">
        <a:solidFill>
          <a:schemeClr val="phClr">
            <a:alpha val="60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25000"/>
            <a:lumOff val="75000"/>
          </a:schemeClr>
        </a:solidFill>
      </a:ln>
    </cs:spPr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194CF76-EA1B-4084-A4FB-5AC2A5D4FD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solidFill>
                  <a:schemeClr val="tx1"/>
                </a:solidFill>
                <a:effectLst/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D1CC937-9B7F-4789-9300-5FEC7A1CD55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solidFill>
                  <a:schemeClr val="tx1"/>
                </a:solidFill>
                <a:effectLst/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F45A4CF-73D1-4C6D-B718-49A6A01BC30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solidFill>
                  <a:schemeClr val="tx1"/>
                </a:solidFill>
                <a:effectLst/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CDA510F-71EB-4AE3-A9BE-69B1EE1E8C3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5BE61A25-7D75-874D-9082-A2C7DB867648}" type="slidenum">
              <a:rPr lang="en-US" altLang="en-TH"/>
              <a:pPr/>
              <a:t>‹#›</a:t>
            </a:fld>
            <a:endParaRPr lang="en-US" altLang="en-TH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1EA1F2D-155C-4F5C-82CA-CBE4DD2B4A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solidFill>
                  <a:schemeClr val="tx1"/>
                </a:solidFill>
                <a:effectLst/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60401B4-4F5A-467A-8019-4105EA05A1D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solidFill>
                  <a:schemeClr val="tx1"/>
                </a:solidFill>
                <a:effectLst/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C02657A-4AA5-4000-BA1C-D546AE0ACA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0E0DCD4-B61E-439B-B030-FAF30180AF9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2C458196-40FF-4C80-83CE-881FC5D4DA4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solidFill>
                  <a:schemeClr val="tx1"/>
                </a:solidFill>
                <a:effectLst/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EC5BE278-FAF3-42F4-977A-2349F61DAD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5539F0E0-ABCC-5146-A80C-6A28CAADD3D7}" type="slidenum">
              <a:rPr lang="en-US" altLang="en-TH"/>
              <a:pPr/>
              <a:t>‹#›</a:t>
            </a:fld>
            <a:endParaRPr lang="en-US" altLang="en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581FD6CF-D3F2-CCF1-78D8-9147A26052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CBD44AA-5075-3847-8D9E-5B7058183196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83C76F4C-3F90-EFC6-9816-F706D7832E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F86423CC-B977-C5B4-C26A-830AB1140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6CC0CC98-1682-93A1-C6DE-EA3822D1D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1B60248-D281-B940-AC09-2F1EE8556542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5B72BAD-8599-69AC-14DA-CB9215F31E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472C6D68-7DEA-CF38-7668-0BAA157E3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F85C7760-B6E0-C1E6-42AB-EB915E5617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7F889364-C449-12FA-D25B-260F61280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88F1CB75-29A2-1DFC-F30B-9023B2C9C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449AFAB-CB4F-414A-805A-2CC34796EA15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E4B1104C-8343-A4D6-2837-2BF18B43CD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8113C533-CC1E-CACC-A87C-AB3838531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73E5847A-0F1E-DE30-EC85-9FEF3D316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8913D2-965F-944B-BBED-1C425C411F66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593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D5CDD71D-54A5-6FC7-181B-D9908F4D12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A46FD5B2-E718-B1A8-5A67-8319C81D7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D0C78876-0135-BFCC-AC27-E0A3E93E2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1EA7F29-A76E-5D48-9915-A7B62A9F6874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541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8B3BFC4A-DAEA-DB80-E314-83AAFF4970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9D371197-CCE2-1FF1-10CB-3B21F31CA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46B544BE-D5DC-EE05-A632-9696FF445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E7BD06-81EF-D44B-9F08-06C36CFD8F4A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8615D029-9B75-F7F8-FE05-A8FF3B8C04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1F4F0E63-9561-461F-40A2-01D791279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C9958B33-449D-BCD4-189F-0C69F1B74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7E422EF-DDEA-974C-B46B-45C16ACCD7F7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074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189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288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26">
            <a:extLst>
              <a:ext uri="{FF2B5EF4-FFF2-40B4-BE49-F238E27FC236}">
                <a16:creationId xmlns:a16="http://schemas.microsoft.com/office/drawing/2014/main" id="{5F8C86E7-26FD-989C-DF13-D19A48B6DF72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1027">
              <a:extLst>
                <a:ext uri="{FF2B5EF4-FFF2-40B4-BE49-F238E27FC236}">
                  <a16:creationId xmlns:a16="http://schemas.microsoft.com/office/drawing/2014/main" id="{7B5BF8D4-E2A8-561C-83FB-CCC98217D9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1028">
                <a:extLst>
                  <a:ext uri="{FF2B5EF4-FFF2-40B4-BE49-F238E27FC236}">
                    <a16:creationId xmlns:a16="http://schemas.microsoft.com/office/drawing/2014/main" id="{16C06129-11FD-48C3-8116-25C792EA9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cs"/>
                </a:endParaRPr>
              </a:p>
            </p:txBody>
          </p:sp>
          <p:sp>
            <p:nvSpPr>
              <p:cNvPr id="11" name="Rectangle 1029">
                <a:extLst>
                  <a:ext uri="{FF2B5EF4-FFF2-40B4-BE49-F238E27FC236}">
                    <a16:creationId xmlns:a16="http://schemas.microsoft.com/office/drawing/2014/main" id="{E4F3D50D-C96E-92A6-EB2F-C92D814C12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cs"/>
                </a:endParaRPr>
              </a:p>
            </p:txBody>
          </p:sp>
        </p:grpSp>
        <p:grpSp>
          <p:nvGrpSpPr>
            <p:cNvPr id="4" name="Group 1030">
              <a:extLst>
                <a:ext uri="{FF2B5EF4-FFF2-40B4-BE49-F238E27FC236}">
                  <a16:creationId xmlns:a16="http://schemas.microsoft.com/office/drawing/2014/main" id="{42651B83-1379-545C-B1DC-FB2BCA850A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1031">
                <a:extLst>
                  <a:ext uri="{FF2B5EF4-FFF2-40B4-BE49-F238E27FC236}">
                    <a16:creationId xmlns:a16="http://schemas.microsoft.com/office/drawing/2014/main" id="{11374C4C-C494-9F18-C095-CCDEAC64E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cs"/>
                </a:endParaRPr>
              </a:p>
            </p:txBody>
          </p:sp>
          <p:sp>
            <p:nvSpPr>
              <p:cNvPr id="9" name="Rectangle 1032">
                <a:extLst>
                  <a:ext uri="{FF2B5EF4-FFF2-40B4-BE49-F238E27FC236}">
                    <a16:creationId xmlns:a16="http://schemas.microsoft.com/office/drawing/2014/main" id="{90B55998-71A2-DD1C-A907-3993C1B3F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cs"/>
                </a:endParaRPr>
              </a:p>
            </p:txBody>
          </p:sp>
        </p:grpSp>
        <p:sp>
          <p:nvSpPr>
            <p:cNvPr id="5" name="Rectangle 1033">
              <a:extLst>
                <a:ext uri="{FF2B5EF4-FFF2-40B4-BE49-F238E27FC236}">
                  <a16:creationId xmlns:a16="http://schemas.microsoft.com/office/drawing/2014/main" id="{66A99981-08C3-053D-E693-B6D6898A1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6" name="Rectangle 1034">
              <a:extLst>
                <a:ext uri="{FF2B5EF4-FFF2-40B4-BE49-F238E27FC236}">
                  <a16:creationId xmlns:a16="http://schemas.microsoft.com/office/drawing/2014/main" id="{477638D0-91D8-9E9C-31F1-70E9164C6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7" name="Rectangle 1035">
              <a:extLst>
                <a:ext uri="{FF2B5EF4-FFF2-40B4-BE49-F238E27FC236}">
                  <a16:creationId xmlns:a16="http://schemas.microsoft.com/office/drawing/2014/main" id="{9EA9A9F4-F937-AAB8-09C5-F684983BB4C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endParaRPr>
            </a:p>
          </p:txBody>
        </p:sp>
      </p:grpSp>
      <p:sp>
        <p:nvSpPr>
          <p:cNvPr id="93196" name="Rectangle 1036"/>
          <p:cNvSpPr>
            <a:spLocks noGrp="1" noChangeArrowheads="1"/>
          </p:cNvSpPr>
          <p:nvPr>
            <p:ph type="ctrTitle"/>
          </p:nvPr>
        </p:nvSpPr>
        <p:spPr>
          <a:xfrm>
            <a:off x="762000" y="685800"/>
            <a:ext cx="7772400" cy="1524000"/>
          </a:xfrm>
        </p:spPr>
        <p:txBody>
          <a:bodyPr/>
          <a:lstStyle>
            <a:lvl1pPr algn="ctr">
              <a:defRPr>
                <a:solidFill>
                  <a:srgbClr val="CC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3197" name="Rectangle 103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83910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529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5253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1524000"/>
            <a:ext cx="3810000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1524000"/>
            <a:ext cx="3810000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517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702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9365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87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97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036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321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50825"/>
            <a:ext cx="1951038" cy="5881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50825"/>
            <a:ext cx="5700712" cy="5881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150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DFD129A-9491-4C41-8246-A1E392402CB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731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b="0">
              <a:solidFill>
                <a:schemeClr val="tx1"/>
              </a:solidFill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32F8780-FB55-492A-817A-BB19AC0753B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731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b="0">
              <a:solidFill>
                <a:schemeClr val="tx1"/>
              </a:solidFill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AF10201-53A5-460C-9052-155A0F262B3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154113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b="0">
              <a:solidFill>
                <a:schemeClr val="tx1"/>
              </a:solidFill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E7F8BB0-58AD-42E7-8948-1F4A569BDA1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154113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b="0">
              <a:solidFill>
                <a:schemeClr val="tx1"/>
              </a:solidFill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05FD7DD-17F5-46C8-A9C2-0ABAC4E320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08108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b="0">
              <a:solidFill>
                <a:schemeClr val="tx1"/>
              </a:solidFill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06BA60DA-B5A8-476F-A921-2F6A160D9E0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623888"/>
            <a:ext cx="31750" cy="1052512"/>
          </a:xfrm>
          <a:prstGeom prst="rect">
            <a:avLst/>
          </a:prstGeom>
          <a:solidFill>
            <a:srgbClr val="EE841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b="0">
              <a:solidFill>
                <a:schemeClr val="tx1"/>
              </a:solidFill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85D0EA0B-597A-417C-9591-861907378E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414463"/>
            <a:ext cx="8226425" cy="31750"/>
          </a:xfrm>
          <a:prstGeom prst="rect">
            <a:avLst/>
          </a:prstGeom>
          <a:solidFill>
            <a:srgbClr val="EE841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b="0">
              <a:solidFill>
                <a:schemeClr val="tx1"/>
              </a:solidFill>
            </a:endParaRPr>
          </a:p>
        </p:txBody>
      </p:sp>
      <p:sp>
        <p:nvSpPr>
          <p:cNvPr id="92169" name="Rectangle 9">
            <a:extLst>
              <a:ext uri="{FF2B5EF4-FFF2-40B4-BE49-F238E27FC236}">
                <a16:creationId xmlns:a16="http://schemas.microsoft.com/office/drawing/2014/main" id="{E4D4B49A-6967-4641-802B-E56BC630C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50825"/>
            <a:ext cx="7793037" cy="104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25CC5098-439E-5D5C-D57A-5CB7D57EBD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524000"/>
            <a:ext cx="7772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BF546786-0203-42E8-A845-131BFC470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172200"/>
            <a:ext cx="609600" cy="33655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rgbClr val="9999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endParaRPr lang="en-US" sz="1600" b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6" name="Text Box 12">
            <a:extLst>
              <a:ext uri="{FF2B5EF4-FFF2-40B4-BE49-F238E27FC236}">
                <a16:creationId xmlns:a16="http://schemas.microsoft.com/office/drawing/2014/main" id="{EA8E94B2-5D2A-4F54-9CF7-DBD4CA17A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172200"/>
            <a:ext cx="609600" cy="33655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rgbClr val="9999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endParaRPr lang="en-US" sz="1600" b="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1037" name="Group 13">
            <a:extLst>
              <a:ext uri="{FF2B5EF4-FFF2-40B4-BE49-F238E27FC236}">
                <a16:creationId xmlns:a16="http://schemas.microsoft.com/office/drawing/2014/main" id="{CBD7F086-0D54-394C-938F-3C7E8FD0675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6342063"/>
            <a:ext cx="8526463" cy="315912"/>
            <a:chOff x="529" y="3847"/>
            <a:chExt cx="5226" cy="199"/>
          </a:xfrm>
        </p:grpSpPr>
        <p:sp>
          <p:nvSpPr>
            <p:cNvPr id="92174" name="Freeform 14">
              <a:extLst>
                <a:ext uri="{FF2B5EF4-FFF2-40B4-BE49-F238E27FC236}">
                  <a16:creationId xmlns:a16="http://schemas.microsoft.com/office/drawing/2014/main" id="{6C26083F-5B34-4FE8-80ED-E1F121151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" y="3997"/>
              <a:ext cx="5226" cy="49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225" y="48"/>
                </a:cxn>
                <a:cxn ang="0">
                  <a:pos x="5225" y="0"/>
                </a:cxn>
                <a:cxn ang="0">
                  <a:pos x="12" y="0"/>
                </a:cxn>
                <a:cxn ang="0">
                  <a:pos x="0" y="48"/>
                </a:cxn>
              </a:cxnLst>
              <a:rect l="0" t="0" r="r" b="b"/>
              <a:pathLst>
                <a:path w="5226" h="49">
                  <a:moveTo>
                    <a:pt x="0" y="48"/>
                  </a:moveTo>
                  <a:lnTo>
                    <a:pt x="5225" y="48"/>
                  </a:lnTo>
                  <a:lnTo>
                    <a:pt x="5225" y="0"/>
                  </a:lnTo>
                  <a:lnTo>
                    <a:pt x="12" y="0"/>
                  </a:lnTo>
                  <a:lnTo>
                    <a:pt x="0" y="48"/>
                  </a:lnTo>
                </a:path>
              </a:pathLst>
            </a:custGeom>
            <a:solidFill>
              <a:srgbClr val="EE841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92175" name="Freeform 15">
              <a:extLst>
                <a:ext uri="{FF2B5EF4-FFF2-40B4-BE49-F238E27FC236}">
                  <a16:creationId xmlns:a16="http://schemas.microsoft.com/office/drawing/2014/main" id="{AE6B23BB-A8C6-49AE-87FA-EC550B8D2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" y="3922"/>
              <a:ext cx="225" cy="49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224" y="48"/>
                </a:cxn>
                <a:cxn ang="0">
                  <a:pos x="224" y="0"/>
                </a:cxn>
                <a:cxn ang="0">
                  <a:pos x="0" y="0"/>
                </a:cxn>
                <a:cxn ang="0">
                  <a:pos x="0" y="48"/>
                </a:cxn>
              </a:cxnLst>
              <a:rect l="0" t="0" r="r" b="b"/>
              <a:pathLst>
                <a:path w="225" h="49">
                  <a:moveTo>
                    <a:pt x="0" y="48"/>
                  </a:moveTo>
                  <a:lnTo>
                    <a:pt x="224" y="48"/>
                  </a:lnTo>
                  <a:lnTo>
                    <a:pt x="224" y="0"/>
                  </a:lnTo>
                  <a:lnTo>
                    <a:pt x="0" y="0"/>
                  </a:lnTo>
                  <a:lnTo>
                    <a:pt x="0" y="48"/>
                  </a:lnTo>
                </a:path>
              </a:pathLst>
            </a:custGeom>
            <a:solidFill>
              <a:srgbClr val="EE841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92176" name="Freeform 16">
              <a:extLst>
                <a:ext uri="{FF2B5EF4-FFF2-40B4-BE49-F238E27FC236}">
                  <a16:creationId xmlns:a16="http://schemas.microsoft.com/office/drawing/2014/main" id="{7157BF4B-23DB-4C63-B724-9AB8DF7D6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" y="3847"/>
              <a:ext cx="5192" cy="51"/>
            </a:xfrm>
            <a:custGeom>
              <a:avLst/>
              <a:gdLst/>
              <a:ahLst/>
              <a:cxnLst>
                <a:cxn ang="0">
                  <a:pos x="0" y="50"/>
                </a:cxn>
                <a:cxn ang="0">
                  <a:pos x="5191" y="48"/>
                </a:cxn>
                <a:cxn ang="0">
                  <a:pos x="5191" y="0"/>
                </a:cxn>
                <a:cxn ang="0">
                  <a:pos x="12" y="0"/>
                </a:cxn>
                <a:cxn ang="0">
                  <a:pos x="0" y="50"/>
                </a:cxn>
              </a:cxnLst>
              <a:rect l="0" t="0" r="r" b="b"/>
              <a:pathLst>
                <a:path w="5192" h="51">
                  <a:moveTo>
                    <a:pt x="0" y="50"/>
                  </a:moveTo>
                  <a:lnTo>
                    <a:pt x="5191" y="48"/>
                  </a:lnTo>
                  <a:lnTo>
                    <a:pt x="5191" y="0"/>
                  </a:lnTo>
                  <a:lnTo>
                    <a:pt x="12" y="0"/>
                  </a:lnTo>
                  <a:lnTo>
                    <a:pt x="0" y="50"/>
                  </a:lnTo>
                </a:path>
              </a:pathLst>
            </a:custGeom>
            <a:solidFill>
              <a:srgbClr val="EE841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endParaRPr>
            </a:p>
          </p:txBody>
        </p:sp>
      </p:grpSp>
      <p:sp>
        <p:nvSpPr>
          <p:cNvPr id="92177" name="Freeform 17">
            <a:extLst>
              <a:ext uri="{FF2B5EF4-FFF2-40B4-BE49-F238E27FC236}">
                <a16:creationId xmlns:a16="http://schemas.microsoft.com/office/drawing/2014/main" id="{49B96BC6-5909-4EC5-86BC-26065F97821C}"/>
              </a:ext>
            </a:extLst>
          </p:cNvPr>
          <p:cNvSpPr>
            <a:spLocks/>
          </p:cNvSpPr>
          <p:nvPr/>
        </p:nvSpPr>
        <p:spPr bwMode="auto">
          <a:xfrm>
            <a:off x="6553200" y="6467475"/>
            <a:ext cx="2578100" cy="74613"/>
          </a:xfrm>
          <a:custGeom>
            <a:avLst/>
            <a:gdLst/>
            <a:ahLst/>
            <a:cxnLst>
              <a:cxn ang="0">
                <a:pos x="0" y="50"/>
              </a:cxn>
              <a:cxn ang="0">
                <a:pos x="3715" y="48"/>
              </a:cxn>
              <a:cxn ang="0">
                <a:pos x="3715" y="0"/>
              </a:cxn>
              <a:cxn ang="0">
                <a:pos x="8" y="0"/>
              </a:cxn>
              <a:cxn ang="0">
                <a:pos x="0" y="50"/>
              </a:cxn>
            </a:cxnLst>
            <a:rect l="0" t="0" r="r" b="b"/>
            <a:pathLst>
              <a:path w="3716" h="51">
                <a:moveTo>
                  <a:pt x="0" y="50"/>
                </a:moveTo>
                <a:lnTo>
                  <a:pt x="3715" y="48"/>
                </a:lnTo>
                <a:lnTo>
                  <a:pt x="3715" y="0"/>
                </a:lnTo>
                <a:lnTo>
                  <a:pt x="8" y="0"/>
                </a:lnTo>
                <a:lnTo>
                  <a:pt x="0" y="50"/>
                </a:lnTo>
              </a:path>
            </a:pathLst>
          </a:custGeom>
          <a:solidFill>
            <a:srgbClr val="EE8411"/>
          </a:solidFill>
          <a:ln w="9525" cap="rnd">
            <a:noFill/>
            <a:round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39" name="Text Box 19">
            <a:extLst>
              <a:ext uri="{FF2B5EF4-FFF2-40B4-BE49-F238E27FC236}">
                <a16:creationId xmlns:a16="http://schemas.microsoft.com/office/drawing/2014/main" id="{D7A0A2AA-24B6-4E68-9D02-DCE245184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354763"/>
            <a:ext cx="5562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  <a:defRPr/>
            </a:pPr>
            <a:r>
              <a:rPr lang="en-US" sz="1200" i="1">
                <a:solidFill>
                  <a:schemeClr val="tx1"/>
                </a:solidFill>
                <a:latin typeface="Arial" charset="0"/>
              </a:rPr>
              <a:t>     </a:t>
            </a:r>
            <a:r>
              <a:rPr lang="en-US" sz="1200" i="1">
                <a:solidFill>
                  <a:srgbClr val="0000CC"/>
                </a:solidFill>
                <a:latin typeface="Arial" charset="0"/>
              </a:rPr>
              <a:t>Copyright © 2011 Pearson Education, Inc. Publishing as Prentice Hall</a:t>
            </a:r>
            <a:endParaRPr lang="en-US" sz="1200">
              <a:solidFill>
                <a:srgbClr val="0000CC"/>
              </a:solidFill>
              <a:latin typeface="Arial" charset="0"/>
            </a:endParaRPr>
          </a:p>
        </p:txBody>
      </p:sp>
      <p:sp>
        <p:nvSpPr>
          <p:cNvPr id="1040" name="Text Box 20">
            <a:extLst>
              <a:ext uri="{FF2B5EF4-FFF2-40B4-BE49-F238E27FC236}">
                <a16:creationId xmlns:a16="http://schemas.microsoft.com/office/drawing/2014/main" id="{50349CC1-ECD1-497B-AF10-4E7BDB24F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356350"/>
            <a:ext cx="60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TH" sz="1200">
                <a:solidFill>
                  <a:srgbClr val="EE8411"/>
                </a:solidFill>
              </a:rPr>
              <a:t>5-</a:t>
            </a:r>
            <a:fld id="{5A26F926-E58C-C742-AA11-51A73D99EADE}" type="slidenum">
              <a:rPr lang="en-US" altLang="en-TH" sz="1200">
                <a:solidFill>
                  <a:srgbClr val="EE8411"/>
                </a:solidFill>
              </a:rPr>
              <a:pPr eaLnBrk="1" hangingPunct="1"/>
              <a:t>‹#›</a:t>
            </a:fld>
            <a:endParaRPr lang="en-US" altLang="en-TH" sz="1200">
              <a:solidFill>
                <a:srgbClr val="EE841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33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33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33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33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33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CC33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CC33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CC33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CC33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fol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folHlink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folHlink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folHlink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folHlink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folHlink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folHlink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folHlink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folHlink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home.deib.polimi.it/matteucc/Clustering/tutorial_html/kmean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Rectangle 8">
            <a:extLst>
              <a:ext uri="{FF2B5EF4-FFF2-40B4-BE49-F238E27FC236}">
                <a16:creationId xmlns:a16="http://schemas.microsoft.com/office/drawing/2014/main" id="{D193904C-C813-4141-BA7F-09215BC529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733800"/>
            <a:ext cx="7848600" cy="2286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/>
              <a:t>Data Mining for Business Analytics</a:t>
            </a:r>
            <a:endParaRPr lang="en-US" sz="4000" b="1" dirty="0">
              <a:solidFill>
                <a:srgbClr val="F85E08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C846AC-861B-4A70-A1B9-5820CF0BB4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B09A24F4-E9BA-454F-9A85-4E707169B7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Learning Objectives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1FA41B8-EBDF-2AFF-FFAC-0926BA1E8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524000"/>
            <a:ext cx="7504112" cy="4608513"/>
          </a:xfrm>
        </p:spPr>
        <p:txBody>
          <a:bodyPr/>
          <a:lstStyle/>
          <a:p>
            <a:pPr eaLnBrk="1" hangingPunct="1">
              <a:spcBef>
                <a:spcPts val="1272"/>
              </a:spcBef>
            </a:pPr>
            <a:r>
              <a:rPr lang="en-US" altLang="en-US" sz="2800" dirty="0"/>
              <a:t>Understand the objectives and benefits of machine learning as a technique of Data mining (Business Analytics)</a:t>
            </a:r>
          </a:p>
          <a:p>
            <a:pPr eaLnBrk="1" hangingPunct="1">
              <a:spcBef>
                <a:spcPts val="1272"/>
              </a:spcBef>
            </a:pPr>
            <a:r>
              <a:rPr lang="en-US" altLang="en-US" sz="2800" dirty="0"/>
              <a:t>Understand the process of data mining </a:t>
            </a:r>
          </a:p>
          <a:p>
            <a:pPr eaLnBrk="1" hangingPunct="1">
              <a:spcBef>
                <a:spcPts val="1272"/>
              </a:spcBef>
            </a:pPr>
            <a:r>
              <a:rPr lang="en-US" altLang="en-US" sz="2800" dirty="0"/>
              <a:t>Learn selected methods and algorithms of Clustering as a Data mining technique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8CB1-43F7-4042-BFBE-16442834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What Does Data Mining (DM) Do?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325F173F-29F1-8B18-0878-48F3ABF0E9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686800" cy="48006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/>
              <a:t>DM extract patterns from data</a:t>
            </a:r>
          </a:p>
          <a:p>
            <a:pPr lvl="1" eaLnBrk="1" hangingPunct="1"/>
            <a:r>
              <a:rPr lang="en-US" altLang="en-US" dirty="0"/>
              <a:t>Pattern = A mathematical (numeric and/or symbolic) relationship among data items</a:t>
            </a:r>
          </a:p>
          <a:p>
            <a:pPr eaLnBrk="1" hangingPunct="1"/>
            <a:r>
              <a:rPr lang="en-US" altLang="en-US" dirty="0"/>
              <a:t>Types of patterns (Machine Learning model)</a:t>
            </a:r>
          </a:p>
          <a:p>
            <a:pPr lvl="1" eaLnBrk="1" hangingPunct="1"/>
            <a:r>
              <a:rPr lang="en-US" altLang="en-US" dirty="0"/>
              <a:t>Supervised Learning for prediction</a:t>
            </a:r>
          </a:p>
          <a:p>
            <a:pPr lvl="2" eaLnBrk="1" hangingPunct="1"/>
            <a:r>
              <a:rPr lang="en-US" altLang="en-US" dirty="0"/>
              <a:t>Classification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e.g. spam vs. not spam</a:t>
            </a:r>
            <a:endParaRPr lang="en-US" altLang="en-US" dirty="0"/>
          </a:p>
          <a:p>
            <a:pPr lvl="2" eaLnBrk="1" hangingPunct="1"/>
            <a:r>
              <a:rPr lang="en-US" altLang="en-US" dirty="0"/>
              <a:t>Regression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e.g. stock prices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Unsupervised Learning for grouping similar attributes</a:t>
            </a:r>
          </a:p>
          <a:p>
            <a:pPr lvl="2" eaLnBrk="1" hangingPunct="1"/>
            <a:r>
              <a:rPr lang="en-US" altLang="en-US" dirty="0"/>
              <a:t>Cluster 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e.g. customer segmentation </a:t>
            </a:r>
          </a:p>
          <a:p>
            <a:pPr lvl="2" eaLnBrk="1" hangingPunct="1"/>
            <a:r>
              <a:rPr lang="en-US" altLang="en-US" dirty="0"/>
              <a:t>Association Mining 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e.g. market basket analysis</a:t>
            </a:r>
          </a:p>
          <a:p>
            <a:pPr lvl="2" eaLnBrk="1" hangingPunct="1"/>
            <a:r>
              <a:rPr lang="en-US" altLang="en-US" dirty="0"/>
              <a:t>Dimensionality reduction 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e.g. reduce attributes for modeling</a:t>
            </a:r>
          </a:p>
          <a:p>
            <a:pPr lvl="1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74557-92B8-4F37-B97D-AE26A35E8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" y="2133600"/>
            <a:ext cx="2049462" cy="226377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Data Mining Process: CRISP-DM</a:t>
            </a:r>
          </a:p>
        </p:txBody>
      </p:sp>
      <p:pic>
        <p:nvPicPr>
          <p:cNvPr id="11267" name="Picture 3">
            <a:extLst>
              <a:ext uri="{FF2B5EF4-FFF2-40B4-BE49-F238E27FC236}">
                <a16:creationId xmlns:a16="http://schemas.microsoft.com/office/drawing/2014/main" id="{DDB49C82-2967-0B7F-69D3-69552FACD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"/>
            <a:ext cx="7086600" cy="672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9144000" cy="914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dirty="0">
                <a:solidFill>
                  <a:srgbClr val="1F4984"/>
                </a:solidFill>
              </a:rPr>
              <a:t>Data Mining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447800"/>
            <a:ext cx="8572500" cy="4800600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Business understanding: </a:t>
            </a:r>
            <a:r>
              <a:rPr lang="en-US" sz="2200" dirty="0"/>
              <a:t>situational context, specific objectives, deliverables</a:t>
            </a:r>
          </a:p>
          <a:p>
            <a:r>
              <a:rPr lang="en-US" sz="2200" dirty="0">
                <a:solidFill>
                  <a:srgbClr val="C00000"/>
                </a:solidFill>
              </a:rPr>
              <a:t>Data understanding: </a:t>
            </a:r>
            <a:r>
              <a:rPr lang="en-US" sz="2200" dirty="0"/>
              <a:t>collecting raw data, preliminary results, potential hypotheses</a:t>
            </a:r>
          </a:p>
          <a:p>
            <a:r>
              <a:rPr lang="en-US" sz="2200" dirty="0">
                <a:solidFill>
                  <a:srgbClr val="C00000"/>
                </a:solidFill>
              </a:rPr>
              <a:t>Data preparation: </a:t>
            </a:r>
            <a:r>
              <a:rPr lang="en-US" sz="2200" dirty="0"/>
              <a:t>records and variable selection, wrangling, cleaning</a:t>
            </a:r>
          </a:p>
          <a:p>
            <a:r>
              <a:rPr lang="en-US" sz="2200" dirty="0">
                <a:solidFill>
                  <a:srgbClr val="C00000"/>
                </a:solidFill>
              </a:rPr>
              <a:t>Modeling: </a:t>
            </a:r>
            <a:r>
              <a:rPr lang="en-US" sz="2200" dirty="0"/>
              <a:t>selection and execution of data mining techniques, convert or transform data to formats/types needed by certain analyses or assumptions, validation</a:t>
            </a:r>
          </a:p>
          <a:p>
            <a:r>
              <a:rPr lang="en-US" sz="2200" dirty="0">
                <a:solidFill>
                  <a:srgbClr val="C00000"/>
                </a:solidFill>
              </a:rPr>
              <a:t>Evaluation: </a:t>
            </a:r>
            <a:r>
              <a:rPr lang="en-US" sz="2200" dirty="0"/>
              <a:t>evaluate performance of competing models, select best models, review and interpret results, develop recommendations</a:t>
            </a:r>
          </a:p>
          <a:p>
            <a:r>
              <a:rPr lang="en-US" sz="2200" dirty="0">
                <a:solidFill>
                  <a:srgbClr val="C00000"/>
                </a:solidFill>
              </a:rPr>
              <a:t>Deployment: </a:t>
            </a:r>
            <a:r>
              <a:rPr lang="en-US" sz="2200" dirty="0"/>
              <a:t>develop a set of actionable insights and a strategy for deployment/monitoring/feedback</a:t>
            </a:r>
          </a:p>
        </p:txBody>
      </p:sp>
    </p:spTree>
    <p:extLst>
      <p:ext uri="{BB962C8B-B14F-4D97-AF65-F5344CB8AC3E}">
        <p14:creationId xmlns:p14="http://schemas.microsoft.com/office/powerpoint/2010/main" val="2101318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0E11-5946-4367-BDF8-BF850D3CC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776413"/>
            <a:ext cx="2057400" cy="1881187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Data Preparation – A Critical DM Task</a:t>
            </a:r>
          </a:p>
        </p:txBody>
      </p:sp>
      <p:pic>
        <p:nvPicPr>
          <p:cNvPr id="13315" name="Picture 3">
            <a:extLst>
              <a:ext uri="{FF2B5EF4-FFF2-40B4-BE49-F238E27FC236}">
                <a16:creationId xmlns:a16="http://schemas.microsoft.com/office/drawing/2014/main" id="{D7701979-DA23-7546-E721-DE5EA5214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76200"/>
            <a:ext cx="5030788" cy="667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440" y="1654175"/>
            <a:ext cx="8705850" cy="495300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Used for automatic identification of natural groupings of things</a:t>
            </a:r>
            <a:endParaRPr lang="en-US" sz="2400" dirty="0"/>
          </a:p>
          <a:p>
            <a:pPr lvl="1"/>
            <a:r>
              <a:rPr lang="en-US" sz="2000" dirty="0"/>
              <a:t>May used to generate label (Prior to supervised learning)</a:t>
            </a:r>
          </a:p>
          <a:p>
            <a:r>
              <a:rPr lang="en-US" altLang="en-US" sz="2400" dirty="0"/>
              <a:t>Employ unsupervised learning</a:t>
            </a:r>
          </a:p>
          <a:p>
            <a:pPr lvl="1"/>
            <a:r>
              <a:rPr lang="en-US" altLang="en-US" sz="2400" dirty="0"/>
              <a:t>Also known as segmentation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Example:</a:t>
            </a:r>
          </a:p>
          <a:p>
            <a:pPr lvl="2"/>
            <a:r>
              <a:rPr lang="en-US" sz="1600" dirty="0"/>
              <a:t>Reduce variables from IoT’s devices which tend to have a lot of redundant data.</a:t>
            </a:r>
          </a:p>
          <a:p>
            <a:pPr lvl="2"/>
            <a:r>
              <a:rPr lang="en-US" sz="1600" dirty="0"/>
              <a:t>Segment customers into groups for customized product and service offerings</a:t>
            </a:r>
          </a:p>
          <a:p>
            <a:endParaRPr lang="en-US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1BAA4E-9D6F-FFF7-63F6-EE872578E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7" y="466751"/>
            <a:ext cx="7793037" cy="1044575"/>
          </a:xfrm>
        </p:spPr>
        <p:txBody>
          <a:bodyPr/>
          <a:lstStyle/>
          <a:p>
            <a:br>
              <a:rPr lang="en-US" sz="3600" dirty="0">
                <a:solidFill>
                  <a:srgbClr val="0070C0"/>
                </a:solidFill>
              </a:rPr>
            </a:b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rgbClr val="0070C0"/>
                </a:solidFill>
              </a:rPr>
              <a:t>Clustering: Unsupervised </a:t>
            </a:r>
            <a:r>
              <a:rPr lang="en-US" dirty="0">
                <a:solidFill>
                  <a:srgbClr val="0070C0"/>
                </a:solidFill>
              </a:rPr>
              <a:t>machine Learning</a:t>
            </a:r>
            <a:endParaRPr lang="en-T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3EEDE2F1-7CB0-A38B-0057-478F35A53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341" y="3200400"/>
            <a:ext cx="4101230" cy="2143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8647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D21D-0D50-442F-9D91-61CE08CCE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Cluster Analysis 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E8243C27-E744-8FB5-D071-6C2AACD88B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382000" cy="4495800"/>
          </a:xfrm>
        </p:spPr>
        <p:txBody>
          <a:bodyPr>
            <a:normAutofit/>
          </a:bodyPr>
          <a:lstStyle/>
          <a:p>
            <a:pPr eaLnBrk="1" hangingPunct="1">
              <a:spcBef>
                <a:spcPts val="1200"/>
              </a:spcBef>
            </a:pPr>
            <a:r>
              <a:rPr lang="en-US" altLang="en-US" dirty="0"/>
              <a:t>Example of available methods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en-US" b="1" dirty="0"/>
              <a:t>Algorithmic and Statistical methods </a:t>
            </a:r>
            <a:r>
              <a:rPr lang="en-US" altLang="en-US" dirty="0"/>
              <a:t>(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k-mean</a:t>
            </a:r>
            <a:r>
              <a:rPr lang="en-US" altLang="en-US" dirty="0"/>
              <a:t>,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Hierarchical Clustering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)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en-US" b="1" dirty="0"/>
              <a:t>Neural networks 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(adaptive resonance theory [ART], Self-Organizing Map [SOM])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en-US" b="1" dirty="0"/>
              <a:t>Association mining 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(</a:t>
            </a:r>
            <a:r>
              <a:rPr lang="en-US" altLang="en-US" dirty="0" err="1">
                <a:solidFill>
                  <a:srgbClr val="000000"/>
                </a:solidFill>
                <a:latin typeface="-webkit-standard"/>
              </a:rPr>
              <a:t>Apriori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, 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Frequent Pattern Growth)</a:t>
            </a:r>
            <a:endParaRPr lang="en-US" altLang="en-US" dirty="0">
              <a:solidFill>
                <a:srgbClr val="000000"/>
              </a:solidFill>
              <a:latin typeface="-webkit-standard"/>
            </a:endParaRPr>
          </a:p>
          <a:p>
            <a:pPr lvl="3" eaLnBrk="1" hangingPunct="1"/>
            <a:endParaRPr lang="en-US" altLang="en-US" sz="1200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D41D-C5AE-4BDD-A750-59801557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Cluster Analysis for Data Mining</a:t>
            </a:r>
          </a:p>
        </p:txBody>
      </p:sp>
      <p:sp>
        <p:nvSpPr>
          <p:cNvPr id="21508" name="Content Placeholder 2">
            <a:extLst>
              <a:ext uri="{FF2B5EF4-FFF2-40B4-BE49-F238E27FC236}">
                <a16:creationId xmlns:a16="http://schemas.microsoft.com/office/drawing/2014/main" id="{31F8B642-2B79-7AB7-FADE-7E2DAABFC1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752600"/>
            <a:ext cx="7772400" cy="4343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800" dirty="0"/>
              <a:t>Most Statistical cluster analysis methods involve the use of a </a:t>
            </a:r>
            <a:r>
              <a:rPr lang="en-US" altLang="en-US" sz="2800" dirty="0">
                <a:solidFill>
                  <a:srgbClr val="FF3300"/>
                </a:solidFill>
              </a:rPr>
              <a:t>distance or similarity measure </a:t>
            </a:r>
            <a:r>
              <a:rPr lang="en-US" altLang="en-US" sz="2800" dirty="0"/>
              <a:t>to calculate the closeness between pairs of items </a:t>
            </a:r>
          </a:p>
          <a:p>
            <a:pPr lvl="1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400" dirty="0"/>
              <a:t>Usually, the “</a:t>
            </a:r>
            <a:r>
              <a:rPr lang="en-US" sz="2400" dirty="0">
                <a:solidFill>
                  <a:srgbClr val="FF0000"/>
                </a:solidFill>
              </a:rPr>
              <a:t>Minkowski distance</a:t>
            </a:r>
            <a:r>
              <a:rPr lang="en-US" sz="2400" dirty="0"/>
              <a:t>”</a:t>
            </a:r>
            <a:endParaRPr lang="en-US" altLang="en-US" sz="2400" dirty="0"/>
          </a:p>
          <a:p>
            <a:pPr>
              <a:lnSpc>
                <a:spcPct val="110000"/>
              </a:lnSpc>
              <a:spcBef>
                <a:spcPts val="1200"/>
              </a:spcBef>
            </a:pPr>
            <a:endParaRPr lang="en-US" sz="2600" dirty="0"/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endParaRPr lang="en-US" sz="2600" dirty="0"/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2600" dirty="0"/>
              <a:t>Based on the distance between observations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sz="2600" dirty="0"/>
              <a:t>Small distance implies high similarity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sz="2600" dirty="0"/>
              <a:t>Large distance implies low similarity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9B4598-3DE6-09BF-B60A-581953C75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48000"/>
            <a:ext cx="213360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>
          <a:xfrm>
            <a:off x="1143000" y="533400"/>
            <a:ext cx="9144000" cy="533400"/>
          </a:xfrm>
        </p:spPr>
        <p:txBody>
          <a:bodyPr>
            <a:noAutofit/>
          </a:bodyPr>
          <a:lstStyle/>
          <a:p>
            <a:r>
              <a:rPr lang="en-US" sz="3600" dirty="0"/>
              <a:t>Similarity Measures for numerical data </a:t>
            </a:r>
            <a:endParaRPr lang="en-US" sz="3600" dirty="0">
              <a:solidFill>
                <a:srgbClr val="1F498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9424" y="1594981"/>
                <a:ext cx="8782050" cy="49530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Suppose 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numerical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Euclidean distance (P=2)</a:t>
                </a:r>
              </a:p>
              <a:p>
                <a:pPr lvl="1"/>
                <a:r>
                  <a:rPr lang="en-US" sz="2000" dirty="0"/>
                  <a:t>Widely used</a:t>
                </a:r>
              </a:p>
              <a:p>
                <a:pPr lvl="1"/>
                <a:r>
                  <a:rPr lang="en-US" sz="2000" dirty="0"/>
                  <a:t>Distance between two observations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2400" dirty="0"/>
              </a:p>
              <a:p>
                <a:r>
                  <a:rPr lang="en-US" sz="2400" dirty="0"/>
                  <a:t>Manhattan distance (P=1)</a:t>
                </a:r>
              </a:p>
              <a:p>
                <a:pPr lvl="1"/>
                <a:r>
                  <a:rPr lang="en-US" sz="2000" dirty="0"/>
                  <a:t>Shortest path for a vehicle to follow</a:t>
                </a:r>
              </a:p>
              <a:p>
                <a:pPr lvl="1"/>
                <a:r>
                  <a:rPr lang="en-US" sz="2000" dirty="0"/>
                  <a:t>Shortest distance horizontally/vertically between observations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9424" y="1594981"/>
                <a:ext cx="8782050" cy="4953000"/>
              </a:xfrm>
              <a:blipFill>
                <a:blip r:embed="rId3"/>
                <a:stretch>
                  <a:fillRect l="-144" t="-1023"/>
                </a:stretch>
              </a:blipFill>
            </p:spPr>
            <p:txBody>
              <a:bodyPr/>
              <a:lstStyle/>
              <a:p>
                <a:r>
                  <a:rPr lang="en-T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>
            <a:extLst>
              <a:ext uri="{FF2B5EF4-FFF2-40B4-BE49-F238E27FC236}">
                <a16:creationId xmlns:a16="http://schemas.microsoft.com/office/drawing/2014/main" id="{8492681A-DF6E-47B4-7816-FE7E40723A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286000"/>
            <a:ext cx="213360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3157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>
          <a:xfrm>
            <a:off x="685800" y="-228600"/>
            <a:ext cx="9144000" cy="914400"/>
          </a:xfrm>
        </p:spPr>
        <p:txBody>
          <a:bodyPr>
            <a:noAutofit/>
          </a:bodyPr>
          <a:lstStyle/>
          <a:p>
            <a:r>
              <a:rPr lang="en-US" sz="3600" dirty="0"/>
              <a:t>Similarity Measures</a:t>
            </a:r>
            <a:endParaRPr lang="en-US" sz="3600" dirty="0">
              <a:solidFill>
                <a:srgbClr val="1F498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676400"/>
            <a:ext cx="8782050" cy="4953000"/>
          </a:xfrm>
        </p:spPr>
        <p:txBody>
          <a:bodyPr>
            <a:normAutofit/>
          </a:bodyPr>
          <a:lstStyle/>
          <a:p>
            <a:r>
              <a:rPr lang="en-US" sz="2400" dirty="0"/>
              <a:t>Example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457200" indent="-457200">
              <a:buFont typeface="+mj-lt"/>
              <a:buAutoNum type="alphaLcPeriod"/>
            </a:pPr>
            <a:r>
              <a:rPr lang="en-US" sz="2400" dirty="0"/>
              <a:t>Calculate and interpret the Euclidean distance.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400" dirty="0"/>
              <a:t>Calculate and interpret the Manhattan distance. 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5AFE2-B7E0-CE4E-8B18-7E72122A6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399" y="2291443"/>
            <a:ext cx="5486400" cy="1828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B668571-2350-5148-7A96-B001FE87D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607" y="228600"/>
            <a:ext cx="3559185" cy="207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70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>
          <a:xfrm>
            <a:off x="1524000" y="381000"/>
            <a:ext cx="9144000" cy="914400"/>
          </a:xfrm>
        </p:spPr>
        <p:txBody>
          <a:bodyPr>
            <a:noAutofit/>
          </a:bodyPr>
          <a:lstStyle/>
          <a:p>
            <a:r>
              <a:rPr lang="en-US" sz="3600" dirty="0"/>
              <a:t>Similarity Measures </a:t>
            </a:r>
            <a:endParaRPr lang="en-US" sz="3600" dirty="0">
              <a:solidFill>
                <a:srgbClr val="1F4984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0975" y="1676400"/>
                <a:ext cx="8782050" cy="44196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Euclidean</a:t>
                </a:r>
              </a:p>
              <a:p>
                <a:pPr marL="857250" lvl="1" indent="-457200"/>
                <a:r>
                  <a:rPr lang="en-US" sz="2000" dirty="0"/>
                  <a:t>1 and 2: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ra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1.41</m:t>
                    </m:r>
                  </m:oMath>
                </a14:m>
                <a:endParaRPr lang="en-US" sz="2000" b="0" dirty="0"/>
              </a:p>
              <a:p>
                <a:pPr marL="857250" lvl="1" indent="-457200"/>
                <a:r>
                  <a:rPr lang="en-US" sz="2000" dirty="0"/>
                  <a:t>1 and 3: 7.62</a:t>
                </a:r>
              </a:p>
              <a:p>
                <a:pPr marL="857250" lvl="1" indent="-457200"/>
                <a:r>
                  <a:rPr lang="en-US" sz="2000" dirty="0"/>
                  <a:t>2 and 3: 7.21</a:t>
                </a:r>
              </a:p>
              <a:p>
                <a:pPr marL="857250" lvl="1" indent="-457200"/>
                <a:r>
                  <a:rPr lang="en-US" sz="2000" dirty="0"/>
                  <a:t>Interpretation: 1 and 2 are the most similar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Manhattan</a:t>
                </a:r>
              </a:p>
              <a:p>
                <a:pPr marL="857250" lvl="1" indent="-457200"/>
                <a:r>
                  <a:rPr lang="en-US" sz="2000" dirty="0"/>
                  <a:t>1 and 2: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000" dirty="0"/>
              </a:p>
              <a:p>
                <a:pPr marL="857250" lvl="1" indent="-457200"/>
                <a:r>
                  <a:rPr lang="en-US" sz="2000" dirty="0"/>
                  <a:t>1 and 3: 10</a:t>
                </a:r>
              </a:p>
              <a:p>
                <a:pPr marL="857250" lvl="1" indent="-457200"/>
                <a:r>
                  <a:rPr lang="en-US" sz="2000" dirty="0"/>
                  <a:t>2 and 3: 10</a:t>
                </a:r>
              </a:p>
              <a:p>
                <a:pPr marL="857250" lvl="1" indent="-457200"/>
                <a:r>
                  <a:rPr lang="en-US" sz="2000" dirty="0"/>
                  <a:t>Interpretation: 1 and 2 are the most similar, however, take note on the ability of Euclidean to differentiate the distance of 1-3 from 2-3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975" y="1676400"/>
                <a:ext cx="8782050" cy="4419600"/>
              </a:xfrm>
              <a:blipFill>
                <a:blip r:embed="rId3"/>
                <a:stretch>
                  <a:fillRect l="-867" t="-2006" r="-289"/>
                </a:stretch>
              </a:blipFill>
            </p:spPr>
            <p:txBody>
              <a:bodyPr/>
              <a:lstStyle/>
              <a:p>
                <a:r>
                  <a:rPr lang="en-T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074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00BA5DE-492B-4C4D-B5EB-5695CA6C1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Clustering: The K-Means Algorithm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A15D041-1C2B-637A-3561-C1CDDA2CD2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752600"/>
            <a:ext cx="8116888" cy="4419600"/>
          </a:xfrm>
        </p:spPr>
        <p:txBody>
          <a:bodyPr>
            <a:normAutofit fontScale="92500" lnSpcReduction="10000"/>
          </a:bodyPr>
          <a:lstStyle/>
          <a:p>
            <a:pPr marL="314325" indent="-314325">
              <a:spcBef>
                <a:spcPts val="1200"/>
              </a:spcBef>
              <a:buFontTx/>
              <a:buAutoNum type="arabicPeriod"/>
            </a:pPr>
            <a:r>
              <a:rPr lang="en-US" altLang="en-US" sz="2800" dirty="0"/>
              <a:t>Choose </a:t>
            </a:r>
            <a:r>
              <a:rPr lang="en-US" altLang="en-US" sz="2800" i="1" dirty="0"/>
              <a:t>K</a:t>
            </a:r>
            <a:r>
              <a:rPr lang="en-US" altLang="en-US" sz="2800" dirty="0"/>
              <a:t>, the number of clusters.</a:t>
            </a:r>
          </a:p>
          <a:p>
            <a:pPr marL="314325" indent="-314325">
              <a:spcBef>
                <a:spcPts val="1200"/>
              </a:spcBef>
              <a:buFontTx/>
              <a:buAutoNum type="arabicPeriod"/>
            </a:pPr>
            <a:r>
              <a:rPr lang="en-US" altLang="en-US" sz="2800" dirty="0"/>
              <a:t>Randomly choose </a:t>
            </a:r>
            <a:r>
              <a:rPr lang="en-US" altLang="en-US" sz="2800" i="1" dirty="0"/>
              <a:t>K</a:t>
            </a:r>
            <a:r>
              <a:rPr lang="en-US" altLang="en-US" sz="2800" dirty="0"/>
              <a:t> points as cluster centers.</a:t>
            </a:r>
          </a:p>
          <a:p>
            <a:pPr marL="314325" indent="-314325">
              <a:spcBef>
                <a:spcPts val="1200"/>
              </a:spcBef>
              <a:buFontTx/>
              <a:buAutoNum type="arabicPeriod"/>
            </a:pPr>
            <a:r>
              <a:rPr lang="en-US" altLang="en-US" sz="2800" dirty="0"/>
              <a:t>Assign the remaining instances to their </a:t>
            </a:r>
            <a:r>
              <a:rPr lang="en-US" altLang="en-US" sz="2800" b="1" dirty="0">
                <a:solidFill>
                  <a:srgbClr val="FF0000"/>
                </a:solidFill>
              </a:rPr>
              <a:t>closest</a:t>
            </a:r>
            <a:r>
              <a:rPr lang="en-US" altLang="en-US" sz="2800" dirty="0"/>
              <a:t> cluster Center or Centroid, e.g.,</a:t>
            </a:r>
          </a:p>
          <a:p>
            <a:pPr marL="628650" lvl="1" indent="-303213">
              <a:spcBef>
                <a:spcPts val="1200"/>
              </a:spcBef>
            </a:pPr>
            <a:r>
              <a:rPr lang="en-US" altLang="en-US" sz="2400" dirty="0"/>
              <a:t>Based on Minkowski distance to the center.</a:t>
            </a:r>
          </a:p>
          <a:p>
            <a:pPr marL="314325" indent="-314325">
              <a:spcBef>
                <a:spcPts val="1200"/>
              </a:spcBef>
              <a:buFontTx/>
              <a:buAutoNum type="arabicPeriod"/>
            </a:pPr>
            <a:r>
              <a:rPr lang="en-US" altLang="en-US" sz="2800" dirty="0"/>
              <a:t>Calculate a new cluster center for each cluster, e.g.,</a:t>
            </a:r>
          </a:p>
          <a:p>
            <a:pPr marL="628650" lvl="1" indent="-303213">
              <a:spcBef>
                <a:spcPts val="1200"/>
              </a:spcBef>
            </a:pPr>
            <a:r>
              <a:rPr lang="en-US" altLang="en-US" sz="2400" dirty="0"/>
              <a:t>Average values of all member in the cluster</a:t>
            </a:r>
          </a:p>
          <a:p>
            <a:pPr marL="314325" indent="-314325">
              <a:spcBef>
                <a:spcPts val="1200"/>
              </a:spcBef>
              <a:buFontTx/>
              <a:buAutoNum type="arabicPeriod"/>
            </a:pPr>
            <a:r>
              <a:rPr lang="en-US" altLang="en-US" sz="2800" dirty="0"/>
              <a:t>Repeat steps 2-4 until the cluster centers do not change (Convergence).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DC87D-87D5-4142-8716-C6AC8E06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Note for generating the new center of clusters.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BAD59-D116-4485-95A8-82C370F0DF4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2"/>
            <a:stretch>
              <a:fillRect l="-549" t="-1650" r="-941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2D7A-9130-4B1C-95AB-47C296C1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Clustering performance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E9886-B883-3B1F-8F12-56D08DEB5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Clustering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with </a:t>
            </a:r>
            <a:r>
              <a:rPr lang="en-US" i="1" dirty="0">
                <a:solidFill>
                  <a:srgbClr val="000000"/>
                </a:solidFill>
                <a:latin typeface="-webkit-standard"/>
              </a:rPr>
              <a:t>K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clusters,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K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=1,…,</a:t>
            </a:r>
            <a:r>
              <a:rPr lang="en-US" b="0" i="1" u="none" strike="noStrike" dirty="0" err="1">
                <a:solidFill>
                  <a:srgbClr val="000000"/>
                </a:solidFill>
                <a:effectLst/>
              </a:rPr>
              <a:t>i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-webkit-standard"/>
              </a:rPr>
              <a:t>  </a:t>
            </a:r>
            <a:r>
              <a:rPr lang="en-US" b="0" u="none" strike="noStrike" dirty="0">
                <a:solidFill>
                  <a:srgbClr val="000000"/>
                </a:solidFill>
                <a:effectLst/>
                <a:latin typeface="-webkit-standard"/>
              </a:rPr>
              <a:t>where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each cluster has a center </a:t>
            </a:r>
            <a:r>
              <a:rPr lang="el-GR" b="0" i="1" u="none" strike="noStrike" dirty="0">
                <a:solidFill>
                  <a:srgbClr val="000000"/>
                </a:solidFill>
                <a:effectLst/>
              </a:rPr>
              <a:t>μ</a:t>
            </a:r>
            <a:r>
              <a:rPr lang="en-US" b="0" i="1" u="none" strike="noStrike" baseline="-25000" dirty="0">
                <a:solidFill>
                  <a:srgbClr val="000000"/>
                </a:solidFill>
                <a:effectLst/>
              </a:rPr>
              <a:t>k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​​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contains data points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x</a:t>
            </a:r>
            <a:r>
              <a:rPr lang="en-US" b="0" i="1" u="none" strike="noStrike" baseline="-25000" dirty="0">
                <a:solidFill>
                  <a:srgbClr val="000000"/>
                </a:solidFill>
                <a:effectLst/>
              </a:rPr>
              <a:t>i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can be measured for its performance using: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∥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x</a:t>
            </a:r>
            <a:r>
              <a:rPr lang="en-US" b="0" i="1" u="none" strike="noStrike" baseline="-25000" dirty="0">
                <a:solidFill>
                  <a:srgbClr val="000000"/>
                </a:solidFill>
                <a:effectLst/>
              </a:rPr>
              <a:t>i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​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−</a:t>
            </a:r>
            <a:r>
              <a:rPr lang="el-GR" b="0" i="1" u="none" strike="noStrike" dirty="0">
                <a:solidFill>
                  <a:srgbClr val="000000"/>
                </a:solidFill>
                <a:effectLst/>
              </a:rPr>
              <a:t>μ</a:t>
            </a:r>
            <a:r>
              <a:rPr lang="en-US" b="0" i="1" u="none" strike="noStrike" baseline="-25000" dirty="0">
                <a:solidFill>
                  <a:srgbClr val="000000"/>
                </a:solidFill>
                <a:effectLst/>
              </a:rPr>
              <a:t>k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​∥</a:t>
            </a:r>
            <a:r>
              <a:rPr lang="en-US" b="0" i="0" u="none" strike="noStrike" baseline="30000" dirty="0">
                <a:solidFill>
                  <a:srgbClr val="000000"/>
                </a:solidFill>
                <a:effectLst/>
              </a:rPr>
              <a:t>2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= Squared Euclidean distance between a point and the cluster centroid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It quantifies how tightly the data points in a cluster are grouped around the cluster centroid.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solidFill>
                  <a:srgbClr val="000000"/>
                </a:solidFill>
                <a:latin typeface="-webkit-standard"/>
              </a:rPr>
              <a:t>The tighter the better</a:t>
            </a:r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endParaRPr lang="en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3CED30-07E6-A580-7A0D-EBE179646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650" y="2667000"/>
            <a:ext cx="33147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EFA74-88B4-46D9-C6C6-F9BDEB02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effectLst/>
              </a:rPr>
              <a:t>Finding the optimal </a:t>
            </a:r>
            <a:r>
              <a:rPr lang="en-US" b="1" i="1" dirty="0">
                <a:solidFill>
                  <a:srgbClr val="000000"/>
                </a:solidFill>
                <a:effectLst/>
              </a:rPr>
              <a:t>K</a:t>
            </a:r>
            <a:endParaRPr lang="en-TH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7688C-F09E-9EB1-673E-DACF3014F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24000"/>
            <a:ext cx="8269288" cy="48006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Choosing </a:t>
            </a:r>
            <a:r>
              <a:rPr lang="en-US" b="1" i="1" u="none" strike="noStrike" dirty="0">
                <a:solidFill>
                  <a:srgbClr val="000000"/>
                </a:solidFill>
                <a:effectLst/>
              </a:rPr>
              <a:t>k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Use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Elbow Method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or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Silhouette Score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to find the optimal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k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Scalability: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K-Means works well for large datasets but may struggle with very high dimensions.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Limitations: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Sensitive to initial centroids and cannot handle non-convex clusters well.</a:t>
            </a:r>
          </a:p>
          <a:p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2177519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A8ED-157A-4E4D-6C89-6BF0C7E97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Elbow Method – Finding the Optimal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k</a:t>
            </a:r>
            <a:endParaRPr lang="en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21C51-5D43-ED64-6BD4-FA179C81F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Elbow Method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evaluates how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RSS (Residual Sum of Squares)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or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Inertia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changes as you increase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k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optimal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k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is at the "elbow point," where additional clusters provide diminishing returns in reducing inertia.</a:t>
            </a:r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2730997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32A2DD-D15C-4DC0-B0DF-2F4243773E1C}"/>
              </a:ext>
            </a:extLst>
          </p:cNvPr>
          <p:cNvSpPr txBox="1">
            <a:spLocks/>
          </p:cNvSpPr>
          <p:nvPr/>
        </p:nvSpPr>
        <p:spPr>
          <a:xfrm>
            <a:off x="1150938" y="250825"/>
            <a:ext cx="7793037" cy="1044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pPr>
              <a:defRPr/>
            </a:pPr>
            <a:r>
              <a:rPr lang="en-US" b="0" kern="0" dirty="0"/>
              <a:t>An example of K-Means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0A5D9C-BB3A-75AD-B2D4-FF3D569B4DE2}"/>
              </a:ext>
            </a:extLst>
          </p:cNvPr>
          <p:cNvSpPr/>
          <p:nvPr/>
        </p:nvSpPr>
        <p:spPr bwMode="auto">
          <a:xfrm>
            <a:off x="228600" y="3581400"/>
            <a:ext cx="13716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sz="2800" b="1" i="0" u="none" strike="noStrike" cap="none" normalizeH="0" baseline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2345702"/>
              </p:ext>
            </p:extLst>
          </p:nvPr>
        </p:nvGraphicFramePr>
        <p:xfrm>
          <a:off x="1828800" y="1524000"/>
          <a:ext cx="65532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8F7AB898-BFEA-4B8E-978B-CC3F5F07D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General Considerations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5CF861A-B590-7439-302C-C6087E0759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77724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 </a:t>
            </a:r>
            <a:r>
              <a:rPr lang="en-US" altLang="en-US" sz="2800" dirty="0"/>
              <a:t>Requires </a:t>
            </a:r>
            <a:r>
              <a:rPr lang="en-US" altLang="en-US" sz="2800" i="1" dirty="0">
                <a:solidFill>
                  <a:srgbClr val="FF0000"/>
                </a:solidFill>
              </a:rPr>
              <a:t>real-valued</a:t>
            </a:r>
            <a:r>
              <a:rPr lang="en-US" altLang="en-US" sz="2800" dirty="0"/>
              <a:t> data.</a:t>
            </a:r>
          </a:p>
          <a:p>
            <a:pPr algn="just"/>
            <a:r>
              <a:rPr lang="en-US" altLang="en-US" sz="2800" dirty="0"/>
              <a:t> We must select the number of clusters present in the</a:t>
            </a:r>
            <a:r>
              <a:rPr lang="th-TH" altLang="en-US" sz="2800" dirty="0"/>
              <a:t> </a:t>
            </a:r>
            <a:r>
              <a:rPr lang="en-US" altLang="en-US" sz="2800" dirty="0"/>
              <a:t>data.</a:t>
            </a:r>
          </a:p>
          <a:p>
            <a:pPr lvl="1" eaLnBrk="1" hangingPunct="1"/>
            <a:r>
              <a:rPr lang="en-US" altLang="en-US" sz="2400" dirty="0"/>
              <a:t>There is no “truly optimal” way to calculate it</a:t>
            </a:r>
          </a:p>
          <a:p>
            <a:pPr lvl="1" eaLnBrk="1" hangingPunct="1"/>
            <a:r>
              <a:rPr lang="en-US" altLang="en-US" sz="2400" dirty="0"/>
              <a:t>Practically, start from 1 clusters until obtain the best RSS, or </a:t>
            </a:r>
          </a:p>
          <a:p>
            <a:pPr lvl="1" eaLnBrk="1" hangingPunct="1"/>
            <a:r>
              <a:rPr lang="en-US" altLang="en-US" sz="2400" dirty="0"/>
              <a:t>Heuristics rule.</a:t>
            </a:r>
          </a:p>
          <a:p>
            <a:pPr lvl="2" eaLnBrk="1" hangingPunct="1"/>
            <a:r>
              <a:rPr lang="en-US" altLang="en-US" sz="2000" dirty="0"/>
              <a:t>Look at the sparseness of clusters</a:t>
            </a:r>
          </a:p>
          <a:p>
            <a:pPr lvl="2" eaLnBrk="1" hangingPunct="1"/>
            <a:r>
              <a:rPr lang="en-US" altLang="en-US" sz="2000" dirty="0"/>
              <a:t>Number of clusters = (n/2)</a:t>
            </a:r>
            <a:r>
              <a:rPr lang="en-US" altLang="en-US" sz="2000" baseline="30000" dirty="0"/>
              <a:t>1/2</a:t>
            </a:r>
            <a:r>
              <a:rPr lang="en-US" altLang="en-US" sz="2000" dirty="0"/>
              <a:t> </a:t>
            </a:r>
            <a:r>
              <a:rPr lang="en-US" altLang="en-US" sz="1600" dirty="0"/>
              <a:t>(n: no of data points)</a:t>
            </a:r>
            <a:endParaRPr lang="en-US" altLang="en-US" sz="2800" dirty="0"/>
          </a:p>
          <a:p>
            <a:pPr algn="just"/>
            <a:r>
              <a:rPr lang="en-US" altLang="en-US" sz="2800" dirty="0"/>
              <a:t>Attribute significance cannot be determined.</a:t>
            </a:r>
          </a:p>
          <a:p>
            <a:pPr algn="just"/>
            <a:endParaRPr lang="en-US" alt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99A1-EF77-43ED-8788-B06F1AD8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Objectives Review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E9677C03-FC79-F3B6-4C35-9B9093B0CF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8269288" cy="4800600"/>
          </a:xfrm>
        </p:spPr>
        <p:txBody>
          <a:bodyPr/>
          <a:lstStyle/>
          <a:p>
            <a:r>
              <a:rPr lang="en-US" altLang="en-US" dirty="0"/>
              <a:t>Data mining = process of identifying patterns in data stored in structured databases</a:t>
            </a:r>
          </a:p>
          <a:p>
            <a:r>
              <a:rPr lang="en-US" altLang="en-US" dirty="0"/>
              <a:t>Unsupervised learning</a:t>
            </a:r>
          </a:p>
          <a:p>
            <a:pPr lvl="1"/>
            <a:r>
              <a:rPr lang="en-US" altLang="en-TH" dirty="0" err="1"/>
              <a:t>Silimarity</a:t>
            </a:r>
            <a:r>
              <a:rPr lang="en-US" altLang="en-TH" dirty="0"/>
              <a:t> measure (</a:t>
            </a:r>
            <a:r>
              <a:rPr lang="en-US" altLang="en-TH" dirty="0" err="1"/>
              <a:t>Minkowsky</a:t>
            </a:r>
            <a:r>
              <a:rPr lang="en-US" altLang="en-TH" dirty="0"/>
              <a:t> distance)</a:t>
            </a:r>
          </a:p>
          <a:p>
            <a:pPr lvl="1"/>
            <a:r>
              <a:rPr lang="en-US" altLang="en-TH" dirty="0"/>
              <a:t>Clustering, sample method = k-mean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TH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7D79-B154-4F71-AC8A-F72BA251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Further readings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F5B031EB-DDC6-C5E2-C27E-0E17B14F0A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497888" cy="4572000"/>
          </a:xfrm>
        </p:spPr>
        <p:txBody>
          <a:bodyPr/>
          <a:lstStyle/>
          <a:p>
            <a:r>
              <a:rPr lang="en-US" altLang="en-TH"/>
              <a:t>K-mean clustering </a:t>
            </a:r>
            <a:r>
              <a:rPr lang="en-US" altLang="en-TH">
                <a:hlinkClick r:id="rId2"/>
              </a:rPr>
              <a:t>http://home.deib.polimi.it/matteucc/Clustering/tutorial_html/kmeans.html</a:t>
            </a:r>
            <a:r>
              <a:rPr lang="en-US" altLang="en-TH"/>
              <a:t> </a:t>
            </a:r>
          </a:p>
          <a:p>
            <a:endParaRPr lang="en-US" altLang="en-TH"/>
          </a:p>
          <a:p>
            <a:endParaRPr lang="en-US" altLang="en-US">
              <a:solidFill>
                <a:srgbClr val="CC3300"/>
              </a:solidFill>
            </a:endParaRPr>
          </a:p>
          <a:p>
            <a:endParaRPr lang="en-US" altLang="en-T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U_PPTemplate">
  <a:themeElements>
    <a:clrScheme name="OSU_PPTemplat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SU_PP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rgbClr val="CC33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rgbClr val="CC33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lnDef>
  </a:objectDefaults>
  <a:extraClrSchemeLst>
    <a:extraClrScheme>
      <a:clrScheme name="OSU_PPTemplat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U_PPTemplat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U_PPTemplat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U_PPTemplat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U_PPTemplat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U_PPTemplat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U_PPTemplat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C:\User\Teaching\MSIS5633 - Fall2002\Class Presentations\OSU_PPTemplate.pot</Template>
  <TotalTime>16736</TotalTime>
  <Words>958</Words>
  <Application>Microsoft Macintosh PowerPoint</Application>
  <PresentationFormat>On-screen Show (4:3)</PresentationFormat>
  <Paragraphs>137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-webkit-standard</vt:lpstr>
      <vt:lpstr>Arial</vt:lpstr>
      <vt:lpstr>Cambria Math</vt:lpstr>
      <vt:lpstr>Tahoma</vt:lpstr>
      <vt:lpstr>Times New Roman</vt:lpstr>
      <vt:lpstr>Wingdings</vt:lpstr>
      <vt:lpstr>OSU_PPTemplate</vt:lpstr>
      <vt:lpstr>PowerPoint Presentation</vt:lpstr>
      <vt:lpstr>Learning Objectives</vt:lpstr>
      <vt:lpstr>What Does Data Mining (DM) Do?</vt:lpstr>
      <vt:lpstr>Data Mining Process: CRISP-DM</vt:lpstr>
      <vt:lpstr>Data Mining Overview</vt:lpstr>
      <vt:lpstr>Data Preparation – A Critical DM Task</vt:lpstr>
      <vt:lpstr>  Clustering: Unsupervised machine Learning</vt:lpstr>
      <vt:lpstr>Cluster Analysis </vt:lpstr>
      <vt:lpstr>Cluster Analysis for Data Mining</vt:lpstr>
      <vt:lpstr>Similarity Measures for numerical data </vt:lpstr>
      <vt:lpstr>Similarity Measures</vt:lpstr>
      <vt:lpstr>Similarity Measures </vt:lpstr>
      <vt:lpstr>Clustering: The K-Means Algorithm</vt:lpstr>
      <vt:lpstr>Note for generating the new center of clusters.</vt:lpstr>
      <vt:lpstr>Clustering performance</vt:lpstr>
      <vt:lpstr>Finding the optimal K</vt:lpstr>
      <vt:lpstr>Elbow Method – Finding the Optimal k</vt:lpstr>
      <vt:lpstr>PowerPoint Presentation</vt:lpstr>
      <vt:lpstr>General Considerations</vt:lpstr>
      <vt:lpstr>Objectives Review</vt:lpstr>
      <vt:lpstr>Further readings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DSS Chapter 1</dc:title>
  <dc:creator>Dursun Delen</dc:creator>
  <cp:lastModifiedBy>BUNTHIT WATANAPA</cp:lastModifiedBy>
  <cp:revision>369</cp:revision>
  <cp:lastPrinted>2000-12-01T14:01:59Z</cp:lastPrinted>
  <dcterms:created xsi:type="dcterms:W3CDTF">1998-03-18T21:58:50Z</dcterms:created>
  <dcterms:modified xsi:type="dcterms:W3CDTF">2025-03-20T15:29:52Z</dcterms:modified>
</cp:coreProperties>
</file>