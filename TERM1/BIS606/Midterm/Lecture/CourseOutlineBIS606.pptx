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74" r:id="rId10"/>
    <p:sldId id="273" r:id="rId11"/>
    <p:sldId id="265" r:id="rId12"/>
    <p:sldId id="266" r:id="rId13"/>
    <p:sldId id="270" r:id="rId14"/>
    <p:sldId id="271" r:id="rId15"/>
    <p:sldId id="269" r:id="rId16"/>
    <p:sldId id="268" r:id="rId17"/>
    <p:sldId id="272" r:id="rId18"/>
    <p:sldId id="276" r:id="rId19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0" autoAdjust="0"/>
    <p:restoredTop sz="94660"/>
  </p:normalViewPr>
  <p:slideViewPr>
    <p:cSldViewPr>
      <p:cViewPr>
        <p:scale>
          <a:sx n="125" d="100"/>
          <a:sy n="125" d="100"/>
        </p:scale>
        <p:origin x="1716" y="-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2D55917-00C4-4A40-9AFE-E322BE313F73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21DFA01-1C71-4182-B33E-E4287A6618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9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8394F-E6F4-4378-9A61-C65D1F7AA1BC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9F700-EB30-4F5A-8EC5-18D9C3C2E0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2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7"/>
          <p:cNvSpPr>
            <a:spLocks/>
          </p:cNvSpPr>
          <p:nvPr/>
        </p:nvSpPr>
        <p:spPr bwMode="auto">
          <a:xfrm>
            <a:off x="4829175" y="1073150"/>
            <a:ext cx="4321175" cy="5791200"/>
          </a:xfrm>
          <a:custGeom>
            <a:avLst/>
            <a:gdLst>
              <a:gd name="T0" fmla="*/ 0 w 2736"/>
              <a:gd name="T1" fmla="*/ 3648 h 3648"/>
              <a:gd name="T2" fmla="*/ 720 w 2736"/>
              <a:gd name="T3" fmla="*/ 2016 h 3648"/>
              <a:gd name="T4" fmla="*/ 2736 w 2736"/>
              <a:gd name="T5" fmla="*/ 0 h 3648"/>
              <a:gd name="T6" fmla="*/ 2736 w 2736"/>
              <a:gd name="T7" fmla="*/ 96 h 3648"/>
              <a:gd name="T8" fmla="*/ 744 w 2736"/>
              <a:gd name="T9" fmla="*/ 2038 h 3648"/>
              <a:gd name="T10" fmla="*/ 48 w 2736"/>
              <a:gd name="T11" fmla="*/ 3648 h 3648"/>
              <a:gd name="T12" fmla="*/ 0 w 2736"/>
              <a:gd name="T13" fmla="*/ 3648 h 36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36"/>
              <a:gd name="T22" fmla="*/ 0 h 3648"/>
              <a:gd name="T23" fmla="*/ 2736 w 2736"/>
              <a:gd name="T24" fmla="*/ 3648 h 36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0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294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18"/>
          <p:cNvSpPr>
            <a:spLocks/>
          </p:cNvSpPr>
          <p:nvPr/>
        </p:nvSpPr>
        <p:spPr bwMode="auto">
          <a:xfrm>
            <a:off x="374650" y="0"/>
            <a:ext cx="5513388" cy="6615113"/>
          </a:xfrm>
          <a:custGeom>
            <a:avLst/>
            <a:gdLst>
              <a:gd name="T0" fmla="*/ 0 w 3504"/>
              <a:gd name="T1" fmla="*/ 4080 h 4128"/>
              <a:gd name="T2" fmla="*/ 0 w 3504"/>
              <a:gd name="T3" fmla="*/ 4128 h 4128"/>
              <a:gd name="T4" fmla="*/ 3504 w 3504"/>
              <a:gd name="T5" fmla="*/ 2640 h 4128"/>
              <a:gd name="T6" fmla="*/ 2880 w 3504"/>
              <a:gd name="T7" fmla="*/ 0 h 4128"/>
              <a:gd name="T8" fmla="*/ 2832 w 3504"/>
              <a:gd name="T9" fmla="*/ 0 h 4128"/>
              <a:gd name="T10" fmla="*/ 3465 w 3504"/>
              <a:gd name="T11" fmla="*/ 2619 h 4128"/>
              <a:gd name="T12" fmla="*/ 0 w 3504"/>
              <a:gd name="T13" fmla="*/ 4080 h 4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504"/>
              <a:gd name="T22" fmla="*/ 0 h 4128"/>
              <a:gd name="T23" fmla="*/ 3504 w 3504"/>
              <a:gd name="T24" fmla="*/ 4128 h 41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294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 rot="5236414">
            <a:off x="4461669" y="1483519"/>
            <a:ext cx="41148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366713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366713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3538" y="401638"/>
            <a:ext cx="8504237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 flipH="1">
            <a:off x="371475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411163" y="681038"/>
            <a:ext cx="2698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447675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flipH="1">
            <a:off x="476250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500063" y="681038"/>
            <a:ext cx="36512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bIns="0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7239D9A-4B7D-4B84-AFD9-2AA52443DCA0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0EFC3F9-F899-40C4-A26D-91C675716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6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7F49357-1AC6-497F-8555-D599A73A2FCB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41A48E1-783F-4D1D-AB6C-6E0974EF5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4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01638"/>
            <a:ext cx="8867775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7313" y="681038"/>
            <a:ext cx="460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625" y="681038"/>
            <a:ext cx="2698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575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 flipH="1">
            <a:off x="149225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 flipH="1">
            <a:off x="188913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flipH="1">
            <a:off x="2270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H="1">
            <a:off x="255588" y="681038"/>
            <a:ext cx="79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794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8D88BE-36EA-4B14-9494-F3A8749B3C31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C4F7D41-1F76-4928-98AC-95E96D65FA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9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1F45D-FE50-4127-95B7-D1334E77F141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F54DD-EF56-40D1-AD5C-321FFC09B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4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0096FDF-2D67-4CA2-83CB-8A6A1C133D29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96C0256-D9CF-4F11-A2AF-2EFEAA052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7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5AC7A-178E-44A1-9790-2A147926CCE9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2E909-CDA6-4F37-95EC-504967E1F8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6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8300" y="0"/>
            <a:ext cx="8777288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63538" y="1884363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19"/>
          <p:cNvGrpSpPr>
            <a:grpSpLocks/>
          </p:cNvGrpSpPr>
          <p:nvPr/>
        </p:nvGrpSpPr>
        <p:grpSpPr bwMode="auto">
          <a:xfrm rot="5400000">
            <a:off x="8515351" y="1219200"/>
            <a:ext cx="131762" cy="128587"/>
            <a:chOff x="6668087" y="1297746"/>
            <a:chExt cx="161840" cy="156602"/>
          </a:xfrm>
        </p:grpSpPr>
        <p:cxnSp>
          <p:nvCxnSpPr>
            <p:cNvPr id="8" name="Straight Connector 7"/>
            <p:cNvCxnSpPr/>
            <p:nvPr/>
          </p:nvCxnSpPr>
          <p:spPr>
            <a:xfrm rot="16200000">
              <a:off x="6663593" y="1288707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 flipH="1">
              <a:off x="6744513" y="1287732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5"/>
          <p:cNvGrpSpPr>
            <a:grpSpLocks/>
          </p:cNvGrpSpPr>
          <p:nvPr/>
        </p:nvGrpSpPr>
        <p:grpSpPr bwMode="auto">
          <a:xfrm rot="5400000">
            <a:off x="8667751" y="1371600"/>
            <a:ext cx="131762" cy="128587"/>
            <a:chOff x="6668087" y="1297746"/>
            <a:chExt cx="161840" cy="156602"/>
          </a:xfrm>
        </p:grpSpPr>
        <p:cxnSp>
          <p:nvCxnSpPr>
            <p:cNvPr id="12" name="Straight Connector 11"/>
            <p:cNvCxnSpPr/>
            <p:nvPr/>
          </p:nvCxnSpPr>
          <p:spPr>
            <a:xfrm rot="16200000">
              <a:off x="6663593" y="1288707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5400000" flipH="1">
              <a:off x="6744513" y="1287732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29"/>
          <p:cNvGrpSpPr>
            <a:grpSpLocks/>
          </p:cNvGrpSpPr>
          <p:nvPr/>
        </p:nvGrpSpPr>
        <p:grpSpPr bwMode="auto">
          <a:xfrm rot="5400000">
            <a:off x="8320087" y="1474788"/>
            <a:ext cx="131763" cy="128588"/>
            <a:chOff x="6668087" y="1297746"/>
            <a:chExt cx="161840" cy="156602"/>
          </a:xfrm>
        </p:grpSpPr>
        <p:cxnSp>
          <p:nvCxnSpPr>
            <p:cNvPr id="16" name="Straight Connector 15"/>
            <p:cNvCxnSpPr/>
            <p:nvPr/>
          </p:nvCxnSpPr>
          <p:spPr>
            <a:xfrm rot="16200000">
              <a:off x="6663592" y="1288707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 flipH="1">
              <a:off x="6744512" y="1287732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563"/>
            <a:ext cx="21336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7E7A2CB-831A-4CFC-86CA-C68E2CBDF019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563"/>
            <a:ext cx="55626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563"/>
            <a:ext cx="4572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B9F0309-1860-455C-A4F4-9DD7C279C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4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69EAF-C060-49EC-9FE9-6F196C579B87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5DED-172C-4FC4-880A-5CAE19DD0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9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3058C-9918-4FBD-B5F6-4213B0382083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8CED26-8E85-4CFA-9033-B3BC8C1DCE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2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325981DE-ED77-4095-A94E-865FFBAFE809}" type="datetimeFigureOut">
              <a:rPr lang="en-US"/>
              <a:pPr>
                <a:defRPr/>
              </a:pPr>
              <a:t>1/22/23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40F49FE7-BEFE-4A69-BEBE-C1F2C605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72" r:id="rId2"/>
    <p:sldLayoutId id="2147483978" r:id="rId3"/>
    <p:sldLayoutId id="2147483979" r:id="rId4"/>
    <p:sldLayoutId id="2147483980" r:id="rId5"/>
    <p:sldLayoutId id="2147483973" r:id="rId6"/>
    <p:sldLayoutId id="2147483981" r:id="rId7"/>
    <p:sldLayoutId id="2147483974" r:id="rId8"/>
    <p:sldLayoutId id="2147483982" r:id="rId9"/>
    <p:sldLayoutId id="2147483975" r:id="rId10"/>
    <p:sldLayoutId id="21474839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9pPr>
      <a:extLst/>
    </p:titleStyle>
    <p:bodyStyle>
      <a:lvl1pPr marL="411163" indent="-342900" algn="l" rtl="0" eaLnBrk="0" fontAlgn="base" hangingPunct="0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narongrit@sit.kmutt.ac.th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b.kmutt.ac.th/services/research/onlinedbs.j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836712"/>
            <a:ext cx="7772400" cy="2736304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BIS606</a:t>
            </a:r>
            <a:br>
              <a:rPr lang="en-US" dirty="0">
                <a:solidFill>
                  <a:schemeClr val="tx2">
                    <a:satMod val="20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Digital Infrastructure and Cyber Security System</a:t>
            </a:r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714375" y="3857625"/>
            <a:ext cx="7915275" cy="22860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</a:pPr>
            <a:r>
              <a:rPr lang="en-US" sz="3600" b="1" dirty="0"/>
              <a:t>M.Sc. Program in</a:t>
            </a:r>
          </a:p>
          <a:p>
            <a:pPr algn="ctr" eaLnBrk="1" hangingPunct="1">
              <a:spcBef>
                <a:spcPct val="0"/>
              </a:spcBef>
            </a:pPr>
            <a:r>
              <a:rPr lang="en-US" sz="3600" b="1" dirty="0"/>
              <a:t>Digital Business Information Systems</a:t>
            </a:r>
            <a:endParaRPr lang="en-US" sz="3600" dirty="0"/>
          </a:p>
          <a:p>
            <a:pPr algn="ctr" eaLnBrk="1" hangingPunct="1">
              <a:spcBef>
                <a:spcPct val="0"/>
              </a:spcBef>
            </a:pPr>
            <a:r>
              <a:rPr lang="en-US" sz="3600" b="1" dirty="0"/>
              <a:t>School of Information Technology, KMUTT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satMod val="200000"/>
                  </a:schemeClr>
                </a:solidFill>
              </a:rPr>
              <a:t>BIS606</a:t>
            </a:r>
            <a:endParaRPr lang="en-US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Sunday   8:00 a.m. – 11:00 a.m.</a:t>
            </a: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CB2312</a:t>
            </a: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Lecture</a:t>
            </a: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Reading publications</a:t>
            </a: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satMod val="200000"/>
                  </a:schemeClr>
                </a:solidFill>
              </a:rPr>
              <a:t>Lecturer</a:t>
            </a:r>
            <a:endParaRPr lang="en-US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Asst. Prof.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Narongrit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Waraporn Ph.D.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Contact: 02-470 – 9816  </a:t>
            </a: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e-mail:  </a:t>
            </a:r>
            <a:r>
              <a:rPr lang="en-US" u="sng" dirty="0">
                <a:latin typeface="Times New Roman" pitchFamily="18" charset="0"/>
                <a:cs typeface="Times New Roman" pitchFamily="18" charset="0"/>
                <a:hlinkClick r:id="rId2"/>
              </a:rPr>
              <a:t>narongrit@sit.kmutt.ac.th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Office Hours: Sunday 11 a.m. – 12 p.m. or by appointment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Text &amp; References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“Business Data communications and Networking”, 14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Edition Jerry Fitzgerald, Alan Dennis, Alexandra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Durcikova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2020</a:t>
            </a:r>
          </a:p>
          <a:p>
            <a:pPr eaLnBrk="1" hangingPunct="1"/>
            <a:r>
              <a:rPr lang="th-TH" dirty="0"/>
              <a:t>- </a:t>
            </a:r>
            <a:r>
              <a:rPr lang="en-US" dirty="0"/>
              <a:t>Cybersecurity Essentials, Charles J, Brooks, Christopher Grow, Philip Craig, Donald Short, 2018 Wiley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www.ieee.org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www.acm.org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18CF0-5C8F-4906-8DDD-7CE07E67375A}"/>
              </a:ext>
            </a:extLst>
          </p:cNvPr>
          <p:cNvSpPr txBox="1"/>
          <p:nvPr/>
        </p:nvSpPr>
        <p:spPr>
          <a:xfrm>
            <a:off x="899592" y="908720"/>
            <a:ext cx="2698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  <a:p>
            <a:r>
              <a:rPr lang="en-US" dirty="0"/>
              <a:t>Fundamental of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15BA7-AB91-4D68-B9C4-657FA585078C}"/>
              </a:ext>
            </a:extLst>
          </p:cNvPr>
          <p:cNvSpPr txBox="1"/>
          <p:nvPr/>
        </p:nvSpPr>
        <p:spPr>
          <a:xfrm>
            <a:off x="5364088" y="447055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2</a:t>
            </a:r>
          </a:p>
          <a:p>
            <a:r>
              <a:rPr lang="en-US" dirty="0"/>
              <a:t>Network technology and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C9A7E-FD9C-48DD-B33B-DF324964CA87}"/>
              </a:ext>
            </a:extLst>
          </p:cNvPr>
          <p:cNvSpPr txBox="1"/>
          <p:nvPr/>
        </p:nvSpPr>
        <p:spPr>
          <a:xfrm>
            <a:off x="1005478" y="3895328"/>
            <a:ext cx="29184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3</a:t>
            </a:r>
          </a:p>
          <a:p>
            <a:r>
              <a:rPr lang="en-US" dirty="0"/>
              <a:t>Cybersecurity</a:t>
            </a:r>
          </a:p>
          <a:p>
            <a:r>
              <a:rPr lang="en-US" dirty="0"/>
              <a:t>- Securing Infrastructure</a:t>
            </a:r>
          </a:p>
          <a:p>
            <a:r>
              <a:rPr lang="en-US" dirty="0"/>
              <a:t>- Securing Local Hosts</a:t>
            </a:r>
          </a:p>
          <a:p>
            <a:r>
              <a:rPr lang="en-US" dirty="0"/>
              <a:t>- Securing Networks and Perimeter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47ABB-92A9-4B85-92DD-606BEC75B22C}"/>
              </a:ext>
            </a:extLst>
          </p:cNvPr>
          <p:cNvSpPr txBox="1"/>
          <p:nvPr/>
        </p:nvSpPr>
        <p:spPr>
          <a:xfrm>
            <a:off x="5561812" y="4365104"/>
            <a:ext cx="2592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4</a:t>
            </a:r>
          </a:p>
          <a:p>
            <a:r>
              <a:rPr lang="en-US" dirty="0"/>
              <a:t>In-trend technology of infrastructure</a:t>
            </a:r>
          </a:p>
          <a:p>
            <a:pPr marL="285750" indent="-285750">
              <a:buFontTx/>
              <a:buChar char="-"/>
            </a:pPr>
            <a:r>
              <a:rPr lang="en-US" dirty="0"/>
              <a:t>IoT</a:t>
            </a:r>
          </a:p>
          <a:p>
            <a:pPr marL="285750" indent="-285750">
              <a:buFontTx/>
              <a:buChar char="-"/>
            </a:pPr>
            <a:r>
              <a:rPr lang="en-US" dirty="0"/>
              <a:t>Blockchain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EAC3A4-9B30-427C-9C69-276E84887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1872208" cy="1466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399341-580D-4636-B09B-19EDA9AC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1427307"/>
            <a:ext cx="1886213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7724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083515"/>
              </p:ext>
            </p:extLst>
          </p:nvPr>
        </p:nvGraphicFramePr>
        <p:xfrm>
          <a:off x="1115616" y="1052736"/>
          <a:ext cx="7215187" cy="5266004"/>
        </p:xfrm>
        <a:graphic>
          <a:graphicData uri="http://schemas.openxmlformats.org/drawingml/2006/table">
            <a:tbl>
              <a:tblPr/>
              <a:tblGrid>
                <a:gridCol w="150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1</a:t>
                      </a:r>
                      <a:endParaRPr lang="en-US" sz="2800" dirty="0">
                        <a:latin typeface="Times New Roman" pitchFamily="18" charset="0"/>
                        <a:ea typeface="Cordia New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0" dirty="0">
                          <a:latin typeface="Times New Roman" pitchFamily="18" charset="0"/>
                          <a:ea typeface="Cordia New"/>
                          <a:cs typeface="Times New Roman" pitchFamily="18" charset="0"/>
                        </a:rPr>
                        <a:t>Introduction</a:t>
                      </a:r>
                      <a:endParaRPr lang="en-US" sz="2800" b="1" kern="0" dirty="0">
                        <a:latin typeface="Times New Roman" pitchFamily="18" charset="0"/>
                        <a:ea typeface="Cordia New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2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2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aseline="0" dirty="0">
                          <a:latin typeface="Times New Roman"/>
                          <a:ea typeface="Cordia New"/>
                          <a:cs typeface="Angsana New"/>
                        </a:rPr>
                        <a:t>Applications</a:t>
                      </a:r>
                      <a:r>
                        <a:rPr lang="th-TH" sz="2800" baseline="0" dirty="0">
                          <a:latin typeface="Times New Roman"/>
                          <a:ea typeface="Cordia New"/>
                          <a:cs typeface="Angsana New"/>
                        </a:rPr>
                        <a:t> </a:t>
                      </a:r>
                      <a:r>
                        <a:rPr lang="en-US" sz="2800" baseline="0" dirty="0">
                          <a:latin typeface="Times New Roman"/>
                          <a:ea typeface="Cordia New"/>
                          <a:cs typeface="Angsana New"/>
                        </a:rPr>
                        <a:t>and Cloud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3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Cordia New"/>
                          <a:cs typeface="Cordia New"/>
                        </a:rPr>
                        <a:t>Circuits</a:t>
                      </a:r>
                      <a:r>
                        <a:rPr lang="en-US" sz="2800" baseline="0" dirty="0">
                          <a:latin typeface="Times New Roman"/>
                          <a:ea typeface="Cordia New"/>
                          <a:cs typeface="Cordia New"/>
                        </a:rPr>
                        <a:t> and Transmission I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4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kern="1200" dirty="0">
                          <a:solidFill>
                            <a:schemeClr val="tx1"/>
                          </a:solidFill>
                          <a:latin typeface="Times New Roman"/>
                          <a:ea typeface="Cordia New"/>
                          <a:cs typeface="Cordia New"/>
                        </a:rPr>
                        <a:t>Circuits and Transmission II</a:t>
                      </a:r>
                    </a:p>
                    <a:p>
                      <a:endParaRPr lang="en-US" dirty="0"/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2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5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Cordia New"/>
                          <a:cs typeface="Angsana New"/>
                        </a:rPr>
                        <a:t>Data</a:t>
                      </a:r>
                      <a:r>
                        <a:rPr lang="en-US" sz="2800" baseline="0" dirty="0">
                          <a:latin typeface="Times New Roman"/>
                          <a:ea typeface="Cordia New"/>
                          <a:cs typeface="Angsana New"/>
                        </a:rPr>
                        <a:t> Link</a:t>
                      </a:r>
                      <a:r>
                        <a:rPr lang="en-US" sz="2800" dirty="0">
                          <a:latin typeface="Times New Roman"/>
                          <a:ea typeface="Cordia New"/>
                          <a:cs typeface="Angsana New"/>
                        </a:rPr>
                        <a:t> Layer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6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Cordia New"/>
                          <a:cs typeface="Angsana New"/>
                        </a:rPr>
                        <a:t>TCP/IP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Angsana New"/>
                          <a:cs typeface="Angsana New"/>
                        </a:rPr>
                        <a:t>Week 7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/>
                          <a:ea typeface="Cordia New"/>
                          <a:cs typeface="Angsana New"/>
                        </a:rPr>
                        <a:t>TCP/IP</a:t>
                      </a: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latin typeface="Cordia New"/>
                        <a:ea typeface="Cordia New"/>
                        <a:cs typeface="Angsana New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045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Cordia New"/>
                          <a:ea typeface="Cordia New"/>
                          <a:cs typeface="Angsana New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latin typeface="Times New Roman"/>
                          <a:ea typeface="Cordia New"/>
                          <a:cs typeface="Angsana New"/>
                        </a:rPr>
                        <a:t>Midterm Exam 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latin typeface="Times New Roman"/>
                          <a:ea typeface="Cordia New"/>
                          <a:cs typeface="Angsana New"/>
                        </a:rPr>
                        <a:t>(Sunday  8:00 a.m. – 10:30 a.m.)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77305"/>
              </p:ext>
            </p:extLst>
          </p:nvPr>
        </p:nvGraphicFramePr>
        <p:xfrm>
          <a:off x="539552" y="836712"/>
          <a:ext cx="8496944" cy="5943600"/>
        </p:xfrm>
        <a:graphic>
          <a:graphicData uri="http://schemas.openxmlformats.org/drawingml/2006/table">
            <a:tbl>
              <a:tblPr/>
              <a:tblGrid>
                <a:gridCol w="158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8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latin typeface="Times New Roman"/>
                          <a:ea typeface="Cordia New"/>
                          <a:cs typeface="Angsana New"/>
                        </a:rPr>
                        <a:t>Local Area Networks and Wireless Local Area Networks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9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Backbone Network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Metropolitan and Wide Area Networks/ The Internet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11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IoT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 and </a:t>
                      </a:r>
                      <a:r>
                        <a:rPr kumimoji="0" lang="en-US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Blockchain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12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Cybersecurity I</a:t>
                      </a:r>
                      <a:r>
                        <a:rPr kumimoji="0" lang="th-TH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: </a:t>
                      </a: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Securing Infrastructure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13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Cybersecurity II</a:t>
                      </a:r>
                      <a:r>
                        <a:rPr kumimoji="0" lang="th-TH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: </a:t>
                      </a: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Securing Local Hosts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14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Cybersecurity III</a:t>
                      </a:r>
                      <a:r>
                        <a:rPr kumimoji="0" lang="th-TH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: </a:t>
                      </a:r>
                      <a:r>
                        <a:rPr kumimoji="0" lang="en-US" sz="2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Securing Networks and Perimeter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Week 15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Network Design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/ Network Management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Presentation Term Project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ngsana New" pitchFamily="18" charset="-34"/>
                        </a:rPr>
                        <a:t>-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Final  Exam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ordia New" pitchFamily="34" charset="-34"/>
                          <a:cs typeface="Angsana New" pitchFamily="18" charset="-34"/>
                        </a:rPr>
                        <a:t>(Sunday  8.00 a.m. - 10.30 a.m.)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rdia New" pitchFamily="34" charset="-34"/>
                        <a:ea typeface="Cordia New" pitchFamily="34" charset="-34"/>
                        <a:cs typeface="Angsana New" pitchFamily="18" charset="-34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399" y="116632"/>
            <a:ext cx="77724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Schedule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satMod val="200000"/>
                  </a:schemeClr>
                </a:solidFill>
              </a:rPr>
              <a:t>Evaluation</a:t>
            </a:r>
            <a:endParaRPr lang="en-US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Midterm				35 %</a:t>
            </a:r>
            <a:endParaRPr lang="en-US" dirty="0"/>
          </a:p>
          <a:p>
            <a:pPr eaLnBrk="1" hangingPunct="1"/>
            <a:r>
              <a:rPr lang="en-US" b="1" dirty="0"/>
              <a:t>Final					40 %</a:t>
            </a:r>
            <a:endParaRPr lang="en-US" dirty="0"/>
          </a:p>
          <a:p>
            <a:pPr eaLnBrk="1" hangingPunct="1"/>
            <a:r>
              <a:rPr lang="en-US" b="1" dirty="0"/>
              <a:t>Others					25 %</a:t>
            </a:r>
          </a:p>
          <a:p>
            <a:pPr lvl="1" eaLnBrk="1" hangingPunct="1"/>
            <a:r>
              <a:rPr lang="en-US" b="1" dirty="0"/>
              <a:t>Assignments </a:t>
            </a:r>
          </a:p>
          <a:p>
            <a:pPr lvl="1" eaLnBrk="1" hangingPunct="1"/>
            <a:r>
              <a:rPr lang="en-US" b="1" dirty="0"/>
              <a:t>Class discussion</a:t>
            </a:r>
          </a:p>
          <a:p>
            <a:pPr lvl="1" eaLnBrk="1" hangingPunct="1"/>
            <a:r>
              <a:rPr lang="en-US" b="1" dirty="0"/>
              <a:t>Project	 or Research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763"/>
            <a:ext cx="8050088" cy="914400"/>
          </a:xfrm>
        </p:spPr>
        <p:txBody>
          <a:bodyPr/>
          <a:lstStyle/>
          <a:p>
            <a:r>
              <a:rPr lang="en-US" dirty="0"/>
              <a:t>Project: </a:t>
            </a:r>
            <a:r>
              <a:rPr lang="en-US" sz="3200" dirty="0"/>
              <a:t>Choose one of three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27163"/>
            <a:ext cx="8050088" cy="5073650"/>
          </a:xfrm>
        </p:spPr>
        <p:txBody>
          <a:bodyPr/>
          <a:lstStyle/>
          <a:p>
            <a:pPr marL="582613" lvl="0" indent="-514350">
              <a:buFont typeface="+mj-lt"/>
              <a:buAutoNum type="alphaUcPeriod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สมมุติว่าคุณและเพื่อนมีบริษัท ที่ต้องการจะคิดค้นผลิตภัณฑ์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บริการใหม่ที่ไม่เคยมีองค์กรอื่นทำมาก่อน ทีมของคุณจะต้องออกแบบผลิตภัณฑ์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บริการ และระบบสารสนเทศที่รวมถึงโครงสร้างพื้นฐาน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(Server, network, and internet)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ที่จะมารองรับการทำงานของผลิตภัณฑ์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/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บริการที่คิดขึ้นมา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582613" indent="-514350">
              <a:buFont typeface="+mj-lt"/>
              <a:buAutoNum type="alphaUcPeriod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ศึกษาเทคโนโลยีใหม่ๆ ที่ยังไม่ถูกนำมาผลิตขายในปัจจุบัน แต่จะเกิดขึ้นในอนาคต แล้วนำมาถ่ายทอดทั้งในหลักการทำงาน ทฤษฎีที่ใช้ อุตสาหกรรมที่จะไปประยุกต์ใช้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582613" lvl="0" indent="-514350">
              <a:buFont typeface="+mj-lt"/>
              <a:buAutoNum type="alphaUcPeriod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ศึกษางานวิจัยที่สนใจ อ่าน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papers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 นำมาสรุปและนำเสนองานวิจัยขั้นถัดไปที่จะต่อยอดจากงานวิจัยต่างๆ ที่ได้อ่านมา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8133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263" indent="0">
              <a:buNone/>
            </a:pPr>
            <a:r>
              <a:rPr lang="en-US" dirty="0"/>
              <a:t>Innovative Application</a:t>
            </a:r>
          </a:p>
          <a:p>
            <a:r>
              <a:rPr lang="en-US" dirty="0"/>
              <a:t>Ideas of new services</a:t>
            </a:r>
          </a:p>
          <a:p>
            <a:r>
              <a:rPr lang="en-US" dirty="0"/>
              <a:t>Never exist before</a:t>
            </a:r>
          </a:p>
          <a:p>
            <a:r>
              <a:rPr lang="en-US" dirty="0"/>
              <a:t>Possible </a:t>
            </a:r>
            <a:r>
              <a:rPr lang="en-US"/>
              <a:t>to happen</a:t>
            </a:r>
            <a:endParaRPr lang="en-US" dirty="0"/>
          </a:p>
          <a:p>
            <a:r>
              <a:rPr lang="en-US" dirty="0"/>
              <a:t>Internet is the key mechanism</a:t>
            </a:r>
          </a:p>
        </p:txBody>
      </p:sp>
    </p:spTree>
    <p:extLst>
      <p:ext uri="{BB962C8B-B14F-4D97-AF65-F5344CB8AC3E}">
        <p14:creationId xmlns:p14="http://schemas.microsoft.com/office/powerpoint/2010/main" val="420963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12763"/>
            <a:ext cx="82296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Project Topics</a:t>
            </a:r>
          </a:p>
        </p:txBody>
      </p:sp>
      <p:sp>
        <p:nvSpPr>
          <p:cNvPr id="16387" name="Content Placeholder 4"/>
          <p:cNvSpPr>
            <a:spLocks noGrp="1"/>
          </p:cNvSpPr>
          <p:nvPr>
            <p:ph sz="half" idx="1"/>
          </p:nvPr>
        </p:nvSpPr>
        <p:spPr>
          <a:xfrm>
            <a:off x="465138" y="1770063"/>
            <a:ext cx="4038600" cy="4525962"/>
          </a:xfrm>
        </p:spPr>
        <p:txBody>
          <a:bodyPr/>
          <a:lstStyle/>
          <a:p>
            <a:pPr eaLnBrk="1" hangingPunct="1"/>
            <a:r>
              <a:rPr lang="en-US" dirty="0"/>
              <a:t>Google Car</a:t>
            </a:r>
          </a:p>
          <a:p>
            <a:pPr eaLnBrk="1" hangingPunct="1"/>
            <a:r>
              <a:rPr lang="en-US" dirty="0"/>
              <a:t>YouTube</a:t>
            </a:r>
          </a:p>
          <a:p>
            <a:pPr eaLnBrk="1" hangingPunct="1"/>
            <a:r>
              <a:rPr lang="en-US" dirty="0"/>
              <a:t>Twitter</a:t>
            </a:r>
          </a:p>
          <a:p>
            <a:pPr eaLnBrk="1" hangingPunct="1"/>
            <a:r>
              <a:rPr lang="en-US" dirty="0"/>
              <a:t>Facebook</a:t>
            </a:r>
          </a:p>
          <a:p>
            <a:pPr eaLnBrk="1" hangingPunct="1"/>
            <a:r>
              <a:rPr lang="en-US" dirty="0"/>
              <a:t>Metaverse</a:t>
            </a:r>
          </a:p>
          <a:p>
            <a:pPr eaLnBrk="1" hangingPunct="1"/>
            <a:r>
              <a:rPr lang="en-US" dirty="0"/>
              <a:t>Bloomberg</a:t>
            </a:r>
          </a:p>
          <a:p>
            <a:pPr eaLnBrk="1" hangingPunct="1"/>
            <a:r>
              <a:rPr lang="en-US" dirty="0"/>
              <a:t>Bitcoin</a:t>
            </a:r>
          </a:p>
          <a:p>
            <a:pPr eaLnBrk="1" hangingPunct="1"/>
            <a:r>
              <a:rPr lang="en-US" dirty="0"/>
              <a:t>Ethereum</a:t>
            </a:r>
          </a:p>
          <a:p>
            <a:pPr eaLnBrk="1" hangingPunct="1"/>
            <a:endParaRPr lang="en-US" dirty="0"/>
          </a:p>
        </p:txBody>
      </p:sp>
      <p:sp>
        <p:nvSpPr>
          <p:cNvPr id="16388" name="Content Placeholder 5"/>
          <p:cNvSpPr>
            <a:spLocks noGrp="1"/>
          </p:cNvSpPr>
          <p:nvPr>
            <p:ph sz="half" idx="2"/>
          </p:nvPr>
        </p:nvSpPr>
        <p:spPr>
          <a:xfrm>
            <a:off x="2786063" y="1714500"/>
            <a:ext cx="2928937" cy="4525963"/>
          </a:xfrm>
        </p:spPr>
        <p:txBody>
          <a:bodyPr/>
          <a:lstStyle/>
          <a:p>
            <a:pPr eaLnBrk="1" hangingPunct="1"/>
            <a:r>
              <a:rPr lang="en-US" dirty="0"/>
              <a:t>Google Drive</a:t>
            </a:r>
          </a:p>
          <a:p>
            <a:pPr eaLnBrk="1" hangingPunct="1"/>
            <a:r>
              <a:rPr lang="en-US" dirty="0"/>
              <a:t>Google Search Engine</a:t>
            </a:r>
          </a:p>
          <a:p>
            <a:pPr eaLnBrk="1" hangingPunct="1"/>
            <a:r>
              <a:rPr lang="en-US" dirty="0"/>
              <a:t>Amazon.com</a:t>
            </a:r>
          </a:p>
          <a:p>
            <a:pPr eaLnBrk="1" hangingPunct="1"/>
            <a:r>
              <a:rPr lang="en-US" dirty="0"/>
              <a:t>Walmart</a:t>
            </a:r>
          </a:p>
          <a:p>
            <a:pPr eaLnBrk="1" hangingPunct="1"/>
            <a:r>
              <a:rPr lang="en-US" dirty="0"/>
              <a:t>Kerry</a:t>
            </a:r>
          </a:p>
          <a:p>
            <a:pPr eaLnBrk="1" hangingPunct="1"/>
            <a:r>
              <a:rPr lang="en-US" dirty="0"/>
              <a:t>Metaverse</a:t>
            </a:r>
          </a:p>
          <a:p>
            <a:pPr eaLnBrk="1" hangingPunct="1"/>
            <a:endParaRPr lang="en-US" dirty="0"/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5572125" y="1714500"/>
            <a:ext cx="4038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+mn-lt"/>
                <a:cs typeface="+mn-cs"/>
              </a:rPr>
              <a:t>CISCO</a:t>
            </a: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+mn-lt"/>
                <a:cs typeface="+mn-cs"/>
              </a:rPr>
              <a:t>Huawei</a:t>
            </a: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+mn-lt"/>
                <a:cs typeface="+mn-cs"/>
              </a:rPr>
              <a:t>Samsung</a:t>
            </a: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Amazon AWS</a:t>
            </a:r>
            <a:endParaRPr lang="en-US" sz="2800" dirty="0"/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+mn-lt"/>
                <a:cs typeface="+mn-cs"/>
              </a:rPr>
              <a:t>Google Cloud</a:t>
            </a: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/>
              <a:t>IBM </a:t>
            </a:r>
            <a:r>
              <a:rPr lang="en-US" sz="2800" dirty="0" err="1"/>
              <a:t>Bluemix</a:t>
            </a:r>
            <a:r>
              <a:rPr lang="en-US" sz="2800" dirty="0"/>
              <a:t> Cloud</a:t>
            </a: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/>
              <a:t>MS Azure</a:t>
            </a:r>
            <a:endParaRPr lang="en-US" sz="2800" dirty="0">
              <a:latin typeface="+mn-lt"/>
              <a:cs typeface="+mn-cs"/>
            </a:endParaRPr>
          </a:p>
          <a:p>
            <a:pPr marL="411163" indent="-342900">
              <a:spcBef>
                <a:spcPts val="700"/>
              </a:spcBef>
              <a:buClr>
                <a:schemeClr val="tx2"/>
              </a:buClr>
              <a:buSzPct val="95000"/>
              <a:buFont typeface="Wingdings" pitchFamily="2" charset="2"/>
              <a:buChar char=""/>
              <a:defRPr/>
            </a:pPr>
            <a:r>
              <a:rPr lang="en-US" sz="2800" dirty="0">
                <a:latin typeface="+mn-lt"/>
                <a:cs typeface="+mn-cs"/>
              </a:rPr>
              <a:t>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763"/>
            <a:ext cx="82296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Project Presentations and Reports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half" idx="1"/>
          </p:nvPr>
        </p:nvSpPr>
        <p:spPr>
          <a:xfrm>
            <a:off x="465138" y="2071688"/>
            <a:ext cx="4038600" cy="4224337"/>
          </a:xfrm>
        </p:spPr>
        <p:txBody>
          <a:bodyPr/>
          <a:lstStyle/>
          <a:p>
            <a:pPr eaLnBrk="1" hangingPunct="1"/>
            <a:r>
              <a:rPr lang="en-US"/>
              <a:t>Application Logic level</a:t>
            </a:r>
          </a:p>
          <a:p>
            <a:pPr eaLnBrk="1" hangingPunct="1"/>
            <a:r>
              <a:rPr lang="en-US"/>
              <a:t>System Architecture which support the desired functions</a:t>
            </a:r>
          </a:p>
          <a:p>
            <a:pPr eaLnBrk="1" hangingPunct="1"/>
            <a:r>
              <a:rPr lang="en-US"/>
              <a:t>System software</a:t>
            </a:r>
          </a:p>
        </p:txBody>
      </p:sp>
      <p:sp>
        <p:nvSpPr>
          <p:cNvPr id="17412" name="Content Placeholder 3"/>
          <p:cNvSpPr>
            <a:spLocks noGrp="1"/>
          </p:cNvSpPr>
          <p:nvPr>
            <p:ph sz="half" idx="2"/>
          </p:nvPr>
        </p:nvSpPr>
        <p:spPr>
          <a:xfrm>
            <a:off x="4656138" y="2071688"/>
            <a:ext cx="4164334" cy="4224337"/>
          </a:xfrm>
        </p:spPr>
        <p:txBody>
          <a:bodyPr/>
          <a:lstStyle/>
          <a:p>
            <a:pPr eaLnBrk="1" hangingPunct="1"/>
            <a:r>
              <a:rPr lang="en-US" dirty="0" err="1"/>
              <a:t>Hardwares</a:t>
            </a:r>
            <a:r>
              <a:rPr lang="en-US" dirty="0"/>
              <a:t> Spec.</a:t>
            </a:r>
          </a:p>
          <a:p>
            <a:pPr eaLnBrk="1" hangingPunct="1"/>
            <a:r>
              <a:rPr lang="en-US" dirty="0"/>
              <a:t>Hardware Implementation</a:t>
            </a:r>
          </a:p>
          <a:p>
            <a:pPr eaLnBrk="1" hangingPunct="1"/>
            <a:r>
              <a:rPr lang="en-US" dirty="0"/>
              <a:t>Network Design and Management</a:t>
            </a:r>
          </a:p>
          <a:p>
            <a:pPr eaLnBrk="1" hangingPunct="1"/>
            <a:r>
              <a:rPr lang="en-US" dirty="0"/>
              <a:t>Network Security</a:t>
            </a:r>
          </a:p>
          <a:p>
            <a:pPr eaLnBrk="1" hangingPunct="1"/>
            <a:r>
              <a:rPr lang="en-US" dirty="0"/>
              <a:t>Financial </a:t>
            </a:r>
          </a:p>
          <a:p>
            <a:pPr lvl="1" eaLnBrk="1" hangingPunct="1"/>
            <a:r>
              <a:rPr lang="en-US" dirty="0"/>
              <a:t>Return of Investment, </a:t>
            </a:r>
            <a:r>
              <a:rPr lang="en-US" dirty="0" err="1"/>
              <a:t>RoI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Research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Read 5-10 research publications (papers) in the same area.</a:t>
            </a:r>
          </a:p>
          <a:p>
            <a:pPr lvl="1"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IEEE</a:t>
            </a:r>
          </a:p>
          <a:p>
            <a:pPr lvl="1"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ACM</a:t>
            </a:r>
          </a:p>
          <a:p>
            <a:pPr lvl="1"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ScienceDirect</a:t>
            </a:r>
          </a:p>
          <a:p>
            <a:pPr lvl="1"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etc.</a:t>
            </a:r>
          </a:p>
          <a:p>
            <a:pPr eaLnBrk="1" hangingPunct="1"/>
            <a:r>
              <a:rPr lang="en-US" b="1">
                <a:latin typeface="Times New Roman" pitchFamily="18" charset="0"/>
                <a:cs typeface="Times New Roman" pitchFamily="18" charset="0"/>
                <a:hlinkClick r:id="rId2"/>
              </a:rPr>
              <a:t>http://www.lib.kmutt.ac.th/services/research/onlinedbs.jsp</a:t>
            </a:r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Outcomes of Research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Summarize them</a:t>
            </a:r>
          </a:p>
          <a:p>
            <a:pPr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Propose a new direction</a:t>
            </a:r>
          </a:p>
          <a:p>
            <a:pPr eaLnBrk="1" hangingPunct="1"/>
            <a:r>
              <a:rPr lang="en-US" b="1">
                <a:latin typeface="Times New Roman" pitchFamily="18" charset="0"/>
                <a:cs typeface="Times New Roman" pitchFamily="18" charset="0"/>
              </a:rPr>
              <a:t>Presentation and reports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</a:rPr>
              <a:t>Work Conditions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Group discussion</a:t>
            </a:r>
          </a:p>
          <a:p>
            <a:pPr eaLnBrk="1" hangingPunct="1"/>
            <a:r>
              <a:rPr lang="en-US" b="1" dirty="0"/>
              <a:t>4-5 Members per group</a:t>
            </a:r>
          </a:p>
          <a:p>
            <a:pPr eaLnBrk="1" hangingPunct="1"/>
            <a:r>
              <a:rPr lang="en-US" b="1" dirty="0"/>
              <a:t>References required</a:t>
            </a:r>
          </a:p>
          <a:p>
            <a:pPr eaLnBrk="1" hangingPunct="1"/>
            <a:r>
              <a:rPr lang="en-US" b="1" dirty="0"/>
              <a:t>Every member must understand and be able to explain or answer questions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satMod val="200000"/>
                  </a:schemeClr>
                </a:solidFill>
              </a:rPr>
              <a:t>Time Lines</a:t>
            </a:r>
            <a:endParaRPr lang="en-US" dirty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/>
              <a:t>2</a:t>
            </a:r>
            <a:r>
              <a:rPr lang="en-US" b="1" baseline="30000"/>
              <a:t>nd</a:t>
            </a:r>
            <a:r>
              <a:rPr lang="en-US" b="1"/>
              <a:t> Week</a:t>
            </a:r>
          </a:p>
          <a:p>
            <a:pPr lvl="1" eaLnBrk="1" hangingPunct="1"/>
            <a:r>
              <a:rPr lang="en-US" b="1"/>
              <a:t>Submit Proposal</a:t>
            </a:r>
          </a:p>
          <a:p>
            <a:pPr lvl="1" eaLnBrk="1" hangingPunct="1"/>
            <a:r>
              <a:rPr lang="en-US" b="1"/>
              <a:t>Choose Project Topic or Research Area</a:t>
            </a:r>
          </a:p>
          <a:p>
            <a:pPr eaLnBrk="1" hangingPunct="1"/>
            <a:r>
              <a:rPr lang="en-US" b="1"/>
              <a:t>The week after Midterm</a:t>
            </a:r>
          </a:p>
          <a:p>
            <a:pPr lvl="1" eaLnBrk="1" hangingPunct="1"/>
            <a:r>
              <a:rPr lang="en-US" b="1"/>
              <a:t>Progress Report (3-5 Pages)</a:t>
            </a:r>
            <a:endParaRPr lang="en-US"/>
          </a:p>
          <a:p>
            <a:pPr eaLnBrk="1" hangingPunct="1"/>
            <a:r>
              <a:rPr lang="en-US" b="1"/>
              <a:t>Presentation Day</a:t>
            </a:r>
          </a:p>
          <a:p>
            <a:pPr lvl="1" eaLnBrk="1" hangingPunct="1"/>
            <a:r>
              <a:rPr lang="en-US" b="1"/>
              <a:t>Present</a:t>
            </a:r>
          </a:p>
          <a:p>
            <a:pPr lvl="1" eaLnBrk="1" hangingPunct="1"/>
            <a:r>
              <a:rPr lang="en-US" b="1"/>
              <a:t>Complete Reports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Assignments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Exercises from textbook</a:t>
            </a:r>
          </a:p>
          <a:p>
            <a:r>
              <a:rPr lang="en-US"/>
              <a:t>Paper reading</a:t>
            </a:r>
          </a:p>
          <a:p>
            <a:pPr lvl="1"/>
            <a:r>
              <a:rPr lang="en-US"/>
              <a:t>Discussion</a:t>
            </a:r>
          </a:p>
          <a:p>
            <a:pPr lvl="1"/>
            <a:r>
              <a:rPr lang="en-US"/>
              <a:t>(Summary)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F27CF3-8008-4457-B1AA-CFB466E8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8547"/>
            <a:ext cx="9144000" cy="10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07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1115</TotalTime>
  <Words>657</Words>
  <Application>Microsoft Office PowerPoint</Application>
  <PresentationFormat>On-screen Show (4:3)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Angsana New</vt:lpstr>
      <vt:lpstr>Arial</vt:lpstr>
      <vt:lpstr>Consolas</vt:lpstr>
      <vt:lpstr>Corbel</vt:lpstr>
      <vt:lpstr>Cordia New</vt:lpstr>
      <vt:lpstr>DilleniaUPC</vt:lpstr>
      <vt:lpstr>TH SarabunPSK</vt:lpstr>
      <vt:lpstr>Times New Roman</vt:lpstr>
      <vt:lpstr>Wingdings</vt:lpstr>
      <vt:lpstr>Wingdings 2</vt:lpstr>
      <vt:lpstr>Wingdings 3</vt:lpstr>
      <vt:lpstr>Metro</vt:lpstr>
      <vt:lpstr>BIS606 Digital Infrastructure and Cyber Security System</vt:lpstr>
      <vt:lpstr>BIS606</vt:lpstr>
      <vt:lpstr>Lecturer</vt:lpstr>
      <vt:lpstr>Text &amp; References</vt:lpstr>
      <vt:lpstr>PowerPoint Presentation</vt:lpstr>
      <vt:lpstr>Schedule</vt:lpstr>
      <vt:lpstr>Schedule</vt:lpstr>
      <vt:lpstr>Evaluation</vt:lpstr>
      <vt:lpstr>Project: Choose one of three types</vt:lpstr>
      <vt:lpstr>Project Topics</vt:lpstr>
      <vt:lpstr>Project Topics</vt:lpstr>
      <vt:lpstr>Project Presentations and Reports</vt:lpstr>
      <vt:lpstr>Research</vt:lpstr>
      <vt:lpstr>Outcomes of Research</vt:lpstr>
      <vt:lpstr>Work Conditions</vt:lpstr>
      <vt:lpstr>Time Lines</vt:lpstr>
      <vt:lpstr>Assignments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EBT641   Network Computing and Internet Architectures</dc:title>
  <dc:creator>SIT</dc:creator>
  <cp:lastModifiedBy>NARONGRIT WARAPORN</cp:lastModifiedBy>
  <cp:revision>37</cp:revision>
  <dcterms:created xsi:type="dcterms:W3CDTF">2008-11-01T02:42:15Z</dcterms:created>
  <dcterms:modified xsi:type="dcterms:W3CDTF">2023-01-22T05:38:16Z</dcterms:modified>
</cp:coreProperties>
</file>