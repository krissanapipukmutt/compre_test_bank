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handoutMasterIdLst>
    <p:handoutMasterId r:id="rId45"/>
  </p:handoutMasterIdLst>
  <p:sldIdLst>
    <p:sldId id="342" r:id="rId2"/>
    <p:sldId id="383" r:id="rId3"/>
    <p:sldId id="257" r:id="rId4"/>
    <p:sldId id="259" r:id="rId5"/>
    <p:sldId id="382" r:id="rId6"/>
    <p:sldId id="305" r:id="rId7"/>
    <p:sldId id="341" r:id="rId8"/>
    <p:sldId id="373" r:id="rId9"/>
    <p:sldId id="374" r:id="rId10"/>
    <p:sldId id="346" r:id="rId11"/>
    <p:sldId id="347" r:id="rId12"/>
    <p:sldId id="375" r:id="rId13"/>
    <p:sldId id="386" r:id="rId14"/>
    <p:sldId id="387" r:id="rId15"/>
    <p:sldId id="350" r:id="rId16"/>
    <p:sldId id="352" r:id="rId17"/>
    <p:sldId id="353" r:id="rId18"/>
    <p:sldId id="380" r:id="rId19"/>
    <p:sldId id="379" r:id="rId20"/>
    <p:sldId id="376" r:id="rId21"/>
    <p:sldId id="355" r:id="rId22"/>
    <p:sldId id="356" r:id="rId23"/>
    <p:sldId id="377" r:id="rId24"/>
    <p:sldId id="358" r:id="rId25"/>
    <p:sldId id="359" r:id="rId26"/>
    <p:sldId id="360" r:id="rId27"/>
    <p:sldId id="378" r:id="rId28"/>
    <p:sldId id="361" r:id="rId29"/>
    <p:sldId id="363" r:id="rId30"/>
    <p:sldId id="384" r:id="rId31"/>
    <p:sldId id="365" r:id="rId32"/>
    <p:sldId id="366" r:id="rId33"/>
    <p:sldId id="385" r:id="rId34"/>
    <p:sldId id="367" r:id="rId35"/>
    <p:sldId id="368" r:id="rId36"/>
    <p:sldId id="421" r:id="rId37"/>
    <p:sldId id="422" r:id="rId38"/>
    <p:sldId id="424" r:id="rId39"/>
    <p:sldId id="425" r:id="rId40"/>
    <p:sldId id="426" r:id="rId41"/>
    <p:sldId id="381" r:id="rId42"/>
    <p:sldId id="389" r:id="rId43"/>
  </p:sldIdLst>
  <p:sldSz cx="9144000" cy="6858000" type="screen4x3"/>
  <p:notesSz cx="6858000" cy="9296400"/>
  <p:defaultTextStyle>
    <a:defPPr>
      <a:defRPr lang="en-US"/>
    </a:defPPr>
    <a:lvl1pPr algn="l" rtl="0" fontAlgn="base">
      <a:lnSpc>
        <a:spcPct val="80000"/>
      </a:lnSpc>
      <a:spcBef>
        <a:spcPct val="20000"/>
      </a:spcBef>
      <a:spcAft>
        <a:spcPct val="15000"/>
      </a:spcAft>
      <a:defRPr sz="2000" b="1" kern="1200">
        <a:solidFill>
          <a:srgbClr val="16027C"/>
        </a:solidFill>
        <a:latin typeface="Arial" charset="0"/>
        <a:ea typeface="+mn-ea"/>
        <a:cs typeface="+mn-cs"/>
      </a:defRPr>
    </a:lvl1pPr>
    <a:lvl2pPr marL="457200" algn="l" rtl="0" fontAlgn="base">
      <a:lnSpc>
        <a:spcPct val="80000"/>
      </a:lnSpc>
      <a:spcBef>
        <a:spcPct val="20000"/>
      </a:spcBef>
      <a:spcAft>
        <a:spcPct val="15000"/>
      </a:spcAft>
      <a:defRPr sz="2000" b="1" kern="1200">
        <a:solidFill>
          <a:srgbClr val="16027C"/>
        </a:solidFill>
        <a:latin typeface="Arial" charset="0"/>
        <a:ea typeface="+mn-ea"/>
        <a:cs typeface="+mn-cs"/>
      </a:defRPr>
    </a:lvl2pPr>
    <a:lvl3pPr marL="914400" algn="l" rtl="0" fontAlgn="base">
      <a:lnSpc>
        <a:spcPct val="80000"/>
      </a:lnSpc>
      <a:spcBef>
        <a:spcPct val="20000"/>
      </a:spcBef>
      <a:spcAft>
        <a:spcPct val="15000"/>
      </a:spcAft>
      <a:defRPr sz="2000" b="1" kern="1200">
        <a:solidFill>
          <a:srgbClr val="16027C"/>
        </a:solidFill>
        <a:latin typeface="Arial" charset="0"/>
        <a:ea typeface="+mn-ea"/>
        <a:cs typeface="+mn-cs"/>
      </a:defRPr>
    </a:lvl3pPr>
    <a:lvl4pPr marL="1371600" algn="l" rtl="0" fontAlgn="base">
      <a:lnSpc>
        <a:spcPct val="80000"/>
      </a:lnSpc>
      <a:spcBef>
        <a:spcPct val="20000"/>
      </a:spcBef>
      <a:spcAft>
        <a:spcPct val="15000"/>
      </a:spcAft>
      <a:defRPr sz="2000" b="1" kern="1200">
        <a:solidFill>
          <a:srgbClr val="16027C"/>
        </a:solidFill>
        <a:latin typeface="Arial" charset="0"/>
        <a:ea typeface="+mn-ea"/>
        <a:cs typeface="+mn-cs"/>
      </a:defRPr>
    </a:lvl4pPr>
    <a:lvl5pPr marL="1828800" algn="l" rtl="0" fontAlgn="base">
      <a:lnSpc>
        <a:spcPct val="80000"/>
      </a:lnSpc>
      <a:spcBef>
        <a:spcPct val="20000"/>
      </a:spcBef>
      <a:spcAft>
        <a:spcPct val="15000"/>
      </a:spcAft>
      <a:defRPr sz="2000" b="1" kern="1200">
        <a:solidFill>
          <a:srgbClr val="16027C"/>
        </a:solidFill>
        <a:latin typeface="Arial" charset="0"/>
        <a:ea typeface="+mn-ea"/>
        <a:cs typeface="+mn-cs"/>
      </a:defRPr>
    </a:lvl5pPr>
    <a:lvl6pPr marL="2286000" algn="l" defTabSz="914400" rtl="0" eaLnBrk="1" latinLnBrk="0" hangingPunct="1">
      <a:defRPr sz="2000" b="1" kern="1200">
        <a:solidFill>
          <a:srgbClr val="16027C"/>
        </a:solidFill>
        <a:latin typeface="Arial" charset="0"/>
        <a:ea typeface="+mn-ea"/>
        <a:cs typeface="+mn-cs"/>
      </a:defRPr>
    </a:lvl6pPr>
    <a:lvl7pPr marL="2743200" algn="l" defTabSz="914400" rtl="0" eaLnBrk="1" latinLnBrk="0" hangingPunct="1">
      <a:defRPr sz="2000" b="1" kern="1200">
        <a:solidFill>
          <a:srgbClr val="16027C"/>
        </a:solidFill>
        <a:latin typeface="Arial" charset="0"/>
        <a:ea typeface="+mn-ea"/>
        <a:cs typeface="+mn-cs"/>
      </a:defRPr>
    </a:lvl7pPr>
    <a:lvl8pPr marL="3200400" algn="l" defTabSz="914400" rtl="0" eaLnBrk="1" latinLnBrk="0" hangingPunct="1">
      <a:defRPr sz="2000" b="1" kern="1200">
        <a:solidFill>
          <a:srgbClr val="16027C"/>
        </a:solidFill>
        <a:latin typeface="Arial" charset="0"/>
        <a:ea typeface="+mn-ea"/>
        <a:cs typeface="+mn-cs"/>
      </a:defRPr>
    </a:lvl8pPr>
    <a:lvl9pPr marL="3657600" algn="l" defTabSz="914400" rtl="0" eaLnBrk="1" latinLnBrk="0" hangingPunct="1">
      <a:defRPr sz="2000" b="1" kern="1200">
        <a:solidFill>
          <a:srgbClr val="16027C"/>
        </a:solidFill>
        <a:latin typeface="Arial" charset="0"/>
        <a:ea typeface="+mn-ea"/>
        <a:cs typeface="+mn-cs"/>
      </a:defRPr>
    </a:lvl9pPr>
  </p:defaultTextStyle>
  <p:extLst>
    <p:ext uri="{EFAFB233-063F-42B5-8137-9DF3F51BA10A}">
      <p15:sldGuideLst xmlns:p15="http://schemas.microsoft.com/office/powerpoint/2012/main">
        <p15:guide id="1" orient="horz" pos="1776">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7F7FF"/>
    <a:srgbClr val="E9E9FF"/>
    <a:srgbClr val="C5C5FF"/>
    <a:srgbClr val="A3A3FF"/>
    <a:srgbClr val="AFFFAF"/>
    <a:srgbClr val="CDFFCD"/>
    <a:srgbClr val="0000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090" autoAdjust="0"/>
  </p:normalViewPr>
  <p:slideViewPr>
    <p:cSldViewPr snapToGrid="0" snapToObjects="1">
      <p:cViewPr varScale="1">
        <p:scale>
          <a:sx n="79" d="100"/>
          <a:sy n="79" d="100"/>
        </p:scale>
        <p:origin x="2466" y="90"/>
      </p:cViewPr>
      <p:guideLst>
        <p:guide orient="horz" pos="1776"/>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Lst>
  </p:outlineViewPr>
  <p:notesTextViewPr>
    <p:cViewPr>
      <p:scale>
        <a:sx n="3" d="2"/>
        <a:sy n="3" d="2"/>
      </p:scale>
      <p:origin x="0" y="-42"/>
    </p:cViewPr>
  </p:notesTextViewPr>
  <p:sorterViewPr>
    <p:cViewPr>
      <p:scale>
        <a:sx n="66" d="100"/>
        <a:sy n="66" d="100"/>
      </p:scale>
      <p:origin x="0" y="132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3" Type="http://schemas.openxmlformats.org/officeDocument/2006/relationships/slide" Target="slides/slide7.xml"/><Relationship Id="rId7" Type="http://schemas.openxmlformats.org/officeDocument/2006/relationships/slide" Target="slides/slide26.xml"/><Relationship Id="rId2" Type="http://schemas.openxmlformats.org/officeDocument/2006/relationships/slide" Target="slides/slide6.xml"/><Relationship Id="rId1" Type="http://schemas.openxmlformats.org/officeDocument/2006/relationships/slide" Target="slides/slide3.xml"/><Relationship Id="rId6" Type="http://schemas.openxmlformats.org/officeDocument/2006/relationships/slide" Target="slides/slide19.xml"/><Relationship Id="rId5" Type="http://schemas.openxmlformats.org/officeDocument/2006/relationships/slide" Target="slides/slide15.xml"/><Relationship Id="rId4" Type="http://schemas.openxmlformats.org/officeDocument/2006/relationships/slide" Target="slides/slide9.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spcAft>
                <a:spcPct val="0"/>
              </a:spcAft>
              <a:defRPr sz="1200" b="0">
                <a:solidFill>
                  <a:schemeClr val="tx1"/>
                </a:solidFill>
                <a:latin typeface="Times New Roman" pitchFamily="18" charset="0"/>
              </a:defRPr>
            </a:lvl1pPr>
          </a:lstStyle>
          <a:p>
            <a:endParaRPr lang="en-US"/>
          </a:p>
        </p:txBody>
      </p:sp>
      <p:sp>
        <p:nvSpPr>
          <p:cNvPr id="52227"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spcAft>
                <a:spcPct val="0"/>
              </a:spcAft>
              <a:defRPr sz="1200" b="0">
                <a:solidFill>
                  <a:schemeClr val="tx1"/>
                </a:solidFill>
                <a:latin typeface="Times New Roman" pitchFamily="18" charset="0"/>
              </a:defRPr>
            </a:lvl1pPr>
          </a:lstStyle>
          <a:p>
            <a:endParaRPr lang="en-US"/>
          </a:p>
        </p:txBody>
      </p:sp>
      <p:sp>
        <p:nvSpPr>
          <p:cNvPr id="52228"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spcAft>
                <a:spcPct val="0"/>
              </a:spcAft>
              <a:defRPr sz="1200" b="0">
                <a:solidFill>
                  <a:schemeClr val="tx1"/>
                </a:solidFill>
                <a:latin typeface="Times New Roman" pitchFamily="18" charset="0"/>
              </a:defRPr>
            </a:lvl1pPr>
          </a:lstStyle>
          <a:p>
            <a:endParaRPr lang="en-US"/>
          </a:p>
        </p:txBody>
      </p:sp>
      <p:sp>
        <p:nvSpPr>
          <p:cNvPr id="52229"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spcAft>
                <a:spcPct val="0"/>
              </a:spcAft>
              <a:defRPr sz="1200" b="0">
                <a:solidFill>
                  <a:schemeClr val="tx1"/>
                </a:solidFill>
                <a:latin typeface="Times New Roman" pitchFamily="18" charset="0"/>
              </a:defRPr>
            </a:lvl1pPr>
          </a:lstStyle>
          <a:p>
            <a:fld id="{317EE2BB-C641-49CA-86AC-31897D6B383E}" type="slidenum">
              <a:rPr lang="en-US"/>
              <a:pPr/>
              <a:t>‹#›</a:t>
            </a:fld>
            <a:endParaRPr lang="en-US"/>
          </a:p>
        </p:txBody>
      </p:sp>
    </p:spTree>
    <p:extLst>
      <p:ext uri="{BB962C8B-B14F-4D97-AF65-F5344CB8AC3E}">
        <p14:creationId xmlns:p14="http://schemas.microsoft.com/office/powerpoint/2010/main" val="41146787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spcAft>
                <a:spcPct val="0"/>
              </a:spcAft>
              <a:defRPr sz="1200" b="0">
                <a:solidFill>
                  <a:schemeClr val="tx1"/>
                </a:solidFill>
                <a:latin typeface="Times New Roman" pitchFamily="18" charset="0"/>
              </a:defRPr>
            </a:lvl1pPr>
          </a:lstStyle>
          <a:p>
            <a:endParaRPr lang="en-US"/>
          </a:p>
        </p:txBody>
      </p:sp>
      <p:sp>
        <p:nvSpPr>
          <p:cNvPr id="14339" name="Rectangle 3"/>
          <p:cNvSpPr>
            <a:spLocks noGrp="1" noChangeArrowheads="1"/>
          </p:cNvSpPr>
          <p:nvPr>
            <p:ph type="dt" idx="1"/>
          </p:nvPr>
        </p:nvSpPr>
        <p:spPr bwMode="auto">
          <a:xfrm>
            <a:off x="388620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spcAft>
                <a:spcPct val="0"/>
              </a:spcAft>
              <a:defRPr sz="1200" b="0">
                <a:solidFill>
                  <a:schemeClr val="tx1"/>
                </a:solidFill>
                <a:latin typeface="Times New Roman" pitchFamily="18" charset="0"/>
              </a:defRPr>
            </a:lvl1pPr>
          </a:lstStyle>
          <a:p>
            <a:endParaRPr lang="en-US"/>
          </a:p>
        </p:txBody>
      </p:sp>
      <p:sp>
        <p:nvSpPr>
          <p:cNvPr id="56324" name="Rectangle 4"/>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1" name="Rectangle 5"/>
          <p:cNvSpPr>
            <a:spLocks noGrp="1" noChangeArrowheads="1"/>
          </p:cNvSpPr>
          <p:nvPr>
            <p:ph type="body" sz="quarter" idx="3"/>
          </p:nvPr>
        </p:nvSpPr>
        <p:spPr bwMode="auto">
          <a:xfrm>
            <a:off x="914400" y="4416425"/>
            <a:ext cx="5029200" cy="41830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342" name="Rectangle 6"/>
          <p:cNvSpPr>
            <a:spLocks noGrp="1" noChangeArrowheads="1"/>
          </p:cNvSpPr>
          <p:nvPr>
            <p:ph type="ftr" sz="quarter" idx="4"/>
          </p:nvPr>
        </p:nvSpPr>
        <p:spPr bwMode="auto">
          <a:xfrm>
            <a:off x="0" y="8831263"/>
            <a:ext cx="297180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spcAft>
                <a:spcPct val="0"/>
              </a:spcAft>
              <a:defRPr sz="1200" b="0">
                <a:solidFill>
                  <a:schemeClr val="tx1"/>
                </a:solidFill>
                <a:latin typeface="Times New Roman" pitchFamily="18" charset="0"/>
              </a:defRPr>
            </a:lvl1pPr>
          </a:lstStyle>
          <a:p>
            <a:endParaRPr lang="en-US"/>
          </a:p>
        </p:txBody>
      </p:sp>
      <p:sp>
        <p:nvSpPr>
          <p:cNvPr id="14343" name="Rectangle 7"/>
          <p:cNvSpPr>
            <a:spLocks noGrp="1" noChangeArrowheads="1"/>
          </p:cNvSpPr>
          <p:nvPr>
            <p:ph type="sldNum" sz="quarter" idx="5"/>
          </p:nvPr>
        </p:nvSpPr>
        <p:spPr bwMode="auto">
          <a:xfrm>
            <a:off x="3886200" y="8831263"/>
            <a:ext cx="297180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spcAft>
                <a:spcPct val="0"/>
              </a:spcAft>
              <a:defRPr sz="1200" b="0">
                <a:solidFill>
                  <a:schemeClr val="tx1"/>
                </a:solidFill>
                <a:latin typeface="Times New Roman" pitchFamily="18" charset="0"/>
              </a:defRPr>
            </a:lvl1pPr>
          </a:lstStyle>
          <a:p>
            <a:fld id="{B39D31E3-DB88-47AF-B247-1A0A563E15EA}" type="slidenum">
              <a:rPr lang="en-US"/>
              <a:pPr/>
              <a:t>‹#›</a:t>
            </a:fld>
            <a:endParaRPr lang="en-US"/>
          </a:p>
        </p:txBody>
      </p:sp>
    </p:spTree>
    <p:extLst>
      <p:ext uri="{BB962C8B-B14F-4D97-AF65-F5344CB8AC3E}">
        <p14:creationId xmlns:p14="http://schemas.microsoft.com/office/powerpoint/2010/main" val="115675835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www.gartner.com/en/articles/what-is-platform-engineering" TargetMode="External"/><Relationship Id="rId13" Type="http://schemas.openxmlformats.org/officeDocument/2006/relationships/hyperlink" Target="https://www.gartner.com/en/articles/are-you-thinking-too-small-about-sustainable-technology" TargetMode="External"/><Relationship Id="rId3" Type="http://schemas.openxmlformats.org/officeDocument/2006/relationships/hyperlink" Target="https://www.gartner.com/en/articles/what-is-a-digital-immune-system-and-why-does-it-matter" TargetMode="External"/><Relationship Id="rId7" Type="http://schemas.openxmlformats.org/officeDocument/2006/relationships/hyperlink" Target="https://www.gartner.com/en/articles/what-are-industry-cloud-platforms" TargetMode="External"/><Relationship Id="rId12" Type="http://schemas.openxmlformats.org/officeDocument/2006/relationships/hyperlink" Target="https://www.gartner.com/en/articles/how-to-capture-opportunity-in-the-metaverse" TargetMode="External"/><Relationship Id="rId2" Type="http://schemas.openxmlformats.org/officeDocument/2006/relationships/slide" Target="../slides/slide37.xml"/><Relationship Id="rId1" Type="http://schemas.openxmlformats.org/officeDocument/2006/relationships/notesMaster" Target="../notesMasters/notesMaster1.xml"/><Relationship Id="rId6" Type="http://schemas.openxmlformats.org/officeDocument/2006/relationships/hyperlink" Target="https://www.gartner.com/en/articles/what-s-new-in-artificial-intelligence-from-the-2022-gartner-hype-cycle" TargetMode="External"/><Relationship Id="rId11" Type="http://schemas.openxmlformats.org/officeDocument/2006/relationships/hyperlink" Target="https://www.gartner.com/en/articles/why-adaptive-ai-should-matter-to-your-business" TargetMode="External"/><Relationship Id="rId5" Type="http://schemas.openxmlformats.org/officeDocument/2006/relationships/hyperlink" Target="https://www.gartner.com/en/articles/what-it-takes-to-make-ai-safe-and-effective" TargetMode="External"/><Relationship Id="rId10" Type="http://schemas.openxmlformats.org/officeDocument/2006/relationships/hyperlink" Target="https://www.gartner.com/en/articles/what-is-a-superapp" TargetMode="External"/><Relationship Id="rId4" Type="http://schemas.openxmlformats.org/officeDocument/2006/relationships/hyperlink" Target="https://www.gartner.com/en/articles/monetizing-observable-data-will-separate-the-winners-and-losers" TargetMode="External"/><Relationship Id="rId9" Type="http://schemas.openxmlformats.org/officeDocument/2006/relationships/hyperlink" Target="https://www.gartner.com/en/articles/capturing-value-from-next-generation-wireless"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CPE - Customer premise equipments</a:t>
            </a:r>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pitchFamily="34" charset="0"/>
              </a:defRPr>
            </a:lvl1pPr>
            <a:lvl2pPr marL="742950" indent="-285750" eaLnBrk="0" hangingPunct="0">
              <a:defRPr sz="2000" b="1">
                <a:solidFill>
                  <a:srgbClr val="16027C"/>
                </a:solidFill>
                <a:latin typeface="Arial" pitchFamily="34" charset="0"/>
              </a:defRPr>
            </a:lvl2pPr>
            <a:lvl3pPr marL="1143000" indent="-228600" eaLnBrk="0" hangingPunct="0">
              <a:defRPr sz="2000" b="1">
                <a:solidFill>
                  <a:srgbClr val="16027C"/>
                </a:solidFill>
                <a:latin typeface="Arial" pitchFamily="34" charset="0"/>
              </a:defRPr>
            </a:lvl3pPr>
            <a:lvl4pPr marL="1600200" indent="-228600" eaLnBrk="0" hangingPunct="0">
              <a:defRPr sz="2000" b="1">
                <a:solidFill>
                  <a:srgbClr val="16027C"/>
                </a:solidFill>
                <a:latin typeface="Arial" pitchFamily="34" charset="0"/>
              </a:defRPr>
            </a:lvl4pPr>
            <a:lvl5pPr marL="2057400" indent="-228600" eaLnBrk="0" hangingPunct="0">
              <a:defRPr sz="2000" b="1">
                <a:solidFill>
                  <a:srgbClr val="16027C"/>
                </a:solidFill>
                <a:latin typeface="Arial" pitchFamily="34" charset="0"/>
              </a:defRPr>
            </a:lvl5pPr>
            <a:lvl6pPr marL="2514600" indent="-228600" eaLnBrk="0" fontAlgn="base" hangingPunct="0">
              <a:lnSpc>
                <a:spcPct val="80000"/>
              </a:lnSpc>
              <a:spcBef>
                <a:spcPct val="20000"/>
              </a:spcBef>
              <a:spcAft>
                <a:spcPct val="15000"/>
              </a:spcAft>
              <a:defRPr sz="2000" b="1">
                <a:solidFill>
                  <a:srgbClr val="16027C"/>
                </a:solidFill>
                <a:latin typeface="Arial" pitchFamily="34" charset="0"/>
              </a:defRPr>
            </a:lvl6pPr>
            <a:lvl7pPr marL="2971800" indent="-228600" eaLnBrk="0" fontAlgn="base" hangingPunct="0">
              <a:lnSpc>
                <a:spcPct val="80000"/>
              </a:lnSpc>
              <a:spcBef>
                <a:spcPct val="20000"/>
              </a:spcBef>
              <a:spcAft>
                <a:spcPct val="15000"/>
              </a:spcAft>
              <a:defRPr sz="2000" b="1">
                <a:solidFill>
                  <a:srgbClr val="16027C"/>
                </a:solidFill>
                <a:latin typeface="Arial" pitchFamily="34" charset="0"/>
              </a:defRPr>
            </a:lvl7pPr>
            <a:lvl8pPr marL="3429000" indent="-228600" eaLnBrk="0" fontAlgn="base" hangingPunct="0">
              <a:lnSpc>
                <a:spcPct val="80000"/>
              </a:lnSpc>
              <a:spcBef>
                <a:spcPct val="20000"/>
              </a:spcBef>
              <a:spcAft>
                <a:spcPct val="15000"/>
              </a:spcAft>
              <a:defRPr sz="2000" b="1">
                <a:solidFill>
                  <a:srgbClr val="16027C"/>
                </a:solidFill>
                <a:latin typeface="Arial" pitchFamily="34" charset="0"/>
              </a:defRPr>
            </a:lvl8pPr>
            <a:lvl9pPr marL="3886200" indent="-228600" eaLnBrk="0" fontAlgn="base" hangingPunct="0">
              <a:lnSpc>
                <a:spcPct val="80000"/>
              </a:lnSpc>
              <a:spcBef>
                <a:spcPct val="20000"/>
              </a:spcBef>
              <a:spcAft>
                <a:spcPct val="15000"/>
              </a:spcAft>
              <a:defRPr sz="2000" b="1">
                <a:solidFill>
                  <a:srgbClr val="16027C"/>
                </a:solidFill>
                <a:latin typeface="Arial" pitchFamily="34" charset="0"/>
              </a:defRPr>
            </a:lvl9pPr>
          </a:lstStyle>
          <a:p>
            <a:pPr eaLnBrk="1" hangingPunct="1"/>
            <a:fld id="{7DB5B2D9-37FD-44BA-BFD6-891FCE4E898A}" type="slidenum">
              <a:rPr lang="en-US" sz="1200" b="0" smtClean="0">
                <a:solidFill>
                  <a:schemeClr val="tx1"/>
                </a:solidFill>
                <a:latin typeface="Times New Roman" pitchFamily="18" charset="0"/>
              </a:rPr>
              <a:pPr eaLnBrk="1" hangingPunct="1"/>
              <a:t>14</a:t>
            </a:fld>
            <a:endParaRPr lang="en-US" sz="1200" b="0">
              <a:solidFill>
                <a:schemeClr val="tx1"/>
              </a:solidFill>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Times New Roman" pitchFamily="18" charset="0"/>
                <a:ea typeface="+mn-ea"/>
                <a:cs typeface="+mn-cs"/>
              </a:rPr>
              <a:t>These trends optimize IT systems for greater reliability, improve data-driven decision making and maintain value and integrity of artificial intelligence (AI) systems in production. </a:t>
            </a:r>
            <a:br>
              <a:rPr lang="en-US" sz="1200" b="0" i="0" kern="1200" dirty="0">
                <a:solidFill>
                  <a:schemeClr val="tx1"/>
                </a:solidFill>
                <a:effectLst/>
                <a:latin typeface="Times New Roman" pitchFamily="18" charset="0"/>
                <a:ea typeface="+mn-ea"/>
                <a:cs typeface="+mn-cs"/>
              </a:rPr>
            </a:br>
            <a:endParaRPr lang="en-US" sz="1200" b="1" i="0" kern="1200" dirty="0">
              <a:solidFill>
                <a:schemeClr val="tx1"/>
              </a:solidFill>
              <a:effectLst/>
              <a:latin typeface="Times New Roman" pitchFamily="18" charset="0"/>
              <a:ea typeface="+mn-ea"/>
              <a:cs typeface="+mn-cs"/>
            </a:endParaRPr>
          </a:p>
          <a:p>
            <a:r>
              <a:rPr lang="en-US" sz="1200" b="1" i="0" u="none" strike="noStrike" kern="1200" dirty="0">
                <a:solidFill>
                  <a:schemeClr val="tx1"/>
                </a:solidFill>
                <a:effectLst/>
                <a:latin typeface="Times New Roman" pitchFamily="18" charset="0"/>
                <a:ea typeface="+mn-ea"/>
                <a:cs typeface="+mn-cs"/>
                <a:hlinkClick r:id="rId3"/>
              </a:rPr>
              <a:t>Digital Immune System</a:t>
            </a:r>
            <a:r>
              <a:rPr lang="en-US" sz="1200" b="0" i="0" kern="1200" dirty="0">
                <a:solidFill>
                  <a:schemeClr val="tx1"/>
                </a:solidFill>
                <a:effectLst/>
                <a:latin typeface="Times New Roman" pitchFamily="18" charset="0"/>
                <a:ea typeface="+mn-ea"/>
                <a:cs typeface="+mn-cs"/>
              </a:rPr>
              <a:t> creates an enhanced customer experience by combining multiple software engineering strategies to protect against risk. Through observability, automation, and extreme design and testing, it delivers resilient systems that mitigate operational and security risks.</a:t>
            </a:r>
          </a:p>
          <a:p>
            <a:r>
              <a:rPr lang="en-US" sz="1200" b="1" i="0" u="none" strike="noStrike" kern="1200" dirty="0">
                <a:solidFill>
                  <a:schemeClr val="tx1"/>
                </a:solidFill>
                <a:effectLst/>
                <a:latin typeface="Times New Roman" pitchFamily="18" charset="0"/>
                <a:ea typeface="+mn-ea"/>
                <a:cs typeface="+mn-cs"/>
                <a:hlinkClick r:id="rId4"/>
              </a:rPr>
              <a:t>Applied Observability</a:t>
            </a:r>
            <a:r>
              <a:rPr lang="en-US" sz="1200" b="0" i="0" kern="1200" dirty="0">
                <a:solidFill>
                  <a:schemeClr val="tx1"/>
                </a:solidFill>
                <a:effectLst/>
                <a:latin typeface="Times New Roman" pitchFamily="18" charset="0"/>
                <a:ea typeface="+mn-ea"/>
                <a:cs typeface="+mn-cs"/>
              </a:rPr>
              <a:t> works from the data emitted by an organization, using AI to analyze and make recommendations, which allow an enterprise to make faster and more accurate future decisions. When applied systematically, it can reduce the latency for response and optimize business operations in real time.</a:t>
            </a:r>
          </a:p>
          <a:p>
            <a:r>
              <a:rPr lang="en-US" sz="1200" b="1" i="0" u="none" strike="noStrike" kern="1200" dirty="0">
                <a:solidFill>
                  <a:schemeClr val="tx1"/>
                </a:solidFill>
                <a:effectLst/>
                <a:latin typeface="Times New Roman" pitchFamily="18" charset="0"/>
                <a:ea typeface="+mn-ea"/>
                <a:cs typeface="+mn-cs"/>
                <a:hlinkClick r:id="rId5" tooltip="AI TRiSM"/>
              </a:rPr>
              <a:t>AI </a:t>
            </a:r>
            <a:r>
              <a:rPr lang="en-US" sz="1200" b="1" i="0" u="none" strike="noStrike" kern="1200" dirty="0" err="1">
                <a:solidFill>
                  <a:schemeClr val="tx1"/>
                </a:solidFill>
                <a:effectLst/>
                <a:latin typeface="Times New Roman" pitchFamily="18" charset="0"/>
                <a:ea typeface="+mn-ea"/>
                <a:cs typeface="+mn-cs"/>
                <a:hlinkClick r:id="rId5" tooltip="AI TRiSM"/>
              </a:rPr>
              <a:t>TRiSM</a:t>
            </a:r>
            <a:r>
              <a:rPr lang="en-US" sz="1200" b="0" i="0" kern="1200" dirty="0">
                <a:solidFill>
                  <a:schemeClr val="tx1"/>
                </a:solidFill>
                <a:effectLst/>
                <a:latin typeface="Times New Roman" pitchFamily="18" charset="0"/>
                <a:ea typeface="+mn-ea"/>
                <a:cs typeface="+mn-cs"/>
              </a:rPr>
              <a:t>  AI trust, risk and security management (AI </a:t>
            </a:r>
            <a:r>
              <a:rPr lang="en-US" sz="1200" b="0" i="0" kern="1200" dirty="0" err="1">
                <a:solidFill>
                  <a:schemeClr val="tx1"/>
                </a:solidFill>
                <a:effectLst/>
                <a:latin typeface="Times New Roman" pitchFamily="18" charset="0"/>
                <a:ea typeface="+mn-ea"/>
                <a:cs typeface="+mn-cs"/>
              </a:rPr>
              <a:t>TRiSM</a:t>
            </a:r>
            <a:r>
              <a:rPr lang="en-US" sz="1200" b="0" i="0" kern="1200" dirty="0">
                <a:solidFill>
                  <a:schemeClr val="tx1"/>
                </a:solidFill>
                <a:effectLst/>
                <a:latin typeface="Times New Roman" pitchFamily="18" charset="0"/>
                <a:ea typeface="+mn-ea"/>
                <a:cs typeface="+mn-cs"/>
              </a:rPr>
              <a:t>) supports </a:t>
            </a:r>
            <a:r>
              <a:rPr lang="en-US" sz="1200" b="1" i="0" u="none" strike="noStrike" kern="1200" dirty="0">
                <a:solidFill>
                  <a:schemeClr val="tx1"/>
                </a:solidFill>
                <a:effectLst/>
                <a:latin typeface="Times New Roman" pitchFamily="18" charset="0"/>
                <a:ea typeface="+mn-ea"/>
                <a:cs typeface="+mn-cs"/>
                <a:hlinkClick r:id="rId6"/>
              </a:rPr>
              <a:t>AI</a:t>
            </a:r>
            <a:r>
              <a:rPr lang="en-US" sz="1200" b="0" i="0" kern="1200" dirty="0">
                <a:solidFill>
                  <a:schemeClr val="tx1"/>
                </a:solidFill>
                <a:effectLst/>
                <a:latin typeface="Times New Roman" pitchFamily="18" charset="0"/>
                <a:ea typeface="+mn-ea"/>
                <a:cs typeface="+mn-cs"/>
              </a:rPr>
              <a:t> model governance, trustworthiness, fairness, reliability, robustness, efficacy and data protection. It combines methods for explaining AI results, rapidly deploying new models, actively managing AI security, and controls for privacy and ethics issues.</a:t>
            </a:r>
          </a:p>
          <a:p>
            <a:endParaRPr lang="en-US" sz="1200" b="1" i="0" kern="1200" dirty="0">
              <a:solidFill>
                <a:schemeClr val="tx1"/>
              </a:solidFill>
              <a:effectLst/>
              <a:latin typeface="Times New Roman" pitchFamily="18" charset="0"/>
              <a:ea typeface="+mn-ea"/>
              <a:cs typeface="+mn-cs"/>
            </a:endParaRPr>
          </a:p>
          <a:p>
            <a:r>
              <a:rPr lang="en-US" sz="1200" b="1" i="0" kern="1200" dirty="0">
                <a:solidFill>
                  <a:schemeClr val="tx1"/>
                </a:solidFill>
                <a:effectLst/>
                <a:latin typeface="Times New Roman" pitchFamily="18" charset="0"/>
                <a:ea typeface="+mn-ea"/>
                <a:cs typeface="+mn-cs"/>
              </a:rPr>
              <a:t>Theme 2: Scale</a:t>
            </a:r>
          </a:p>
          <a:p>
            <a:r>
              <a:rPr lang="en-US" sz="1200" b="0" i="0" kern="1200" dirty="0">
                <a:solidFill>
                  <a:schemeClr val="tx1"/>
                </a:solidFill>
                <a:effectLst/>
                <a:latin typeface="Times New Roman" pitchFamily="18" charset="0"/>
                <a:ea typeface="+mn-ea"/>
                <a:cs typeface="+mn-cs"/>
              </a:rPr>
              <a:t>These technology trends accelerate vertical offerings, increase the pace of product delivery and enable connectivity everywhere. </a:t>
            </a:r>
            <a:br>
              <a:rPr lang="en-US" sz="1200" b="0" i="0" kern="1200" dirty="0">
                <a:solidFill>
                  <a:schemeClr val="tx1"/>
                </a:solidFill>
                <a:effectLst/>
                <a:latin typeface="Times New Roman" pitchFamily="18" charset="0"/>
                <a:ea typeface="+mn-ea"/>
                <a:cs typeface="+mn-cs"/>
              </a:rPr>
            </a:br>
            <a:endParaRPr lang="en-US" sz="1200" b="0" i="0" kern="1200" dirty="0">
              <a:solidFill>
                <a:schemeClr val="tx1"/>
              </a:solidFill>
              <a:effectLst/>
              <a:latin typeface="Times New Roman" pitchFamily="18" charset="0"/>
              <a:ea typeface="+mn-ea"/>
              <a:cs typeface="+mn-cs"/>
            </a:endParaRPr>
          </a:p>
          <a:p>
            <a:r>
              <a:rPr lang="en-US" sz="1200" b="1" i="0" u="none" strike="noStrike" kern="1200" dirty="0">
                <a:solidFill>
                  <a:schemeClr val="tx1"/>
                </a:solidFill>
                <a:effectLst/>
                <a:latin typeface="Times New Roman" pitchFamily="18" charset="0"/>
                <a:ea typeface="+mn-ea"/>
                <a:cs typeface="+mn-cs"/>
                <a:hlinkClick r:id="rId7"/>
              </a:rPr>
              <a:t>Industry Cloud Platforms</a:t>
            </a:r>
            <a:r>
              <a:rPr lang="en-US" sz="1200" b="0" i="0" kern="1200" dirty="0">
                <a:solidFill>
                  <a:schemeClr val="tx1"/>
                </a:solidFill>
                <a:effectLst/>
                <a:latin typeface="Times New Roman" pitchFamily="18" charset="0"/>
                <a:ea typeface="+mn-ea"/>
                <a:cs typeface="+mn-cs"/>
              </a:rPr>
              <a:t> combine SaaS, PaaS and IaaS with tailored, industry-specific functionality that organizations can use to more easily adapt to the relentless stream of disruptions in their industry.</a:t>
            </a:r>
          </a:p>
          <a:p>
            <a:r>
              <a:rPr lang="en-US" sz="1200" b="1" i="0" u="none" strike="noStrike" kern="1200" dirty="0">
                <a:solidFill>
                  <a:schemeClr val="tx1"/>
                </a:solidFill>
                <a:effectLst/>
                <a:latin typeface="Times New Roman" pitchFamily="18" charset="0"/>
                <a:ea typeface="+mn-ea"/>
                <a:cs typeface="+mn-cs"/>
                <a:hlinkClick r:id="rId8"/>
              </a:rPr>
              <a:t>Platform Engineering</a:t>
            </a:r>
            <a:r>
              <a:rPr lang="en-US" sz="1200" b="0" i="0" kern="1200" dirty="0">
                <a:solidFill>
                  <a:schemeClr val="tx1"/>
                </a:solidFill>
                <a:effectLst/>
                <a:latin typeface="Times New Roman" pitchFamily="18" charset="0"/>
                <a:ea typeface="+mn-ea"/>
                <a:cs typeface="+mn-cs"/>
              </a:rPr>
              <a:t> provides a curated set of tools, capabilities and processes that are packaged for easy consumption by developers and end users. It will increase end users’ productivity and reduce the burden on development teams. </a:t>
            </a:r>
          </a:p>
          <a:p>
            <a:r>
              <a:rPr lang="en-US" sz="1200" b="1" i="0" u="none" strike="noStrike" kern="1200" dirty="0">
                <a:solidFill>
                  <a:schemeClr val="tx1"/>
                </a:solidFill>
                <a:effectLst/>
                <a:latin typeface="Times New Roman" pitchFamily="18" charset="0"/>
                <a:ea typeface="+mn-ea"/>
                <a:cs typeface="+mn-cs"/>
                <a:hlinkClick r:id="rId9"/>
              </a:rPr>
              <a:t>Wireless-Value Realization</a:t>
            </a:r>
            <a:r>
              <a:rPr lang="en-US" sz="1200" b="0" i="0" kern="1200" dirty="0">
                <a:solidFill>
                  <a:schemeClr val="tx1"/>
                </a:solidFill>
                <a:effectLst/>
                <a:latin typeface="Times New Roman" pitchFamily="18" charset="0"/>
                <a:ea typeface="+mn-ea"/>
                <a:cs typeface="+mn-cs"/>
              </a:rPr>
              <a:t> covers the provision of wireless network services from everything, including traditional end-user computing, support for edge devices, digital tagging solutions, etc. Such networks go well beyond pure connectivity, providing location and other real-time information and insight from analytics, and allow systems to harvest network energy directly.</a:t>
            </a:r>
          </a:p>
          <a:p>
            <a:br>
              <a:rPr lang="en-US" dirty="0"/>
            </a:br>
            <a:r>
              <a:rPr lang="en-US" sz="1200" b="1" i="0" kern="1200" dirty="0">
                <a:solidFill>
                  <a:schemeClr val="tx1"/>
                </a:solidFill>
                <a:effectLst/>
                <a:latin typeface="Times New Roman" pitchFamily="18" charset="0"/>
                <a:ea typeface="+mn-ea"/>
                <a:cs typeface="+mn-cs"/>
              </a:rPr>
              <a:t>Theme 3: Pioneer</a:t>
            </a:r>
          </a:p>
          <a:p>
            <a:r>
              <a:rPr lang="en-US" sz="1200" b="0" i="0" kern="1200" dirty="0">
                <a:solidFill>
                  <a:schemeClr val="tx1"/>
                </a:solidFill>
                <a:effectLst/>
                <a:latin typeface="Times New Roman" pitchFamily="18" charset="0"/>
                <a:ea typeface="+mn-ea"/>
                <a:cs typeface="+mn-cs"/>
              </a:rPr>
              <a:t>These trends focus on enabling business model change, reinventing engagement with employees and customers, and accelerating strategies to tap new virtual markets.</a:t>
            </a:r>
            <a:br>
              <a:rPr lang="en-US" sz="1200" b="0" i="0" kern="1200" dirty="0">
                <a:solidFill>
                  <a:schemeClr val="tx1"/>
                </a:solidFill>
                <a:effectLst/>
                <a:latin typeface="Times New Roman" pitchFamily="18" charset="0"/>
                <a:ea typeface="+mn-ea"/>
                <a:cs typeface="+mn-cs"/>
              </a:rPr>
            </a:br>
            <a:endParaRPr lang="en-US" sz="1200" b="0" i="0" kern="1200" dirty="0">
              <a:solidFill>
                <a:schemeClr val="tx1"/>
              </a:solidFill>
              <a:effectLst/>
              <a:latin typeface="Times New Roman" pitchFamily="18" charset="0"/>
              <a:ea typeface="+mn-ea"/>
              <a:cs typeface="+mn-cs"/>
            </a:endParaRPr>
          </a:p>
          <a:p>
            <a:r>
              <a:rPr lang="en-US" sz="1200" b="1" i="0" u="none" strike="noStrike" kern="1200" dirty="0" err="1">
                <a:solidFill>
                  <a:schemeClr val="tx1"/>
                </a:solidFill>
                <a:effectLst/>
                <a:latin typeface="Times New Roman" pitchFamily="18" charset="0"/>
                <a:ea typeface="+mn-ea"/>
                <a:cs typeface="+mn-cs"/>
                <a:hlinkClick r:id="rId10"/>
              </a:rPr>
              <a:t>Superapps</a:t>
            </a:r>
            <a:r>
              <a:rPr lang="en-US" sz="1200" b="0" i="0" kern="1200" dirty="0">
                <a:solidFill>
                  <a:schemeClr val="tx1"/>
                </a:solidFill>
                <a:effectLst/>
                <a:latin typeface="Times New Roman" pitchFamily="18" charset="0"/>
                <a:ea typeface="+mn-ea"/>
                <a:cs typeface="+mn-cs"/>
              </a:rPr>
              <a:t> are more than composite applications that aggregate services. A </a:t>
            </a:r>
            <a:r>
              <a:rPr lang="en-US" sz="1200" b="0" i="0" kern="1200" dirty="0" err="1">
                <a:solidFill>
                  <a:schemeClr val="tx1"/>
                </a:solidFill>
                <a:effectLst/>
                <a:latin typeface="Times New Roman" pitchFamily="18" charset="0"/>
                <a:ea typeface="+mn-ea"/>
                <a:cs typeface="+mn-cs"/>
              </a:rPr>
              <a:t>superapp</a:t>
            </a:r>
            <a:r>
              <a:rPr lang="en-US" sz="1200" b="0" i="0" kern="1200" dirty="0">
                <a:solidFill>
                  <a:schemeClr val="tx1"/>
                </a:solidFill>
                <a:effectLst/>
                <a:latin typeface="Times New Roman" pitchFamily="18" charset="0"/>
                <a:ea typeface="+mn-ea"/>
                <a:cs typeface="+mn-cs"/>
              </a:rPr>
              <a:t> combines the features of an app, a platform and an ecosystem in one application, providing a platform for third parties to develop and publish their own </a:t>
            </a:r>
            <a:r>
              <a:rPr lang="en-US" sz="1200" b="0" i="0" kern="1200" dirty="0" err="1">
                <a:solidFill>
                  <a:schemeClr val="tx1"/>
                </a:solidFill>
                <a:effectLst/>
                <a:latin typeface="Times New Roman" pitchFamily="18" charset="0"/>
                <a:ea typeface="+mn-ea"/>
                <a:cs typeface="+mn-cs"/>
              </a:rPr>
              <a:t>miniapps</a:t>
            </a:r>
            <a:r>
              <a:rPr lang="en-US" sz="1200" b="0" i="0" kern="1200" dirty="0">
                <a:solidFill>
                  <a:schemeClr val="tx1"/>
                </a:solidFill>
                <a:effectLst/>
                <a:latin typeface="Times New Roman" pitchFamily="18" charset="0"/>
                <a:ea typeface="+mn-ea"/>
                <a:cs typeface="+mn-cs"/>
              </a:rPr>
              <a:t> on.</a:t>
            </a:r>
          </a:p>
          <a:p>
            <a:r>
              <a:rPr lang="en-US" sz="1200" b="1" i="0" u="none" strike="noStrike" kern="1200" dirty="0">
                <a:solidFill>
                  <a:schemeClr val="tx1"/>
                </a:solidFill>
                <a:effectLst/>
                <a:latin typeface="Times New Roman" pitchFamily="18" charset="0"/>
                <a:ea typeface="+mn-ea"/>
                <a:cs typeface="+mn-cs"/>
                <a:hlinkClick r:id="rId11"/>
              </a:rPr>
              <a:t>Adaptive AI</a:t>
            </a:r>
            <a:r>
              <a:rPr lang="en-US" sz="1200" b="0" i="0" kern="1200" dirty="0">
                <a:solidFill>
                  <a:schemeClr val="tx1"/>
                </a:solidFill>
                <a:effectLst/>
                <a:latin typeface="Times New Roman" pitchFamily="18" charset="0"/>
                <a:ea typeface="+mn-ea"/>
                <a:cs typeface="+mn-cs"/>
              </a:rPr>
              <a:t> allows for model behavior change post-deployment by using real-time feedback, to continuously retrain models and learn within runtime and development environments, based on new data and adjusted goals, to adapt quickly to changing real-world circumstances.</a:t>
            </a:r>
          </a:p>
          <a:p>
            <a:r>
              <a:rPr lang="en-US" sz="1200" b="1" i="0" u="none" strike="noStrike" kern="1200" dirty="0">
                <a:solidFill>
                  <a:schemeClr val="tx1"/>
                </a:solidFill>
                <a:effectLst/>
                <a:latin typeface="Times New Roman" pitchFamily="18" charset="0"/>
                <a:ea typeface="+mn-ea"/>
                <a:cs typeface="+mn-cs"/>
                <a:hlinkClick r:id="rId12"/>
              </a:rPr>
              <a:t>Metaverse</a:t>
            </a:r>
            <a:r>
              <a:rPr lang="en-US" sz="1200" b="0" i="0" kern="1200" dirty="0">
                <a:solidFill>
                  <a:schemeClr val="tx1"/>
                </a:solidFill>
                <a:effectLst/>
                <a:latin typeface="Times New Roman" pitchFamily="18" charset="0"/>
                <a:ea typeface="+mn-ea"/>
                <a:cs typeface="+mn-cs"/>
              </a:rPr>
              <a:t> allows people to replicate or enhance their physical activities. This could happen by transporting or extending physical activities to a virtual world or by transforming the physical one. It is a combinatorial innovation made up of multiple technology themes and capabilities.</a:t>
            </a:r>
          </a:p>
          <a:p>
            <a:endParaRPr lang="en-US" dirty="0"/>
          </a:p>
          <a:p>
            <a:r>
              <a:rPr lang="en-US" sz="1200" b="1" i="0" kern="1200" dirty="0">
                <a:solidFill>
                  <a:schemeClr val="tx1"/>
                </a:solidFill>
                <a:effectLst/>
                <a:latin typeface="Times New Roman" pitchFamily="18" charset="0"/>
                <a:ea typeface="+mn-ea"/>
                <a:cs typeface="+mn-cs"/>
              </a:rPr>
              <a:t>Theme 4: Sustainable Technology</a:t>
            </a:r>
          </a:p>
          <a:p>
            <a:r>
              <a:rPr lang="en-US" sz="1200" b="0" i="0" kern="1200" dirty="0">
                <a:solidFill>
                  <a:schemeClr val="tx1"/>
                </a:solidFill>
                <a:effectLst/>
                <a:latin typeface="Times New Roman" pitchFamily="18" charset="0"/>
                <a:ea typeface="+mn-ea"/>
                <a:cs typeface="+mn-cs"/>
              </a:rPr>
              <a:t>Delivering technology alone will not be enough in 2023. </a:t>
            </a:r>
            <a:r>
              <a:rPr lang="en-US" sz="1200" b="1" i="0" u="none" strike="noStrike" kern="1200" dirty="0">
                <a:solidFill>
                  <a:schemeClr val="tx1"/>
                </a:solidFill>
                <a:effectLst/>
                <a:latin typeface="Times New Roman" pitchFamily="18" charset="0"/>
                <a:ea typeface="+mn-ea"/>
                <a:cs typeface="+mn-cs"/>
                <a:hlinkClick r:id="rId13"/>
              </a:rPr>
              <a:t>Sustainable technology</a:t>
            </a:r>
            <a:r>
              <a:rPr lang="en-US" sz="1200" b="0" i="0" kern="1200" dirty="0">
                <a:solidFill>
                  <a:schemeClr val="tx1"/>
                </a:solidFill>
                <a:effectLst/>
                <a:latin typeface="Times New Roman" pitchFamily="18" charset="0"/>
                <a:ea typeface="+mn-ea"/>
                <a:cs typeface="+mn-cs"/>
              </a:rPr>
              <a:t> is a framework of solutions that increases the energy and efficiency of IT services; enables enterprise sustainability through technologies like traceability, analytics, emissions management software and AI; and helps customers achieve their own sustainability objectives. </a:t>
            </a:r>
            <a:br>
              <a:rPr lang="en-US" sz="1200" b="0" i="0" kern="1200" dirty="0">
                <a:solidFill>
                  <a:schemeClr val="tx1"/>
                </a:solidFill>
                <a:effectLst/>
                <a:latin typeface="Times New Roman" pitchFamily="18" charset="0"/>
                <a:ea typeface="+mn-ea"/>
                <a:cs typeface="+mn-cs"/>
              </a:rPr>
            </a:br>
            <a:endParaRPr lang="en-US" sz="1200" b="0" i="0" kern="1200" dirty="0">
              <a:solidFill>
                <a:schemeClr val="tx1"/>
              </a:solidFill>
              <a:effectLst/>
              <a:latin typeface="Times New Roman" pitchFamily="18" charset="0"/>
              <a:ea typeface="+mn-ea"/>
              <a:cs typeface="+mn-cs"/>
            </a:endParaRPr>
          </a:p>
          <a:p>
            <a:r>
              <a:rPr lang="en-US" sz="1200" b="0" i="0" kern="1200" dirty="0">
                <a:solidFill>
                  <a:schemeClr val="tx1"/>
                </a:solidFill>
                <a:effectLst/>
                <a:latin typeface="Times New Roman" pitchFamily="18" charset="0"/>
                <a:ea typeface="+mn-ea"/>
                <a:cs typeface="+mn-cs"/>
              </a:rPr>
              <a:t>Investments in sustainable technology also have the potential to create greater operational resiliency and financial performance, while providing new avenues for growth.</a:t>
            </a:r>
          </a:p>
          <a:p>
            <a:endParaRPr lang="en-US" dirty="0"/>
          </a:p>
        </p:txBody>
      </p:sp>
      <p:sp>
        <p:nvSpPr>
          <p:cNvPr id="4" name="Slide Number Placeholder 3"/>
          <p:cNvSpPr>
            <a:spLocks noGrp="1"/>
          </p:cNvSpPr>
          <p:nvPr>
            <p:ph type="sldNum" sz="quarter" idx="5"/>
          </p:nvPr>
        </p:nvSpPr>
        <p:spPr/>
        <p:txBody>
          <a:bodyPr/>
          <a:lstStyle/>
          <a:p>
            <a:fld id="{B39D31E3-DB88-47AF-B247-1A0A563E15EA}" type="slidenum">
              <a:rPr lang="en-US" smtClean="0"/>
              <a:pPr/>
              <a:t>37</a:t>
            </a:fld>
            <a:endParaRPr lang="en-US"/>
          </a:p>
        </p:txBody>
      </p:sp>
    </p:spTree>
    <p:extLst>
      <p:ext uri="{BB962C8B-B14F-4D97-AF65-F5344CB8AC3E}">
        <p14:creationId xmlns:p14="http://schemas.microsoft.com/office/powerpoint/2010/main" val="3708832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Times New Roman" pitchFamily="18" charset="0"/>
                <a:ea typeface="+mn-ea"/>
                <a:cs typeface="+mn-cs"/>
              </a:rPr>
              <a:t>A robust digital immune system protects applications and services from anomalies, such as the effects of software bugs or security issues by making applications more resilient so that they recover quickly from failures. </a:t>
            </a:r>
          </a:p>
          <a:p>
            <a:endParaRPr lang="en-US" sz="1200" b="0" i="0" kern="1200" dirty="0">
              <a:solidFill>
                <a:schemeClr val="tx1"/>
              </a:solidFill>
              <a:effectLst/>
              <a:latin typeface="Times New Roman" pitchFamily="18" charset="0"/>
              <a:ea typeface="+mn-ea"/>
              <a:cs typeface="+mn-cs"/>
            </a:endParaRPr>
          </a:p>
          <a:p>
            <a:r>
              <a:rPr lang="en-US" sz="1200" b="0" i="0" kern="1200" dirty="0">
                <a:solidFill>
                  <a:schemeClr val="tx1"/>
                </a:solidFill>
                <a:effectLst/>
                <a:latin typeface="Times New Roman" pitchFamily="18" charset="0"/>
                <a:ea typeface="+mn-ea"/>
                <a:cs typeface="+mn-cs"/>
              </a:rPr>
              <a:t>Here are some examples of wireless technologies:</a:t>
            </a:r>
          </a:p>
          <a:p>
            <a:r>
              <a:rPr lang="en-US" sz="1200" b="1" i="0" kern="1200" dirty="0">
                <a:solidFill>
                  <a:schemeClr val="tx1"/>
                </a:solidFill>
                <a:effectLst/>
                <a:latin typeface="Times New Roman" pitchFamily="18" charset="0"/>
                <a:ea typeface="+mn-ea"/>
                <a:cs typeface="+mn-cs"/>
              </a:rPr>
              <a:t>5G: </a:t>
            </a:r>
            <a:r>
              <a:rPr lang="en-US" sz="1200" b="0" i="0" kern="1200" dirty="0">
                <a:solidFill>
                  <a:schemeClr val="tx1"/>
                </a:solidFill>
                <a:effectLst/>
                <a:latin typeface="Times New Roman" pitchFamily="18" charset="0"/>
                <a:ea typeface="+mn-ea"/>
                <a:cs typeface="+mn-cs"/>
              </a:rPr>
              <a:t>The latest generation of wireless technology, 5G can transmit data at speeds of up to 10 gigabits per second, which is 100 times faster than 4G. Millimeter waves are a promising technology for 5G wireless communications. </a:t>
            </a:r>
          </a:p>
          <a:p>
            <a:r>
              <a:rPr lang="en-US" sz="1200" b="1" i="0" kern="1200" dirty="0">
                <a:solidFill>
                  <a:schemeClr val="tx1"/>
                </a:solidFill>
                <a:effectLst/>
                <a:latin typeface="Times New Roman" pitchFamily="18" charset="0"/>
                <a:ea typeface="+mn-ea"/>
                <a:cs typeface="+mn-cs"/>
              </a:rPr>
              <a:t>Wi-Fi: </a:t>
            </a:r>
            <a:r>
              <a:rPr lang="en-US" sz="1200" b="0" i="0" kern="1200" dirty="0">
                <a:solidFill>
                  <a:schemeClr val="tx1"/>
                </a:solidFill>
                <a:effectLst/>
                <a:latin typeface="Times New Roman" pitchFamily="18" charset="0"/>
                <a:ea typeface="+mn-ea"/>
                <a:cs typeface="+mn-cs"/>
              </a:rPr>
              <a:t>Wi-Fi can operate on 2.4GHz and 5GHz, with 5GHz being less congested. Wi-Fi has two modes: access point (AP) mode and station mode. </a:t>
            </a:r>
          </a:p>
          <a:p>
            <a:r>
              <a:rPr lang="en-US" sz="1200" b="1" i="0" kern="1200" dirty="0">
                <a:solidFill>
                  <a:schemeClr val="tx1"/>
                </a:solidFill>
                <a:effectLst/>
                <a:latin typeface="Times New Roman" pitchFamily="18" charset="0"/>
                <a:ea typeface="+mn-ea"/>
                <a:cs typeface="+mn-cs"/>
              </a:rPr>
              <a:t>Cellular: </a:t>
            </a:r>
            <a:r>
              <a:rPr lang="en-US" sz="1200" b="0" i="0" kern="1200" dirty="0">
                <a:solidFill>
                  <a:schemeClr val="tx1"/>
                </a:solidFill>
                <a:effectLst/>
                <a:latin typeface="Times New Roman" pitchFamily="18" charset="0"/>
                <a:ea typeface="+mn-ea"/>
                <a:cs typeface="+mn-cs"/>
              </a:rPr>
              <a:t>Cellular networks provide reliable broadband communication for voice calls and streaming applications. </a:t>
            </a:r>
          </a:p>
          <a:p>
            <a:r>
              <a:rPr lang="en-US" sz="1200" b="1" i="0" kern="1200" dirty="0">
                <a:solidFill>
                  <a:schemeClr val="tx1"/>
                </a:solidFill>
                <a:effectLst/>
                <a:latin typeface="Times New Roman" pitchFamily="18" charset="0"/>
                <a:ea typeface="+mn-ea"/>
                <a:cs typeface="+mn-cs"/>
              </a:rPr>
              <a:t>V2X: </a:t>
            </a:r>
            <a:r>
              <a:rPr lang="en-US" sz="1200" b="0" i="0" kern="1200" dirty="0">
                <a:solidFill>
                  <a:schemeClr val="tx1"/>
                </a:solidFill>
                <a:effectLst/>
                <a:latin typeface="Times New Roman" pitchFamily="18" charset="0"/>
                <a:ea typeface="+mn-ea"/>
                <a:cs typeface="+mn-cs"/>
              </a:rPr>
              <a:t>V2X technology allows vehicles to communicate with their surroundings, including other vehicles, pedestrians, and infrastructure. This technology is expected to be important for road safety and traffic management in smart cities and with autonomous vehicles. </a:t>
            </a:r>
          </a:p>
          <a:p>
            <a:r>
              <a:rPr lang="en-US" sz="1200" b="1" i="0" kern="1200" dirty="0">
                <a:solidFill>
                  <a:schemeClr val="tx1"/>
                </a:solidFill>
                <a:effectLst/>
                <a:latin typeface="Times New Roman" pitchFamily="18" charset="0"/>
                <a:ea typeface="+mn-ea"/>
                <a:cs typeface="+mn-cs"/>
              </a:rPr>
              <a:t>Satellite: </a:t>
            </a:r>
            <a:r>
              <a:rPr lang="en-US" sz="1200" b="0" i="0" kern="1200" dirty="0">
                <a:solidFill>
                  <a:schemeClr val="tx1"/>
                </a:solidFill>
                <a:effectLst/>
                <a:latin typeface="Times New Roman" pitchFamily="18" charset="0"/>
                <a:ea typeface="+mn-ea"/>
                <a:cs typeface="+mn-cs"/>
              </a:rPr>
              <a:t>Satellite communication uses satellites orbiting the Earth to transmit and receive signals. It's commonly used for GPS navigation, weather forecasting, and television broadcasting. </a:t>
            </a:r>
          </a:p>
          <a:p>
            <a:r>
              <a:rPr lang="en-US" sz="1200" b="0" i="0" kern="1200" dirty="0">
                <a:solidFill>
                  <a:schemeClr val="tx1"/>
                </a:solidFill>
                <a:effectLst/>
                <a:latin typeface="Times New Roman" pitchFamily="18" charset="0"/>
                <a:ea typeface="+mn-ea"/>
                <a:cs typeface="+mn-cs"/>
              </a:rPr>
              <a:t>Other wireless technologies include: Radio and television broadcasting, Radar communication, Bluetooth, and Radio frequency identification</a:t>
            </a:r>
          </a:p>
          <a:p>
            <a:endParaRPr lang="en-US" dirty="0"/>
          </a:p>
        </p:txBody>
      </p:sp>
      <p:sp>
        <p:nvSpPr>
          <p:cNvPr id="4" name="Slide Number Placeholder 3"/>
          <p:cNvSpPr>
            <a:spLocks noGrp="1"/>
          </p:cNvSpPr>
          <p:nvPr>
            <p:ph type="sldNum" sz="quarter" idx="5"/>
          </p:nvPr>
        </p:nvSpPr>
        <p:spPr/>
        <p:txBody>
          <a:bodyPr/>
          <a:lstStyle/>
          <a:p>
            <a:fld id="{B39D31E3-DB88-47AF-B247-1A0A563E15EA}" type="slidenum">
              <a:rPr lang="en-US" smtClean="0"/>
              <a:pPr/>
              <a:t>40</a:t>
            </a:fld>
            <a:endParaRPr lang="en-US"/>
          </a:p>
        </p:txBody>
      </p:sp>
    </p:spTree>
    <p:extLst>
      <p:ext uri="{BB962C8B-B14F-4D97-AF65-F5344CB8AC3E}">
        <p14:creationId xmlns:p14="http://schemas.microsoft.com/office/powerpoint/2010/main" val="1325627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lvl1pPr>
              <a:defRPr/>
            </a:lvl1pPr>
          </a:lstStyle>
          <a:p>
            <a:endParaRPr lang="en-US"/>
          </a:p>
        </p:txBody>
      </p:sp>
      <p:sp>
        <p:nvSpPr>
          <p:cNvPr id="5" name="Rectangle 5"/>
          <p:cNvSpPr>
            <a:spLocks noGrp="1" noChangeArrowheads="1"/>
          </p:cNvSpPr>
          <p:nvPr>
            <p:ph type="ftr" sz="quarter" idx="11"/>
          </p:nvPr>
        </p:nvSpPr>
        <p:spPr/>
        <p:txBody>
          <a:bodyPr/>
          <a:lstStyle>
            <a:lvl1pPr>
              <a:defRPr/>
            </a:lvl1pPr>
          </a:lstStyle>
          <a:p>
            <a:pPr>
              <a:defRPr/>
            </a:pPr>
            <a:r>
              <a:rPr lang="en-US"/>
              <a:t>Copyright 2021 John Wiley &amp; Sons, Inc.</a:t>
            </a:r>
            <a:endParaRPr lang="en-US" dirty="0"/>
          </a:p>
        </p:txBody>
      </p:sp>
      <p:sp>
        <p:nvSpPr>
          <p:cNvPr id="6" name="Rectangle 6"/>
          <p:cNvSpPr>
            <a:spLocks noGrp="1" noChangeArrowheads="1"/>
          </p:cNvSpPr>
          <p:nvPr>
            <p:ph type="sldNum" sz="quarter" idx="12"/>
          </p:nvPr>
        </p:nvSpPr>
        <p:spPr/>
        <p:txBody>
          <a:bodyPr/>
          <a:lstStyle>
            <a:lvl1pPr>
              <a:defRPr/>
            </a:lvl1pPr>
          </a:lstStyle>
          <a:p>
            <a:r>
              <a:rPr lang="en-US"/>
              <a:t>1 - </a:t>
            </a:r>
            <a:fld id="{3A2DFED3-4F57-49B0-A111-E56B14EFF8BF}" type="slidenum">
              <a:rPr lang="en-US"/>
              <a:pPr/>
              <a:t>‹#›</a:t>
            </a:fld>
            <a:endParaRPr lang="en-US"/>
          </a:p>
        </p:txBody>
      </p:sp>
    </p:spTree>
    <p:extLst>
      <p:ext uri="{BB962C8B-B14F-4D97-AF65-F5344CB8AC3E}">
        <p14:creationId xmlns:p14="http://schemas.microsoft.com/office/powerpoint/2010/main" val="2186497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endParaRPr lang="en-US"/>
          </a:p>
        </p:txBody>
      </p:sp>
      <p:sp>
        <p:nvSpPr>
          <p:cNvPr id="5" name="Rectangle 5"/>
          <p:cNvSpPr>
            <a:spLocks noGrp="1" noChangeArrowheads="1"/>
          </p:cNvSpPr>
          <p:nvPr>
            <p:ph type="ftr" sz="quarter" idx="11"/>
          </p:nvPr>
        </p:nvSpPr>
        <p:spPr/>
        <p:txBody>
          <a:bodyPr/>
          <a:lstStyle>
            <a:lvl1pPr>
              <a:defRPr/>
            </a:lvl1pPr>
          </a:lstStyle>
          <a:p>
            <a:pPr>
              <a:defRPr/>
            </a:pPr>
            <a:r>
              <a:rPr lang="en-US"/>
              <a:t>Copyright 2021 John Wiley &amp; Sons, Inc.</a:t>
            </a:r>
            <a:endParaRPr lang="en-US" dirty="0"/>
          </a:p>
        </p:txBody>
      </p:sp>
      <p:sp>
        <p:nvSpPr>
          <p:cNvPr id="6" name="Rectangle 6"/>
          <p:cNvSpPr>
            <a:spLocks noGrp="1" noChangeArrowheads="1"/>
          </p:cNvSpPr>
          <p:nvPr>
            <p:ph type="sldNum" sz="quarter" idx="12"/>
          </p:nvPr>
        </p:nvSpPr>
        <p:spPr/>
        <p:txBody>
          <a:bodyPr/>
          <a:lstStyle>
            <a:lvl1pPr>
              <a:defRPr/>
            </a:lvl1pPr>
          </a:lstStyle>
          <a:p>
            <a:r>
              <a:rPr lang="en-US"/>
              <a:t>1 - </a:t>
            </a:r>
            <a:fld id="{602CC828-201D-4047-AF75-E2463E251579}" type="slidenum">
              <a:rPr lang="en-US"/>
              <a:pPr/>
              <a:t>‹#›</a:t>
            </a:fld>
            <a:endParaRPr lang="en-US"/>
          </a:p>
        </p:txBody>
      </p:sp>
    </p:spTree>
    <p:extLst>
      <p:ext uri="{BB962C8B-B14F-4D97-AF65-F5344CB8AC3E}">
        <p14:creationId xmlns:p14="http://schemas.microsoft.com/office/powerpoint/2010/main" val="185118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lvl1pPr>
              <a:defRPr/>
            </a:lvl1pPr>
          </a:lstStyle>
          <a:p>
            <a:endParaRPr lang="en-US"/>
          </a:p>
        </p:txBody>
      </p:sp>
      <p:sp>
        <p:nvSpPr>
          <p:cNvPr id="5" name="Rectangle 5"/>
          <p:cNvSpPr>
            <a:spLocks noGrp="1" noChangeArrowheads="1"/>
          </p:cNvSpPr>
          <p:nvPr>
            <p:ph type="ftr" sz="quarter" idx="11"/>
          </p:nvPr>
        </p:nvSpPr>
        <p:spPr/>
        <p:txBody>
          <a:bodyPr/>
          <a:lstStyle>
            <a:lvl1pPr>
              <a:defRPr/>
            </a:lvl1pPr>
          </a:lstStyle>
          <a:p>
            <a:pPr>
              <a:defRPr/>
            </a:pPr>
            <a:r>
              <a:rPr lang="en-US"/>
              <a:t>Copyright 2021 John Wiley &amp; Sons, Inc.</a:t>
            </a:r>
            <a:endParaRPr lang="en-US" dirty="0"/>
          </a:p>
        </p:txBody>
      </p:sp>
      <p:sp>
        <p:nvSpPr>
          <p:cNvPr id="6" name="Rectangle 6"/>
          <p:cNvSpPr>
            <a:spLocks noGrp="1" noChangeArrowheads="1"/>
          </p:cNvSpPr>
          <p:nvPr>
            <p:ph type="sldNum" sz="quarter" idx="12"/>
          </p:nvPr>
        </p:nvSpPr>
        <p:spPr/>
        <p:txBody>
          <a:bodyPr/>
          <a:lstStyle>
            <a:lvl1pPr>
              <a:defRPr/>
            </a:lvl1pPr>
          </a:lstStyle>
          <a:p>
            <a:r>
              <a:rPr lang="en-US"/>
              <a:t>1 - </a:t>
            </a:r>
            <a:fld id="{4A5E673B-44DD-4B3B-B1C3-F1E1CA126DE1}" type="slidenum">
              <a:rPr lang="en-US"/>
              <a:pPr/>
              <a:t>‹#›</a:t>
            </a:fld>
            <a:endParaRPr lang="en-US"/>
          </a:p>
        </p:txBody>
      </p:sp>
    </p:spTree>
    <p:extLst>
      <p:ext uri="{BB962C8B-B14F-4D97-AF65-F5344CB8AC3E}">
        <p14:creationId xmlns:p14="http://schemas.microsoft.com/office/powerpoint/2010/main" val="234012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371600"/>
            <a:ext cx="38100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38100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a:defRPr/>
            </a:lvl1pPr>
          </a:lstStyle>
          <a:p>
            <a:endParaRPr lang="en-US"/>
          </a:p>
        </p:txBody>
      </p:sp>
      <p:sp>
        <p:nvSpPr>
          <p:cNvPr id="6" name="Rectangle 5"/>
          <p:cNvSpPr>
            <a:spLocks noGrp="1" noChangeArrowheads="1"/>
          </p:cNvSpPr>
          <p:nvPr>
            <p:ph type="ftr" sz="quarter" idx="11"/>
          </p:nvPr>
        </p:nvSpPr>
        <p:spPr/>
        <p:txBody>
          <a:bodyPr/>
          <a:lstStyle>
            <a:lvl1pPr>
              <a:defRPr/>
            </a:lvl1pPr>
          </a:lstStyle>
          <a:p>
            <a:pPr>
              <a:defRPr/>
            </a:pPr>
            <a:r>
              <a:rPr lang="en-US"/>
              <a:t>Copyright 2021 John Wiley &amp; Sons, Inc.</a:t>
            </a:r>
            <a:endParaRPr lang="en-US" dirty="0"/>
          </a:p>
        </p:txBody>
      </p:sp>
      <p:sp>
        <p:nvSpPr>
          <p:cNvPr id="7" name="Rectangle 6"/>
          <p:cNvSpPr>
            <a:spLocks noGrp="1" noChangeArrowheads="1"/>
          </p:cNvSpPr>
          <p:nvPr>
            <p:ph type="sldNum" sz="quarter" idx="12"/>
          </p:nvPr>
        </p:nvSpPr>
        <p:spPr/>
        <p:txBody>
          <a:bodyPr/>
          <a:lstStyle>
            <a:lvl1pPr>
              <a:defRPr/>
            </a:lvl1pPr>
          </a:lstStyle>
          <a:p>
            <a:r>
              <a:rPr lang="en-US"/>
              <a:t>1 - </a:t>
            </a:r>
            <a:fld id="{16F7C6AF-4CB2-47C5-B876-CFCEF49A0B88}" type="slidenum">
              <a:rPr lang="en-US"/>
              <a:pPr/>
              <a:t>‹#›</a:t>
            </a:fld>
            <a:endParaRPr lang="en-US"/>
          </a:p>
        </p:txBody>
      </p:sp>
    </p:spTree>
    <p:extLst>
      <p:ext uri="{BB962C8B-B14F-4D97-AF65-F5344CB8AC3E}">
        <p14:creationId xmlns:p14="http://schemas.microsoft.com/office/powerpoint/2010/main" val="195392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a:defRPr/>
            </a:lvl1pPr>
          </a:lstStyle>
          <a:p>
            <a:endParaRPr lang="en-US"/>
          </a:p>
        </p:txBody>
      </p:sp>
      <p:sp>
        <p:nvSpPr>
          <p:cNvPr id="8" name="Rectangle 5"/>
          <p:cNvSpPr>
            <a:spLocks noGrp="1" noChangeArrowheads="1"/>
          </p:cNvSpPr>
          <p:nvPr>
            <p:ph type="ftr" sz="quarter" idx="11"/>
          </p:nvPr>
        </p:nvSpPr>
        <p:spPr/>
        <p:txBody>
          <a:bodyPr/>
          <a:lstStyle>
            <a:lvl1pPr>
              <a:defRPr/>
            </a:lvl1pPr>
          </a:lstStyle>
          <a:p>
            <a:pPr>
              <a:defRPr/>
            </a:pPr>
            <a:r>
              <a:rPr lang="en-US"/>
              <a:t>Copyright 2021 John Wiley &amp; Sons, Inc.</a:t>
            </a:r>
            <a:endParaRPr lang="en-US" dirty="0"/>
          </a:p>
        </p:txBody>
      </p:sp>
      <p:sp>
        <p:nvSpPr>
          <p:cNvPr id="9" name="Rectangle 6"/>
          <p:cNvSpPr>
            <a:spLocks noGrp="1" noChangeArrowheads="1"/>
          </p:cNvSpPr>
          <p:nvPr>
            <p:ph type="sldNum" sz="quarter" idx="12"/>
          </p:nvPr>
        </p:nvSpPr>
        <p:spPr/>
        <p:txBody>
          <a:bodyPr/>
          <a:lstStyle>
            <a:lvl1pPr>
              <a:defRPr/>
            </a:lvl1pPr>
          </a:lstStyle>
          <a:p>
            <a:r>
              <a:rPr lang="en-US"/>
              <a:t>1 - </a:t>
            </a:r>
            <a:fld id="{68842F55-86A7-41E9-994A-9CAF382B6703}" type="slidenum">
              <a:rPr lang="en-US"/>
              <a:pPr/>
              <a:t>‹#›</a:t>
            </a:fld>
            <a:endParaRPr lang="en-US"/>
          </a:p>
        </p:txBody>
      </p:sp>
    </p:spTree>
    <p:extLst>
      <p:ext uri="{BB962C8B-B14F-4D97-AF65-F5344CB8AC3E}">
        <p14:creationId xmlns:p14="http://schemas.microsoft.com/office/powerpoint/2010/main" val="4071304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p:txBody>
          <a:bodyPr/>
          <a:lstStyle>
            <a:lvl1pPr>
              <a:defRPr/>
            </a:lvl1pPr>
          </a:lstStyle>
          <a:p>
            <a:endParaRPr lang="en-US"/>
          </a:p>
        </p:txBody>
      </p:sp>
      <p:sp>
        <p:nvSpPr>
          <p:cNvPr id="4" name="Rectangle 5"/>
          <p:cNvSpPr>
            <a:spLocks noGrp="1" noChangeArrowheads="1"/>
          </p:cNvSpPr>
          <p:nvPr>
            <p:ph type="ftr" sz="quarter" idx="11"/>
          </p:nvPr>
        </p:nvSpPr>
        <p:spPr/>
        <p:txBody>
          <a:bodyPr/>
          <a:lstStyle>
            <a:lvl1pPr>
              <a:defRPr/>
            </a:lvl1pPr>
          </a:lstStyle>
          <a:p>
            <a:pPr>
              <a:defRPr/>
            </a:pPr>
            <a:r>
              <a:rPr lang="en-US"/>
              <a:t>Copyright 2021 John Wiley &amp; Sons, Inc.</a:t>
            </a:r>
            <a:endParaRPr lang="en-US" dirty="0"/>
          </a:p>
        </p:txBody>
      </p:sp>
      <p:sp>
        <p:nvSpPr>
          <p:cNvPr id="5" name="Rectangle 6"/>
          <p:cNvSpPr>
            <a:spLocks noGrp="1" noChangeArrowheads="1"/>
          </p:cNvSpPr>
          <p:nvPr>
            <p:ph type="sldNum" sz="quarter" idx="12"/>
          </p:nvPr>
        </p:nvSpPr>
        <p:spPr/>
        <p:txBody>
          <a:bodyPr/>
          <a:lstStyle>
            <a:lvl1pPr>
              <a:defRPr/>
            </a:lvl1pPr>
          </a:lstStyle>
          <a:p>
            <a:r>
              <a:rPr lang="en-US"/>
              <a:t>1 - </a:t>
            </a:r>
            <a:fld id="{46DA00E4-4264-4F40-A8FB-5433A3CEC38F}" type="slidenum">
              <a:rPr lang="en-US"/>
              <a:pPr/>
              <a:t>‹#›</a:t>
            </a:fld>
            <a:endParaRPr lang="en-US"/>
          </a:p>
        </p:txBody>
      </p:sp>
    </p:spTree>
    <p:extLst>
      <p:ext uri="{BB962C8B-B14F-4D97-AF65-F5344CB8AC3E}">
        <p14:creationId xmlns:p14="http://schemas.microsoft.com/office/powerpoint/2010/main" val="3408854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endParaRPr lang="en-US"/>
          </a:p>
        </p:txBody>
      </p:sp>
      <p:sp>
        <p:nvSpPr>
          <p:cNvPr id="3" name="Rectangle 5"/>
          <p:cNvSpPr>
            <a:spLocks noGrp="1" noChangeArrowheads="1"/>
          </p:cNvSpPr>
          <p:nvPr>
            <p:ph type="ftr" sz="quarter" idx="11"/>
          </p:nvPr>
        </p:nvSpPr>
        <p:spPr/>
        <p:txBody>
          <a:bodyPr/>
          <a:lstStyle>
            <a:lvl1pPr>
              <a:defRPr/>
            </a:lvl1pPr>
          </a:lstStyle>
          <a:p>
            <a:pPr>
              <a:defRPr/>
            </a:pPr>
            <a:r>
              <a:rPr lang="en-US"/>
              <a:t>Copyright 2021 John Wiley &amp; Sons, Inc.</a:t>
            </a:r>
            <a:endParaRPr lang="en-US" dirty="0"/>
          </a:p>
        </p:txBody>
      </p:sp>
      <p:sp>
        <p:nvSpPr>
          <p:cNvPr id="4" name="Rectangle 6"/>
          <p:cNvSpPr>
            <a:spLocks noGrp="1" noChangeArrowheads="1"/>
          </p:cNvSpPr>
          <p:nvPr>
            <p:ph type="sldNum" sz="quarter" idx="12"/>
          </p:nvPr>
        </p:nvSpPr>
        <p:spPr/>
        <p:txBody>
          <a:bodyPr/>
          <a:lstStyle>
            <a:lvl1pPr>
              <a:defRPr/>
            </a:lvl1pPr>
          </a:lstStyle>
          <a:p>
            <a:r>
              <a:rPr lang="en-US"/>
              <a:t>1 - </a:t>
            </a:r>
            <a:fld id="{5BBE0FB7-1D49-4AC2-AD40-152CE02FE082}" type="slidenum">
              <a:rPr lang="en-US"/>
              <a:pPr/>
              <a:t>‹#›</a:t>
            </a:fld>
            <a:endParaRPr lang="en-US"/>
          </a:p>
        </p:txBody>
      </p:sp>
    </p:spTree>
    <p:extLst>
      <p:ext uri="{BB962C8B-B14F-4D97-AF65-F5344CB8AC3E}">
        <p14:creationId xmlns:p14="http://schemas.microsoft.com/office/powerpoint/2010/main" val="1118329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lvl1pPr>
          </a:lstStyle>
          <a:p>
            <a:endParaRPr lang="en-US"/>
          </a:p>
        </p:txBody>
      </p:sp>
      <p:sp>
        <p:nvSpPr>
          <p:cNvPr id="6" name="Rectangle 5"/>
          <p:cNvSpPr>
            <a:spLocks noGrp="1" noChangeArrowheads="1"/>
          </p:cNvSpPr>
          <p:nvPr>
            <p:ph type="ftr" sz="quarter" idx="11"/>
          </p:nvPr>
        </p:nvSpPr>
        <p:spPr/>
        <p:txBody>
          <a:bodyPr/>
          <a:lstStyle>
            <a:lvl1pPr>
              <a:defRPr/>
            </a:lvl1pPr>
          </a:lstStyle>
          <a:p>
            <a:pPr>
              <a:defRPr/>
            </a:pPr>
            <a:r>
              <a:rPr lang="en-US"/>
              <a:t>Copyright 2021 John Wiley &amp; Sons, Inc.</a:t>
            </a:r>
            <a:endParaRPr lang="en-US" dirty="0"/>
          </a:p>
        </p:txBody>
      </p:sp>
      <p:sp>
        <p:nvSpPr>
          <p:cNvPr id="7" name="Rectangle 6"/>
          <p:cNvSpPr>
            <a:spLocks noGrp="1" noChangeArrowheads="1"/>
          </p:cNvSpPr>
          <p:nvPr>
            <p:ph type="sldNum" sz="quarter" idx="12"/>
          </p:nvPr>
        </p:nvSpPr>
        <p:spPr/>
        <p:txBody>
          <a:bodyPr/>
          <a:lstStyle>
            <a:lvl1pPr>
              <a:defRPr/>
            </a:lvl1pPr>
          </a:lstStyle>
          <a:p>
            <a:r>
              <a:rPr lang="en-US"/>
              <a:t>1 - </a:t>
            </a:r>
            <a:fld id="{57C8ABBD-A901-4489-8293-9B25E97A42A9}" type="slidenum">
              <a:rPr lang="en-US"/>
              <a:pPr/>
              <a:t>‹#›</a:t>
            </a:fld>
            <a:endParaRPr lang="en-US"/>
          </a:p>
        </p:txBody>
      </p:sp>
    </p:spTree>
    <p:extLst>
      <p:ext uri="{BB962C8B-B14F-4D97-AF65-F5344CB8AC3E}">
        <p14:creationId xmlns:p14="http://schemas.microsoft.com/office/powerpoint/2010/main" val="4197551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lvl1pPr>
          </a:lstStyle>
          <a:p>
            <a:endParaRPr lang="en-US"/>
          </a:p>
        </p:txBody>
      </p:sp>
      <p:sp>
        <p:nvSpPr>
          <p:cNvPr id="6" name="Rectangle 5"/>
          <p:cNvSpPr>
            <a:spLocks noGrp="1" noChangeArrowheads="1"/>
          </p:cNvSpPr>
          <p:nvPr>
            <p:ph type="ftr" sz="quarter" idx="11"/>
          </p:nvPr>
        </p:nvSpPr>
        <p:spPr/>
        <p:txBody>
          <a:bodyPr/>
          <a:lstStyle>
            <a:lvl1pPr>
              <a:defRPr/>
            </a:lvl1pPr>
          </a:lstStyle>
          <a:p>
            <a:pPr>
              <a:defRPr/>
            </a:pPr>
            <a:r>
              <a:rPr lang="en-US"/>
              <a:t>Copyright 2021 John Wiley &amp; Sons, Inc.</a:t>
            </a:r>
            <a:endParaRPr lang="en-US" dirty="0"/>
          </a:p>
        </p:txBody>
      </p:sp>
      <p:sp>
        <p:nvSpPr>
          <p:cNvPr id="7" name="Rectangle 6"/>
          <p:cNvSpPr>
            <a:spLocks noGrp="1" noChangeArrowheads="1"/>
          </p:cNvSpPr>
          <p:nvPr>
            <p:ph type="sldNum" sz="quarter" idx="12"/>
          </p:nvPr>
        </p:nvSpPr>
        <p:spPr/>
        <p:txBody>
          <a:bodyPr/>
          <a:lstStyle>
            <a:lvl1pPr>
              <a:defRPr/>
            </a:lvl1pPr>
          </a:lstStyle>
          <a:p>
            <a:r>
              <a:rPr lang="en-US"/>
              <a:t>1 - </a:t>
            </a:r>
            <a:fld id="{CB626C8D-0EEF-46C9-B56A-AB089CC3B57C}" type="slidenum">
              <a:rPr lang="en-US"/>
              <a:pPr/>
              <a:t>‹#›</a:t>
            </a:fld>
            <a:endParaRPr lang="en-US"/>
          </a:p>
        </p:txBody>
      </p:sp>
    </p:spTree>
    <p:extLst>
      <p:ext uri="{BB962C8B-B14F-4D97-AF65-F5344CB8AC3E}">
        <p14:creationId xmlns:p14="http://schemas.microsoft.com/office/powerpoint/2010/main" val="1401187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endParaRPr lang="en-US"/>
          </a:p>
        </p:txBody>
      </p:sp>
      <p:sp>
        <p:nvSpPr>
          <p:cNvPr id="5" name="Rectangle 5"/>
          <p:cNvSpPr>
            <a:spLocks noGrp="1" noChangeArrowheads="1"/>
          </p:cNvSpPr>
          <p:nvPr>
            <p:ph type="ftr" sz="quarter" idx="11"/>
          </p:nvPr>
        </p:nvSpPr>
        <p:spPr/>
        <p:txBody>
          <a:bodyPr/>
          <a:lstStyle>
            <a:lvl1pPr>
              <a:defRPr/>
            </a:lvl1pPr>
          </a:lstStyle>
          <a:p>
            <a:pPr>
              <a:defRPr/>
            </a:pPr>
            <a:r>
              <a:rPr lang="en-US"/>
              <a:t>Copyright 2021 John Wiley &amp; Sons, Inc.</a:t>
            </a:r>
            <a:endParaRPr lang="en-US" dirty="0"/>
          </a:p>
        </p:txBody>
      </p:sp>
      <p:sp>
        <p:nvSpPr>
          <p:cNvPr id="6" name="Rectangle 6"/>
          <p:cNvSpPr>
            <a:spLocks noGrp="1" noChangeArrowheads="1"/>
          </p:cNvSpPr>
          <p:nvPr>
            <p:ph type="sldNum" sz="quarter" idx="12"/>
          </p:nvPr>
        </p:nvSpPr>
        <p:spPr/>
        <p:txBody>
          <a:bodyPr/>
          <a:lstStyle>
            <a:lvl1pPr>
              <a:defRPr/>
            </a:lvl1pPr>
          </a:lstStyle>
          <a:p>
            <a:r>
              <a:rPr lang="en-US"/>
              <a:t>1 - </a:t>
            </a:r>
            <a:fld id="{5205C5E8-458B-4D89-BADD-8271E0134C66}" type="slidenum">
              <a:rPr lang="en-US"/>
              <a:pPr/>
              <a:t>‹#›</a:t>
            </a:fld>
            <a:endParaRPr lang="en-US"/>
          </a:p>
        </p:txBody>
      </p:sp>
    </p:spTree>
    <p:extLst>
      <p:ext uri="{BB962C8B-B14F-4D97-AF65-F5344CB8AC3E}">
        <p14:creationId xmlns:p14="http://schemas.microsoft.com/office/powerpoint/2010/main" val="316145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334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5334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endParaRPr lang="en-US"/>
          </a:p>
        </p:txBody>
      </p:sp>
      <p:sp>
        <p:nvSpPr>
          <p:cNvPr id="5" name="Rectangle 5"/>
          <p:cNvSpPr>
            <a:spLocks noGrp="1" noChangeArrowheads="1"/>
          </p:cNvSpPr>
          <p:nvPr>
            <p:ph type="ftr" sz="quarter" idx="11"/>
          </p:nvPr>
        </p:nvSpPr>
        <p:spPr/>
        <p:txBody>
          <a:bodyPr/>
          <a:lstStyle>
            <a:lvl1pPr>
              <a:defRPr/>
            </a:lvl1pPr>
          </a:lstStyle>
          <a:p>
            <a:pPr>
              <a:defRPr/>
            </a:pPr>
            <a:r>
              <a:rPr lang="en-US"/>
              <a:t>Copyright 2021 John Wiley &amp; Sons, Inc.</a:t>
            </a:r>
            <a:endParaRPr lang="en-US" dirty="0"/>
          </a:p>
        </p:txBody>
      </p:sp>
      <p:sp>
        <p:nvSpPr>
          <p:cNvPr id="6" name="Rectangle 6"/>
          <p:cNvSpPr>
            <a:spLocks noGrp="1" noChangeArrowheads="1"/>
          </p:cNvSpPr>
          <p:nvPr>
            <p:ph type="sldNum" sz="quarter" idx="12"/>
          </p:nvPr>
        </p:nvSpPr>
        <p:spPr/>
        <p:txBody>
          <a:bodyPr/>
          <a:lstStyle>
            <a:lvl1pPr>
              <a:defRPr/>
            </a:lvl1pPr>
          </a:lstStyle>
          <a:p>
            <a:r>
              <a:rPr lang="en-US"/>
              <a:t>1 - </a:t>
            </a:r>
            <a:fld id="{9B1BB8FD-79F3-42E5-88B1-C1C84366F610}" type="slidenum">
              <a:rPr lang="en-US"/>
              <a:pPr/>
              <a:t>‹#›</a:t>
            </a:fld>
            <a:endParaRPr lang="en-US"/>
          </a:p>
        </p:txBody>
      </p:sp>
    </p:spTree>
    <p:extLst>
      <p:ext uri="{BB962C8B-B14F-4D97-AF65-F5344CB8AC3E}">
        <p14:creationId xmlns:p14="http://schemas.microsoft.com/office/powerpoint/2010/main" val="3132139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5334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Rectangle 3"/>
          <p:cNvSpPr>
            <a:spLocks noGrp="1" noChangeArrowheads="1"/>
          </p:cNvSpPr>
          <p:nvPr>
            <p:ph type="body" idx="1"/>
          </p:nvPr>
        </p:nvSpPr>
        <p:spPr bwMode="auto">
          <a:xfrm>
            <a:off x="685800" y="1371600"/>
            <a:ext cx="7772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spcAft>
                <a:spcPct val="0"/>
              </a:spcAft>
              <a:defRPr sz="1400"/>
            </a:lvl1pPr>
          </a:lstStyle>
          <a:p>
            <a:endParaRPr lang="en-US"/>
          </a:p>
        </p:txBody>
      </p:sp>
      <p:sp>
        <p:nvSpPr>
          <p:cNvPr id="1029" name="Rectangle 5"/>
          <p:cNvSpPr>
            <a:spLocks noGrp="1" noChangeArrowheads="1"/>
          </p:cNvSpPr>
          <p:nvPr>
            <p:ph type="ftr" sz="quarter" idx="3"/>
          </p:nvPr>
        </p:nvSpPr>
        <p:spPr bwMode="auto">
          <a:xfrm>
            <a:off x="2743200" y="6248400"/>
            <a:ext cx="381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spcAft>
                <a:spcPct val="0"/>
              </a:spcAft>
              <a:defRPr sz="1400"/>
            </a:lvl1pPr>
          </a:lstStyle>
          <a:p>
            <a:pPr>
              <a:defRPr/>
            </a:pPr>
            <a:r>
              <a:rPr lang="en-US"/>
              <a:t>Copyright 2021 John Wiley &amp; Sons, Inc.</a:t>
            </a: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spcAft>
                <a:spcPct val="0"/>
              </a:spcAft>
              <a:defRPr sz="1400"/>
            </a:lvl1pPr>
          </a:lstStyle>
          <a:p>
            <a:r>
              <a:rPr lang="en-US"/>
              <a:t>1 - </a:t>
            </a:r>
            <a:fld id="{4B474535-6815-4D49-B95F-2FBE683C981E}" type="slidenum">
              <a:rPr lang="en-US"/>
              <a:pPr/>
              <a:t>‹#›</a:t>
            </a:fld>
            <a:endParaRPr lang="en-US"/>
          </a:p>
        </p:txBody>
      </p:sp>
      <p:sp>
        <p:nvSpPr>
          <p:cNvPr id="1031" name="Line 7"/>
          <p:cNvSpPr>
            <a:spLocks noChangeShapeType="1"/>
          </p:cNvSpPr>
          <p:nvPr userDrawn="1"/>
        </p:nvSpPr>
        <p:spPr bwMode="auto">
          <a:xfrm>
            <a:off x="685800" y="1219200"/>
            <a:ext cx="7772400" cy="0"/>
          </a:xfrm>
          <a:prstGeom prst="line">
            <a:avLst/>
          </a:prstGeom>
          <a:noFill/>
          <a:ln w="57150" cmpd="thickThin">
            <a:solidFill>
              <a:srgbClr val="0000CC"/>
            </a:solidFill>
            <a:round/>
            <a:headEnd/>
            <a:tailEnd/>
          </a:ln>
        </p:spPr>
        <p:txBody>
          <a:bodyPr/>
          <a:lstStyle/>
          <a:p>
            <a:pPr>
              <a:defRPr/>
            </a:pPr>
            <a:endParaRPr lang="en-US"/>
          </a:p>
        </p:txBody>
      </p:sp>
      <p:sp>
        <p:nvSpPr>
          <p:cNvPr id="1032" name="Line 8"/>
          <p:cNvSpPr>
            <a:spLocks noChangeShapeType="1"/>
          </p:cNvSpPr>
          <p:nvPr userDrawn="1"/>
        </p:nvSpPr>
        <p:spPr bwMode="auto">
          <a:xfrm>
            <a:off x="685800" y="6248400"/>
            <a:ext cx="7772400" cy="0"/>
          </a:xfrm>
          <a:prstGeom prst="line">
            <a:avLst/>
          </a:prstGeom>
          <a:noFill/>
          <a:ln w="12700">
            <a:solidFill>
              <a:srgbClr val="0000CC"/>
            </a:solidFill>
            <a:round/>
            <a:headEnd/>
            <a:tailEnd/>
          </a:ln>
        </p:spPr>
        <p:txBody>
          <a:bodyPr/>
          <a:lstStyle/>
          <a:p>
            <a:pPr>
              <a:defRPr/>
            </a:pPr>
            <a:endParaRPr lang="en-US"/>
          </a:p>
        </p:txBody>
      </p:sp>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hf hdr="0" dt="0"/>
  <p:txStyles>
    <p:titleStyle>
      <a:lvl1pPr algn="ctr" rtl="0" eaLnBrk="0" fontAlgn="base" hangingPunct="0">
        <a:spcBef>
          <a:spcPct val="0"/>
        </a:spcBef>
        <a:spcAft>
          <a:spcPct val="0"/>
        </a:spcAft>
        <a:defRPr sz="3200">
          <a:solidFill>
            <a:srgbClr val="16027C"/>
          </a:solidFill>
          <a:latin typeface="+mj-lt"/>
          <a:ea typeface="+mj-ea"/>
          <a:cs typeface="+mj-cs"/>
        </a:defRPr>
      </a:lvl1pPr>
      <a:lvl2pPr algn="ctr" rtl="0" eaLnBrk="0" fontAlgn="base" hangingPunct="0">
        <a:spcBef>
          <a:spcPct val="0"/>
        </a:spcBef>
        <a:spcAft>
          <a:spcPct val="0"/>
        </a:spcAft>
        <a:defRPr sz="3200">
          <a:solidFill>
            <a:srgbClr val="16027C"/>
          </a:solidFill>
          <a:latin typeface="Arial Black" pitchFamily="34" charset="0"/>
        </a:defRPr>
      </a:lvl2pPr>
      <a:lvl3pPr algn="ctr" rtl="0" eaLnBrk="0" fontAlgn="base" hangingPunct="0">
        <a:spcBef>
          <a:spcPct val="0"/>
        </a:spcBef>
        <a:spcAft>
          <a:spcPct val="0"/>
        </a:spcAft>
        <a:defRPr sz="3200">
          <a:solidFill>
            <a:srgbClr val="16027C"/>
          </a:solidFill>
          <a:latin typeface="Arial Black" pitchFamily="34" charset="0"/>
        </a:defRPr>
      </a:lvl3pPr>
      <a:lvl4pPr algn="ctr" rtl="0" eaLnBrk="0" fontAlgn="base" hangingPunct="0">
        <a:spcBef>
          <a:spcPct val="0"/>
        </a:spcBef>
        <a:spcAft>
          <a:spcPct val="0"/>
        </a:spcAft>
        <a:defRPr sz="3200">
          <a:solidFill>
            <a:srgbClr val="16027C"/>
          </a:solidFill>
          <a:latin typeface="Arial Black" pitchFamily="34" charset="0"/>
        </a:defRPr>
      </a:lvl4pPr>
      <a:lvl5pPr algn="ctr" rtl="0" eaLnBrk="0" fontAlgn="base" hangingPunct="0">
        <a:spcBef>
          <a:spcPct val="0"/>
        </a:spcBef>
        <a:spcAft>
          <a:spcPct val="0"/>
        </a:spcAft>
        <a:defRPr sz="3200">
          <a:solidFill>
            <a:srgbClr val="16027C"/>
          </a:solidFill>
          <a:latin typeface="Arial Black" pitchFamily="34" charset="0"/>
        </a:defRPr>
      </a:lvl5pPr>
      <a:lvl6pPr marL="457200" algn="ctr" rtl="0" fontAlgn="base">
        <a:spcBef>
          <a:spcPct val="0"/>
        </a:spcBef>
        <a:spcAft>
          <a:spcPct val="0"/>
        </a:spcAft>
        <a:defRPr sz="3200">
          <a:solidFill>
            <a:srgbClr val="16027C"/>
          </a:solidFill>
          <a:latin typeface="Arial Black" pitchFamily="34" charset="0"/>
        </a:defRPr>
      </a:lvl6pPr>
      <a:lvl7pPr marL="914400" algn="ctr" rtl="0" fontAlgn="base">
        <a:spcBef>
          <a:spcPct val="0"/>
        </a:spcBef>
        <a:spcAft>
          <a:spcPct val="0"/>
        </a:spcAft>
        <a:defRPr sz="3200">
          <a:solidFill>
            <a:srgbClr val="16027C"/>
          </a:solidFill>
          <a:latin typeface="Arial Black" pitchFamily="34" charset="0"/>
        </a:defRPr>
      </a:lvl7pPr>
      <a:lvl8pPr marL="1371600" algn="ctr" rtl="0" fontAlgn="base">
        <a:spcBef>
          <a:spcPct val="0"/>
        </a:spcBef>
        <a:spcAft>
          <a:spcPct val="0"/>
        </a:spcAft>
        <a:defRPr sz="3200">
          <a:solidFill>
            <a:srgbClr val="16027C"/>
          </a:solidFill>
          <a:latin typeface="Arial Black" pitchFamily="34" charset="0"/>
        </a:defRPr>
      </a:lvl8pPr>
      <a:lvl9pPr marL="1828800" algn="ctr" rtl="0" fontAlgn="base">
        <a:spcBef>
          <a:spcPct val="0"/>
        </a:spcBef>
        <a:spcAft>
          <a:spcPct val="0"/>
        </a:spcAft>
        <a:defRPr sz="3200">
          <a:solidFill>
            <a:srgbClr val="16027C"/>
          </a:solidFill>
          <a:latin typeface="Arial Black" pitchFamily="34" charset="0"/>
        </a:defRPr>
      </a:lvl9pPr>
    </p:titleStyle>
    <p:bodyStyle>
      <a:lvl1pPr marL="342900" indent="-342900" algn="l" rtl="0" eaLnBrk="0" fontAlgn="base" hangingPunct="0">
        <a:spcBef>
          <a:spcPct val="20000"/>
        </a:spcBef>
        <a:spcAft>
          <a:spcPct val="15000"/>
        </a:spcAft>
        <a:buChar char="•"/>
        <a:defRPr sz="2800" b="1">
          <a:solidFill>
            <a:srgbClr val="16027C"/>
          </a:solidFill>
          <a:latin typeface="+mn-lt"/>
          <a:ea typeface="+mn-ea"/>
          <a:cs typeface="+mn-cs"/>
        </a:defRPr>
      </a:lvl1pPr>
      <a:lvl2pPr marL="742950" indent="-285750" algn="l" rtl="0" eaLnBrk="0" fontAlgn="base" hangingPunct="0">
        <a:spcBef>
          <a:spcPct val="20000"/>
        </a:spcBef>
        <a:spcAft>
          <a:spcPct val="15000"/>
        </a:spcAft>
        <a:buChar char="–"/>
        <a:defRPr sz="2400" b="1">
          <a:solidFill>
            <a:srgbClr val="16027C"/>
          </a:solidFill>
          <a:latin typeface="+mn-lt"/>
        </a:defRPr>
      </a:lvl2pPr>
      <a:lvl3pPr marL="1143000" indent="-228600" algn="l" rtl="0" eaLnBrk="0" fontAlgn="base" hangingPunct="0">
        <a:spcBef>
          <a:spcPct val="20000"/>
        </a:spcBef>
        <a:spcAft>
          <a:spcPct val="15000"/>
        </a:spcAft>
        <a:buChar char="•"/>
        <a:defRPr sz="2400" b="1">
          <a:solidFill>
            <a:srgbClr val="16027C"/>
          </a:solidFill>
          <a:latin typeface="+mn-lt"/>
        </a:defRPr>
      </a:lvl3pPr>
      <a:lvl4pPr marL="1600200" indent="-228600" algn="l" rtl="0" eaLnBrk="0" fontAlgn="base" hangingPunct="0">
        <a:spcBef>
          <a:spcPct val="20000"/>
        </a:spcBef>
        <a:spcAft>
          <a:spcPct val="15000"/>
        </a:spcAft>
        <a:buChar char="–"/>
        <a:defRPr sz="2000" b="1">
          <a:solidFill>
            <a:srgbClr val="16027C"/>
          </a:solidFill>
          <a:latin typeface="+mn-lt"/>
        </a:defRPr>
      </a:lvl4pPr>
      <a:lvl5pPr marL="2057400" indent="-228600" algn="l" rtl="0" eaLnBrk="0" fontAlgn="base" hangingPunct="0">
        <a:spcBef>
          <a:spcPct val="20000"/>
        </a:spcBef>
        <a:spcAft>
          <a:spcPct val="15000"/>
        </a:spcAft>
        <a:buChar char="»"/>
        <a:defRPr sz="2000" b="1">
          <a:solidFill>
            <a:srgbClr val="16027C"/>
          </a:solidFill>
          <a:latin typeface="+mn-lt"/>
        </a:defRPr>
      </a:lvl5pPr>
      <a:lvl6pPr marL="2514600" indent="-228600" algn="l" rtl="0" fontAlgn="base">
        <a:spcBef>
          <a:spcPct val="20000"/>
        </a:spcBef>
        <a:spcAft>
          <a:spcPct val="15000"/>
        </a:spcAft>
        <a:buChar char="»"/>
        <a:defRPr sz="2000" b="1">
          <a:solidFill>
            <a:srgbClr val="16027C"/>
          </a:solidFill>
          <a:latin typeface="+mn-lt"/>
        </a:defRPr>
      </a:lvl6pPr>
      <a:lvl7pPr marL="2971800" indent="-228600" algn="l" rtl="0" fontAlgn="base">
        <a:spcBef>
          <a:spcPct val="20000"/>
        </a:spcBef>
        <a:spcAft>
          <a:spcPct val="15000"/>
        </a:spcAft>
        <a:buChar char="»"/>
        <a:defRPr sz="2000" b="1">
          <a:solidFill>
            <a:srgbClr val="16027C"/>
          </a:solidFill>
          <a:latin typeface="+mn-lt"/>
        </a:defRPr>
      </a:lvl7pPr>
      <a:lvl8pPr marL="3429000" indent="-228600" algn="l" rtl="0" fontAlgn="base">
        <a:spcBef>
          <a:spcPct val="20000"/>
        </a:spcBef>
        <a:spcAft>
          <a:spcPct val="15000"/>
        </a:spcAft>
        <a:buChar char="»"/>
        <a:defRPr sz="2000" b="1">
          <a:solidFill>
            <a:srgbClr val="16027C"/>
          </a:solidFill>
          <a:latin typeface="+mn-lt"/>
        </a:defRPr>
      </a:lvl8pPr>
      <a:lvl9pPr marL="3886200" indent="-228600" algn="l" rtl="0" fontAlgn="base">
        <a:spcBef>
          <a:spcPct val="20000"/>
        </a:spcBef>
        <a:spcAft>
          <a:spcPct val="15000"/>
        </a:spcAft>
        <a:buChar char="»"/>
        <a:defRPr sz="2000" b="1">
          <a:solidFill>
            <a:srgbClr val="16027C"/>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image" Target="../media/image1.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jpg"/></Relationships>
</file>

<file path=ppt/slides/_rels/slide3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1433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DF45C547-993A-4690-A45B-9616DEB71432}" type="slidenum">
              <a:rPr lang="en-US" sz="1400"/>
              <a:pPr eaLnBrk="1" hangingPunct="1"/>
              <a:t>1</a:t>
            </a:fld>
            <a:endParaRPr lang="en-US" sz="1400"/>
          </a:p>
        </p:txBody>
      </p:sp>
      <p:sp>
        <p:nvSpPr>
          <p:cNvPr id="14340" name="Rectangle 2"/>
          <p:cNvSpPr>
            <a:spLocks noGrp="1" noChangeArrowheads="1"/>
          </p:cNvSpPr>
          <p:nvPr>
            <p:ph type="ctrTitle"/>
          </p:nvPr>
        </p:nvSpPr>
        <p:spPr>
          <a:xfrm>
            <a:off x="381000" y="1828800"/>
            <a:ext cx="8382000" cy="2057400"/>
          </a:xfrm>
        </p:spPr>
        <p:txBody>
          <a:bodyPr/>
          <a:lstStyle/>
          <a:p>
            <a:pPr eaLnBrk="1" hangingPunct="1">
              <a:spcBef>
                <a:spcPct val="50000"/>
              </a:spcBef>
            </a:pPr>
            <a:r>
              <a:rPr lang="en-US" sz="3600" dirty="0"/>
              <a:t>Fundamentals of Business Data Communications</a:t>
            </a:r>
            <a:br>
              <a:rPr lang="en-US" sz="3600" dirty="0"/>
            </a:br>
            <a:r>
              <a:rPr lang="en-US" sz="2400" dirty="0">
                <a:cs typeface="Times New Roman" pitchFamily="18" charset="0"/>
              </a:rPr>
              <a:t>14th Edition</a:t>
            </a:r>
            <a:br>
              <a:rPr lang="en-US" sz="2400" dirty="0">
                <a:cs typeface="Times New Roman" pitchFamily="18" charset="0"/>
              </a:rPr>
            </a:br>
            <a:r>
              <a:rPr lang="en-US" sz="1600" dirty="0">
                <a:cs typeface="Times New Roman" pitchFamily="18" charset="0"/>
              </a:rPr>
              <a:t> </a:t>
            </a:r>
            <a:br>
              <a:rPr lang="en-US" sz="1600" dirty="0">
                <a:cs typeface="Times New Roman" pitchFamily="18" charset="0"/>
              </a:rPr>
            </a:br>
            <a:r>
              <a:rPr lang="en-US" dirty="0">
                <a:cs typeface="Times New Roman" pitchFamily="18" charset="0"/>
              </a:rPr>
              <a:t>Alan Dennis &amp; Alexandra </a:t>
            </a:r>
            <a:r>
              <a:rPr lang="en-US" dirty="0" err="1">
                <a:cs typeface="Times New Roman" pitchFamily="18" charset="0"/>
              </a:rPr>
              <a:t>Durcikova</a:t>
            </a:r>
            <a:br>
              <a:rPr lang="en-US" sz="2400" dirty="0">
                <a:cs typeface="Times New Roman" pitchFamily="18" charset="0"/>
              </a:rPr>
            </a:br>
            <a:br>
              <a:rPr lang="en-US" sz="2400" dirty="0">
                <a:cs typeface="Times New Roman" pitchFamily="18" charset="0"/>
              </a:rPr>
            </a:br>
            <a:r>
              <a:rPr lang="en-US" sz="2000" dirty="0">
                <a:cs typeface="Times New Roman" pitchFamily="18" charset="0"/>
              </a:rPr>
              <a:t>John Wiley &amp; Sons, </a:t>
            </a:r>
            <a:r>
              <a:rPr lang="en-US" sz="2000" dirty="0" err="1">
                <a:cs typeface="Times New Roman" pitchFamily="18" charset="0"/>
              </a:rPr>
              <a:t>Inc</a:t>
            </a:r>
            <a:r>
              <a:rPr lang="en-US" dirty="0">
                <a:cs typeface="Times New Roman" pitchFamily="18" charset="0"/>
              </a:rPr>
              <a:t>  </a:t>
            </a:r>
          </a:p>
        </p:txBody>
      </p:sp>
      <p:sp>
        <p:nvSpPr>
          <p:cNvPr id="14341" name="Rectangle 3"/>
          <p:cNvSpPr>
            <a:spLocks noGrp="1" noChangeArrowheads="1"/>
          </p:cNvSpPr>
          <p:nvPr>
            <p:ph type="subTitle" idx="1"/>
          </p:nvPr>
        </p:nvSpPr>
        <p:spPr>
          <a:xfrm>
            <a:off x="1295400" y="4953000"/>
            <a:ext cx="6400800" cy="1219200"/>
          </a:xfrm>
        </p:spPr>
        <p:txBody>
          <a:bodyPr/>
          <a:lstStyle/>
          <a:p>
            <a:pPr eaLnBrk="1" hangingPunct="1">
              <a:spcBef>
                <a:spcPct val="0"/>
              </a:spcBef>
              <a:spcAft>
                <a:spcPct val="0"/>
              </a:spcAft>
            </a:pPr>
            <a:r>
              <a:rPr lang="en-US" sz="2400"/>
              <a:t>Dwayne Whitten, D.B.A</a:t>
            </a:r>
          </a:p>
          <a:p>
            <a:pPr eaLnBrk="1" hangingPunct="1">
              <a:spcBef>
                <a:spcPct val="0"/>
              </a:spcBef>
              <a:spcAft>
                <a:spcPct val="0"/>
              </a:spcAft>
            </a:pPr>
            <a:r>
              <a:rPr lang="en-US" sz="2400"/>
              <a:t>Mays Business School</a:t>
            </a:r>
          </a:p>
          <a:p>
            <a:pPr eaLnBrk="1" hangingPunct="1">
              <a:spcBef>
                <a:spcPct val="0"/>
              </a:spcBef>
              <a:spcAft>
                <a:spcPct val="0"/>
              </a:spcAft>
            </a:pPr>
            <a:r>
              <a:rPr lang="en-US" sz="2400"/>
              <a:t>Texas A&amp;M University</a:t>
            </a:r>
          </a:p>
        </p:txBody>
      </p:sp>
      <p:sp>
        <p:nvSpPr>
          <p:cNvPr id="14342" name="Rectangle 4"/>
          <p:cNvSpPr>
            <a:spLocks noChangeArrowheads="1"/>
          </p:cNvSpPr>
          <p:nvPr/>
        </p:nvSpPr>
        <p:spPr bwMode="auto">
          <a:xfrm>
            <a:off x="8001000" y="6324600"/>
            <a:ext cx="457200"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2048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4CA9619C-5371-4441-B681-E42564CA1105}" type="slidenum">
              <a:rPr lang="en-US" sz="1400"/>
              <a:pPr eaLnBrk="1" hangingPunct="1"/>
              <a:t>2</a:t>
            </a:fld>
            <a:endParaRPr lang="en-US" sz="1400"/>
          </a:p>
        </p:txBody>
      </p:sp>
      <p:sp>
        <p:nvSpPr>
          <p:cNvPr id="20484" name="Rectangle 26"/>
          <p:cNvSpPr>
            <a:spLocks noGrp="1" noChangeArrowheads="1"/>
          </p:cNvSpPr>
          <p:nvPr>
            <p:ph type="title"/>
          </p:nvPr>
        </p:nvSpPr>
        <p:spPr>
          <a:xfrm>
            <a:off x="685800" y="336550"/>
            <a:ext cx="7772400" cy="762000"/>
          </a:xfrm>
        </p:spPr>
        <p:txBody>
          <a:bodyPr/>
          <a:lstStyle/>
          <a:p>
            <a:pPr eaLnBrk="1" hangingPunct="1"/>
            <a:r>
              <a:rPr lang="en-US" sz="2800" i="1"/>
              <a:t>Three</a:t>
            </a:r>
            <a:r>
              <a:rPr lang="en-US" sz="2800"/>
              <a:t> Parts to Understanding Networking</a:t>
            </a:r>
          </a:p>
        </p:txBody>
      </p:sp>
      <p:sp>
        <p:nvSpPr>
          <p:cNvPr id="20485" name="Rectangle 27"/>
          <p:cNvSpPr>
            <a:spLocks noGrp="1" noChangeArrowheads="1"/>
          </p:cNvSpPr>
          <p:nvPr>
            <p:ph type="body" idx="1"/>
          </p:nvPr>
        </p:nvSpPr>
        <p:spPr/>
        <p:txBody>
          <a:bodyPr/>
          <a:lstStyle/>
          <a:p>
            <a:pPr marL="533400" indent="-533400" eaLnBrk="1" hangingPunct="1">
              <a:buFontTx/>
              <a:buAutoNum type="arabicPeriod"/>
            </a:pPr>
            <a:r>
              <a:rPr lang="en-US" sz="2400" i="1"/>
              <a:t>Concepts</a:t>
            </a:r>
            <a:r>
              <a:rPr lang="en-US" sz="2400"/>
              <a:t> </a:t>
            </a:r>
            <a:r>
              <a:rPr lang="en-US" sz="2400" b="0"/>
              <a:t>of networking</a:t>
            </a:r>
          </a:p>
          <a:p>
            <a:pPr marL="914400" lvl="1" indent="-457200" eaLnBrk="1" hangingPunct="1"/>
            <a:r>
              <a:rPr lang="en-US" sz="2000"/>
              <a:t>How data moves from one computer to another over a network</a:t>
            </a:r>
          </a:p>
          <a:p>
            <a:pPr marL="914400" lvl="1" indent="-457200" eaLnBrk="1" hangingPunct="1"/>
            <a:r>
              <a:rPr lang="en-US" sz="2000"/>
              <a:t>Theories of how networks operate</a:t>
            </a:r>
          </a:p>
          <a:p>
            <a:pPr marL="533400" indent="-533400" eaLnBrk="1" hangingPunct="1">
              <a:buFontTx/>
              <a:buAutoNum type="arabicPeriod"/>
            </a:pPr>
            <a:r>
              <a:rPr lang="en-US" sz="2400" i="1"/>
              <a:t>Technologies</a:t>
            </a:r>
            <a:r>
              <a:rPr lang="en-US" sz="2400"/>
              <a:t> </a:t>
            </a:r>
            <a:r>
              <a:rPr lang="en-US" sz="2400" b="0"/>
              <a:t>in use today</a:t>
            </a:r>
          </a:p>
          <a:p>
            <a:pPr marL="914400" lvl="1" indent="-457200" eaLnBrk="1" hangingPunct="1"/>
            <a:r>
              <a:rPr lang="en-US" sz="2000"/>
              <a:t>How theories are implemented, specific products</a:t>
            </a:r>
          </a:p>
          <a:p>
            <a:pPr marL="914400" lvl="1" indent="-457200" eaLnBrk="1" hangingPunct="1"/>
            <a:r>
              <a:rPr lang="en-US" sz="2000"/>
              <a:t>How do they work, their use, applications</a:t>
            </a:r>
          </a:p>
          <a:p>
            <a:pPr marL="533400" indent="-533400" eaLnBrk="1" hangingPunct="1">
              <a:buFontTx/>
              <a:buAutoNum type="arabicPeriod"/>
            </a:pPr>
            <a:r>
              <a:rPr lang="en-US" sz="2400" i="1"/>
              <a:t>Management</a:t>
            </a:r>
            <a:r>
              <a:rPr lang="en-US" sz="2400"/>
              <a:t> </a:t>
            </a:r>
            <a:r>
              <a:rPr lang="en-US" sz="2400" b="0"/>
              <a:t>of networking technologies</a:t>
            </a:r>
          </a:p>
          <a:p>
            <a:pPr marL="914400" lvl="1" indent="-457200" eaLnBrk="1" hangingPunct="1"/>
            <a:r>
              <a:rPr lang="en-US" sz="2000"/>
              <a:t>Security</a:t>
            </a:r>
          </a:p>
          <a:p>
            <a:pPr marL="914400" lvl="1" indent="-457200" eaLnBrk="1" hangingPunct="1"/>
            <a:r>
              <a:rPr lang="en-US" sz="2000"/>
              <a:t>Network Design</a:t>
            </a:r>
          </a:p>
          <a:p>
            <a:pPr marL="914400" lvl="1" indent="-457200" eaLnBrk="1" hangingPunct="1"/>
            <a:r>
              <a:rPr lang="en-US" sz="2000"/>
              <a:t>Managing the network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1536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2975ECE7-B174-4795-A8D1-02FD2060B729}" type="slidenum">
              <a:rPr lang="en-US" sz="1400"/>
              <a:pPr eaLnBrk="1" hangingPunct="1"/>
              <a:t>3</a:t>
            </a:fld>
            <a:endParaRPr lang="en-US" sz="1400"/>
          </a:p>
        </p:txBody>
      </p:sp>
      <p:sp>
        <p:nvSpPr>
          <p:cNvPr id="15364" name="Rectangle 4"/>
          <p:cNvSpPr>
            <a:spLocks noGrp="1" noChangeArrowheads="1"/>
          </p:cNvSpPr>
          <p:nvPr>
            <p:ph type="ctrTitle"/>
          </p:nvPr>
        </p:nvSpPr>
        <p:spPr>
          <a:xfrm>
            <a:off x="381000" y="2286000"/>
            <a:ext cx="8382000" cy="1143000"/>
          </a:xfrm>
        </p:spPr>
        <p:txBody>
          <a:bodyPr/>
          <a:lstStyle/>
          <a:p>
            <a:pPr eaLnBrk="1" hangingPunct="1"/>
            <a:r>
              <a:rPr lang="en-US" sz="4000"/>
              <a:t>Chapter 1</a:t>
            </a:r>
            <a:br>
              <a:rPr lang="en-US" sz="2800" u="sng"/>
            </a:br>
            <a:endParaRPr lang="en-US"/>
          </a:p>
        </p:txBody>
      </p:sp>
      <p:sp>
        <p:nvSpPr>
          <p:cNvPr id="15365" name="Rectangle 10"/>
          <p:cNvSpPr>
            <a:spLocks noGrp="1" noChangeArrowheads="1"/>
          </p:cNvSpPr>
          <p:nvPr>
            <p:ph type="subTitle" idx="1"/>
          </p:nvPr>
        </p:nvSpPr>
        <p:spPr>
          <a:xfrm>
            <a:off x="1447800" y="3200400"/>
            <a:ext cx="6400800" cy="1752600"/>
          </a:xfrm>
        </p:spPr>
        <p:txBody>
          <a:bodyPr/>
          <a:lstStyle/>
          <a:p>
            <a:pPr eaLnBrk="1" hangingPunct="1"/>
            <a:r>
              <a:rPr lang="en-US" sz="4800" b="0"/>
              <a:t>Introduction to Data Communications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1638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EC9A5D9C-73AB-4B7B-9F45-EA779C188040}" type="slidenum">
              <a:rPr lang="en-US" sz="1400"/>
              <a:pPr eaLnBrk="1" hangingPunct="1"/>
              <a:t>4</a:t>
            </a:fld>
            <a:endParaRPr lang="en-US" sz="1400"/>
          </a:p>
        </p:txBody>
      </p:sp>
      <p:sp>
        <p:nvSpPr>
          <p:cNvPr id="16388" name="Rectangle 1036"/>
          <p:cNvSpPr>
            <a:spLocks noGrp="1" noChangeArrowheads="1"/>
          </p:cNvSpPr>
          <p:nvPr>
            <p:ph type="title"/>
          </p:nvPr>
        </p:nvSpPr>
        <p:spPr/>
        <p:txBody>
          <a:bodyPr/>
          <a:lstStyle/>
          <a:p>
            <a:pPr eaLnBrk="1" hangingPunct="1"/>
            <a:r>
              <a:rPr lang="en-US"/>
              <a:t>Chapter 1 Outline</a:t>
            </a:r>
          </a:p>
        </p:txBody>
      </p:sp>
      <p:sp>
        <p:nvSpPr>
          <p:cNvPr id="16389" name="Rectangle 1037"/>
          <p:cNvSpPr>
            <a:spLocks noGrp="1" noChangeArrowheads="1"/>
          </p:cNvSpPr>
          <p:nvPr>
            <p:ph type="body" idx="1"/>
          </p:nvPr>
        </p:nvSpPr>
        <p:spPr/>
        <p:txBody>
          <a:bodyPr/>
          <a:lstStyle/>
          <a:p>
            <a:pPr marL="0" indent="0" eaLnBrk="1" hangingPunct="1">
              <a:lnSpc>
                <a:spcPct val="90000"/>
              </a:lnSpc>
              <a:buFontTx/>
              <a:buNone/>
            </a:pPr>
            <a:r>
              <a:rPr lang="en-US" sz="2000"/>
              <a:t>1.1 – Introduction</a:t>
            </a:r>
          </a:p>
          <a:p>
            <a:pPr lvl="1" eaLnBrk="1" hangingPunct="1">
              <a:lnSpc>
                <a:spcPct val="90000"/>
              </a:lnSpc>
            </a:pPr>
            <a:r>
              <a:rPr lang="en-US" sz="1600"/>
              <a:t>Brief history of Data Communications, Communications, Information Systems and the Internet </a:t>
            </a:r>
          </a:p>
          <a:p>
            <a:pPr marL="0" indent="0" eaLnBrk="1" hangingPunct="1">
              <a:lnSpc>
                <a:spcPct val="90000"/>
              </a:lnSpc>
              <a:buFontTx/>
              <a:buNone/>
            </a:pPr>
            <a:r>
              <a:rPr lang="en-US" sz="2000"/>
              <a:t>1.2 - Data Communications Networks</a:t>
            </a:r>
          </a:p>
          <a:p>
            <a:pPr lvl="1" eaLnBrk="1" hangingPunct="1">
              <a:lnSpc>
                <a:spcPct val="90000"/>
              </a:lnSpc>
            </a:pPr>
            <a:r>
              <a:rPr lang="en-US" sz="1600"/>
              <a:t>Network components, network types</a:t>
            </a:r>
          </a:p>
          <a:p>
            <a:pPr marL="0" indent="0" eaLnBrk="1" hangingPunct="1">
              <a:lnSpc>
                <a:spcPct val="90000"/>
              </a:lnSpc>
              <a:buFontTx/>
              <a:buNone/>
            </a:pPr>
            <a:r>
              <a:rPr lang="en-US" sz="2000"/>
              <a:t>1.3 - Network Models</a:t>
            </a:r>
          </a:p>
          <a:p>
            <a:pPr lvl="1" eaLnBrk="1" hangingPunct="1">
              <a:lnSpc>
                <a:spcPct val="90000"/>
              </a:lnSpc>
            </a:pPr>
            <a:r>
              <a:rPr lang="en-US" sz="1600"/>
              <a:t>OSI model, Internet model, transmission via “layers”</a:t>
            </a:r>
          </a:p>
          <a:p>
            <a:pPr marL="0" indent="0" eaLnBrk="1" hangingPunct="1">
              <a:lnSpc>
                <a:spcPct val="90000"/>
              </a:lnSpc>
              <a:buFontTx/>
              <a:buNone/>
            </a:pPr>
            <a:r>
              <a:rPr lang="en-US" sz="2000"/>
              <a:t>1.4 - Network Standards</a:t>
            </a:r>
          </a:p>
          <a:p>
            <a:pPr lvl="1" eaLnBrk="1" hangingPunct="1">
              <a:lnSpc>
                <a:spcPct val="90000"/>
              </a:lnSpc>
            </a:pPr>
            <a:r>
              <a:rPr lang="en-US" sz="1600"/>
              <a:t>Standards making, common standards</a:t>
            </a:r>
          </a:p>
          <a:p>
            <a:pPr marL="0" indent="0" eaLnBrk="1" hangingPunct="1">
              <a:lnSpc>
                <a:spcPct val="90000"/>
              </a:lnSpc>
              <a:buFontTx/>
              <a:buNone/>
            </a:pPr>
            <a:r>
              <a:rPr lang="en-US" sz="2000"/>
              <a:t>1.5 - Future Trends</a:t>
            </a:r>
          </a:p>
          <a:p>
            <a:pPr lvl="1" eaLnBrk="1" hangingPunct="1">
              <a:lnSpc>
                <a:spcPct val="90000"/>
              </a:lnSpc>
            </a:pPr>
            <a:r>
              <a:rPr lang="en-US" sz="1600"/>
              <a:t>Pervasive networking, integration of voice, video, and data, new information services</a:t>
            </a:r>
          </a:p>
          <a:p>
            <a:pPr lvl="1" eaLnBrk="1" hangingPunct="1">
              <a:lnSpc>
                <a:spcPct val="90000"/>
              </a:lnSpc>
              <a:buFontTx/>
              <a:buNone/>
            </a:pPr>
            <a:r>
              <a:rPr lang="en-US" sz="2000"/>
              <a:t>1.6 – Implications for Management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1843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CC69FD69-20D9-4472-B333-4B40C28DE267}" type="slidenum">
              <a:rPr lang="en-US" sz="1400"/>
              <a:pPr eaLnBrk="1" hangingPunct="1"/>
              <a:t>5</a:t>
            </a:fld>
            <a:endParaRPr lang="en-US" sz="1400"/>
          </a:p>
        </p:txBody>
      </p:sp>
      <p:sp>
        <p:nvSpPr>
          <p:cNvPr id="18436" name="Rectangle 2"/>
          <p:cNvSpPr>
            <a:spLocks noGrp="1" noChangeArrowheads="1"/>
          </p:cNvSpPr>
          <p:nvPr>
            <p:ph type="title"/>
          </p:nvPr>
        </p:nvSpPr>
        <p:spPr/>
        <p:txBody>
          <a:bodyPr/>
          <a:lstStyle/>
          <a:p>
            <a:pPr eaLnBrk="1" hangingPunct="1"/>
            <a:r>
              <a:rPr lang="en-US" dirty="0"/>
              <a:t>Information Age</a:t>
            </a:r>
          </a:p>
        </p:txBody>
      </p:sp>
      <p:sp>
        <p:nvSpPr>
          <p:cNvPr id="18437" name="Rectangle 3"/>
          <p:cNvSpPr>
            <a:spLocks noGrp="1" noChangeArrowheads="1"/>
          </p:cNvSpPr>
          <p:nvPr>
            <p:ph type="body" idx="1"/>
          </p:nvPr>
        </p:nvSpPr>
        <p:spPr/>
        <p:txBody>
          <a:bodyPr/>
          <a:lstStyle/>
          <a:p>
            <a:pPr eaLnBrk="1" hangingPunct="1"/>
            <a:r>
              <a:rPr lang="en-US" sz="2400"/>
              <a:t>First Industrial Revolution</a:t>
            </a:r>
          </a:p>
          <a:p>
            <a:pPr lvl="1" eaLnBrk="1" hangingPunct="1"/>
            <a:r>
              <a:rPr lang="en-US" sz="2000"/>
              <a:t>Introduction of machinery</a:t>
            </a:r>
          </a:p>
          <a:p>
            <a:pPr lvl="1" eaLnBrk="1" hangingPunct="1"/>
            <a:r>
              <a:rPr lang="en-US" sz="2000"/>
              <a:t>New organizational methods</a:t>
            </a:r>
          </a:p>
          <a:p>
            <a:pPr lvl="1" eaLnBrk="1" hangingPunct="1"/>
            <a:r>
              <a:rPr lang="en-US" sz="2000"/>
              <a:t>Changed the way people worked</a:t>
            </a:r>
          </a:p>
          <a:p>
            <a:pPr eaLnBrk="1" hangingPunct="1"/>
            <a:r>
              <a:rPr lang="en-US" sz="2400"/>
              <a:t>Second Industrial Revolution – Information Age</a:t>
            </a:r>
          </a:p>
          <a:p>
            <a:pPr lvl="1" eaLnBrk="1" hangingPunct="1"/>
            <a:r>
              <a:rPr lang="en-US" sz="2000"/>
              <a:t>Introduction of computers</a:t>
            </a:r>
          </a:p>
          <a:p>
            <a:pPr lvl="1" eaLnBrk="1" hangingPunct="1"/>
            <a:r>
              <a:rPr lang="en-US" sz="2000"/>
              <a:t>Introduction of networking and data communication</a:t>
            </a:r>
          </a:p>
          <a:p>
            <a:pPr lvl="1" eaLnBrk="1" hangingPunct="1"/>
            <a:r>
              <a:rPr lang="en-US" sz="2000"/>
              <a:t>Changed the way people worked again</a:t>
            </a:r>
          </a:p>
          <a:p>
            <a:pPr lvl="2" eaLnBrk="1" hangingPunct="1"/>
            <a:r>
              <a:rPr lang="en-US" sz="2000"/>
              <a:t>Faster communication </a:t>
            </a:r>
            <a:r>
              <a:rPr lang="en-US" sz="2000">
                <a:sym typeface="Wingdings" pitchFamily="2" charset="2"/>
              </a:rPr>
              <a:t> Collapsing Information lag</a:t>
            </a:r>
            <a:endParaRPr lang="en-US" sz="2000"/>
          </a:p>
          <a:p>
            <a:pPr lvl="2" eaLnBrk="1" hangingPunct="1"/>
            <a:r>
              <a:rPr lang="en-US" sz="2000"/>
              <a:t>Brought people together </a:t>
            </a:r>
            <a:r>
              <a:rPr lang="en-US" sz="2000">
                <a:sym typeface="Wingdings" pitchFamily="2" charset="2"/>
              </a:rPr>
              <a:t> Globalization</a:t>
            </a:r>
            <a:endParaRPr lang="en-US" sz="2000"/>
          </a:p>
        </p:txBody>
      </p:sp>
      <p:sp>
        <p:nvSpPr>
          <p:cNvPr id="6" name="Title 1"/>
          <p:cNvSpPr txBox="1">
            <a:spLocks/>
          </p:cNvSpPr>
          <p:nvPr/>
        </p:nvSpPr>
        <p:spPr bwMode="auto">
          <a:xfrm>
            <a:off x="685800" y="40341"/>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a:solidFill>
                  <a:srgbClr val="16027C"/>
                </a:solidFill>
                <a:latin typeface="+mj-lt"/>
                <a:ea typeface="+mj-ea"/>
                <a:cs typeface="+mj-cs"/>
              </a:defRPr>
            </a:lvl1pPr>
            <a:lvl2pPr algn="ctr" rtl="0" eaLnBrk="0" fontAlgn="base" hangingPunct="0">
              <a:spcBef>
                <a:spcPct val="0"/>
              </a:spcBef>
              <a:spcAft>
                <a:spcPct val="0"/>
              </a:spcAft>
              <a:defRPr sz="3200">
                <a:solidFill>
                  <a:srgbClr val="16027C"/>
                </a:solidFill>
                <a:latin typeface="Arial Black" pitchFamily="34" charset="0"/>
              </a:defRPr>
            </a:lvl2pPr>
            <a:lvl3pPr algn="ctr" rtl="0" eaLnBrk="0" fontAlgn="base" hangingPunct="0">
              <a:spcBef>
                <a:spcPct val="0"/>
              </a:spcBef>
              <a:spcAft>
                <a:spcPct val="0"/>
              </a:spcAft>
              <a:defRPr sz="3200">
                <a:solidFill>
                  <a:srgbClr val="16027C"/>
                </a:solidFill>
                <a:latin typeface="Arial Black" pitchFamily="34" charset="0"/>
              </a:defRPr>
            </a:lvl3pPr>
            <a:lvl4pPr algn="ctr" rtl="0" eaLnBrk="0" fontAlgn="base" hangingPunct="0">
              <a:spcBef>
                <a:spcPct val="0"/>
              </a:spcBef>
              <a:spcAft>
                <a:spcPct val="0"/>
              </a:spcAft>
              <a:defRPr sz="3200">
                <a:solidFill>
                  <a:srgbClr val="16027C"/>
                </a:solidFill>
                <a:latin typeface="Arial Black" pitchFamily="34" charset="0"/>
              </a:defRPr>
            </a:lvl4pPr>
            <a:lvl5pPr algn="ctr" rtl="0" eaLnBrk="0" fontAlgn="base" hangingPunct="0">
              <a:spcBef>
                <a:spcPct val="0"/>
              </a:spcBef>
              <a:spcAft>
                <a:spcPct val="0"/>
              </a:spcAft>
              <a:defRPr sz="3200">
                <a:solidFill>
                  <a:srgbClr val="16027C"/>
                </a:solidFill>
                <a:latin typeface="Arial Black" pitchFamily="34" charset="0"/>
              </a:defRPr>
            </a:lvl5pPr>
            <a:lvl6pPr marL="457200" algn="ctr" rtl="0" fontAlgn="base">
              <a:spcBef>
                <a:spcPct val="0"/>
              </a:spcBef>
              <a:spcAft>
                <a:spcPct val="0"/>
              </a:spcAft>
              <a:defRPr sz="3200">
                <a:solidFill>
                  <a:srgbClr val="16027C"/>
                </a:solidFill>
                <a:latin typeface="Arial Black" pitchFamily="34" charset="0"/>
              </a:defRPr>
            </a:lvl6pPr>
            <a:lvl7pPr marL="914400" algn="ctr" rtl="0" fontAlgn="base">
              <a:spcBef>
                <a:spcPct val="0"/>
              </a:spcBef>
              <a:spcAft>
                <a:spcPct val="0"/>
              </a:spcAft>
              <a:defRPr sz="3200">
                <a:solidFill>
                  <a:srgbClr val="16027C"/>
                </a:solidFill>
                <a:latin typeface="Arial Black" pitchFamily="34" charset="0"/>
              </a:defRPr>
            </a:lvl7pPr>
            <a:lvl8pPr marL="1371600" algn="ctr" rtl="0" fontAlgn="base">
              <a:spcBef>
                <a:spcPct val="0"/>
              </a:spcBef>
              <a:spcAft>
                <a:spcPct val="0"/>
              </a:spcAft>
              <a:defRPr sz="3200">
                <a:solidFill>
                  <a:srgbClr val="16027C"/>
                </a:solidFill>
                <a:latin typeface="Arial Black" pitchFamily="34" charset="0"/>
              </a:defRPr>
            </a:lvl8pPr>
            <a:lvl9pPr marL="1828800" algn="ctr" rtl="0" fontAlgn="base">
              <a:spcBef>
                <a:spcPct val="0"/>
              </a:spcBef>
              <a:spcAft>
                <a:spcPct val="0"/>
              </a:spcAft>
              <a:defRPr sz="3200">
                <a:solidFill>
                  <a:srgbClr val="16027C"/>
                </a:solidFill>
                <a:latin typeface="Arial Black" pitchFamily="34" charset="0"/>
              </a:defRPr>
            </a:lvl9pPr>
          </a:lstStyle>
          <a:p>
            <a:pPr algn="l"/>
            <a:r>
              <a:rPr lang="en-US"/>
              <a:t>1.1 Introduction</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1945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BD8CA3A1-D422-499D-BF72-9D4974A9A4DA}" type="slidenum">
              <a:rPr lang="en-US" sz="1400"/>
              <a:pPr eaLnBrk="1" hangingPunct="1"/>
              <a:t>6</a:t>
            </a:fld>
            <a:endParaRPr lang="en-US" sz="1400"/>
          </a:p>
        </p:txBody>
      </p:sp>
      <p:sp>
        <p:nvSpPr>
          <p:cNvPr id="58417" name="AutoShape 49"/>
          <p:cNvSpPr>
            <a:spLocks noChangeArrowheads="1"/>
          </p:cNvSpPr>
          <p:nvPr/>
        </p:nvSpPr>
        <p:spPr bwMode="auto">
          <a:xfrm>
            <a:off x="4528842" y="4057360"/>
            <a:ext cx="2376086" cy="2146879"/>
          </a:xfrm>
          <a:prstGeom prst="irregularSeal2">
            <a:avLst/>
          </a:prstGeom>
          <a:solidFill>
            <a:srgbClr val="A3A3FF"/>
          </a:solidFill>
          <a:ln w="9525">
            <a:solidFill>
              <a:schemeClr val="tx1"/>
            </a:solidFill>
            <a:miter lim="800000"/>
            <a:headEnd/>
            <a:tailEnd/>
          </a:ln>
        </p:spPr>
        <p:txBody>
          <a:bodyPr wrap="none" anchor="ctr"/>
          <a:lstStyle/>
          <a:p>
            <a:endParaRPr lang="en-US"/>
          </a:p>
        </p:txBody>
      </p:sp>
      <p:sp>
        <p:nvSpPr>
          <p:cNvPr id="19461" name="AutoShape 48"/>
          <p:cNvSpPr>
            <a:spLocks noChangeArrowheads="1"/>
          </p:cNvSpPr>
          <p:nvPr/>
        </p:nvSpPr>
        <p:spPr bwMode="auto">
          <a:xfrm>
            <a:off x="998538" y="1211263"/>
            <a:ext cx="3725862" cy="1219200"/>
          </a:xfrm>
          <a:prstGeom prst="rightArrow">
            <a:avLst>
              <a:gd name="adj1" fmla="val 50000"/>
              <a:gd name="adj2" fmla="val 76400"/>
            </a:avLst>
          </a:prstGeom>
          <a:solidFill>
            <a:schemeClr val="accent1"/>
          </a:solidFill>
          <a:ln w="9525">
            <a:solidFill>
              <a:schemeClr val="tx1"/>
            </a:solidFill>
            <a:miter lim="800000"/>
            <a:headEnd/>
            <a:tailEnd/>
          </a:ln>
        </p:spPr>
        <p:txBody>
          <a:bodyPr wrap="none" anchor="ctr"/>
          <a:lstStyle/>
          <a:p>
            <a:endParaRPr lang="en-US"/>
          </a:p>
        </p:txBody>
      </p:sp>
      <p:sp>
        <p:nvSpPr>
          <p:cNvPr id="58415" name="AutoShape 47"/>
          <p:cNvSpPr>
            <a:spLocks noChangeArrowheads="1"/>
          </p:cNvSpPr>
          <p:nvPr/>
        </p:nvSpPr>
        <p:spPr bwMode="auto">
          <a:xfrm>
            <a:off x="96140" y="4483100"/>
            <a:ext cx="4347673" cy="1295400"/>
          </a:xfrm>
          <a:prstGeom prst="rightArrow">
            <a:avLst>
              <a:gd name="adj1" fmla="val 50000"/>
              <a:gd name="adj2" fmla="val 94118"/>
            </a:avLst>
          </a:prstGeom>
          <a:solidFill>
            <a:schemeClr val="accent1"/>
          </a:solidFill>
          <a:ln w="9525">
            <a:solidFill>
              <a:schemeClr val="tx1"/>
            </a:solidFill>
            <a:miter lim="800000"/>
            <a:headEnd/>
            <a:tailEnd/>
          </a:ln>
        </p:spPr>
        <p:txBody>
          <a:bodyPr wrap="none" anchor="ctr"/>
          <a:lstStyle/>
          <a:p>
            <a:endParaRPr lang="en-US"/>
          </a:p>
        </p:txBody>
      </p:sp>
      <p:sp>
        <p:nvSpPr>
          <p:cNvPr id="19463" name="Rectangle 8"/>
          <p:cNvSpPr>
            <a:spLocks noGrp="1" noChangeArrowheads="1"/>
          </p:cNvSpPr>
          <p:nvPr>
            <p:ph type="title"/>
          </p:nvPr>
        </p:nvSpPr>
        <p:spPr/>
        <p:txBody>
          <a:bodyPr/>
          <a:lstStyle/>
          <a:p>
            <a:pPr eaLnBrk="1" hangingPunct="1"/>
            <a:r>
              <a:rPr lang="en-US"/>
              <a:t>The Collapsing Information Lag</a:t>
            </a:r>
          </a:p>
        </p:txBody>
      </p:sp>
      <p:sp>
        <p:nvSpPr>
          <p:cNvPr id="58394" name="Line 26"/>
          <p:cNvSpPr>
            <a:spLocks noChangeShapeType="1"/>
          </p:cNvSpPr>
          <p:nvPr/>
        </p:nvSpPr>
        <p:spPr bwMode="auto">
          <a:xfrm flipV="1">
            <a:off x="7848600" y="31242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8395" name="Line 27"/>
          <p:cNvSpPr>
            <a:spLocks noChangeShapeType="1"/>
          </p:cNvSpPr>
          <p:nvPr/>
        </p:nvSpPr>
        <p:spPr bwMode="auto">
          <a:xfrm flipH="1" flipV="1">
            <a:off x="787400" y="31242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8396" name="Line 28"/>
          <p:cNvSpPr>
            <a:spLocks noChangeShapeType="1"/>
          </p:cNvSpPr>
          <p:nvPr/>
        </p:nvSpPr>
        <p:spPr bwMode="auto">
          <a:xfrm flipH="1" flipV="1">
            <a:off x="3429000" y="3124200"/>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19467" name="Group 51"/>
          <p:cNvGrpSpPr>
            <a:grpSpLocks/>
          </p:cNvGrpSpPr>
          <p:nvPr/>
        </p:nvGrpSpPr>
        <p:grpSpPr bwMode="auto">
          <a:xfrm>
            <a:off x="609600" y="2663825"/>
            <a:ext cx="8077200" cy="403225"/>
            <a:chOff x="384" y="1678"/>
            <a:chExt cx="5088" cy="254"/>
          </a:xfrm>
        </p:grpSpPr>
        <p:sp>
          <p:nvSpPr>
            <p:cNvPr id="19477" name="Line 10"/>
            <p:cNvSpPr>
              <a:spLocks noChangeShapeType="1"/>
            </p:cNvSpPr>
            <p:nvPr/>
          </p:nvSpPr>
          <p:spPr bwMode="auto">
            <a:xfrm flipV="1">
              <a:off x="384" y="1920"/>
              <a:ext cx="5088" cy="0"/>
            </a:xfrm>
            <a:prstGeom prst="line">
              <a:avLst/>
            </a:prstGeom>
            <a:noFill/>
            <a:ln w="57150" cmpd="thickThin">
              <a:solidFill>
                <a:srgbClr val="4635C3"/>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19478" name="Rectangle 19"/>
            <p:cNvSpPr>
              <a:spLocks noChangeArrowheads="1"/>
            </p:cNvSpPr>
            <p:nvPr/>
          </p:nvSpPr>
          <p:spPr bwMode="auto">
            <a:xfrm>
              <a:off x="2016" y="1680"/>
              <a:ext cx="4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a:t>1900</a:t>
              </a:r>
            </a:p>
          </p:txBody>
        </p:sp>
        <p:sp>
          <p:nvSpPr>
            <p:cNvPr id="19479" name="Rectangle 20"/>
            <p:cNvSpPr>
              <a:spLocks noChangeArrowheads="1"/>
            </p:cNvSpPr>
            <p:nvPr/>
          </p:nvSpPr>
          <p:spPr bwMode="auto">
            <a:xfrm>
              <a:off x="3216" y="1678"/>
              <a:ext cx="4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a:t>1950</a:t>
              </a:r>
            </a:p>
          </p:txBody>
        </p:sp>
        <p:sp>
          <p:nvSpPr>
            <p:cNvPr id="19480" name="Rectangle 24"/>
            <p:cNvSpPr>
              <a:spLocks noChangeArrowheads="1"/>
            </p:cNvSpPr>
            <p:nvPr/>
          </p:nvSpPr>
          <p:spPr bwMode="auto">
            <a:xfrm>
              <a:off x="4704" y="1680"/>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lang="en-US"/>
                <a:t>2009</a:t>
              </a:r>
            </a:p>
          </p:txBody>
        </p:sp>
        <p:sp>
          <p:nvSpPr>
            <p:cNvPr id="19481" name="Text Box 33"/>
            <p:cNvSpPr txBox="1">
              <a:spLocks noChangeArrowheads="1"/>
            </p:cNvSpPr>
            <p:nvPr/>
          </p:nvSpPr>
          <p:spPr bwMode="auto">
            <a:xfrm>
              <a:off x="760" y="1678"/>
              <a:ext cx="4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lnSpc>
                  <a:spcPct val="100000"/>
                </a:lnSpc>
                <a:spcBef>
                  <a:spcPct val="0"/>
                </a:spcBef>
                <a:spcAft>
                  <a:spcPct val="0"/>
                </a:spcAft>
              </a:pPr>
              <a:r>
                <a:rPr lang="en-US"/>
                <a:t>1850</a:t>
              </a:r>
            </a:p>
          </p:txBody>
        </p:sp>
      </p:grpSp>
      <p:sp>
        <p:nvSpPr>
          <p:cNvPr id="58402" name="Line 34"/>
          <p:cNvSpPr>
            <a:spLocks noChangeShapeType="1"/>
          </p:cNvSpPr>
          <p:nvPr/>
        </p:nvSpPr>
        <p:spPr bwMode="auto">
          <a:xfrm flipH="1">
            <a:off x="1181100" y="26162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8405" name="Rectangle 37"/>
          <p:cNvSpPr>
            <a:spLocks noChangeArrowheads="1"/>
          </p:cNvSpPr>
          <p:nvPr/>
        </p:nvSpPr>
        <p:spPr bwMode="auto">
          <a:xfrm>
            <a:off x="5905500" y="3352800"/>
            <a:ext cx="3124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pPr>
            <a:r>
              <a:rPr lang="en-US"/>
              <a:t>	</a:t>
            </a:r>
            <a:r>
              <a:rPr lang="en-US" sz="1600"/>
              <a:t>large quantities of information transmitted in a fraction of a second</a:t>
            </a:r>
          </a:p>
        </p:txBody>
      </p:sp>
      <p:sp>
        <p:nvSpPr>
          <p:cNvPr id="58406" name="Rectangle 38"/>
          <p:cNvSpPr>
            <a:spLocks noChangeArrowheads="1"/>
          </p:cNvSpPr>
          <p:nvPr/>
        </p:nvSpPr>
        <p:spPr bwMode="auto">
          <a:xfrm>
            <a:off x="381000" y="2303463"/>
            <a:ext cx="1447800"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0000"/>
              </a:lnSpc>
            </a:pPr>
            <a:r>
              <a:rPr lang="en-US" sz="1600"/>
              <a:t>telegraph</a:t>
            </a:r>
          </a:p>
        </p:txBody>
      </p:sp>
      <p:sp>
        <p:nvSpPr>
          <p:cNvPr id="58407" name="Rectangle 39"/>
          <p:cNvSpPr>
            <a:spLocks noChangeArrowheads="1"/>
          </p:cNvSpPr>
          <p:nvPr/>
        </p:nvSpPr>
        <p:spPr bwMode="auto">
          <a:xfrm>
            <a:off x="533400" y="3352800"/>
            <a:ext cx="23622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lang="en-US" sz="1600"/>
              <a:t>Information took days or weeks to be transmitted</a:t>
            </a:r>
          </a:p>
        </p:txBody>
      </p:sp>
      <p:sp>
        <p:nvSpPr>
          <p:cNvPr id="58408" name="Rectangle 40"/>
          <p:cNvSpPr>
            <a:spLocks noChangeArrowheads="1"/>
          </p:cNvSpPr>
          <p:nvPr/>
        </p:nvSpPr>
        <p:spPr bwMode="auto">
          <a:xfrm>
            <a:off x="3124200" y="3352800"/>
            <a:ext cx="23622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lang="en-US" sz="1600"/>
              <a:t>Information transmitted in minutes or hours</a:t>
            </a:r>
          </a:p>
        </p:txBody>
      </p:sp>
      <p:sp>
        <p:nvSpPr>
          <p:cNvPr id="19473" name="Rectangle 41"/>
          <p:cNvSpPr>
            <a:spLocks noChangeArrowheads="1"/>
          </p:cNvSpPr>
          <p:nvPr/>
        </p:nvSpPr>
        <p:spPr bwMode="auto">
          <a:xfrm>
            <a:off x="998538" y="1584325"/>
            <a:ext cx="32194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0000"/>
              </a:lnSpc>
              <a:spcBef>
                <a:spcPct val="0"/>
              </a:spcBef>
              <a:spcAft>
                <a:spcPct val="0"/>
              </a:spcAft>
            </a:pPr>
            <a:r>
              <a:rPr lang="en-US" sz="1600"/>
              <a:t>Historical developments in electronic communications</a:t>
            </a:r>
          </a:p>
        </p:txBody>
      </p:sp>
      <p:sp>
        <p:nvSpPr>
          <p:cNvPr id="19474" name="Rectangle 42"/>
          <p:cNvSpPr>
            <a:spLocks noChangeArrowheads="1"/>
          </p:cNvSpPr>
          <p:nvPr/>
        </p:nvSpPr>
        <p:spPr bwMode="auto">
          <a:xfrm>
            <a:off x="4800600" y="1590675"/>
            <a:ext cx="37020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lang="en-US" sz="1600"/>
              <a:t>sped up the rate and volume of transmission of information</a:t>
            </a:r>
          </a:p>
        </p:txBody>
      </p:sp>
      <p:sp>
        <p:nvSpPr>
          <p:cNvPr id="58412" name="Rectangle 44"/>
          <p:cNvSpPr>
            <a:spLocks noChangeArrowheads="1"/>
          </p:cNvSpPr>
          <p:nvPr/>
        </p:nvSpPr>
        <p:spPr bwMode="auto">
          <a:xfrm>
            <a:off x="96140" y="4787900"/>
            <a:ext cx="4495800"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0000"/>
              </a:lnSpc>
            </a:pPr>
            <a:r>
              <a:rPr lang="en-US" sz="1800" dirty="0"/>
              <a:t>growth of telecommunications and especially computer networks</a:t>
            </a:r>
          </a:p>
        </p:txBody>
      </p:sp>
      <p:sp>
        <p:nvSpPr>
          <p:cNvPr id="58413" name="Rectangle 45"/>
          <p:cNvSpPr>
            <a:spLocks noChangeArrowheads="1"/>
          </p:cNvSpPr>
          <p:nvPr/>
        </p:nvSpPr>
        <p:spPr bwMode="auto">
          <a:xfrm>
            <a:off x="4409845" y="4898882"/>
            <a:ext cx="24384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00000"/>
              </a:lnSpc>
              <a:spcBef>
                <a:spcPct val="0"/>
              </a:spcBef>
              <a:spcAft>
                <a:spcPct val="0"/>
              </a:spcAft>
            </a:pPr>
            <a:r>
              <a:rPr lang="en-US" sz="1600" dirty="0"/>
              <a:t>Globalization </a:t>
            </a:r>
          </a:p>
          <a:p>
            <a:pPr algn="ctr">
              <a:lnSpc>
                <a:spcPct val="100000"/>
              </a:lnSpc>
              <a:spcBef>
                <a:spcPct val="0"/>
              </a:spcBef>
              <a:spcAft>
                <a:spcPct val="0"/>
              </a:spcAft>
            </a:pPr>
            <a:r>
              <a:rPr lang="en-US" sz="1600" dirty="0"/>
              <a:t>of networks</a:t>
            </a:r>
          </a:p>
        </p:txBody>
      </p:sp>
      <p:sp>
        <p:nvSpPr>
          <p:cNvPr id="2" name="Explosion 1 1"/>
          <p:cNvSpPr/>
          <p:nvPr/>
        </p:nvSpPr>
        <p:spPr bwMode="auto">
          <a:xfrm>
            <a:off x="6461830" y="4861186"/>
            <a:ext cx="3194917" cy="950833"/>
          </a:xfrm>
          <a:prstGeom prst="irregularSeal1">
            <a:avLst/>
          </a:prstGeom>
          <a:solidFill>
            <a:srgbClr val="92D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80000"/>
              </a:lnSpc>
              <a:spcBef>
                <a:spcPct val="20000"/>
              </a:spcBef>
              <a:spcAft>
                <a:spcPct val="15000"/>
              </a:spcAft>
              <a:buClrTx/>
              <a:buSzTx/>
              <a:buFontTx/>
              <a:buNone/>
              <a:tabLst/>
            </a:pPr>
            <a:r>
              <a:rPr kumimoji="0" lang="en-US" sz="2000" b="1" i="0" u="none" strike="noStrike" cap="none" normalizeH="0" baseline="0" dirty="0">
                <a:ln>
                  <a:noFill/>
                </a:ln>
                <a:solidFill>
                  <a:srgbClr val="16027C"/>
                </a:solidFill>
                <a:effectLst/>
                <a:latin typeface="Arial" charset="0"/>
              </a:rPr>
              <a:t>Digitalization</a:t>
            </a:r>
            <a:endParaRPr kumimoji="0" lang="th-TH" sz="2000" b="1" i="0" u="none" strike="noStrike" cap="none" normalizeH="0" baseline="0" dirty="0">
              <a:ln>
                <a:noFill/>
              </a:ln>
              <a:solidFill>
                <a:srgbClr val="16027C"/>
              </a:solidFill>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839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840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840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840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839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840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840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5839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58412"/>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58415"/>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58413"/>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584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17" grpId="0" animBg="1"/>
      <p:bldP spid="58415" grpId="0" animBg="1"/>
      <p:bldP spid="58394" grpId="0" animBg="1"/>
      <p:bldP spid="58395" grpId="0" animBg="1"/>
      <p:bldP spid="58396" grpId="0" animBg="1"/>
      <p:bldP spid="58402" grpId="0" animBg="1"/>
      <p:bldP spid="58405" grpId="0" autoUpdateAnimBg="0"/>
      <p:bldP spid="58406" grpId="0" autoUpdateAnimBg="0"/>
      <p:bldP spid="58407" grpId="0" autoUpdateAnimBg="0"/>
      <p:bldP spid="58408" grpId="0" autoUpdateAnimBg="0"/>
      <p:bldP spid="58412" grpId="0" autoUpdateAnimBg="0"/>
      <p:bldP spid="58413"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2150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AAE7EFA2-55EF-4ADE-A2B9-1268D2A9FC57}" type="slidenum">
              <a:rPr lang="en-US" sz="1400"/>
              <a:pPr eaLnBrk="1" hangingPunct="1"/>
              <a:t>7</a:t>
            </a:fld>
            <a:endParaRPr lang="en-US" sz="1400"/>
          </a:p>
        </p:txBody>
      </p:sp>
      <p:sp>
        <p:nvSpPr>
          <p:cNvPr id="21508" name="Rectangle 2"/>
          <p:cNvSpPr>
            <a:spLocks noGrp="1" noChangeArrowheads="1"/>
          </p:cNvSpPr>
          <p:nvPr>
            <p:ph type="title"/>
          </p:nvPr>
        </p:nvSpPr>
        <p:spPr/>
        <p:txBody>
          <a:bodyPr/>
          <a:lstStyle/>
          <a:p>
            <a:pPr eaLnBrk="1" hangingPunct="1"/>
            <a:r>
              <a:rPr lang="en-US"/>
              <a:t>Advances in Phone Technology</a:t>
            </a:r>
          </a:p>
        </p:txBody>
      </p:sp>
      <p:sp>
        <p:nvSpPr>
          <p:cNvPr id="21509" name="Line 4"/>
          <p:cNvSpPr>
            <a:spLocks noChangeShapeType="1"/>
          </p:cNvSpPr>
          <p:nvPr/>
        </p:nvSpPr>
        <p:spPr bwMode="auto">
          <a:xfrm flipV="1">
            <a:off x="304800" y="3794125"/>
            <a:ext cx="8458200" cy="15875"/>
          </a:xfrm>
          <a:prstGeom prst="line">
            <a:avLst/>
          </a:prstGeom>
          <a:noFill/>
          <a:ln w="57150" cmpd="thickThin">
            <a:solidFill>
              <a:srgbClr val="4635C3"/>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grpSp>
        <p:nvGrpSpPr>
          <p:cNvPr id="2" name="Group 55"/>
          <p:cNvGrpSpPr>
            <a:grpSpLocks/>
          </p:cNvGrpSpPr>
          <p:nvPr/>
        </p:nvGrpSpPr>
        <p:grpSpPr bwMode="auto">
          <a:xfrm>
            <a:off x="228600" y="2514600"/>
            <a:ext cx="1524000" cy="1371600"/>
            <a:chOff x="144" y="1584"/>
            <a:chExt cx="960" cy="864"/>
          </a:xfrm>
        </p:grpSpPr>
        <p:sp>
          <p:nvSpPr>
            <p:cNvPr id="21546" name="Text Box 44"/>
            <p:cNvSpPr txBox="1">
              <a:spLocks noChangeArrowheads="1"/>
            </p:cNvSpPr>
            <p:nvPr/>
          </p:nvSpPr>
          <p:spPr bwMode="auto">
            <a:xfrm>
              <a:off x="240" y="2160"/>
              <a:ext cx="4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lnSpc>
                  <a:spcPct val="100000"/>
                </a:lnSpc>
                <a:spcBef>
                  <a:spcPct val="0"/>
                </a:spcBef>
                <a:spcAft>
                  <a:spcPct val="0"/>
                </a:spcAft>
              </a:pPr>
              <a:r>
                <a:rPr lang="en-US" sz="1800"/>
                <a:t>1876</a:t>
              </a:r>
            </a:p>
          </p:txBody>
        </p:sp>
        <p:sp>
          <p:nvSpPr>
            <p:cNvPr id="21547" name="Rectangle 42"/>
            <p:cNvSpPr>
              <a:spLocks noChangeArrowheads="1"/>
            </p:cNvSpPr>
            <p:nvPr/>
          </p:nvSpPr>
          <p:spPr bwMode="auto">
            <a:xfrm>
              <a:off x="144" y="1584"/>
              <a:ext cx="96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00000"/>
                </a:lnSpc>
                <a:spcBef>
                  <a:spcPct val="0"/>
                </a:spcBef>
                <a:spcAft>
                  <a:spcPct val="0"/>
                </a:spcAft>
              </a:pPr>
              <a:r>
                <a:rPr lang="en-US"/>
                <a:t>Phone invented</a:t>
              </a:r>
            </a:p>
          </p:txBody>
        </p:sp>
        <p:sp>
          <p:nvSpPr>
            <p:cNvPr id="21548" name="Line 45"/>
            <p:cNvSpPr>
              <a:spLocks noChangeShapeType="1"/>
            </p:cNvSpPr>
            <p:nvPr/>
          </p:nvSpPr>
          <p:spPr bwMode="auto">
            <a:xfrm flipH="1">
              <a:off x="432" y="2022"/>
              <a:ext cx="0" cy="17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49" name="Line 46"/>
            <p:cNvSpPr>
              <a:spLocks noChangeShapeType="1"/>
            </p:cNvSpPr>
            <p:nvPr/>
          </p:nvSpPr>
          <p:spPr bwMode="auto">
            <a:xfrm>
              <a:off x="432" y="2352"/>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 name="Group 56"/>
          <p:cNvGrpSpPr>
            <a:grpSpLocks/>
          </p:cNvGrpSpPr>
          <p:nvPr/>
        </p:nvGrpSpPr>
        <p:grpSpPr bwMode="auto">
          <a:xfrm>
            <a:off x="1524000" y="1600200"/>
            <a:ext cx="1981200" cy="2286000"/>
            <a:chOff x="960" y="1008"/>
            <a:chExt cx="1248" cy="1440"/>
          </a:xfrm>
        </p:grpSpPr>
        <p:sp>
          <p:nvSpPr>
            <p:cNvPr id="21542" name="Rectangle 17"/>
            <p:cNvSpPr>
              <a:spLocks noChangeArrowheads="1"/>
            </p:cNvSpPr>
            <p:nvPr/>
          </p:nvSpPr>
          <p:spPr bwMode="auto">
            <a:xfrm>
              <a:off x="960" y="1008"/>
              <a:ext cx="1248" cy="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t>first trans-continental and transatlantic phone connections</a:t>
              </a:r>
            </a:p>
          </p:txBody>
        </p:sp>
        <p:sp>
          <p:nvSpPr>
            <p:cNvPr id="21543" name="Text Box 18"/>
            <p:cNvSpPr txBox="1">
              <a:spLocks noChangeArrowheads="1"/>
            </p:cNvSpPr>
            <p:nvPr/>
          </p:nvSpPr>
          <p:spPr bwMode="auto">
            <a:xfrm>
              <a:off x="1436" y="2159"/>
              <a:ext cx="4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lnSpc>
                  <a:spcPct val="100000"/>
                </a:lnSpc>
                <a:spcBef>
                  <a:spcPct val="0"/>
                </a:spcBef>
                <a:spcAft>
                  <a:spcPct val="0"/>
                </a:spcAft>
              </a:pPr>
              <a:r>
                <a:rPr lang="en-US" sz="1800"/>
                <a:t>1915</a:t>
              </a:r>
            </a:p>
          </p:txBody>
        </p:sp>
        <p:sp>
          <p:nvSpPr>
            <p:cNvPr id="21544" name="Line 41"/>
            <p:cNvSpPr>
              <a:spLocks noChangeShapeType="1"/>
            </p:cNvSpPr>
            <p:nvPr/>
          </p:nvSpPr>
          <p:spPr bwMode="auto">
            <a:xfrm flipH="1">
              <a:off x="1680" y="1968"/>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45" name="Line 47"/>
            <p:cNvSpPr>
              <a:spLocks noChangeShapeType="1"/>
            </p:cNvSpPr>
            <p:nvPr/>
          </p:nvSpPr>
          <p:spPr bwMode="auto">
            <a:xfrm>
              <a:off x="1680" y="2352"/>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 name="Group 57"/>
          <p:cNvGrpSpPr>
            <a:grpSpLocks/>
          </p:cNvGrpSpPr>
          <p:nvPr/>
        </p:nvGrpSpPr>
        <p:grpSpPr bwMode="auto">
          <a:xfrm>
            <a:off x="457200" y="3733800"/>
            <a:ext cx="2971800" cy="2378075"/>
            <a:chOff x="288" y="2352"/>
            <a:chExt cx="1872" cy="1498"/>
          </a:xfrm>
        </p:grpSpPr>
        <p:sp>
          <p:nvSpPr>
            <p:cNvPr id="21538" name="Rectangle 19"/>
            <p:cNvSpPr>
              <a:spLocks noChangeArrowheads="1"/>
            </p:cNvSpPr>
            <p:nvPr/>
          </p:nvSpPr>
          <p:spPr bwMode="auto">
            <a:xfrm>
              <a:off x="1724" y="2409"/>
              <a:ext cx="4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1919</a:t>
              </a:r>
            </a:p>
          </p:txBody>
        </p:sp>
        <p:sp>
          <p:nvSpPr>
            <p:cNvPr id="21539" name="Rectangle 20"/>
            <p:cNvSpPr>
              <a:spLocks noChangeArrowheads="1"/>
            </p:cNvSpPr>
            <p:nvPr/>
          </p:nvSpPr>
          <p:spPr bwMode="auto">
            <a:xfrm>
              <a:off x="288" y="2832"/>
              <a:ext cx="1872"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lnSpc>
                  <a:spcPct val="100000"/>
                </a:lnSpc>
                <a:spcBef>
                  <a:spcPct val="0"/>
                </a:spcBef>
                <a:spcAft>
                  <a:spcPct val="0"/>
                </a:spcAft>
              </a:pPr>
              <a:r>
                <a:rPr lang="en-US"/>
                <a:t>Strowger (stepper) switch, </a:t>
              </a:r>
            </a:p>
            <a:p>
              <a:pPr algn="r">
                <a:lnSpc>
                  <a:spcPct val="100000"/>
                </a:lnSpc>
                <a:spcBef>
                  <a:spcPct val="0"/>
                </a:spcBef>
                <a:spcAft>
                  <a:spcPct val="0"/>
                </a:spcAft>
              </a:pPr>
              <a:r>
                <a:rPr lang="en-US"/>
                <a:t>rotary dial phones</a:t>
              </a:r>
            </a:p>
            <a:p>
              <a:pPr algn="r">
                <a:lnSpc>
                  <a:spcPct val="100000"/>
                </a:lnSpc>
                <a:spcBef>
                  <a:spcPct val="0"/>
                </a:spcBef>
                <a:spcAft>
                  <a:spcPct val="0"/>
                </a:spcAft>
              </a:pPr>
              <a:r>
                <a:rPr lang="en-US"/>
                <a:t>(enabling automatic connections)</a:t>
              </a:r>
            </a:p>
          </p:txBody>
        </p:sp>
        <p:sp>
          <p:nvSpPr>
            <p:cNvPr id="21540" name="Line 37"/>
            <p:cNvSpPr>
              <a:spLocks noChangeShapeType="1"/>
            </p:cNvSpPr>
            <p:nvPr/>
          </p:nvSpPr>
          <p:spPr bwMode="auto">
            <a:xfrm flipV="1">
              <a:off x="1944" y="2592"/>
              <a:ext cx="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41" name="Line 48"/>
            <p:cNvSpPr>
              <a:spLocks noChangeShapeType="1"/>
            </p:cNvSpPr>
            <p:nvPr/>
          </p:nvSpPr>
          <p:spPr bwMode="auto">
            <a:xfrm>
              <a:off x="1968" y="2352"/>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 name="Group 58"/>
          <p:cNvGrpSpPr>
            <a:grpSpLocks/>
          </p:cNvGrpSpPr>
          <p:nvPr/>
        </p:nvGrpSpPr>
        <p:grpSpPr bwMode="auto">
          <a:xfrm>
            <a:off x="3733800" y="3429000"/>
            <a:ext cx="1524000" cy="1997075"/>
            <a:chOff x="2352" y="2160"/>
            <a:chExt cx="960" cy="1258"/>
          </a:xfrm>
        </p:grpSpPr>
        <p:sp>
          <p:nvSpPr>
            <p:cNvPr id="21534" name="Rectangle 21"/>
            <p:cNvSpPr>
              <a:spLocks noChangeArrowheads="1"/>
            </p:cNvSpPr>
            <p:nvPr/>
          </p:nvSpPr>
          <p:spPr bwMode="auto">
            <a:xfrm>
              <a:off x="2684" y="2160"/>
              <a:ext cx="4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1948</a:t>
              </a:r>
            </a:p>
          </p:txBody>
        </p:sp>
        <p:sp>
          <p:nvSpPr>
            <p:cNvPr id="21535" name="Rectangle 22"/>
            <p:cNvSpPr>
              <a:spLocks noChangeArrowheads="1"/>
            </p:cNvSpPr>
            <p:nvPr/>
          </p:nvSpPr>
          <p:spPr bwMode="auto">
            <a:xfrm>
              <a:off x="2352" y="2784"/>
              <a:ext cx="960"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00000"/>
                </a:lnSpc>
                <a:spcBef>
                  <a:spcPct val="0"/>
                </a:spcBef>
                <a:spcAft>
                  <a:spcPct val="0"/>
                </a:spcAft>
              </a:pPr>
              <a:r>
                <a:rPr lang="en-US"/>
                <a:t>Microwave trunk lines (Canada)</a:t>
              </a:r>
            </a:p>
          </p:txBody>
        </p:sp>
        <p:sp>
          <p:nvSpPr>
            <p:cNvPr id="21536" name="Line 38"/>
            <p:cNvSpPr>
              <a:spLocks noChangeShapeType="1"/>
            </p:cNvSpPr>
            <p:nvPr/>
          </p:nvSpPr>
          <p:spPr bwMode="auto">
            <a:xfrm flipV="1">
              <a:off x="2880" y="2448"/>
              <a:ext cx="0"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37" name="Line 49"/>
            <p:cNvSpPr>
              <a:spLocks noChangeShapeType="1"/>
            </p:cNvSpPr>
            <p:nvPr/>
          </p:nvSpPr>
          <p:spPr bwMode="auto">
            <a:xfrm>
              <a:off x="2880" y="2352"/>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 name="Group 59"/>
          <p:cNvGrpSpPr>
            <a:grpSpLocks/>
          </p:cNvGrpSpPr>
          <p:nvPr/>
        </p:nvGrpSpPr>
        <p:grpSpPr bwMode="auto">
          <a:xfrm>
            <a:off x="3505200" y="1524000"/>
            <a:ext cx="3130550" cy="2362200"/>
            <a:chOff x="2208" y="960"/>
            <a:chExt cx="1972" cy="1488"/>
          </a:xfrm>
        </p:grpSpPr>
        <p:sp>
          <p:nvSpPr>
            <p:cNvPr id="21530" name="Rectangle 23"/>
            <p:cNvSpPr>
              <a:spLocks noChangeArrowheads="1"/>
            </p:cNvSpPr>
            <p:nvPr/>
          </p:nvSpPr>
          <p:spPr bwMode="auto">
            <a:xfrm>
              <a:off x="3744" y="2160"/>
              <a:ext cx="4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1962</a:t>
              </a:r>
            </a:p>
          </p:txBody>
        </p:sp>
        <p:sp>
          <p:nvSpPr>
            <p:cNvPr id="21531" name="Rectangle 24"/>
            <p:cNvSpPr>
              <a:spLocks noChangeArrowheads="1"/>
            </p:cNvSpPr>
            <p:nvPr/>
          </p:nvSpPr>
          <p:spPr bwMode="auto">
            <a:xfrm>
              <a:off x="2208" y="960"/>
              <a:ext cx="1776" cy="1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90000"/>
                </a:lnSpc>
                <a:spcBef>
                  <a:spcPct val="0"/>
                </a:spcBef>
                <a:spcAft>
                  <a:spcPct val="0"/>
                </a:spcAft>
              </a:pPr>
              <a:r>
                <a:rPr lang="en-US"/>
                <a:t>Telstar (Telecommunications via satellite), Fax services, digital transmission (T-carriers)</a:t>
              </a:r>
            </a:p>
          </p:txBody>
        </p:sp>
        <p:sp>
          <p:nvSpPr>
            <p:cNvPr id="21532" name="Line 40"/>
            <p:cNvSpPr>
              <a:spLocks noChangeShapeType="1"/>
            </p:cNvSpPr>
            <p:nvPr/>
          </p:nvSpPr>
          <p:spPr bwMode="auto">
            <a:xfrm flipH="1" flipV="1">
              <a:off x="3504" y="1968"/>
              <a:ext cx="432" cy="24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21533" name="Line 50"/>
            <p:cNvSpPr>
              <a:spLocks noChangeShapeType="1"/>
            </p:cNvSpPr>
            <p:nvPr/>
          </p:nvSpPr>
          <p:spPr bwMode="auto">
            <a:xfrm>
              <a:off x="3984" y="2352"/>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 name="Group 60"/>
          <p:cNvGrpSpPr>
            <a:grpSpLocks/>
          </p:cNvGrpSpPr>
          <p:nvPr/>
        </p:nvGrpSpPr>
        <p:grpSpPr bwMode="auto">
          <a:xfrm>
            <a:off x="5041900" y="3733800"/>
            <a:ext cx="2057400" cy="2106613"/>
            <a:chOff x="3176" y="2352"/>
            <a:chExt cx="1296" cy="1327"/>
          </a:xfrm>
        </p:grpSpPr>
        <p:sp>
          <p:nvSpPr>
            <p:cNvPr id="21526" name="Rectangle 25"/>
            <p:cNvSpPr>
              <a:spLocks noChangeArrowheads="1"/>
            </p:cNvSpPr>
            <p:nvPr/>
          </p:nvSpPr>
          <p:spPr bwMode="auto">
            <a:xfrm>
              <a:off x="4028" y="2400"/>
              <a:ext cx="4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1969</a:t>
              </a:r>
            </a:p>
          </p:txBody>
        </p:sp>
        <p:sp>
          <p:nvSpPr>
            <p:cNvPr id="21527" name="Rectangle 35"/>
            <p:cNvSpPr>
              <a:spLocks noChangeArrowheads="1"/>
            </p:cNvSpPr>
            <p:nvPr/>
          </p:nvSpPr>
          <p:spPr bwMode="auto">
            <a:xfrm>
              <a:off x="3176" y="3045"/>
              <a:ext cx="129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lnSpc>
                  <a:spcPct val="100000"/>
                </a:lnSpc>
                <a:spcBef>
                  <a:spcPct val="0"/>
                </a:spcBef>
                <a:spcAft>
                  <a:spcPct val="0"/>
                </a:spcAft>
              </a:pPr>
              <a:r>
                <a:rPr lang="en-US"/>
                <a:t>Picturefone </a:t>
              </a:r>
            </a:p>
            <a:p>
              <a:pPr algn="r">
                <a:lnSpc>
                  <a:spcPct val="100000"/>
                </a:lnSpc>
                <a:spcBef>
                  <a:spcPct val="0"/>
                </a:spcBef>
                <a:spcAft>
                  <a:spcPct val="0"/>
                </a:spcAft>
              </a:pPr>
              <a:r>
                <a:rPr lang="en-US"/>
                <a:t>(failed commercially)</a:t>
              </a:r>
            </a:p>
          </p:txBody>
        </p:sp>
        <p:sp>
          <p:nvSpPr>
            <p:cNvPr id="21528" name="Line 36"/>
            <p:cNvSpPr>
              <a:spLocks noChangeShapeType="1"/>
            </p:cNvSpPr>
            <p:nvPr/>
          </p:nvSpPr>
          <p:spPr bwMode="auto">
            <a:xfrm flipH="1" flipV="1">
              <a:off x="4224" y="2640"/>
              <a:ext cx="0"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29" name="Line 51"/>
            <p:cNvSpPr>
              <a:spLocks noChangeShapeType="1"/>
            </p:cNvSpPr>
            <p:nvPr/>
          </p:nvSpPr>
          <p:spPr bwMode="auto">
            <a:xfrm>
              <a:off x="4272" y="2352"/>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 name="Group 61"/>
          <p:cNvGrpSpPr>
            <a:grpSpLocks/>
          </p:cNvGrpSpPr>
          <p:nvPr/>
        </p:nvGrpSpPr>
        <p:grpSpPr bwMode="auto">
          <a:xfrm>
            <a:off x="6477000" y="1905000"/>
            <a:ext cx="2209800" cy="1981200"/>
            <a:chOff x="4080" y="1200"/>
            <a:chExt cx="1392" cy="1248"/>
          </a:xfrm>
        </p:grpSpPr>
        <p:sp>
          <p:nvSpPr>
            <p:cNvPr id="21522" name="Rectangle 27"/>
            <p:cNvSpPr>
              <a:spLocks noChangeArrowheads="1"/>
            </p:cNvSpPr>
            <p:nvPr/>
          </p:nvSpPr>
          <p:spPr bwMode="auto">
            <a:xfrm>
              <a:off x="4272" y="2169"/>
              <a:ext cx="4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1976</a:t>
              </a:r>
            </a:p>
          </p:txBody>
        </p:sp>
        <p:sp>
          <p:nvSpPr>
            <p:cNvPr id="21523" name="Rectangle 28"/>
            <p:cNvSpPr>
              <a:spLocks noChangeArrowheads="1"/>
            </p:cNvSpPr>
            <p:nvPr/>
          </p:nvSpPr>
          <p:spPr bwMode="auto">
            <a:xfrm>
              <a:off x="4080" y="1200"/>
              <a:ext cx="1392"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t>Packet-switched data communications</a:t>
              </a:r>
            </a:p>
          </p:txBody>
        </p:sp>
        <p:sp>
          <p:nvSpPr>
            <p:cNvPr id="21524" name="Line 39"/>
            <p:cNvSpPr>
              <a:spLocks noChangeShapeType="1"/>
            </p:cNvSpPr>
            <p:nvPr/>
          </p:nvSpPr>
          <p:spPr bwMode="auto">
            <a:xfrm flipH="1">
              <a:off x="4560" y="1776"/>
              <a:ext cx="0"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25" name="Line 52"/>
            <p:cNvSpPr>
              <a:spLocks noChangeShapeType="1"/>
            </p:cNvSpPr>
            <p:nvPr/>
          </p:nvSpPr>
          <p:spPr bwMode="auto">
            <a:xfrm>
              <a:off x="4512" y="2352"/>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 name="Group 62"/>
          <p:cNvGrpSpPr>
            <a:grpSpLocks/>
          </p:cNvGrpSpPr>
          <p:nvPr/>
        </p:nvGrpSpPr>
        <p:grpSpPr bwMode="auto">
          <a:xfrm>
            <a:off x="7239000" y="3733800"/>
            <a:ext cx="1676400" cy="1844675"/>
            <a:chOff x="4560" y="2352"/>
            <a:chExt cx="1056" cy="1162"/>
          </a:xfrm>
        </p:grpSpPr>
        <p:sp>
          <p:nvSpPr>
            <p:cNvPr id="21518" name="Rectangle 29"/>
            <p:cNvSpPr>
              <a:spLocks noChangeArrowheads="1"/>
            </p:cNvSpPr>
            <p:nvPr/>
          </p:nvSpPr>
          <p:spPr bwMode="auto">
            <a:xfrm>
              <a:off x="4604" y="2390"/>
              <a:ext cx="4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1984</a:t>
              </a:r>
            </a:p>
          </p:txBody>
        </p:sp>
        <p:sp>
          <p:nvSpPr>
            <p:cNvPr id="21519" name="Rectangle 33"/>
            <p:cNvSpPr>
              <a:spLocks noChangeArrowheads="1"/>
            </p:cNvSpPr>
            <p:nvPr/>
          </p:nvSpPr>
          <p:spPr bwMode="auto">
            <a:xfrm>
              <a:off x="4560" y="3072"/>
              <a:ext cx="105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lang="en-US"/>
                <a:t>Cellular telephone</a:t>
              </a:r>
            </a:p>
          </p:txBody>
        </p:sp>
        <p:sp>
          <p:nvSpPr>
            <p:cNvPr id="21520" name="Line 34"/>
            <p:cNvSpPr>
              <a:spLocks noChangeShapeType="1"/>
            </p:cNvSpPr>
            <p:nvPr/>
          </p:nvSpPr>
          <p:spPr bwMode="auto">
            <a:xfrm flipH="1" flipV="1">
              <a:off x="4848" y="2640"/>
              <a:ext cx="0"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21" name="Line 53"/>
            <p:cNvSpPr>
              <a:spLocks noChangeShapeType="1"/>
            </p:cNvSpPr>
            <p:nvPr/>
          </p:nvSpPr>
          <p:spPr bwMode="auto">
            <a:xfrm>
              <a:off x="4848" y="2352"/>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2253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67498C41-BAE7-4312-9D30-A6E46E06393C}" type="slidenum">
              <a:rPr lang="en-US" sz="1400"/>
              <a:pPr eaLnBrk="1" hangingPunct="1"/>
              <a:t>8</a:t>
            </a:fld>
            <a:endParaRPr lang="en-US" sz="1400"/>
          </a:p>
        </p:txBody>
      </p:sp>
      <p:sp>
        <p:nvSpPr>
          <p:cNvPr id="22532" name="Rectangle 2"/>
          <p:cNvSpPr>
            <a:spLocks noGrp="1" noChangeArrowheads="1"/>
          </p:cNvSpPr>
          <p:nvPr>
            <p:ph type="title"/>
          </p:nvPr>
        </p:nvSpPr>
        <p:spPr/>
        <p:txBody>
          <a:bodyPr/>
          <a:lstStyle/>
          <a:p>
            <a:pPr eaLnBrk="1" hangingPunct="1"/>
            <a:r>
              <a:rPr lang="en-US"/>
              <a:t>Regulation of Inventions</a:t>
            </a:r>
          </a:p>
        </p:txBody>
      </p:sp>
      <p:sp>
        <p:nvSpPr>
          <p:cNvPr id="22533" name="Line 3"/>
          <p:cNvSpPr>
            <a:spLocks noChangeShapeType="1"/>
          </p:cNvSpPr>
          <p:nvPr/>
        </p:nvSpPr>
        <p:spPr bwMode="auto">
          <a:xfrm flipV="1">
            <a:off x="304800" y="3632200"/>
            <a:ext cx="8458200" cy="0"/>
          </a:xfrm>
          <a:prstGeom prst="line">
            <a:avLst/>
          </a:prstGeom>
          <a:noFill/>
          <a:ln w="57150" cmpd="thickThin">
            <a:solidFill>
              <a:srgbClr val="4635C3"/>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grpSp>
        <p:nvGrpSpPr>
          <p:cNvPr id="2" name="Group 65"/>
          <p:cNvGrpSpPr>
            <a:grpSpLocks/>
          </p:cNvGrpSpPr>
          <p:nvPr/>
        </p:nvGrpSpPr>
        <p:grpSpPr bwMode="auto">
          <a:xfrm>
            <a:off x="1225550" y="3249613"/>
            <a:ext cx="2590800" cy="2684462"/>
            <a:chOff x="772" y="2047"/>
            <a:chExt cx="1632" cy="1691"/>
          </a:xfrm>
        </p:grpSpPr>
        <p:sp>
          <p:nvSpPr>
            <p:cNvPr id="22577" name="Text Box 12"/>
            <p:cNvSpPr txBox="1">
              <a:spLocks noChangeArrowheads="1"/>
            </p:cNvSpPr>
            <p:nvPr/>
          </p:nvSpPr>
          <p:spPr bwMode="auto">
            <a:xfrm>
              <a:off x="1436" y="2047"/>
              <a:ext cx="4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lnSpc>
                  <a:spcPct val="100000"/>
                </a:lnSpc>
                <a:spcBef>
                  <a:spcPct val="0"/>
                </a:spcBef>
                <a:spcAft>
                  <a:spcPct val="0"/>
                </a:spcAft>
              </a:pPr>
              <a:r>
                <a:rPr lang="en-US" sz="1800"/>
                <a:t>1900</a:t>
              </a:r>
            </a:p>
          </p:txBody>
        </p:sp>
        <p:sp>
          <p:nvSpPr>
            <p:cNvPr id="22578" name="Rectangle 14"/>
            <p:cNvSpPr>
              <a:spLocks noChangeArrowheads="1"/>
            </p:cNvSpPr>
            <p:nvPr/>
          </p:nvSpPr>
          <p:spPr bwMode="auto">
            <a:xfrm>
              <a:off x="772" y="3296"/>
              <a:ext cx="163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00000"/>
                </a:lnSpc>
                <a:spcBef>
                  <a:spcPct val="0"/>
                </a:spcBef>
                <a:spcAft>
                  <a:spcPct val="0"/>
                </a:spcAft>
              </a:pPr>
              <a:r>
                <a:rPr lang="en-US"/>
                <a:t>millions of phones in use in the US</a:t>
              </a:r>
            </a:p>
          </p:txBody>
        </p:sp>
        <p:sp>
          <p:nvSpPr>
            <p:cNvPr id="22579" name="Line 27"/>
            <p:cNvSpPr>
              <a:spLocks noChangeShapeType="1"/>
            </p:cNvSpPr>
            <p:nvPr/>
          </p:nvSpPr>
          <p:spPr bwMode="auto">
            <a:xfrm flipV="1">
              <a:off x="1632" y="2384"/>
              <a:ext cx="0" cy="7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80" name="Line 36"/>
            <p:cNvSpPr>
              <a:spLocks noChangeShapeType="1"/>
            </p:cNvSpPr>
            <p:nvPr/>
          </p:nvSpPr>
          <p:spPr bwMode="auto">
            <a:xfrm>
              <a:off x="1632" y="2240"/>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 name="Group 67"/>
          <p:cNvGrpSpPr>
            <a:grpSpLocks/>
          </p:cNvGrpSpPr>
          <p:nvPr/>
        </p:nvGrpSpPr>
        <p:grpSpPr bwMode="auto">
          <a:xfrm>
            <a:off x="2616200" y="2144713"/>
            <a:ext cx="1898650" cy="1106487"/>
            <a:chOff x="1648" y="1351"/>
            <a:chExt cx="1196" cy="697"/>
          </a:xfrm>
        </p:grpSpPr>
        <p:sp>
          <p:nvSpPr>
            <p:cNvPr id="22575" name="Rectangle 18"/>
            <p:cNvSpPr>
              <a:spLocks noChangeArrowheads="1"/>
            </p:cNvSpPr>
            <p:nvPr/>
          </p:nvSpPr>
          <p:spPr bwMode="auto">
            <a:xfrm>
              <a:off x="1648" y="1351"/>
              <a:ext cx="1196"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0000"/>
                </a:lnSpc>
                <a:spcBef>
                  <a:spcPct val="0"/>
                </a:spcBef>
                <a:spcAft>
                  <a:spcPct val="0"/>
                </a:spcAft>
              </a:pPr>
              <a:r>
                <a:rPr lang="en-US"/>
                <a:t>Regulation began in the USA (ICC)</a:t>
              </a:r>
            </a:p>
          </p:txBody>
        </p:sp>
        <p:sp>
          <p:nvSpPr>
            <p:cNvPr id="22576" name="Line 44"/>
            <p:cNvSpPr>
              <a:spLocks noChangeShapeType="1"/>
            </p:cNvSpPr>
            <p:nvPr/>
          </p:nvSpPr>
          <p:spPr bwMode="auto">
            <a:xfrm flipH="1">
              <a:off x="2256" y="1904"/>
              <a:ext cx="0"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4" name="Group 68"/>
          <p:cNvGrpSpPr>
            <a:grpSpLocks/>
          </p:cNvGrpSpPr>
          <p:nvPr/>
        </p:nvGrpSpPr>
        <p:grpSpPr bwMode="auto">
          <a:xfrm>
            <a:off x="3429000" y="1346200"/>
            <a:ext cx="2571750" cy="2362200"/>
            <a:chOff x="2160" y="848"/>
            <a:chExt cx="1620" cy="1488"/>
          </a:xfrm>
        </p:grpSpPr>
        <p:sp>
          <p:nvSpPr>
            <p:cNvPr id="22571" name="Rectangle 15"/>
            <p:cNvSpPr>
              <a:spLocks noChangeArrowheads="1"/>
            </p:cNvSpPr>
            <p:nvPr/>
          </p:nvSpPr>
          <p:spPr bwMode="auto">
            <a:xfrm>
              <a:off x="2684" y="2048"/>
              <a:ext cx="4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1934</a:t>
              </a:r>
            </a:p>
          </p:txBody>
        </p:sp>
        <p:sp>
          <p:nvSpPr>
            <p:cNvPr id="22572" name="Line 37"/>
            <p:cNvSpPr>
              <a:spLocks noChangeShapeType="1"/>
            </p:cNvSpPr>
            <p:nvPr/>
          </p:nvSpPr>
          <p:spPr bwMode="auto">
            <a:xfrm>
              <a:off x="2880" y="2240"/>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73" name="Rectangle 45"/>
            <p:cNvSpPr>
              <a:spLocks noChangeArrowheads="1"/>
            </p:cNvSpPr>
            <p:nvPr/>
          </p:nvSpPr>
          <p:spPr bwMode="auto">
            <a:xfrm>
              <a:off x="2160" y="848"/>
              <a:ext cx="16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2400"/>
                <a:t>FCC established</a:t>
              </a:r>
            </a:p>
          </p:txBody>
        </p:sp>
        <p:sp>
          <p:nvSpPr>
            <p:cNvPr id="22574" name="Line 46"/>
            <p:cNvSpPr>
              <a:spLocks noChangeShapeType="1"/>
            </p:cNvSpPr>
            <p:nvPr/>
          </p:nvSpPr>
          <p:spPr bwMode="auto">
            <a:xfrm>
              <a:off x="2928" y="1136"/>
              <a:ext cx="0" cy="9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5" name="Group 69"/>
          <p:cNvGrpSpPr>
            <a:grpSpLocks/>
          </p:cNvGrpSpPr>
          <p:nvPr/>
        </p:nvGrpSpPr>
        <p:grpSpPr bwMode="auto">
          <a:xfrm>
            <a:off x="4724400" y="2032000"/>
            <a:ext cx="2362200" cy="1676400"/>
            <a:chOff x="2976" y="1280"/>
            <a:chExt cx="1488" cy="1056"/>
          </a:xfrm>
        </p:grpSpPr>
        <p:sp>
          <p:nvSpPr>
            <p:cNvPr id="22567" name="Rectangle 17"/>
            <p:cNvSpPr>
              <a:spLocks noChangeArrowheads="1"/>
            </p:cNvSpPr>
            <p:nvPr/>
          </p:nvSpPr>
          <p:spPr bwMode="auto">
            <a:xfrm>
              <a:off x="3744" y="2048"/>
              <a:ext cx="4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1968</a:t>
              </a:r>
            </a:p>
          </p:txBody>
        </p:sp>
        <p:sp>
          <p:nvSpPr>
            <p:cNvPr id="22568" name="Line 30"/>
            <p:cNvSpPr>
              <a:spLocks noChangeShapeType="1"/>
            </p:cNvSpPr>
            <p:nvPr/>
          </p:nvSpPr>
          <p:spPr bwMode="auto">
            <a:xfrm flipH="1" flipV="1">
              <a:off x="3936" y="1952"/>
              <a:ext cx="0" cy="144"/>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22569" name="Line 38"/>
            <p:cNvSpPr>
              <a:spLocks noChangeShapeType="1"/>
            </p:cNvSpPr>
            <p:nvPr/>
          </p:nvSpPr>
          <p:spPr bwMode="auto">
            <a:xfrm>
              <a:off x="3936" y="2240"/>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70" name="Rectangle 47"/>
            <p:cNvSpPr>
              <a:spLocks noChangeArrowheads="1"/>
            </p:cNvSpPr>
            <p:nvPr/>
          </p:nvSpPr>
          <p:spPr bwMode="auto">
            <a:xfrm>
              <a:off x="2976" y="1280"/>
              <a:ext cx="1488"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lang="en-US"/>
                <a:t>Carterfone court decision allowing non-Bell CPE</a:t>
              </a:r>
            </a:p>
          </p:txBody>
        </p:sp>
      </p:grpSp>
      <p:sp>
        <p:nvSpPr>
          <p:cNvPr id="22538" name="Rectangle 19"/>
          <p:cNvSpPr>
            <a:spLocks noChangeArrowheads="1"/>
          </p:cNvSpPr>
          <p:nvPr/>
        </p:nvSpPr>
        <p:spPr bwMode="auto">
          <a:xfrm>
            <a:off x="6394450" y="3632200"/>
            <a:ext cx="692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1970</a:t>
            </a:r>
          </a:p>
        </p:txBody>
      </p:sp>
      <p:sp>
        <p:nvSpPr>
          <p:cNvPr id="22539" name="Line 26"/>
          <p:cNvSpPr>
            <a:spLocks noChangeShapeType="1"/>
          </p:cNvSpPr>
          <p:nvPr/>
        </p:nvSpPr>
        <p:spPr bwMode="auto">
          <a:xfrm flipV="1">
            <a:off x="6705600" y="4013200"/>
            <a:ext cx="0" cy="12350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40" name="Line 39"/>
          <p:cNvSpPr>
            <a:spLocks noChangeShapeType="1"/>
          </p:cNvSpPr>
          <p:nvPr/>
        </p:nvSpPr>
        <p:spPr bwMode="auto">
          <a:xfrm>
            <a:off x="6781800" y="3556000"/>
            <a:ext cx="0" cy="152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1" name="Rectangle 48"/>
          <p:cNvSpPr>
            <a:spLocks noChangeArrowheads="1"/>
          </p:cNvSpPr>
          <p:nvPr/>
        </p:nvSpPr>
        <p:spPr bwMode="auto">
          <a:xfrm>
            <a:off x="4260850" y="5148263"/>
            <a:ext cx="30480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lang="en-US"/>
              <a:t>MCI wins court case; begins providing some long distance services</a:t>
            </a:r>
          </a:p>
        </p:txBody>
      </p:sp>
      <p:sp>
        <p:nvSpPr>
          <p:cNvPr id="22542" name="Rectangle 22"/>
          <p:cNvSpPr>
            <a:spLocks noChangeArrowheads="1"/>
          </p:cNvSpPr>
          <p:nvPr/>
        </p:nvSpPr>
        <p:spPr bwMode="auto">
          <a:xfrm>
            <a:off x="7308850" y="3616325"/>
            <a:ext cx="692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1984</a:t>
            </a:r>
          </a:p>
        </p:txBody>
      </p:sp>
      <p:sp>
        <p:nvSpPr>
          <p:cNvPr id="22543" name="Line 24"/>
          <p:cNvSpPr>
            <a:spLocks noChangeShapeType="1"/>
          </p:cNvSpPr>
          <p:nvPr/>
        </p:nvSpPr>
        <p:spPr bwMode="auto">
          <a:xfrm flipH="1" flipV="1">
            <a:off x="7543800" y="39370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44" name="Line 40"/>
          <p:cNvSpPr>
            <a:spLocks noChangeShapeType="1"/>
          </p:cNvSpPr>
          <p:nvPr/>
        </p:nvSpPr>
        <p:spPr bwMode="auto">
          <a:xfrm>
            <a:off x="7543800" y="3556000"/>
            <a:ext cx="0" cy="152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5" name="Rectangle 49"/>
          <p:cNvSpPr>
            <a:spLocks noChangeArrowheads="1"/>
          </p:cNvSpPr>
          <p:nvPr/>
        </p:nvSpPr>
        <p:spPr bwMode="auto">
          <a:xfrm>
            <a:off x="6705600" y="4141788"/>
            <a:ext cx="188118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pPr>
            <a:r>
              <a:rPr lang="en-US"/>
              <a:t>Consent decree by US federal court </a:t>
            </a:r>
          </a:p>
        </p:txBody>
      </p:sp>
      <p:sp>
        <p:nvSpPr>
          <p:cNvPr id="22546" name="Rectangle 50"/>
          <p:cNvSpPr>
            <a:spLocks noChangeArrowheads="1"/>
          </p:cNvSpPr>
          <p:nvPr/>
        </p:nvSpPr>
        <p:spPr bwMode="auto">
          <a:xfrm>
            <a:off x="7924800" y="3175000"/>
            <a:ext cx="692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1996</a:t>
            </a:r>
          </a:p>
        </p:txBody>
      </p:sp>
      <p:sp>
        <p:nvSpPr>
          <p:cNvPr id="22547" name="Line 51"/>
          <p:cNvSpPr>
            <a:spLocks noChangeShapeType="1"/>
          </p:cNvSpPr>
          <p:nvPr/>
        </p:nvSpPr>
        <p:spPr bwMode="auto">
          <a:xfrm>
            <a:off x="8450263" y="3565525"/>
            <a:ext cx="0" cy="152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8" name="Rectangle 52"/>
          <p:cNvSpPr>
            <a:spLocks noChangeArrowheads="1"/>
          </p:cNvSpPr>
          <p:nvPr/>
        </p:nvSpPr>
        <p:spPr bwMode="auto">
          <a:xfrm>
            <a:off x="7848600" y="5232400"/>
            <a:ext cx="1219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pPr>
            <a:r>
              <a:rPr lang="en-US"/>
              <a:t>1996 US Telecom Act </a:t>
            </a:r>
          </a:p>
        </p:txBody>
      </p:sp>
      <p:sp>
        <p:nvSpPr>
          <p:cNvPr id="22549" name="Line 53"/>
          <p:cNvSpPr>
            <a:spLocks noChangeShapeType="1"/>
          </p:cNvSpPr>
          <p:nvPr/>
        </p:nvSpPr>
        <p:spPr bwMode="auto">
          <a:xfrm>
            <a:off x="8458200" y="3937000"/>
            <a:ext cx="0" cy="1241425"/>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22550" name="Rectangle 11"/>
          <p:cNvSpPr>
            <a:spLocks noChangeArrowheads="1"/>
          </p:cNvSpPr>
          <p:nvPr/>
        </p:nvSpPr>
        <p:spPr bwMode="auto">
          <a:xfrm>
            <a:off x="508000" y="2187575"/>
            <a:ext cx="21336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i="1"/>
              <a:t>A time for technological change</a:t>
            </a:r>
          </a:p>
        </p:txBody>
      </p:sp>
      <p:sp>
        <p:nvSpPr>
          <p:cNvPr id="22551" name="AutoShape 56"/>
          <p:cNvSpPr>
            <a:spLocks/>
          </p:cNvSpPr>
          <p:nvPr/>
        </p:nvSpPr>
        <p:spPr bwMode="auto">
          <a:xfrm rot="5400000">
            <a:off x="1541462" y="1989138"/>
            <a:ext cx="219075" cy="2286000"/>
          </a:xfrm>
          <a:prstGeom prst="leftBrace">
            <a:avLst>
              <a:gd name="adj1" fmla="val 8695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6" name="Group 64"/>
          <p:cNvGrpSpPr>
            <a:grpSpLocks/>
          </p:cNvGrpSpPr>
          <p:nvPr/>
        </p:nvGrpSpPr>
        <p:grpSpPr bwMode="auto">
          <a:xfrm>
            <a:off x="1336675" y="3251200"/>
            <a:ext cx="860425" cy="757238"/>
            <a:chOff x="842" y="2048"/>
            <a:chExt cx="542" cy="477"/>
          </a:xfrm>
        </p:grpSpPr>
        <p:sp>
          <p:nvSpPr>
            <p:cNvPr id="22564" name="Line 54"/>
            <p:cNvSpPr>
              <a:spLocks noChangeShapeType="1"/>
            </p:cNvSpPr>
            <p:nvPr/>
          </p:nvSpPr>
          <p:spPr bwMode="auto">
            <a:xfrm>
              <a:off x="1108" y="2240"/>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5" name="Text Box 55"/>
            <p:cNvSpPr txBox="1">
              <a:spLocks noChangeArrowheads="1"/>
            </p:cNvSpPr>
            <p:nvPr/>
          </p:nvSpPr>
          <p:spPr bwMode="auto">
            <a:xfrm>
              <a:off x="916" y="2048"/>
              <a:ext cx="4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lnSpc>
                  <a:spcPct val="100000"/>
                </a:lnSpc>
                <a:spcBef>
                  <a:spcPct val="0"/>
                </a:spcBef>
                <a:spcAft>
                  <a:spcPct val="0"/>
                </a:spcAft>
              </a:pPr>
              <a:r>
                <a:rPr lang="en-US" sz="1800"/>
                <a:t>1885</a:t>
              </a:r>
            </a:p>
          </p:txBody>
        </p:sp>
        <p:sp>
          <p:nvSpPr>
            <p:cNvPr id="22566" name="Rectangle 57"/>
            <p:cNvSpPr>
              <a:spLocks noChangeArrowheads="1"/>
            </p:cNvSpPr>
            <p:nvPr/>
          </p:nvSpPr>
          <p:spPr bwMode="auto">
            <a:xfrm>
              <a:off x="842" y="2294"/>
              <a:ext cx="54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lang="en-US" sz="1800"/>
                <a:t>AT&amp;T</a:t>
              </a:r>
            </a:p>
          </p:txBody>
        </p:sp>
      </p:grpSp>
      <p:grpSp>
        <p:nvGrpSpPr>
          <p:cNvPr id="7" name="Group 63"/>
          <p:cNvGrpSpPr>
            <a:grpSpLocks/>
          </p:cNvGrpSpPr>
          <p:nvPr/>
        </p:nvGrpSpPr>
        <p:grpSpPr bwMode="auto">
          <a:xfrm>
            <a:off x="304800" y="3251200"/>
            <a:ext cx="2044700" cy="1663700"/>
            <a:chOff x="192" y="2048"/>
            <a:chExt cx="1288" cy="1048"/>
          </a:xfrm>
        </p:grpSpPr>
        <p:sp>
          <p:nvSpPr>
            <p:cNvPr id="22560" name="Rectangle 32"/>
            <p:cNvSpPr>
              <a:spLocks noChangeArrowheads="1"/>
            </p:cNvSpPr>
            <p:nvPr/>
          </p:nvSpPr>
          <p:spPr bwMode="auto">
            <a:xfrm>
              <a:off x="192" y="2481"/>
              <a:ext cx="1288" cy="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lang="en-US"/>
                <a:t>Phone invented (</a:t>
              </a:r>
              <a:r>
                <a:rPr lang="en-US" sz="1800"/>
                <a:t>rapid acceptance)</a:t>
              </a:r>
            </a:p>
          </p:txBody>
        </p:sp>
        <p:sp>
          <p:nvSpPr>
            <p:cNvPr id="22561" name="Line 33"/>
            <p:cNvSpPr>
              <a:spLocks noChangeShapeType="1"/>
            </p:cNvSpPr>
            <p:nvPr/>
          </p:nvSpPr>
          <p:spPr bwMode="auto">
            <a:xfrm>
              <a:off x="432" y="2240"/>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2" name="Text Box 34"/>
            <p:cNvSpPr txBox="1">
              <a:spLocks noChangeArrowheads="1"/>
            </p:cNvSpPr>
            <p:nvPr/>
          </p:nvSpPr>
          <p:spPr bwMode="auto">
            <a:xfrm>
              <a:off x="240" y="2048"/>
              <a:ext cx="4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lnSpc>
                  <a:spcPct val="100000"/>
                </a:lnSpc>
                <a:spcBef>
                  <a:spcPct val="0"/>
                </a:spcBef>
                <a:spcAft>
                  <a:spcPct val="0"/>
                </a:spcAft>
              </a:pPr>
              <a:r>
                <a:rPr lang="en-US" sz="1800"/>
                <a:t>1876</a:t>
              </a:r>
            </a:p>
          </p:txBody>
        </p:sp>
        <p:sp>
          <p:nvSpPr>
            <p:cNvPr id="22563" name="Line 58"/>
            <p:cNvSpPr>
              <a:spLocks noChangeShapeType="1"/>
            </p:cNvSpPr>
            <p:nvPr/>
          </p:nvSpPr>
          <p:spPr bwMode="auto">
            <a:xfrm flipV="1">
              <a:off x="432" y="2368"/>
              <a:ext cx="0" cy="1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2554" name="Rectangle 16"/>
          <p:cNvSpPr>
            <a:spLocks noChangeArrowheads="1"/>
          </p:cNvSpPr>
          <p:nvPr/>
        </p:nvSpPr>
        <p:spPr bwMode="auto">
          <a:xfrm>
            <a:off x="2806700" y="3975100"/>
            <a:ext cx="2057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lang="en-US"/>
              <a:t>Bell System: </a:t>
            </a:r>
          </a:p>
          <a:p>
            <a:pPr>
              <a:lnSpc>
                <a:spcPct val="100000"/>
              </a:lnSpc>
              <a:spcBef>
                <a:spcPct val="0"/>
              </a:spcBef>
              <a:spcAft>
                <a:spcPct val="0"/>
              </a:spcAft>
            </a:pPr>
            <a:r>
              <a:rPr lang="en-US"/>
              <a:t>de facto monopoly</a:t>
            </a:r>
          </a:p>
        </p:txBody>
      </p:sp>
      <p:sp>
        <p:nvSpPr>
          <p:cNvPr id="22555" name="Line 28"/>
          <p:cNvSpPr>
            <a:spLocks noChangeShapeType="1"/>
          </p:cNvSpPr>
          <p:nvPr/>
        </p:nvSpPr>
        <p:spPr bwMode="auto">
          <a:xfrm flipV="1">
            <a:off x="3429000" y="37465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56" name="Text Box 42"/>
          <p:cNvSpPr txBox="1">
            <a:spLocks noChangeArrowheads="1"/>
          </p:cNvSpPr>
          <p:nvPr/>
        </p:nvSpPr>
        <p:spPr bwMode="auto">
          <a:xfrm>
            <a:off x="3124200" y="3251200"/>
            <a:ext cx="692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lnSpc>
                <a:spcPct val="100000"/>
              </a:lnSpc>
              <a:spcBef>
                <a:spcPct val="0"/>
              </a:spcBef>
              <a:spcAft>
                <a:spcPct val="0"/>
              </a:spcAft>
            </a:pPr>
            <a:r>
              <a:rPr lang="en-US" sz="1800"/>
              <a:t>1910</a:t>
            </a:r>
          </a:p>
        </p:txBody>
      </p:sp>
      <p:sp>
        <p:nvSpPr>
          <p:cNvPr id="22557" name="Line 43"/>
          <p:cNvSpPr>
            <a:spLocks noChangeShapeType="1"/>
          </p:cNvSpPr>
          <p:nvPr/>
        </p:nvSpPr>
        <p:spPr bwMode="auto">
          <a:xfrm>
            <a:off x="3435350" y="3556000"/>
            <a:ext cx="0" cy="152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8" name="AutoShape 75"/>
          <p:cNvSpPr>
            <a:spLocks/>
          </p:cNvSpPr>
          <p:nvPr/>
        </p:nvSpPr>
        <p:spPr bwMode="auto">
          <a:xfrm rot="5400000">
            <a:off x="8043862" y="2560638"/>
            <a:ext cx="219075" cy="1219200"/>
          </a:xfrm>
          <a:prstGeom prst="leftBrace">
            <a:avLst>
              <a:gd name="adj1" fmla="val 4637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59" name="Rectangle 76"/>
          <p:cNvSpPr>
            <a:spLocks noChangeArrowheads="1"/>
          </p:cNvSpPr>
          <p:nvPr/>
        </p:nvSpPr>
        <p:spPr bwMode="auto">
          <a:xfrm>
            <a:off x="7086600" y="2325688"/>
            <a:ext cx="2133600"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i="1"/>
              <a:t>Deregulation</a:t>
            </a:r>
          </a:p>
          <a:p>
            <a:r>
              <a:rPr lang="en-US" i="1"/>
              <a:t>period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102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11B3B7CC-FE13-4C7D-9891-F628B522025D}" type="slidenum">
              <a:rPr lang="en-US" sz="1400"/>
              <a:pPr eaLnBrk="1" hangingPunct="1"/>
              <a:t>9</a:t>
            </a:fld>
            <a:endParaRPr lang="en-US" sz="1400"/>
          </a:p>
        </p:txBody>
      </p:sp>
      <p:sp>
        <p:nvSpPr>
          <p:cNvPr id="1030" name="Rectangle 1026"/>
          <p:cNvSpPr>
            <a:spLocks noGrp="1" noChangeArrowheads="1"/>
          </p:cNvSpPr>
          <p:nvPr>
            <p:ph type="title"/>
          </p:nvPr>
        </p:nvSpPr>
        <p:spPr/>
        <p:txBody>
          <a:bodyPr/>
          <a:lstStyle/>
          <a:p>
            <a:pPr eaLnBrk="1" hangingPunct="1"/>
            <a:r>
              <a:rPr lang="en-US"/>
              <a:t>1984 Consent Decree </a:t>
            </a:r>
          </a:p>
        </p:txBody>
      </p:sp>
      <p:graphicFrame>
        <p:nvGraphicFramePr>
          <p:cNvPr id="146447" name="Object 1039"/>
          <p:cNvGraphicFramePr>
            <a:graphicFrameLocks noChangeAspect="1"/>
          </p:cNvGraphicFramePr>
          <p:nvPr/>
        </p:nvGraphicFramePr>
        <p:xfrm>
          <a:off x="3810000" y="2438400"/>
          <a:ext cx="4911725" cy="1709738"/>
        </p:xfrm>
        <a:graphic>
          <a:graphicData uri="http://schemas.openxmlformats.org/presentationml/2006/ole">
            <mc:AlternateContent xmlns:mc="http://schemas.openxmlformats.org/markup-compatibility/2006">
              <mc:Choice xmlns:v="urn:schemas-microsoft-com:vml" Requires="v">
                <p:oleObj spid="_x0000_s1097" name="Chart" r:id="rId3" imgW="6095848" imgH="4069080" progId="MSGraph.Chart.8">
                  <p:embed followColorScheme="full"/>
                </p:oleObj>
              </mc:Choice>
              <mc:Fallback>
                <p:oleObj name="Chart" r:id="rId3" imgW="6095848" imgH="4069080" progId="MSGraph.Chart.8">
                  <p:embed followColorScheme="full"/>
                  <p:pic>
                    <p:nvPicPr>
                      <p:cNvPr id="0" name="Object 1039"/>
                      <p:cNvPicPr>
                        <a:picLocks noChangeAspect="1" noChangeArrowheads="1"/>
                      </p:cNvPicPr>
                      <p:nvPr/>
                    </p:nvPicPr>
                    <p:blipFill>
                      <a:blip r:embed="rId4">
                        <a:extLst>
                          <a:ext uri="{28A0092B-C50C-407E-A947-70E740481C1C}">
                            <a14:useLocalDpi xmlns:a14="http://schemas.microsoft.com/office/drawing/2010/main" val="0"/>
                          </a:ext>
                        </a:extLst>
                      </a:blip>
                      <a:srcRect l="3125" t="23422" r="6250" b="26610"/>
                      <a:stretch>
                        <a:fillRect/>
                      </a:stretch>
                    </p:blipFill>
                    <p:spPr bwMode="auto">
                      <a:xfrm>
                        <a:off x="3810000" y="2438400"/>
                        <a:ext cx="4911725" cy="170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6449" name="Line 1041"/>
          <p:cNvSpPr>
            <a:spLocks noChangeShapeType="1"/>
          </p:cNvSpPr>
          <p:nvPr/>
        </p:nvSpPr>
        <p:spPr bwMode="auto">
          <a:xfrm>
            <a:off x="3505200" y="3167063"/>
            <a:ext cx="685800" cy="0"/>
          </a:xfrm>
          <a:prstGeom prst="line">
            <a:avLst/>
          </a:prstGeom>
          <a:noFill/>
          <a:ln w="76200" cmpd="tri">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6450" name="Rectangle 1042"/>
          <p:cNvSpPr>
            <a:spLocks noChangeArrowheads="1"/>
          </p:cNvSpPr>
          <p:nvPr/>
        </p:nvSpPr>
        <p:spPr bwMode="auto">
          <a:xfrm>
            <a:off x="644525" y="1295400"/>
            <a:ext cx="8077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25425" indent="-225425">
              <a:lnSpc>
                <a:spcPct val="100000"/>
              </a:lnSpc>
              <a:spcBef>
                <a:spcPct val="0"/>
              </a:spcBef>
              <a:spcAft>
                <a:spcPct val="0"/>
              </a:spcAft>
            </a:pPr>
            <a:r>
              <a:rPr lang="en-US" sz="2400"/>
              <a:t>Divestiture of 1/1/84:</a:t>
            </a:r>
            <a:r>
              <a:rPr lang="en-US"/>
              <a:t>  </a:t>
            </a:r>
            <a:r>
              <a:rPr lang="en-US" sz="2400"/>
              <a:t>RBOC’s</a:t>
            </a:r>
          </a:p>
          <a:p>
            <a:pPr marL="225425" indent="-225425">
              <a:lnSpc>
                <a:spcPct val="100000"/>
              </a:lnSpc>
              <a:spcBef>
                <a:spcPct val="0"/>
              </a:spcBef>
              <a:spcAft>
                <a:spcPct val="0"/>
              </a:spcAft>
              <a:buFontTx/>
              <a:buChar char="•"/>
            </a:pPr>
            <a:r>
              <a:rPr lang="en-US" b="0"/>
              <a:t>AT&amp;T broken up into one long distance company (AT&amp;T) and 7 Regional Bell Operating Companies (RBOC’s)</a:t>
            </a:r>
          </a:p>
        </p:txBody>
      </p:sp>
      <p:sp>
        <p:nvSpPr>
          <p:cNvPr id="146451" name="Rectangle 1043"/>
          <p:cNvSpPr>
            <a:spLocks noChangeArrowheads="1"/>
          </p:cNvSpPr>
          <p:nvPr/>
        </p:nvSpPr>
        <p:spPr bwMode="auto">
          <a:xfrm>
            <a:off x="609600" y="4419600"/>
            <a:ext cx="8229600" cy="176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25425" indent="-225425">
              <a:lnSpc>
                <a:spcPct val="100000"/>
              </a:lnSpc>
              <a:spcBef>
                <a:spcPct val="0"/>
              </a:spcBef>
              <a:spcAft>
                <a:spcPct val="0"/>
              </a:spcAft>
            </a:pPr>
            <a:r>
              <a:rPr lang="en-US" sz="2400"/>
              <a:t>Deregulation:  IXC’s and LEC’s</a:t>
            </a:r>
          </a:p>
          <a:p>
            <a:pPr marL="508000" lvl="1" indent="-168275">
              <a:lnSpc>
                <a:spcPct val="100000"/>
              </a:lnSpc>
              <a:spcBef>
                <a:spcPct val="10000"/>
              </a:spcBef>
              <a:buFontTx/>
              <a:buChar char="•"/>
            </a:pPr>
            <a:r>
              <a:rPr lang="en-US" b="0"/>
              <a:t>Competitive long distance (IXC) market; MCI &amp; Sprint enter long distance telephone market (among others)</a:t>
            </a:r>
          </a:p>
          <a:p>
            <a:pPr marL="508000" lvl="1" indent="-168275">
              <a:lnSpc>
                <a:spcPct val="100000"/>
              </a:lnSpc>
              <a:spcBef>
                <a:spcPct val="5000"/>
              </a:spcBef>
              <a:buFontTx/>
              <a:buChar char="•"/>
            </a:pPr>
            <a:r>
              <a:rPr lang="en-US" b="0"/>
              <a:t>Local Exchange Carrier (LEC) service markets remained under RBOC monopoly</a:t>
            </a:r>
          </a:p>
        </p:txBody>
      </p:sp>
      <p:grpSp>
        <p:nvGrpSpPr>
          <p:cNvPr id="2" name="Group 1047"/>
          <p:cNvGrpSpPr>
            <a:grpSpLocks/>
          </p:cNvGrpSpPr>
          <p:nvPr/>
        </p:nvGrpSpPr>
        <p:grpSpPr bwMode="auto">
          <a:xfrm>
            <a:off x="666750" y="2709863"/>
            <a:ext cx="2667000" cy="1301750"/>
            <a:chOff x="420" y="1707"/>
            <a:chExt cx="1680" cy="820"/>
          </a:xfrm>
        </p:grpSpPr>
        <p:graphicFrame>
          <p:nvGraphicFramePr>
            <p:cNvPr id="1027" name="Object 1040"/>
            <p:cNvGraphicFramePr>
              <a:graphicFrameLocks noChangeAspect="1"/>
            </p:cNvGraphicFramePr>
            <p:nvPr/>
          </p:nvGraphicFramePr>
          <p:xfrm>
            <a:off x="420" y="1707"/>
            <a:ext cx="1680" cy="820"/>
          </p:xfrm>
          <a:graphic>
            <a:graphicData uri="http://schemas.openxmlformats.org/presentationml/2006/ole">
              <mc:AlternateContent xmlns:mc="http://schemas.openxmlformats.org/markup-compatibility/2006">
                <mc:Choice xmlns:v="urn:schemas-microsoft-com:vml" Requires="v">
                  <p:oleObj spid="_x0000_s1098" name="Chart" r:id="rId5" imgW="6096305" imgH="4067556" progId="MSGraph.Chart.8">
                    <p:embed followColorScheme="full"/>
                  </p:oleObj>
                </mc:Choice>
                <mc:Fallback>
                  <p:oleObj name="Chart" r:id="rId5" imgW="6096305" imgH="4067556" progId="MSGraph.Chart.8">
                    <p:embed followColorScheme="full"/>
                    <p:pic>
                      <p:nvPicPr>
                        <p:cNvPr id="0" name="Object 1040"/>
                        <p:cNvPicPr>
                          <a:picLocks noChangeAspect="1" noChangeArrowheads="1"/>
                        </p:cNvPicPr>
                        <p:nvPr/>
                      </p:nvPicPr>
                      <p:blipFill>
                        <a:blip r:embed="rId6">
                          <a:extLst>
                            <a:ext uri="{28A0092B-C50C-407E-A947-70E740481C1C}">
                              <a14:useLocalDpi xmlns:a14="http://schemas.microsoft.com/office/drawing/2010/main" val="0"/>
                            </a:ext>
                          </a:extLst>
                        </a:blip>
                        <a:srcRect l="24310" t="34012" r="25081" b="28926"/>
                        <a:stretch>
                          <a:fillRect/>
                        </a:stretch>
                      </p:blipFill>
                      <p:spPr bwMode="auto">
                        <a:xfrm>
                          <a:off x="420" y="1707"/>
                          <a:ext cx="1680" cy="8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036" name="Picture 1046" descr="06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6" y="1723"/>
              <a:ext cx="1584"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35" name="Oval 1048"/>
          <p:cNvSpPr>
            <a:spLocks noChangeArrowheads="1"/>
          </p:cNvSpPr>
          <p:nvPr/>
        </p:nvSpPr>
        <p:spPr bwMode="auto">
          <a:xfrm>
            <a:off x="723900" y="2735263"/>
            <a:ext cx="2609850" cy="655637"/>
          </a:xfrm>
          <a:prstGeom prst="ellipse">
            <a:avLst/>
          </a:prstGeom>
          <a:solidFill>
            <a:schemeClr val="accent2"/>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spAutoFit/>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645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4644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4644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464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OleChart spid="146447" grpId="0"/>
      <p:bldP spid="146449" grpId="0" animBg="1"/>
      <p:bldP spid="146450" grpId="0" autoUpdateAnimBg="0"/>
      <p:bldP spid="146451"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2457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FF3D29AF-4EF8-48C3-B7DC-8A812689CD82}" type="slidenum">
              <a:rPr lang="en-US" sz="1400"/>
              <a:pPr eaLnBrk="1" hangingPunct="1"/>
              <a:t>10</a:t>
            </a:fld>
            <a:endParaRPr lang="en-US" sz="1400"/>
          </a:p>
        </p:txBody>
      </p:sp>
      <p:sp>
        <p:nvSpPr>
          <p:cNvPr id="24580" name="Rectangle 4"/>
          <p:cNvSpPr>
            <a:spLocks noGrp="1" noChangeArrowheads="1"/>
          </p:cNvSpPr>
          <p:nvPr>
            <p:ph type="title"/>
          </p:nvPr>
        </p:nvSpPr>
        <p:spPr/>
        <p:txBody>
          <a:bodyPr/>
          <a:lstStyle/>
          <a:p>
            <a:pPr eaLnBrk="1" hangingPunct="1"/>
            <a:r>
              <a:rPr lang="en-US"/>
              <a:t>Worldwide Competitive Markets</a:t>
            </a:r>
          </a:p>
        </p:txBody>
      </p:sp>
      <p:sp>
        <p:nvSpPr>
          <p:cNvPr id="24581" name="Rectangle 5"/>
          <p:cNvSpPr>
            <a:spLocks noGrp="1" noChangeArrowheads="1"/>
          </p:cNvSpPr>
          <p:nvPr>
            <p:ph type="body" idx="1"/>
          </p:nvPr>
        </p:nvSpPr>
        <p:spPr/>
        <p:txBody>
          <a:bodyPr/>
          <a:lstStyle/>
          <a:p>
            <a:pPr eaLnBrk="1" hangingPunct="1">
              <a:lnSpc>
                <a:spcPct val="90000"/>
              </a:lnSpc>
            </a:pPr>
            <a:r>
              <a:rPr lang="en-US" sz="2400"/>
              <a:t>Internet market</a:t>
            </a:r>
          </a:p>
          <a:p>
            <a:pPr lvl="1" eaLnBrk="1" hangingPunct="1">
              <a:lnSpc>
                <a:spcPct val="90000"/>
              </a:lnSpc>
            </a:pPr>
            <a:r>
              <a:rPr lang="en-US" sz="2000"/>
              <a:t>Extremely competitive with more than 5000 Internet Service Providers (ISPs) in the US alone. </a:t>
            </a:r>
          </a:p>
          <a:p>
            <a:pPr lvl="1" eaLnBrk="1" hangingPunct="1">
              <a:lnSpc>
                <a:spcPct val="90000"/>
              </a:lnSpc>
            </a:pPr>
            <a:r>
              <a:rPr lang="en-US" sz="2000"/>
              <a:t>Heavy competition in this area may lead to a shake out in the near future.</a:t>
            </a:r>
          </a:p>
          <a:p>
            <a:pPr eaLnBrk="1" hangingPunct="1">
              <a:lnSpc>
                <a:spcPct val="90000"/>
              </a:lnSpc>
            </a:pPr>
            <a:r>
              <a:rPr lang="en-US" sz="2400"/>
              <a:t>World Trade Organization (WTO) agreement  (1997)</a:t>
            </a:r>
          </a:p>
          <a:p>
            <a:pPr lvl="1" eaLnBrk="1" hangingPunct="1">
              <a:lnSpc>
                <a:spcPct val="90000"/>
              </a:lnSpc>
            </a:pPr>
            <a:r>
              <a:rPr lang="en-US" sz="2000"/>
              <a:t>commitments by 68 countries to open, deregulate or lessen regulation in their telecom markets</a:t>
            </a:r>
          </a:p>
          <a:p>
            <a:pPr eaLnBrk="1" hangingPunct="1">
              <a:lnSpc>
                <a:spcPct val="90000"/>
              </a:lnSpc>
            </a:pPr>
            <a:r>
              <a:rPr lang="en-US" sz="2400"/>
              <a:t>Multi-national telecom companies</a:t>
            </a:r>
          </a:p>
          <a:p>
            <a:pPr lvl="1" eaLnBrk="1" hangingPunct="1">
              <a:lnSpc>
                <a:spcPct val="90000"/>
              </a:lnSpc>
            </a:pPr>
            <a:r>
              <a:rPr lang="en-US" sz="2000"/>
              <a:t>US companies offering services in Europe, South America</a:t>
            </a:r>
          </a:p>
          <a:p>
            <a:pPr lvl="1" eaLnBrk="1" hangingPunct="1">
              <a:lnSpc>
                <a:spcPct val="90000"/>
              </a:lnSpc>
            </a:pPr>
            <a:r>
              <a:rPr lang="en-US" sz="2000"/>
              <a:t>European companies offering services in USA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2560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9C1DAA7B-319D-4128-8880-D79D8F27C904}" type="slidenum">
              <a:rPr lang="en-US" sz="1400"/>
              <a:pPr eaLnBrk="1" hangingPunct="1"/>
              <a:t>11</a:t>
            </a:fld>
            <a:endParaRPr lang="en-US" sz="1400"/>
          </a:p>
        </p:txBody>
      </p:sp>
      <p:sp>
        <p:nvSpPr>
          <p:cNvPr id="25604" name="Rectangle 2"/>
          <p:cNvSpPr>
            <a:spLocks noGrp="1" noChangeArrowheads="1"/>
          </p:cNvSpPr>
          <p:nvPr>
            <p:ph type="title"/>
          </p:nvPr>
        </p:nvSpPr>
        <p:spPr/>
        <p:txBody>
          <a:bodyPr/>
          <a:lstStyle/>
          <a:p>
            <a:pPr eaLnBrk="1" hangingPunct="1"/>
            <a:r>
              <a:rPr lang="en-US"/>
              <a:t>History of Information Systems</a:t>
            </a:r>
          </a:p>
        </p:txBody>
      </p:sp>
      <p:grpSp>
        <p:nvGrpSpPr>
          <p:cNvPr id="2" name="Group 51"/>
          <p:cNvGrpSpPr>
            <a:grpSpLocks/>
          </p:cNvGrpSpPr>
          <p:nvPr/>
        </p:nvGrpSpPr>
        <p:grpSpPr bwMode="auto">
          <a:xfrm>
            <a:off x="1066800" y="3886200"/>
            <a:ext cx="3810000" cy="1844675"/>
            <a:chOff x="672" y="2448"/>
            <a:chExt cx="2400" cy="1162"/>
          </a:xfrm>
        </p:grpSpPr>
        <p:sp>
          <p:nvSpPr>
            <p:cNvPr id="25634" name="Rectangle 8"/>
            <p:cNvSpPr>
              <a:spLocks noChangeArrowheads="1"/>
            </p:cNvSpPr>
            <p:nvPr/>
          </p:nvSpPr>
          <p:spPr bwMode="auto">
            <a:xfrm>
              <a:off x="672" y="2784"/>
              <a:ext cx="2400"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00000"/>
                </a:lnSpc>
                <a:spcBef>
                  <a:spcPct val="0"/>
                </a:spcBef>
                <a:spcAft>
                  <a:spcPct val="0"/>
                </a:spcAft>
              </a:pPr>
              <a:r>
                <a:rPr lang="en-US"/>
                <a:t>Data communications over phone lines (became common and mainframes became multi-user systems)</a:t>
              </a:r>
            </a:p>
          </p:txBody>
        </p:sp>
        <p:sp>
          <p:nvSpPr>
            <p:cNvPr id="25635" name="Line 17"/>
            <p:cNvSpPr>
              <a:spLocks noChangeShapeType="1"/>
            </p:cNvSpPr>
            <p:nvPr/>
          </p:nvSpPr>
          <p:spPr bwMode="auto">
            <a:xfrm flipV="1">
              <a:off x="2016" y="2448"/>
              <a:ext cx="0"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3" name="Group 50"/>
          <p:cNvGrpSpPr>
            <a:grpSpLocks/>
          </p:cNvGrpSpPr>
          <p:nvPr/>
        </p:nvGrpSpPr>
        <p:grpSpPr bwMode="auto">
          <a:xfrm>
            <a:off x="762000" y="2070100"/>
            <a:ext cx="2133600" cy="1435100"/>
            <a:chOff x="480" y="1304"/>
            <a:chExt cx="1344" cy="904"/>
          </a:xfrm>
        </p:grpSpPr>
        <p:sp>
          <p:nvSpPr>
            <p:cNvPr id="25632" name="Rectangle 6"/>
            <p:cNvSpPr>
              <a:spLocks noChangeArrowheads="1"/>
            </p:cNvSpPr>
            <p:nvPr/>
          </p:nvSpPr>
          <p:spPr bwMode="auto">
            <a:xfrm>
              <a:off x="480" y="1304"/>
              <a:ext cx="1344"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t>Batch processing mainframes</a:t>
              </a:r>
            </a:p>
          </p:txBody>
        </p:sp>
        <p:sp>
          <p:nvSpPr>
            <p:cNvPr id="25633" name="Line 20"/>
            <p:cNvSpPr>
              <a:spLocks noChangeShapeType="1"/>
            </p:cNvSpPr>
            <p:nvPr/>
          </p:nvSpPr>
          <p:spPr bwMode="auto">
            <a:xfrm flipH="1">
              <a:off x="1008" y="1872"/>
              <a:ext cx="0"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4" name="Group 55"/>
          <p:cNvGrpSpPr>
            <a:grpSpLocks/>
          </p:cNvGrpSpPr>
          <p:nvPr/>
        </p:nvGrpSpPr>
        <p:grpSpPr bwMode="auto">
          <a:xfrm>
            <a:off x="6988175" y="3962400"/>
            <a:ext cx="1881188" cy="1311275"/>
            <a:chOff x="4464" y="2496"/>
            <a:chExt cx="1185" cy="826"/>
          </a:xfrm>
        </p:grpSpPr>
        <p:sp>
          <p:nvSpPr>
            <p:cNvPr id="25630" name="Line 15"/>
            <p:cNvSpPr>
              <a:spLocks noChangeShapeType="1"/>
            </p:cNvSpPr>
            <p:nvPr/>
          </p:nvSpPr>
          <p:spPr bwMode="auto">
            <a:xfrm flipH="1" flipV="1">
              <a:off x="5280" y="2496"/>
              <a:ext cx="0"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31" name="Rectangle 38"/>
            <p:cNvSpPr>
              <a:spLocks noChangeArrowheads="1"/>
            </p:cNvSpPr>
            <p:nvPr/>
          </p:nvSpPr>
          <p:spPr bwMode="auto">
            <a:xfrm>
              <a:off x="4464" y="2880"/>
              <a:ext cx="1185"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00000"/>
                </a:lnSpc>
              </a:pPr>
              <a:r>
                <a:rPr lang="en-US"/>
                <a:t>Networking everywhere</a:t>
              </a:r>
            </a:p>
          </p:txBody>
        </p:sp>
      </p:grpSp>
      <p:grpSp>
        <p:nvGrpSpPr>
          <p:cNvPr id="5" name="Group 54"/>
          <p:cNvGrpSpPr>
            <a:grpSpLocks/>
          </p:cNvGrpSpPr>
          <p:nvPr/>
        </p:nvGrpSpPr>
        <p:grpSpPr bwMode="auto">
          <a:xfrm>
            <a:off x="6559550" y="1905000"/>
            <a:ext cx="1752600" cy="1676400"/>
            <a:chOff x="4320" y="1200"/>
            <a:chExt cx="1104" cy="1056"/>
          </a:xfrm>
        </p:grpSpPr>
        <p:sp>
          <p:nvSpPr>
            <p:cNvPr id="25628" name="Rectangle 41"/>
            <p:cNvSpPr>
              <a:spLocks noChangeArrowheads="1"/>
            </p:cNvSpPr>
            <p:nvPr/>
          </p:nvSpPr>
          <p:spPr bwMode="auto">
            <a:xfrm>
              <a:off x="4320" y="1200"/>
              <a:ext cx="1104"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pPr>
              <a:r>
                <a:rPr lang="en-US"/>
                <a:t>PC LANs become common</a:t>
              </a:r>
            </a:p>
          </p:txBody>
        </p:sp>
        <p:sp>
          <p:nvSpPr>
            <p:cNvPr id="25629" name="Line 42"/>
            <p:cNvSpPr>
              <a:spLocks noChangeShapeType="1"/>
            </p:cNvSpPr>
            <p:nvPr/>
          </p:nvSpPr>
          <p:spPr bwMode="auto">
            <a:xfrm>
              <a:off x="4800" y="1920"/>
              <a:ext cx="0"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5609" name="Line 5"/>
          <p:cNvSpPr>
            <a:spLocks noChangeShapeType="1"/>
          </p:cNvSpPr>
          <p:nvPr/>
        </p:nvSpPr>
        <p:spPr bwMode="auto">
          <a:xfrm flipV="1">
            <a:off x="304800" y="3794125"/>
            <a:ext cx="8458200" cy="15875"/>
          </a:xfrm>
          <a:prstGeom prst="line">
            <a:avLst/>
          </a:prstGeom>
          <a:noFill/>
          <a:ln w="57150" cmpd="thickThin">
            <a:solidFill>
              <a:srgbClr val="4635C3"/>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25610" name="Rectangle 11"/>
          <p:cNvSpPr>
            <a:spLocks noChangeArrowheads="1"/>
          </p:cNvSpPr>
          <p:nvPr/>
        </p:nvSpPr>
        <p:spPr bwMode="auto">
          <a:xfrm>
            <a:off x="914400" y="3429000"/>
            <a:ext cx="692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1950</a:t>
            </a:r>
          </a:p>
        </p:txBody>
      </p:sp>
      <p:sp>
        <p:nvSpPr>
          <p:cNvPr id="25611" name="Rectangle 13"/>
          <p:cNvSpPr>
            <a:spLocks noChangeArrowheads="1"/>
          </p:cNvSpPr>
          <p:nvPr/>
        </p:nvSpPr>
        <p:spPr bwMode="auto">
          <a:xfrm>
            <a:off x="2438400" y="3429000"/>
            <a:ext cx="692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1960</a:t>
            </a:r>
          </a:p>
        </p:txBody>
      </p:sp>
      <p:sp>
        <p:nvSpPr>
          <p:cNvPr id="25612" name="Rectangle 14"/>
          <p:cNvSpPr>
            <a:spLocks noChangeArrowheads="1"/>
          </p:cNvSpPr>
          <p:nvPr/>
        </p:nvSpPr>
        <p:spPr bwMode="auto">
          <a:xfrm>
            <a:off x="6470650" y="3443288"/>
            <a:ext cx="692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1990</a:t>
            </a:r>
          </a:p>
        </p:txBody>
      </p:sp>
      <p:sp>
        <p:nvSpPr>
          <p:cNvPr id="25613" name="Line 27"/>
          <p:cNvSpPr>
            <a:spLocks noChangeShapeType="1"/>
          </p:cNvSpPr>
          <p:nvPr/>
        </p:nvSpPr>
        <p:spPr bwMode="auto">
          <a:xfrm>
            <a:off x="1219200" y="3733800"/>
            <a:ext cx="0" cy="152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4" name="Line 28"/>
          <p:cNvSpPr>
            <a:spLocks noChangeShapeType="1"/>
          </p:cNvSpPr>
          <p:nvPr/>
        </p:nvSpPr>
        <p:spPr bwMode="auto">
          <a:xfrm>
            <a:off x="2825750" y="3733800"/>
            <a:ext cx="0" cy="152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5" name="Line 29"/>
          <p:cNvSpPr>
            <a:spLocks noChangeShapeType="1"/>
          </p:cNvSpPr>
          <p:nvPr/>
        </p:nvSpPr>
        <p:spPr bwMode="auto">
          <a:xfrm>
            <a:off x="6862763" y="3740150"/>
            <a:ext cx="0" cy="152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6" name="Rectangle 39"/>
          <p:cNvSpPr>
            <a:spLocks noChangeArrowheads="1"/>
          </p:cNvSpPr>
          <p:nvPr/>
        </p:nvSpPr>
        <p:spPr bwMode="auto">
          <a:xfrm>
            <a:off x="7620000" y="3427413"/>
            <a:ext cx="692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2000</a:t>
            </a:r>
          </a:p>
        </p:txBody>
      </p:sp>
      <p:sp>
        <p:nvSpPr>
          <p:cNvPr id="25617" name="Line 40"/>
          <p:cNvSpPr>
            <a:spLocks noChangeShapeType="1"/>
          </p:cNvSpPr>
          <p:nvPr/>
        </p:nvSpPr>
        <p:spPr bwMode="auto">
          <a:xfrm>
            <a:off x="8048625" y="3721100"/>
            <a:ext cx="0" cy="152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8" name="Rectangle 43"/>
          <p:cNvSpPr>
            <a:spLocks noChangeArrowheads="1"/>
          </p:cNvSpPr>
          <p:nvPr/>
        </p:nvSpPr>
        <p:spPr bwMode="auto">
          <a:xfrm>
            <a:off x="3879850" y="3429000"/>
            <a:ext cx="692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1970</a:t>
            </a:r>
          </a:p>
        </p:txBody>
      </p:sp>
      <p:sp>
        <p:nvSpPr>
          <p:cNvPr id="25619" name="Line 44"/>
          <p:cNvSpPr>
            <a:spLocks noChangeShapeType="1"/>
          </p:cNvSpPr>
          <p:nvPr/>
        </p:nvSpPr>
        <p:spPr bwMode="auto">
          <a:xfrm>
            <a:off x="4267200" y="3733800"/>
            <a:ext cx="0" cy="152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0" name="Rectangle 45"/>
          <p:cNvSpPr>
            <a:spLocks noChangeArrowheads="1"/>
          </p:cNvSpPr>
          <p:nvPr/>
        </p:nvSpPr>
        <p:spPr bwMode="auto">
          <a:xfrm>
            <a:off x="5181600" y="3443288"/>
            <a:ext cx="692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1980</a:t>
            </a:r>
          </a:p>
        </p:txBody>
      </p:sp>
      <p:sp>
        <p:nvSpPr>
          <p:cNvPr id="25621" name="Line 46"/>
          <p:cNvSpPr>
            <a:spLocks noChangeShapeType="1"/>
          </p:cNvSpPr>
          <p:nvPr/>
        </p:nvSpPr>
        <p:spPr bwMode="auto">
          <a:xfrm>
            <a:off x="5568950" y="3719513"/>
            <a:ext cx="0" cy="152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6" name="Group 52"/>
          <p:cNvGrpSpPr>
            <a:grpSpLocks/>
          </p:cNvGrpSpPr>
          <p:nvPr/>
        </p:nvGrpSpPr>
        <p:grpSpPr bwMode="auto">
          <a:xfrm>
            <a:off x="3124200" y="1524000"/>
            <a:ext cx="3429000" cy="2057400"/>
            <a:chOff x="1968" y="960"/>
            <a:chExt cx="2160" cy="1296"/>
          </a:xfrm>
        </p:grpSpPr>
        <p:sp>
          <p:nvSpPr>
            <p:cNvPr id="25626" name="Rectangle 36"/>
            <p:cNvSpPr>
              <a:spLocks noChangeArrowheads="1"/>
            </p:cNvSpPr>
            <p:nvPr/>
          </p:nvSpPr>
          <p:spPr bwMode="auto">
            <a:xfrm>
              <a:off x="1968" y="960"/>
              <a:ext cx="2160"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00000"/>
                </a:lnSpc>
                <a:spcBef>
                  <a:spcPct val="0"/>
                </a:spcBef>
                <a:spcAft>
                  <a:spcPct val="0"/>
                </a:spcAft>
              </a:pPr>
              <a:r>
                <a:rPr lang="en-US"/>
                <a:t>Online real-time, transaction oriented systems (replaced batch processing. DBMSs become common)</a:t>
              </a:r>
            </a:p>
          </p:txBody>
        </p:sp>
        <p:sp>
          <p:nvSpPr>
            <p:cNvPr id="25627" name="Line 47"/>
            <p:cNvSpPr>
              <a:spLocks noChangeShapeType="1"/>
            </p:cNvSpPr>
            <p:nvPr/>
          </p:nvSpPr>
          <p:spPr bwMode="auto">
            <a:xfrm>
              <a:off x="2928" y="1968"/>
              <a:ext cx="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7" name="Group 53"/>
          <p:cNvGrpSpPr>
            <a:grpSpLocks/>
          </p:cNvGrpSpPr>
          <p:nvPr/>
        </p:nvGrpSpPr>
        <p:grpSpPr bwMode="auto">
          <a:xfrm>
            <a:off x="5181600" y="3886200"/>
            <a:ext cx="1981200" cy="777875"/>
            <a:chOff x="3264" y="2448"/>
            <a:chExt cx="1248" cy="490"/>
          </a:xfrm>
        </p:grpSpPr>
        <p:sp>
          <p:nvSpPr>
            <p:cNvPr id="25624" name="Rectangle 37"/>
            <p:cNvSpPr>
              <a:spLocks noChangeArrowheads="1"/>
            </p:cNvSpPr>
            <p:nvPr/>
          </p:nvSpPr>
          <p:spPr bwMode="auto">
            <a:xfrm>
              <a:off x="3264" y="2688"/>
              <a:ext cx="12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lang="en-US"/>
                <a:t>PC revolution</a:t>
              </a:r>
            </a:p>
          </p:txBody>
        </p:sp>
        <p:sp>
          <p:nvSpPr>
            <p:cNvPr id="25625" name="Line 48"/>
            <p:cNvSpPr>
              <a:spLocks noChangeShapeType="1"/>
            </p:cNvSpPr>
            <p:nvPr/>
          </p:nvSpPr>
          <p:spPr bwMode="auto">
            <a:xfrm flipV="1">
              <a:off x="3792" y="2448"/>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2662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6C48DE10-FB7D-427E-8A46-40CBD2F716D4}" type="slidenum">
              <a:rPr lang="en-US" sz="1400"/>
              <a:pPr eaLnBrk="1" hangingPunct="1"/>
              <a:t>12</a:t>
            </a:fld>
            <a:endParaRPr lang="en-US" sz="1400"/>
          </a:p>
        </p:txBody>
      </p:sp>
      <p:sp>
        <p:nvSpPr>
          <p:cNvPr id="26628" name="Rectangle 28"/>
          <p:cNvSpPr>
            <a:spLocks noGrp="1" noChangeArrowheads="1"/>
          </p:cNvSpPr>
          <p:nvPr>
            <p:ph type="title"/>
          </p:nvPr>
        </p:nvSpPr>
        <p:spPr/>
        <p:txBody>
          <a:bodyPr/>
          <a:lstStyle/>
          <a:p>
            <a:pPr eaLnBrk="1" hangingPunct="1"/>
            <a:r>
              <a:rPr lang="en-US"/>
              <a:t>Internet Milestones</a:t>
            </a:r>
          </a:p>
        </p:txBody>
      </p:sp>
      <p:sp>
        <p:nvSpPr>
          <p:cNvPr id="26629" name="Line 3"/>
          <p:cNvSpPr>
            <a:spLocks noChangeShapeType="1"/>
          </p:cNvSpPr>
          <p:nvPr/>
        </p:nvSpPr>
        <p:spPr bwMode="auto">
          <a:xfrm flipV="1">
            <a:off x="304800" y="3810000"/>
            <a:ext cx="8458200" cy="0"/>
          </a:xfrm>
          <a:prstGeom prst="line">
            <a:avLst/>
          </a:prstGeom>
          <a:noFill/>
          <a:ln w="57150" cmpd="thickThin">
            <a:solidFill>
              <a:srgbClr val="4635C3"/>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grpSp>
        <p:nvGrpSpPr>
          <p:cNvPr id="2" name="Group 31"/>
          <p:cNvGrpSpPr>
            <a:grpSpLocks/>
          </p:cNvGrpSpPr>
          <p:nvPr/>
        </p:nvGrpSpPr>
        <p:grpSpPr bwMode="auto">
          <a:xfrm>
            <a:off x="381000" y="1828800"/>
            <a:ext cx="3352800" cy="2057400"/>
            <a:chOff x="240" y="1152"/>
            <a:chExt cx="2112" cy="1296"/>
          </a:xfrm>
        </p:grpSpPr>
        <p:sp>
          <p:nvSpPr>
            <p:cNvPr id="26653" name="Rectangle 4"/>
            <p:cNvSpPr>
              <a:spLocks noChangeArrowheads="1"/>
            </p:cNvSpPr>
            <p:nvPr/>
          </p:nvSpPr>
          <p:spPr bwMode="auto">
            <a:xfrm>
              <a:off x="240" y="1152"/>
              <a:ext cx="2112"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0000"/>
                </a:lnSpc>
              </a:pPr>
              <a:r>
                <a:rPr lang="en-US"/>
                <a:t>Originally called ARPANET, the Internet began as a military-academic network</a:t>
              </a:r>
            </a:p>
          </p:txBody>
        </p:sp>
        <p:sp>
          <p:nvSpPr>
            <p:cNvPr id="26654" name="Rectangle 7"/>
            <p:cNvSpPr>
              <a:spLocks noChangeArrowheads="1"/>
            </p:cNvSpPr>
            <p:nvPr/>
          </p:nvSpPr>
          <p:spPr bwMode="auto">
            <a:xfrm>
              <a:off x="720" y="2160"/>
              <a:ext cx="4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1969</a:t>
              </a:r>
            </a:p>
          </p:txBody>
        </p:sp>
        <p:sp>
          <p:nvSpPr>
            <p:cNvPr id="26655" name="Line 11"/>
            <p:cNvSpPr>
              <a:spLocks noChangeShapeType="1"/>
            </p:cNvSpPr>
            <p:nvPr/>
          </p:nvSpPr>
          <p:spPr bwMode="auto">
            <a:xfrm flipH="1">
              <a:off x="1008" y="1920"/>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656" name="Line 13"/>
            <p:cNvSpPr>
              <a:spLocks noChangeShapeType="1"/>
            </p:cNvSpPr>
            <p:nvPr/>
          </p:nvSpPr>
          <p:spPr bwMode="auto">
            <a:xfrm>
              <a:off x="964" y="2352"/>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6631" name="Line 9"/>
          <p:cNvSpPr>
            <a:spLocks noChangeShapeType="1"/>
          </p:cNvSpPr>
          <p:nvPr/>
        </p:nvSpPr>
        <p:spPr bwMode="auto">
          <a:xfrm flipH="1" flipV="1">
            <a:off x="8059738" y="3962400"/>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632" name="Rectangle 17"/>
          <p:cNvSpPr>
            <a:spLocks noChangeArrowheads="1"/>
          </p:cNvSpPr>
          <p:nvPr/>
        </p:nvSpPr>
        <p:spPr bwMode="auto">
          <a:xfrm>
            <a:off x="7048500" y="4495800"/>
            <a:ext cx="19621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lnSpc>
                <a:spcPct val="100000"/>
              </a:lnSpc>
            </a:pPr>
            <a:r>
              <a:rPr lang="en-US"/>
              <a:t>Worldwide: Over 1 billion Internet users</a:t>
            </a:r>
          </a:p>
        </p:txBody>
      </p:sp>
      <p:sp>
        <p:nvSpPr>
          <p:cNvPr id="26633" name="Rectangle 18"/>
          <p:cNvSpPr>
            <a:spLocks noChangeArrowheads="1"/>
          </p:cNvSpPr>
          <p:nvPr/>
        </p:nvSpPr>
        <p:spPr bwMode="auto">
          <a:xfrm>
            <a:off x="7713663" y="3432175"/>
            <a:ext cx="692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2007</a:t>
            </a:r>
          </a:p>
        </p:txBody>
      </p:sp>
      <p:sp>
        <p:nvSpPr>
          <p:cNvPr id="26634" name="Line 19"/>
          <p:cNvSpPr>
            <a:spLocks noChangeShapeType="1"/>
          </p:cNvSpPr>
          <p:nvPr/>
        </p:nvSpPr>
        <p:spPr bwMode="auto">
          <a:xfrm>
            <a:off x="8059738" y="3733800"/>
            <a:ext cx="0" cy="152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 name="Group 34"/>
          <p:cNvGrpSpPr>
            <a:grpSpLocks/>
          </p:cNvGrpSpPr>
          <p:nvPr/>
        </p:nvGrpSpPr>
        <p:grpSpPr bwMode="auto">
          <a:xfrm>
            <a:off x="5410200" y="1676400"/>
            <a:ext cx="1981200" cy="2209800"/>
            <a:chOff x="3408" y="1056"/>
            <a:chExt cx="1248" cy="1392"/>
          </a:xfrm>
        </p:grpSpPr>
        <p:sp>
          <p:nvSpPr>
            <p:cNvPr id="26649" name="Rectangle 8"/>
            <p:cNvSpPr>
              <a:spLocks noChangeArrowheads="1"/>
            </p:cNvSpPr>
            <p:nvPr/>
          </p:nvSpPr>
          <p:spPr bwMode="auto">
            <a:xfrm>
              <a:off x="3408" y="2160"/>
              <a:ext cx="4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1990</a:t>
              </a:r>
            </a:p>
          </p:txBody>
        </p:sp>
        <p:sp>
          <p:nvSpPr>
            <p:cNvPr id="26650" name="Line 14"/>
            <p:cNvSpPr>
              <a:spLocks noChangeShapeType="1"/>
            </p:cNvSpPr>
            <p:nvPr/>
          </p:nvSpPr>
          <p:spPr bwMode="auto">
            <a:xfrm>
              <a:off x="3648" y="2352"/>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1" name="Rectangle 20"/>
            <p:cNvSpPr>
              <a:spLocks noChangeArrowheads="1"/>
            </p:cNvSpPr>
            <p:nvPr/>
          </p:nvSpPr>
          <p:spPr bwMode="auto">
            <a:xfrm>
              <a:off x="3552" y="1056"/>
              <a:ext cx="1104"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pPr>
              <a:r>
                <a:rPr lang="en-US"/>
                <a:t>commercial access to the Internet begins</a:t>
              </a:r>
            </a:p>
          </p:txBody>
        </p:sp>
        <p:sp>
          <p:nvSpPr>
            <p:cNvPr id="26652" name="Line 21"/>
            <p:cNvSpPr>
              <a:spLocks noChangeShapeType="1"/>
            </p:cNvSpPr>
            <p:nvPr/>
          </p:nvSpPr>
          <p:spPr bwMode="auto">
            <a:xfrm>
              <a:off x="3696" y="1920"/>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6636" name="Rectangle 5"/>
          <p:cNvSpPr>
            <a:spLocks noChangeArrowheads="1"/>
          </p:cNvSpPr>
          <p:nvPr/>
        </p:nvSpPr>
        <p:spPr bwMode="auto">
          <a:xfrm>
            <a:off x="1454150" y="4432300"/>
            <a:ext cx="34290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71450" indent="-171450">
              <a:lnSpc>
                <a:spcPct val="100000"/>
              </a:lnSpc>
              <a:spcBef>
                <a:spcPct val="0"/>
              </a:spcBef>
              <a:spcAft>
                <a:spcPct val="0"/>
              </a:spcAft>
            </a:pPr>
            <a:r>
              <a:rPr lang="en-US"/>
              <a:t>ARPANET splits:</a:t>
            </a:r>
          </a:p>
          <a:p>
            <a:pPr marL="171450" indent="-171450">
              <a:lnSpc>
                <a:spcPct val="100000"/>
              </a:lnSpc>
              <a:spcBef>
                <a:spcPct val="0"/>
              </a:spcBef>
              <a:spcAft>
                <a:spcPct val="0"/>
              </a:spcAft>
              <a:buFontTx/>
              <a:buChar char="•"/>
            </a:pPr>
            <a:r>
              <a:rPr lang="en-US"/>
              <a:t>Milnet -  for military</a:t>
            </a:r>
          </a:p>
          <a:p>
            <a:pPr marL="171450" indent="-171450">
              <a:lnSpc>
                <a:spcPct val="100000"/>
              </a:lnSpc>
              <a:spcBef>
                <a:spcPct val="0"/>
              </a:spcBef>
              <a:spcAft>
                <a:spcPct val="0"/>
              </a:spcAft>
              <a:buFontTx/>
              <a:buChar char="•"/>
            </a:pPr>
            <a:r>
              <a:rPr lang="en-US"/>
              <a:t>Internet - academic, education and research purposes only</a:t>
            </a:r>
          </a:p>
        </p:txBody>
      </p:sp>
      <p:sp>
        <p:nvSpPr>
          <p:cNvPr id="26637" name="Line 10"/>
          <p:cNvSpPr>
            <a:spLocks noChangeShapeType="1"/>
          </p:cNvSpPr>
          <p:nvPr/>
        </p:nvSpPr>
        <p:spPr bwMode="auto">
          <a:xfrm flipV="1">
            <a:off x="3435350" y="3962400"/>
            <a:ext cx="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638" name="Rectangle 22"/>
          <p:cNvSpPr>
            <a:spLocks noChangeArrowheads="1"/>
          </p:cNvSpPr>
          <p:nvPr/>
        </p:nvSpPr>
        <p:spPr bwMode="auto">
          <a:xfrm>
            <a:off x="3048000" y="3429000"/>
            <a:ext cx="692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1983</a:t>
            </a:r>
          </a:p>
        </p:txBody>
      </p:sp>
      <p:sp>
        <p:nvSpPr>
          <p:cNvPr id="26639" name="Line 23"/>
          <p:cNvSpPr>
            <a:spLocks noChangeShapeType="1"/>
          </p:cNvSpPr>
          <p:nvPr/>
        </p:nvSpPr>
        <p:spPr bwMode="auto">
          <a:xfrm>
            <a:off x="3435350" y="3733800"/>
            <a:ext cx="0" cy="152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 name="Group 33"/>
          <p:cNvGrpSpPr>
            <a:grpSpLocks/>
          </p:cNvGrpSpPr>
          <p:nvPr/>
        </p:nvGrpSpPr>
        <p:grpSpPr bwMode="auto">
          <a:xfrm>
            <a:off x="3632200" y="1600200"/>
            <a:ext cx="1828800" cy="2286000"/>
            <a:chOff x="2288" y="1008"/>
            <a:chExt cx="1152" cy="1440"/>
          </a:xfrm>
        </p:grpSpPr>
        <p:sp>
          <p:nvSpPr>
            <p:cNvPr id="26645" name="Rectangle 15"/>
            <p:cNvSpPr>
              <a:spLocks noChangeArrowheads="1"/>
            </p:cNvSpPr>
            <p:nvPr/>
          </p:nvSpPr>
          <p:spPr bwMode="auto">
            <a:xfrm>
              <a:off x="2288" y="1008"/>
              <a:ext cx="1152"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00000"/>
                </a:lnSpc>
                <a:spcBef>
                  <a:spcPct val="0"/>
                </a:spcBef>
                <a:spcAft>
                  <a:spcPct val="0"/>
                </a:spcAft>
              </a:pPr>
              <a:r>
                <a:rPr lang="en-US"/>
                <a:t>NSFNet created as US Internet backbone</a:t>
              </a:r>
            </a:p>
          </p:txBody>
        </p:sp>
        <p:sp>
          <p:nvSpPr>
            <p:cNvPr id="26646" name="Rectangle 24"/>
            <p:cNvSpPr>
              <a:spLocks noChangeArrowheads="1"/>
            </p:cNvSpPr>
            <p:nvPr/>
          </p:nvSpPr>
          <p:spPr bwMode="auto">
            <a:xfrm>
              <a:off x="2640" y="2160"/>
              <a:ext cx="4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1986</a:t>
              </a:r>
            </a:p>
          </p:txBody>
        </p:sp>
        <p:sp>
          <p:nvSpPr>
            <p:cNvPr id="26647" name="Line 25"/>
            <p:cNvSpPr>
              <a:spLocks noChangeShapeType="1"/>
            </p:cNvSpPr>
            <p:nvPr/>
          </p:nvSpPr>
          <p:spPr bwMode="auto">
            <a:xfrm>
              <a:off x="2884" y="2352"/>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8" name="Line 26"/>
            <p:cNvSpPr>
              <a:spLocks noChangeShapeType="1"/>
            </p:cNvSpPr>
            <p:nvPr/>
          </p:nvSpPr>
          <p:spPr bwMode="auto">
            <a:xfrm>
              <a:off x="2832" y="1824"/>
              <a:ext cx="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6641" name="Rectangle 16"/>
          <p:cNvSpPr>
            <a:spLocks noChangeArrowheads="1"/>
          </p:cNvSpPr>
          <p:nvPr/>
        </p:nvSpPr>
        <p:spPr bwMode="auto">
          <a:xfrm>
            <a:off x="4883150" y="4432300"/>
            <a:ext cx="19812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lnSpc>
                <a:spcPct val="100000"/>
              </a:lnSpc>
              <a:spcBef>
                <a:spcPct val="0"/>
              </a:spcBef>
              <a:spcAft>
                <a:spcPct val="0"/>
              </a:spcAft>
            </a:pPr>
            <a:r>
              <a:rPr lang="en-US"/>
              <a:t>Government funding of the backbone ends </a:t>
            </a:r>
          </a:p>
        </p:txBody>
      </p:sp>
      <p:sp>
        <p:nvSpPr>
          <p:cNvPr id="26642" name="Line 27"/>
          <p:cNvSpPr>
            <a:spLocks noChangeShapeType="1"/>
          </p:cNvSpPr>
          <p:nvPr/>
        </p:nvSpPr>
        <p:spPr bwMode="auto">
          <a:xfrm flipV="1">
            <a:off x="6783388" y="3962400"/>
            <a:ext cx="0" cy="469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643" name="Rectangle 29"/>
          <p:cNvSpPr>
            <a:spLocks noChangeArrowheads="1"/>
          </p:cNvSpPr>
          <p:nvPr/>
        </p:nvSpPr>
        <p:spPr bwMode="auto">
          <a:xfrm>
            <a:off x="6400800" y="3432175"/>
            <a:ext cx="692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1994</a:t>
            </a:r>
          </a:p>
        </p:txBody>
      </p:sp>
      <p:sp>
        <p:nvSpPr>
          <p:cNvPr id="26644" name="Line 30"/>
          <p:cNvSpPr>
            <a:spLocks noChangeShapeType="1"/>
          </p:cNvSpPr>
          <p:nvPr/>
        </p:nvSpPr>
        <p:spPr bwMode="auto">
          <a:xfrm>
            <a:off x="6781800" y="3733800"/>
            <a:ext cx="0" cy="152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t>Net Neutrality</a:t>
            </a:r>
          </a:p>
        </p:txBody>
      </p:sp>
      <p:sp>
        <p:nvSpPr>
          <p:cNvPr id="27651"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2765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C6052C70-E010-4A4D-AF02-9A674CD7C08D}" type="slidenum">
              <a:rPr lang="en-US" sz="1400"/>
              <a:pPr eaLnBrk="1" hangingPunct="1"/>
              <a:t>13</a:t>
            </a:fld>
            <a:endParaRPr lang="en-US" sz="1400"/>
          </a:p>
        </p:txBody>
      </p:sp>
      <p:sp>
        <p:nvSpPr>
          <p:cNvPr id="27653" name="TextBox 4"/>
          <p:cNvSpPr txBox="1">
            <a:spLocks noChangeArrowheads="1"/>
          </p:cNvSpPr>
          <p:nvPr/>
        </p:nvSpPr>
        <p:spPr bwMode="auto">
          <a:xfrm>
            <a:off x="800100" y="1797050"/>
            <a:ext cx="805497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a:t>Net neutrality means that for a given type of content (i.e. email, </a:t>
            </a:r>
          </a:p>
          <a:p>
            <a:pPr eaLnBrk="1" hangingPunct="1"/>
            <a:r>
              <a:rPr lang="en-US"/>
              <a:t>web, video, etc), all content providers are treated the same.</a:t>
            </a:r>
          </a:p>
          <a:p>
            <a:pPr eaLnBrk="1" hangingPunct="1"/>
            <a:endParaRPr lang="en-US"/>
          </a:p>
          <a:p>
            <a:pPr eaLnBrk="1" hangingPunct="1"/>
            <a:r>
              <a:rPr lang="en-US"/>
              <a:t>Net neutrality prevents ISPs from giving priority to some content</a:t>
            </a:r>
          </a:p>
          <a:p>
            <a:pPr eaLnBrk="1" hangingPunct="1"/>
            <a:r>
              <a:rPr lang="en-US"/>
              <a:t>providers, while slowing down others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Slide Number Placeholder 5"/>
          <p:cNvSpPr>
            <a:spLocks noGrp="1"/>
          </p:cNvSpPr>
          <p:nvPr>
            <p:ph type="sldNum" sz="quarter" idx="12"/>
          </p:nvPr>
        </p:nvSpPr>
        <p:spPr>
          <a:xfrm>
            <a:off x="685800" y="624840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pitchFamily="34" charset="0"/>
              </a:defRPr>
            </a:lvl1pPr>
            <a:lvl2pPr marL="742950" indent="-285750" eaLnBrk="0" hangingPunct="0">
              <a:defRPr sz="2000" b="1">
                <a:solidFill>
                  <a:srgbClr val="16027C"/>
                </a:solidFill>
                <a:latin typeface="Arial" pitchFamily="34" charset="0"/>
              </a:defRPr>
            </a:lvl2pPr>
            <a:lvl3pPr marL="1143000" indent="-228600" eaLnBrk="0" hangingPunct="0">
              <a:defRPr sz="2000" b="1">
                <a:solidFill>
                  <a:srgbClr val="16027C"/>
                </a:solidFill>
                <a:latin typeface="Arial" pitchFamily="34" charset="0"/>
              </a:defRPr>
            </a:lvl3pPr>
            <a:lvl4pPr marL="1600200" indent="-228600" eaLnBrk="0" hangingPunct="0">
              <a:defRPr sz="2000" b="1">
                <a:solidFill>
                  <a:srgbClr val="16027C"/>
                </a:solidFill>
                <a:latin typeface="Arial" pitchFamily="34" charset="0"/>
              </a:defRPr>
            </a:lvl4pPr>
            <a:lvl5pPr marL="2057400" indent="-228600" eaLnBrk="0" hangingPunct="0">
              <a:defRPr sz="2000" b="1">
                <a:solidFill>
                  <a:srgbClr val="16027C"/>
                </a:solidFill>
                <a:latin typeface="Arial" pitchFamily="34" charset="0"/>
              </a:defRPr>
            </a:lvl5pPr>
            <a:lvl6pPr marL="2514600" indent="-228600" eaLnBrk="0" fontAlgn="base" hangingPunct="0">
              <a:lnSpc>
                <a:spcPct val="80000"/>
              </a:lnSpc>
              <a:spcBef>
                <a:spcPct val="20000"/>
              </a:spcBef>
              <a:spcAft>
                <a:spcPct val="15000"/>
              </a:spcAft>
              <a:defRPr sz="2000" b="1">
                <a:solidFill>
                  <a:srgbClr val="16027C"/>
                </a:solidFill>
                <a:latin typeface="Arial" pitchFamily="34" charset="0"/>
              </a:defRPr>
            </a:lvl6pPr>
            <a:lvl7pPr marL="2971800" indent="-228600" eaLnBrk="0" fontAlgn="base" hangingPunct="0">
              <a:lnSpc>
                <a:spcPct val="80000"/>
              </a:lnSpc>
              <a:spcBef>
                <a:spcPct val="20000"/>
              </a:spcBef>
              <a:spcAft>
                <a:spcPct val="15000"/>
              </a:spcAft>
              <a:defRPr sz="2000" b="1">
                <a:solidFill>
                  <a:srgbClr val="16027C"/>
                </a:solidFill>
                <a:latin typeface="Arial" pitchFamily="34" charset="0"/>
              </a:defRPr>
            </a:lvl7pPr>
            <a:lvl8pPr marL="3429000" indent="-228600" eaLnBrk="0" fontAlgn="base" hangingPunct="0">
              <a:lnSpc>
                <a:spcPct val="80000"/>
              </a:lnSpc>
              <a:spcBef>
                <a:spcPct val="20000"/>
              </a:spcBef>
              <a:spcAft>
                <a:spcPct val="15000"/>
              </a:spcAft>
              <a:defRPr sz="2000" b="1">
                <a:solidFill>
                  <a:srgbClr val="16027C"/>
                </a:solidFill>
                <a:latin typeface="Arial" pitchFamily="34" charset="0"/>
              </a:defRPr>
            </a:lvl8pPr>
            <a:lvl9pPr marL="3886200" indent="-228600" eaLnBrk="0" fontAlgn="base" hangingPunct="0">
              <a:lnSpc>
                <a:spcPct val="80000"/>
              </a:lnSpc>
              <a:spcBef>
                <a:spcPct val="20000"/>
              </a:spcBef>
              <a:spcAft>
                <a:spcPct val="15000"/>
              </a:spcAft>
              <a:defRPr sz="2000" b="1">
                <a:solidFill>
                  <a:srgbClr val="16027C"/>
                </a:solidFill>
                <a:latin typeface="Arial" pitchFamily="34" charset="0"/>
              </a:defRPr>
            </a:lvl9pPr>
          </a:lstStyle>
          <a:p>
            <a:pPr algn="l" eaLnBrk="1" hangingPunct="1"/>
            <a:r>
              <a:rPr lang="en-US" sz="1400"/>
              <a:t>1 - </a:t>
            </a:r>
            <a:fld id="{15C94666-6564-49F1-AFAC-1193D1F29024}" type="slidenum">
              <a:rPr lang="en-US" sz="1400" smtClean="0"/>
              <a:pPr algn="l" eaLnBrk="1" hangingPunct="1"/>
              <a:t>14</a:t>
            </a:fld>
            <a:endParaRPr lang="en-US" sz="1400"/>
          </a:p>
        </p:txBody>
      </p:sp>
      <p:sp>
        <p:nvSpPr>
          <p:cNvPr id="15363" name="Rectangle 2"/>
          <p:cNvSpPr>
            <a:spLocks noGrp="1" noChangeArrowheads="1"/>
          </p:cNvSpPr>
          <p:nvPr>
            <p:ph type="title"/>
          </p:nvPr>
        </p:nvSpPr>
        <p:spPr/>
        <p:txBody>
          <a:bodyPr/>
          <a:lstStyle/>
          <a:p>
            <a:pPr eaLnBrk="1" hangingPunct="1"/>
            <a:r>
              <a:rPr lang="en-US"/>
              <a:t>Thai Telecom</a:t>
            </a:r>
          </a:p>
        </p:txBody>
      </p:sp>
      <p:sp>
        <p:nvSpPr>
          <p:cNvPr id="15364" name="Line 3"/>
          <p:cNvSpPr>
            <a:spLocks noChangeShapeType="1"/>
          </p:cNvSpPr>
          <p:nvPr/>
        </p:nvSpPr>
        <p:spPr bwMode="auto">
          <a:xfrm flipV="1">
            <a:off x="304800" y="3621088"/>
            <a:ext cx="8839200" cy="11112"/>
          </a:xfrm>
          <a:prstGeom prst="line">
            <a:avLst/>
          </a:prstGeom>
          <a:noFill/>
          <a:ln w="57150" cmpd="thickThin">
            <a:solidFill>
              <a:srgbClr val="4635C3"/>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grpSp>
        <p:nvGrpSpPr>
          <p:cNvPr id="2" name="Group 67"/>
          <p:cNvGrpSpPr>
            <a:grpSpLocks/>
          </p:cNvGrpSpPr>
          <p:nvPr/>
        </p:nvGrpSpPr>
        <p:grpSpPr bwMode="auto">
          <a:xfrm>
            <a:off x="4856163" y="3644900"/>
            <a:ext cx="1087437" cy="1370013"/>
            <a:chOff x="1650" y="1235"/>
            <a:chExt cx="1196" cy="667"/>
          </a:xfrm>
        </p:grpSpPr>
        <p:sp>
          <p:nvSpPr>
            <p:cNvPr id="15417" name="Rectangle 18"/>
            <p:cNvSpPr>
              <a:spLocks noChangeArrowheads="1"/>
            </p:cNvSpPr>
            <p:nvPr/>
          </p:nvSpPr>
          <p:spPr bwMode="auto">
            <a:xfrm>
              <a:off x="1650" y="1382"/>
              <a:ext cx="1196"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0000"/>
                </a:lnSpc>
                <a:spcBef>
                  <a:spcPct val="0"/>
                </a:spcBef>
                <a:spcAft>
                  <a:spcPct val="0"/>
                </a:spcAft>
              </a:pPr>
              <a:r>
                <a:rPr lang="en-US"/>
                <a:t>5.4 M Tel Lines</a:t>
              </a:r>
            </a:p>
            <a:p>
              <a:pPr>
                <a:lnSpc>
                  <a:spcPct val="90000"/>
                </a:lnSpc>
                <a:spcBef>
                  <a:spcPct val="0"/>
                </a:spcBef>
                <a:spcAft>
                  <a:spcPct val="0"/>
                </a:spcAft>
              </a:pPr>
              <a:r>
                <a:rPr lang="en-US"/>
                <a:t>2.3 M Mobile</a:t>
              </a:r>
            </a:p>
          </p:txBody>
        </p:sp>
        <p:sp>
          <p:nvSpPr>
            <p:cNvPr id="15418" name="Line 44"/>
            <p:cNvSpPr>
              <a:spLocks noChangeShapeType="1"/>
            </p:cNvSpPr>
            <p:nvPr/>
          </p:nvSpPr>
          <p:spPr bwMode="auto">
            <a:xfrm flipH="1">
              <a:off x="2162" y="1235"/>
              <a:ext cx="0" cy="144"/>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grpSp>
      <p:grpSp>
        <p:nvGrpSpPr>
          <p:cNvPr id="3" name="Group 68"/>
          <p:cNvGrpSpPr>
            <a:grpSpLocks/>
          </p:cNvGrpSpPr>
          <p:nvPr/>
        </p:nvGrpSpPr>
        <p:grpSpPr bwMode="auto">
          <a:xfrm>
            <a:off x="3509963" y="1803400"/>
            <a:ext cx="1325562" cy="1905000"/>
            <a:chOff x="2656" y="1161"/>
            <a:chExt cx="835" cy="1175"/>
          </a:xfrm>
        </p:grpSpPr>
        <p:sp>
          <p:nvSpPr>
            <p:cNvPr id="15413" name="Rectangle 15"/>
            <p:cNvSpPr>
              <a:spLocks noChangeArrowheads="1"/>
            </p:cNvSpPr>
            <p:nvPr/>
          </p:nvSpPr>
          <p:spPr bwMode="auto">
            <a:xfrm>
              <a:off x="2684" y="2048"/>
              <a:ext cx="43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1994</a:t>
              </a:r>
            </a:p>
          </p:txBody>
        </p:sp>
        <p:sp>
          <p:nvSpPr>
            <p:cNvPr id="15414" name="Line 37"/>
            <p:cNvSpPr>
              <a:spLocks noChangeShapeType="1"/>
            </p:cNvSpPr>
            <p:nvPr/>
          </p:nvSpPr>
          <p:spPr bwMode="auto">
            <a:xfrm>
              <a:off x="2880" y="2240"/>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15" name="Rectangle 45"/>
            <p:cNvSpPr>
              <a:spLocks noChangeArrowheads="1"/>
            </p:cNvSpPr>
            <p:nvPr/>
          </p:nvSpPr>
          <p:spPr bwMode="auto">
            <a:xfrm>
              <a:off x="2656" y="1161"/>
              <a:ext cx="835"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Thaicom 2</a:t>
              </a:r>
            </a:p>
          </p:txBody>
        </p:sp>
        <p:sp>
          <p:nvSpPr>
            <p:cNvPr id="15416" name="Line 46"/>
            <p:cNvSpPr>
              <a:spLocks noChangeShapeType="1"/>
            </p:cNvSpPr>
            <p:nvPr/>
          </p:nvSpPr>
          <p:spPr bwMode="auto">
            <a:xfrm flipH="1">
              <a:off x="2880" y="1389"/>
              <a:ext cx="29" cy="69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4" name="Group 69"/>
          <p:cNvGrpSpPr>
            <a:grpSpLocks/>
          </p:cNvGrpSpPr>
          <p:nvPr/>
        </p:nvGrpSpPr>
        <p:grpSpPr bwMode="auto">
          <a:xfrm>
            <a:off x="5607050" y="1851025"/>
            <a:ext cx="1358900" cy="1857375"/>
            <a:chOff x="3532" y="1166"/>
            <a:chExt cx="856" cy="1170"/>
          </a:xfrm>
        </p:grpSpPr>
        <p:sp>
          <p:nvSpPr>
            <p:cNvPr id="15409" name="Rectangle 17"/>
            <p:cNvSpPr>
              <a:spLocks noChangeArrowheads="1"/>
            </p:cNvSpPr>
            <p:nvPr/>
          </p:nvSpPr>
          <p:spPr bwMode="auto">
            <a:xfrm>
              <a:off x="3744" y="2048"/>
              <a:ext cx="43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2000</a:t>
              </a:r>
            </a:p>
          </p:txBody>
        </p:sp>
        <p:sp>
          <p:nvSpPr>
            <p:cNvPr id="15410" name="Line 30"/>
            <p:cNvSpPr>
              <a:spLocks noChangeShapeType="1"/>
            </p:cNvSpPr>
            <p:nvPr/>
          </p:nvSpPr>
          <p:spPr bwMode="auto">
            <a:xfrm flipH="1" flipV="1">
              <a:off x="3936" y="1952"/>
              <a:ext cx="0" cy="144"/>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5411" name="Line 38"/>
            <p:cNvSpPr>
              <a:spLocks noChangeShapeType="1"/>
            </p:cNvSpPr>
            <p:nvPr/>
          </p:nvSpPr>
          <p:spPr bwMode="auto">
            <a:xfrm>
              <a:off x="3936" y="2240"/>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12" name="Rectangle 47"/>
            <p:cNvSpPr>
              <a:spLocks noChangeArrowheads="1"/>
            </p:cNvSpPr>
            <p:nvPr/>
          </p:nvSpPr>
          <p:spPr bwMode="auto">
            <a:xfrm>
              <a:off x="3532" y="1166"/>
              <a:ext cx="856" cy="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lang="en-US"/>
                <a:t>1 Million Internet users</a:t>
              </a:r>
            </a:p>
            <a:p>
              <a:pPr>
                <a:lnSpc>
                  <a:spcPct val="100000"/>
                </a:lnSpc>
                <a:spcBef>
                  <a:spcPct val="0"/>
                </a:spcBef>
                <a:spcAft>
                  <a:spcPct val="0"/>
                </a:spcAft>
              </a:pPr>
              <a:r>
                <a:rPr lang="en-US"/>
                <a:t>15 ISPs</a:t>
              </a:r>
            </a:p>
          </p:txBody>
        </p:sp>
      </p:grpSp>
      <p:sp>
        <p:nvSpPr>
          <p:cNvPr id="15368" name="Rectangle 22"/>
          <p:cNvSpPr>
            <a:spLocks noChangeArrowheads="1"/>
          </p:cNvSpPr>
          <p:nvPr/>
        </p:nvSpPr>
        <p:spPr bwMode="auto">
          <a:xfrm>
            <a:off x="7543800" y="3708400"/>
            <a:ext cx="6969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2007</a:t>
            </a:r>
          </a:p>
        </p:txBody>
      </p:sp>
      <p:sp>
        <p:nvSpPr>
          <p:cNvPr id="15369" name="Line 24"/>
          <p:cNvSpPr>
            <a:spLocks noChangeShapeType="1"/>
          </p:cNvSpPr>
          <p:nvPr/>
        </p:nvSpPr>
        <p:spPr bwMode="auto">
          <a:xfrm flipH="1" flipV="1">
            <a:off x="8005763" y="3946525"/>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70" name="Line 40"/>
          <p:cNvSpPr>
            <a:spLocks noChangeShapeType="1"/>
          </p:cNvSpPr>
          <p:nvPr/>
        </p:nvSpPr>
        <p:spPr bwMode="auto">
          <a:xfrm>
            <a:off x="8005763" y="3556000"/>
            <a:ext cx="0" cy="152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1" name="Rectangle 49"/>
          <p:cNvSpPr>
            <a:spLocks noChangeArrowheads="1"/>
          </p:cNvSpPr>
          <p:nvPr/>
        </p:nvSpPr>
        <p:spPr bwMode="auto">
          <a:xfrm>
            <a:off x="7153275" y="4211638"/>
            <a:ext cx="1706563" cy="153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pPr>
            <a:r>
              <a:rPr lang="en-US"/>
              <a:t>7 M Tel</a:t>
            </a:r>
          </a:p>
          <a:p>
            <a:pPr>
              <a:lnSpc>
                <a:spcPct val="100000"/>
              </a:lnSpc>
            </a:pPr>
            <a:r>
              <a:rPr lang="en-US"/>
              <a:t>51 M Mobile</a:t>
            </a:r>
          </a:p>
          <a:p>
            <a:pPr>
              <a:lnSpc>
                <a:spcPct val="100000"/>
              </a:lnSpc>
            </a:pPr>
            <a:r>
              <a:rPr lang="en-US"/>
              <a:t>13 Internet users</a:t>
            </a:r>
          </a:p>
        </p:txBody>
      </p:sp>
      <p:sp>
        <p:nvSpPr>
          <p:cNvPr id="15372" name="Rectangle 50"/>
          <p:cNvSpPr>
            <a:spLocks noChangeArrowheads="1"/>
          </p:cNvSpPr>
          <p:nvPr/>
        </p:nvSpPr>
        <p:spPr bwMode="auto">
          <a:xfrm>
            <a:off x="8412163" y="3752850"/>
            <a:ext cx="6969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2009</a:t>
            </a:r>
          </a:p>
        </p:txBody>
      </p:sp>
      <p:sp>
        <p:nvSpPr>
          <p:cNvPr id="15373" name="Line 51"/>
          <p:cNvSpPr>
            <a:spLocks noChangeShapeType="1"/>
          </p:cNvSpPr>
          <p:nvPr/>
        </p:nvSpPr>
        <p:spPr bwMode="auto">
          <a:xfrm>
            <a:off x="8450263" y="3565525"/>
            <a:ext cx="0" cy="152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4" name="Line 53"/>
          <p:cNvSpPr>
            <a:spLocks noChangeShapeType="1"/>
          </p:cNvSpPr>
          <p:nvPr/>
        </p:nvSpPr>
        <p:spPr bwMode="auto">
          <a:xfrm flipH="1" flipV="1">
            <a:off x="8859838" y="1716088"/>
            <a:ext cx="0" cy="1852612"/>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grpSp>
        <p:nvGrpSpPr>
          <p:cNvPr id="5" name="Group 64"/>
          <p:cNvGrpSpPr>
            <a:grpSpLocks/>
          </p:cNvGrpSpPr>
          <p:nvPr/>
        </p:nvGrpSpPr>
        <p:grpSpPr bwMode="auto">
          <a:xfrm>
            <a:off x="304800" y="1716088"/>
            <a:ext cx="1541463" cy="1990725"/>
            <a:chOff x="788" y="1556"/>
            <a:chExt cx="1010" cy="804"/>
          </a:xfrm>
        </p:grpSpPr>
        <p:sp>
          <p:nvSpPr>
            <p:cNvPr id="15406" name="Line 54"/>
            <p:cNvSpPr>
              <a:spLocks noChangeShapeType="1"/>
            </p:cNvSpPr>
            <p:nvPr/>
          </p:nvSpPr>
          <p:spPr bwMode="auto">
            <a:xfrm>
              <a:off x="1108" y="2264"/>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07" name="Text Box 55"/>
            <p:cNvSpPr txBox="1">
              <a:spLocks noChangeArrowheads="1"/>
            </p:cNvSpPr>
            <p:nvPr/>
          </p:nvSpPr>
          <p:spPr bwMode="auto">
            <a:xfrm>
              <a:off x="809" y="2101"/>
              <a:ext cx="457"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rgbClr val="16027C"/>
                  </a:solidFill>
                  <a:latin typeface="Arial" pitchFamily="34" charset="0"/>
                </a:defRPr>
              </a:lvl1pPr>
              <a:lvl2pPr marL="742950" indent="-285750" eaLnBrk="0" hangingPunct="0">
                <a:defRPr sz="2000" b="1">
                  <a:solidFill>
                    <a:srgbClr val="16027C"/>
                  </a:solidFill>
                  <a:latin typeface="Arial" pitchFamily="34" charset="0"/>
                </a:defRPr>
              </a:lvl2pPr>
              <a:lvl3pPr marL="1143000" indent="-228600" eaLnBrk="0" hangingPunct="0">
                <a:defRPr sz="2000" b="1">
                  <a:solidFill>
                    <a:srgbClr val="16027C"/>
                  </a:solidFill>
                  <a:latin typeface="Arial" pitchFamily="34" charset="0"/>
                </a:defRPr>
              </a:lvl3pPr>
              <a:lvl4pPr marL="1600200" indent="-228600" eaLnBrk="0" hangingPunct="0">
                <a:defRPr sz="2000" b="1">
                  <a:solidFill>
                    <a:srgbClr val="16027C"/>
                  </a:solidFill>
                  <a:latin typeface="Arial" pitchFamily="34" charset="0"/>
                </a:defRPr>
              </a:lvl4pPr>
              <a:lvl5pPr marL="2057400" indent="-228600" eaLnBrk="0" hangingPunct="0">
                <a:defRPr sz="2000" b="1">
                  <a:solidFill>
                    <a:srgbClr val="16027C"/>
                  </a:solidFill>
                  <a:latin typeface="Arial" pitchFamily="34" charset="0"/>
                </a:defRPr>
              </a:lvl5pPr>
              <a:lvl6pPr marL="2514600" indent="-228600" eaLnBrk="0" fontAlgn="base" hangingPunct="0">
                <a:lnSpc>
                  <a:spcPct val="80000"/>
                </a:lnSpc>
                <a:spcBef>
                  <a:spcPct val="20000"/>
                </a:spcBef>
                <a:spcAft>
                  <a:spcPct val="15000"/>
                </a:spcAft>
                <a:defRPr sz="2000" b="1">
                  <a:solidFill>
                    <a:srgbClr val="16027C"/>
                  </a:solidFill>
                  <a:latin typeface="Arial" pitchFamily="34" charset="0"/>
                </a:defRPr>
              </a:lvl6pPr>
              <a:lvl7pPr marL="2971800" indent="-228600" eaLnBrk="0" fontAlgn="base" hangingPunct="0">
                <a:lnSpc>
                  <a:spcPct val="80000"/>
                </a:lnSpc>
                <a:spcBef>
                  <a:spcPct val="20000"/>
                </a:spcBef>
                <a:spcAft>
                  <a:spcPct val="15000"/>
                </a:spcAft>
                <a:defRPr sz="2000" b="1">
                  <a:solidFill>
                    <a:srgbClr val="16027C"/>
                  </a:solidFill>
                  <a:latin typeface="Arial" pitchFamily="34" charset="0"/>
                </a:defRPr>
              </a:lvl7pPr>
              <a:lvl8pPr marL="3429000" indent="-228600" eaLnBrk="0" fontAlgn="base" hangingPunct="0">
                <a:lnSpc>
                  <a:spcPct val="80000"/>
                </a:lnSpc>
                <a:spcBef>
                  <a:spcPct val="20000"/>
                </a:spcBef>
                <a:spcAft>
                  <a:spcPct val="15000"/>
                </a:spcAft>
                <a:defRPr sz="2000" b="1">
                  <a:solidFill>
                    <a:srgbClr val="16027C"/>
                  </a:solidFill>
                  <a:latin typeface="Arial" pitchFamily="34" charset="0"/>
                </a:defRPr>
              </a:lvl8pPr>
              <a:lvl9pPr marL="3886200" indent="-228600" eaLnBrk="0" fontAlgn="base" hangingPunct="0">
                <a:lnSpc>
                  <a:spcPct val="80000"/>
                </a:lnSpc>
                <a:spcBef>
                  <a:spcPct val="20000"/>
                </a:spcBef>
                <a:spcAft>
                  <a:spcPct val="15000"/>
                </a:spcAft>
                <a:defRPr sz="2000" b="1">
                  <a:solidFill>
                    <a:srgbClr val="16027C"/>
                  </a:solidFill>
                  <a:latin typeface="Arial" pitchFamily="34" charset="0"/>
                </a:defRPr>
              </a:lvl9pPr>
            </a:lstStyle>
            <a:p>
              <a:pPr eaLnBrk="1" hangingPunct="1">
                <a:lnSpc>
                  <a:spcPct val="100000"/>
                </a:lnSpc>
                <a:spcBef>
                  <a:spcPct val="0"/>
                </a:spcBef>
                <a:spcAft>
                  <a:spcPct val="0"/>
                </a:spcAft>
              </a:pPr>
              <a:r>
                <a:rPr lang="en-US" sz="1800"/>
                <a:t>1954</a:t>
              </a:r>
            </a:p>
          </p:txBody>
        </p:sp>
        <p:sp>
          <p:nvSpPr>
            <p:cNvPr id="15408" name="Rectangle 57"/>
            <p:cNvSpPr>
              <a:spLocks noChangeArrowheads="1"/>
            </p:cNvSpPr>
            <p:nvPr/>
          </p:nvSpPr>
          <p:spPr bwMode="auto">
            <a:xfrm>
              <a:off x="788" y="1556"/>
              <a:ext cx="1010"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lang="en-US" sz="1800"/>
                <a:t>TOT Established</a:t>
              </a:r>
            </a:p>
          </p:txBody>
        </p:sp>
      </p:grpSp>
      <p:grpSp>
        <p:nvGrpSpPr>
          <p:cNvPr id="6" name="Group 63"/>
          <p:cNvGrpSpPr>
            <a:grpSpLocks/>
          </p:cNvGrpSpPr>
          <p:nvPr/>
        </p:nvGrpSpPr>
        <p:grpSpPr bwMode="auto">
          <a:xfrm>
            <a:off x="1225550" y="3249613"/>
            <a:ext cx="2044700" cy="1949450"/>
            <a:chOff x="192" y="2048"/>
            <a:chExt cx="1288" cy="1228"/>
          </a:xfrm>
        </p:grpSpPr>
        <p:sp>
          <p:nvSpPr>
            <p:cNvPr id="15402" name="Rectangle 32"/>
            <p:cNvSpPr>
              <a:spLocks noChangeArrowheads="1"/>
            </p:cNvSpPr>
            <p:nvPr/>
          </p:nvSpPr>
          <p:spPr bwMode="auto">
            <a:xfrm>
              <a:off x="192" y="2481"/>
              <a:ext cx="1288" cy="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lang="en-US"/>
                <a:t>1 phone/100 people (TH)</a:t>
              </a:r>
            </a:p>
            <a:p>
              <a:pPr>
                <a:lnSpc>
                  <a:spcPct val="100000"/>
                </a:lnSpc>
                <a:spcBef>
                  <a:spcPct val="0"/>
                </a:spcBef>
                <a:spcAft>
                  <a:spcPct val="0"/>
                </a:spcAft>
              </a:pPr>
              <a:r>
                <a:rPr lang="en-US" sz="1800"/>
                <a:t>5.6 phone/100 people (BKK)</a:t>
              </a:r>
            </a:p>
          </p:txBody>
        </p:sp>
        <p:sp>
          <p:nvSpPr>
            <p:cNvPr id="15403" name="Line 33"/>
            <p:cNvSpPr>
              <a:spLocks noChangeShapeType="1"/>
            </p:cNvSpPr>
            <p:nvPr/>
          </p:nvSpPr>
          <p:spPr bwMode="auto">
            <a:xfrm>
              <a:off x="432" y="2240"/>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04" name="Text Box 34"/>
            <p:cNvSpPr txBox="1">
              <a:spLocks noChangeArrowheads="1"/>
            </p:cNvSpPr>
            <p:nvPr/>
          </p:nvSpPr>
          <p:spPr bwMode="auto">
            <a:xfrm>
              <a:off x="240" y="2048"/>
              <a:ext cx="7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rgbClr val="16027C"/>
                  </a:solidFill>
                  <a:latin typeface="Arial" pitchFamily="34" charset="0"/>
                </a:defRPr>
              </a:lvl1pPr>
              <a:lvl2pPr marL="742950" indent="-285750" eaLnBrk="0" hangingPunct="0">
                <a:defRPr sz="2000" b="1">
                  <a:solidFill>
                    <a:srgbClr val="16027C"/>
                  </a:solidFill>
                  <a:latin typeface="Arial" pitchFamily="34" charset="0"/>
                </a:defRPr>
              </a:lvl2pPr>
              <a:lvl3pPr marL="1143000" indent="-228600" eaLnBrk="0" hangingPunct="0">
                <a:defRPr sz="2000" b="1">
                  <a:solidFill>
                    <a:srgbClr val="16027C"/>
                  </a:solidFill>
                  <a:latin typeface="Arial" pitchFamily="34" charset="0"/>
                </a:defRPr>
              </a:lvl3pPr>
              <a:lvl4pPr marL="1600200" indent="-228600" eaLnBrk="0" hangingPunct="0">
                <a:defRPr sz="2000" b="1">
                  <a:solidFill>
                    <a:srgbClr val="16027C"/>
                  </a:solidFill>
                  <a:latin typeface="Arial" pitchFamily="34" charset="0"/>
                </a:defRPr>
              </a:lvl4pPr>
              <a:lvl5pPr marL="2057400" indent="-228600" eaLnBrk="0" hangingPunct="0">
                <a:defRPr sz="2000" b="1">
                  <a:solidFill>
                    <a:srgbClr val="16027C"/>
                  </a:solidFill>
                  <a:latin typeface="Arial" pitchFamily="34" charset="0"/>
                </a:defRPr>
              </a:lvl5pPr>
              <a:lvl6pPr marL="2514600" indent="-228600" eaLnBrk="0" fontAlgn="base" hangingPunct="0">
                <a:lnSpc>
                  <a:spcPct val="80000"/>
                </a:lnSpc>
                <a:spcBef>
                  <a:spcPct val="20000"/>
                </a:spcBef>
                <a:spcAft>
                  <a:spcPct val="15000"/>
                </a:spcAft>
                <a:defRPr sz="2000" b="1">
                  <a:solidFill>
                    <a:srgbClr val="16027C"/>
                  </a:solidFill>
                  <a:latin typeface="Arial" pitchFamily="34" charset="0"/>
                </a:defRPr>
              </a:lvl6pPr>
              <a:lvl7pPr marL="2971800" indent="-228600" eaLnBrk="0" fontAlgn="base" hangingPunct="0">
                <a:lnSpc>
                  <a:spcPct val="80000"/>
                </a:lnSpc>
                <a:spcBef>
                  <a:spcPct val="20000"/>
                </a:spcBef>
                <a:spcAft>
                  <a:spcPct val="15000"/>
                </a:spcAft>
                <a:defRPr sz="2000" b="1">
                  <a:solidFill>
                    <a:srgbClr val="16027C"/>
                  </a:solidFill>
                  <a:latin typeface="Arial" pitchFamily="34" charset="0"/>
                </a:defRPr>
              </a:lvl7pPr>
              <a:lvl8pPr marL="3429000" indent="-228600" eaLnBrk="0" fontAlgn="base" hangingPunct="0">
                <a:lnSpc>
                  <a:spcPct val="80000"/>
                </a:lnSpc>
                <a:spcBef>
                  <a:spcPct val="20000"/>
                </a:spcBef>
                <a:spcAft>
                  <a:spcPct val="15000"/>
                </a:spcAft>
                <a:defRPr sz="2000" b="1">
                  <a:solidFill>
                    <a:srgbClr val="16027C"/>
                  </a:solidFill>
                  <a:latin typeface="Arial" pitchFamily="34" charset="0"/>
                </a:defRPr>
              </a:lvl8pPr>
              <a:lvl9pPr marL="3886200" indent="-228600" eaLnBrk="0" fontAlgn="base" hangingPunct="0">
                <a:lnSpc>
                  <a:spcPct val="80000"/>
                </a:lnSpc>
                <a:spcBef>
                  <a:spcPct val="20000"/>
                </a:spcBef>
                <a:spcAft>
                  <a:spcPct val="15000"/>
                </a:spcAft>
                <a:defRPr sz="2000" b="1">
                  <a:solidFill>
                    <a:srgbClr val="16027C"/>
                  </a:solidFill>
                  <a:latin typeface="Arial" pitchFamily="34" charset="0"/>
                </a:defRPr>
              </a:lvl9pPr>
            </a:lstStyle>
            <a:p>
              <a:pPr eaLnBrk="1" hangingPunct="1">
                <a:lnSpc>
                  <a:spcPct val="100000"/>
                </a:lnSpc>
                <a:spcBef>
                  <a:spcPct val="0"/>
                </a:spcBef>
                <a:spcAft>
                  <a:spcPct val="0"/>
                </a:spcAft>
              </a:pPr>
              <a:r>
                <a:rPr lang="en-US" sz="1800"/>
                <a:t>Mid 1980</a:t>
              </a:r>
            </a:p>
          </p:txBody>
        </p:sp>
        <p:sp>
          <p:nvSpPr>
            <p:cNvPr id="15405" name="Line 58"/>
            <p:cNvSpPr>
              <a:spLocks noChangeShapeType="1"/>
            </p:cNvSpPr>
            <p:nvPr/>
          </p:nvSpPr>
          <p:spPr bwMode="auto">
            <a:xfrm flipV="1">
              <a:off x="432" y="2368"/>
              <a:ext cx="0" cy="1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5377" name="Text Box 42"/>
          <p:cNvSpPr txBox="1">
            <a:spLocks noChangeArrowheads="1"/>
          </p:cNvSpPr>
          <p:nvPr/>
        </p:nvSpPr>
        <p:spPr bwMode="auto">
          <a:xfrm>
            <a:off x="4864100" y="3275013"/>
            <a:ext cx="6969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rgbClr val="16027C"/>
                </a:solidFill>
                <a:latin typeface="Arial" pitchFamily="34" charset="0"/>
              </a:defRPr>
            </a:lvl1pPr>
            <a:lvl2pPr marL="742950" indent="-285750" eaLnBrk="0" hangingPunct="0">
              <a:defRPr sz="2000" b="1">
                <a:solidFill>
                  <a:srgbClr val="16027C"/>
                </a:solidFill>
                <a:latin typeface="Arial" pitchFamily="34" charset="0"/>
              </a:defRPr>
            </a:lvl2pPr>
            <a:lvl3pPr marL="1143000" indent="-228600" eaLnBrk="0" hangingPunct="0">
              <a:defRPr sz="2000" b="1">
                <a:solidFill>
                  <a:srgbClr val="16027C"/>
                </a:solidFill>
                <a:latin typeface="Arial" pitchFamily="34" charset="0"/>
              </a:defRPr>
            </a:lvl3pPr>
            <a:lvl4pPr marL="1600200" indent="-228600" eaLnBrk="0" hangingPunct="0">
              <a:defRPr sz="2000" b="1">
                <a:solidFill>
                  <a:srgbClr val="16027C"/>
                </a:solidFill>
                <a:latin typeface="Arial" pitchFamily="34" charset="0"/>
              </a:defRPr>
            </a:lvl4pPr>
            <a:lvl5pPr marL="2057400" indent="-228600" eaLnBrk="0" hangingPunct="0">
              <a:defRPr sz="2000" b="1">
                <a:solidFill>
                  <a:srgbClr val="16027C"/>
                </a:solidFill>
                <a:latin typeface="Arial" pitchFamily="34" charset="0"/>
              </a:defRPr>
            </a:lvl5pPr>
            <a:lvl6pPr marL="2514600" indent="-228600" eaLnBrk="0" fontAlgn="base" hangingPunct="0">
              <a:lnSpc>
                <a:spcPct val="80000"/>
              </a:lnSpc>
              <a:spcBef>
                <a:spcPct val="20000"/>
              </a:spcBef>
              <a:spcAft>
                <a:spcPct val="15000"/>
              </a:spcAft>
              <a:defRPr sz="2000" b="1">
                <a:solidFill>
                  <a:srgbClr val="16027C"/>
                </a:solidFill>
                <a:latin typeface="Arial" pitchFamily="34" charset="0"/>
              </a:defRPr>
            </a:lvl6pPr>
            <a:lvl7pPr marL="2971800" indent="-228600" eaLnBrk="0" fontAlgn="base" hangingPunct="0">
              <a:lnSpc>
                <a:spcPct val="80000"/>
              </a:lnSpc>
              <a:spcBef>
                <a:spcPct val="20000"/>
              </a:spcBef>
              <a:spcAft>
                <a:spcPct val="15000"/>
              </a:spcAft>
              <a:defRPr sz="2000" b="1">
                <a:solidFill>
                  <a:srgbClr val="16027C"/>
                </a:solidFill>
                <a:latin typeface="Arial" pitchFamily="34" charset="0"/>
              </a:defRPr>
            </a:lvl7pPr>
            <a:lvl8pPr marL="3429000" indent="-228600" eaLnBrk="0" fontAlgn="base" hangingPunct="0">
              <a:lnSpc>
                <a:spcPct val="80000"/>
              </a:lnSpc>
              <a:spcBef>
                <a:spcPct val="20000"/>
              </a:spcBef>
              <a:spcAft>
                <a:spcPct val="15000"/>
              </a:spcAft>
              <a:defRPr sz="2000" b="1">
                <a:solidFill>
                  <a:srgbClr val="16027C"/>
                </a:solidFill>
                <a:latin typeface="Arial" pitchFamily="34" charset="0"/>
              </a:defRPr>
            </a:lvl8pPr>
            <a:lvl9pPr marL="3886200" indent="-228600" eaLnBrk="0" fontAlgn="base" hangingPunct="0">
              <a:lnSpc>
                <a:spcPct val="80000"/>
              </a:lnSpc>
              <a:spcBef>
                <a:spcPct val="20000"/>
              </a:spcBef>
              <a:spcAft>
                <a:spcPct val="15000"/>
              </a:spcAft>
              <a:defRPr sz="2000" b="1">
                <a:solidFill>
                  <a:srgbClr val="16027C"/>
                </a:solidFill>
                <a:latin typeface="Arial" pitchFamily="34" charset="0"/>
              </a:defRPr>
            </a:lvl9pPr>
          </a:lstStyle>
          <a:p>
            <a:pPr eaLnBrk="1" hangingPunct="1">
              <a:lnSpc>
                <a:spcPct val="100000"/>
              </a:lnSpc>
              <a:spcBef>
                <a:spcPct val="0"/>
              </a:spcBef>
              <a:spcAft>
                <a:spcPct val="0"/>
              </a:spcAft>
            </a:pPr>
            <a:r>
              <a:rPr lang="en-US" sz="1800"/>
              <a:t>1998</a:t>
            </a:r>
          </a:p>
        </p:txBody>
      </p:sp>
      <p:sp>
        <p:nvSpPr>
          <p:cNvPr id="15378" name="Line 43"/>
          <p:cNvSpPr>
            <a:spLocks noChangeShapeType="1"/>
          </p:cNvSpPr>
          <p:nvPr/>
        </p:nvSpPr>
        <p:spPr bwMode="auto">
          <a:xfrm>
            <a:off x="3435350" y="3556000"/>
            <a:ext cx="0" cy="152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9" name="Rectangle 76"/>
          <p:cNvSpPr>
            <a:spLocks noChangeArrowheads="1"/>
          </p:cNvSpPr>
          <p:nvPr/>
        </p:nvSpPr>
        <p:spPr bwMode="auto">
          <a:xfrm>
            <a:off x="7467600" y="1295400"/>
            <a:ext cx="167640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1800"/>
              <a:t>1.2 M Internet Hosts</a:t>
            </a:r>
          </a:p>
        </p:txBody>
      </p:sp>
      <p:sp>
        <p:nvSpPr>
          <p:cNvPr id="15380" name="Rectangle 48"/>
          <p:cNvSpPr>
            <a:spLocks noChangeArrowheads="1"/>
          </p:cNvSpPr>
          <p:nvPr/>
        </p:nvSpPr>
        <p:spPr bwMode="auto">
          <a:xfrm>
            <a:off x="622300" y="6305550"/>
            <a:ext cx="3048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spcAft>
                <a:spcPct val="0"/>
              </a:spcAft>
            </a:pPr>
            <a:r>
              <a:rPr lang="en-US"/>
              <a:t>CIA World Factbook</a:t>
            </a:r>
          </a:p>
        </p:txBody>
      </p:sp>
      <p:grpSp>
        <p:nvGrpSpPr>
          <p:cNvPr id="7" name="Group 68"/>
          <p:cNvGrpSpPr>
            <a:grpSpLocks/>
          </p:cNvGrpSpPr>
          <p:nvPr/>
        </p:nvGrpSpPr>
        <p:grpSpPr bwMode="auto">
          <a:xfrm>
            <a:off x="2197100" y="1346200"/>
            <a:ext cx="2638425" cy="2274888"/>
            <a:chOff x="2160" y="848"/>
            <a:chExt cx="1662" cy="1433"/>
          </a:xfrm>
        </p:grpSpPr>
        <p:sp>
          <p:nvSpPr>
            <p:cNvPr id="15399" name="Rectangle 15"/>
            <p:cNvSpPr>
              <a:spLocks noChangeArrowheads="1"/>
            </p:cNvSpPr>
            <p:nvPr/>
          </p:nvSpPr>
          <p:spPr bwMode="auto">
            <a:xfrm>
              <a:off x="2684" y="2048"/>
              <a:ext cx="43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1993</a:t>
              </a:r>
            </a:p>
          </p:txBody>
        </p:sp>
        <p:sp>
          <p:nvSpPr>
            <p:cNvPr id="15400" name="Rectangle 45"/>
            <p:cNvSpPr>
              <a:spLocks noChangeArrowheads="1"/>
            </p:cNvSpPr>
            <p:nvPr/>
          </p:nvSpPr>
          <p:spPr bwMode="auto">
            <a:xfrm>
              <a:off x="2160" y="848"/>
              <a:ext cx="16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Thaicom 1A Launched</a:t>
              </a:r>
            </a:p>
          </p:txBody>
        </p:sp>
        <p:sp>
          <p:nvSpPr>
            <p:cNvPr id="15401" name="Line 46"/>
            <p:cNvSpPr>
              <a:spLocks noChangeShapeType="1"/>
            </p:cNvSpPr>
            <p:nvPr/>
          </p:nvSpPr>
          <p:spPr bwMode="auto">
            <a:xfrm>
              <a:off x="2928" y="1136"/>
              <a:ext cx="0" cy="9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8" name="Group 68"/>
          <p:cNvGrpSpPr>
            <a:grpSpLocks/>
          </p:cNvGrpSpPr>
          <p:nvPr/>
        </p:nvGrpSpPr>
        <p:grpSpPr bwMode="auto">
          <a:xfrm>
            <a:off x="4194175" y="2346325"/>
            <a:ext cx="1325563" cy="1314450"/>
            <a:chOff x="2628" y="1483"/>
            <a:chExt cx="835" cy="853"/>
          </a:xfrm>
        </p:grpSpPr>
        <p:sp>
          <p:nvSpPr>
            <p:cNvPr id="15395" name="Rectangle 15"/>
            <p:cNvSpPr>
              <a:spLocks noChangeArrowheads="1"/>
            </p:cNvSpPr>
            <p:nvPr/>
          </p:nvSpPr>
          <p:spPr bwMode="auto">
            <a:xfrm>
              <a:off x="2684" y="2048"/>
              <a:ext cx="439"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1997</a:t>
              </a:r>
            </a:p>
          </p:txBody>
        </p:sp>
        <p:sp>
          <p:nvSpPr>
            <p:cNvPr id="15396" name="Line 37"/>
            <p:cNvSpPr>
              <a:spLocks noChangeShapeType="1"/>
            </p:cNvSpPr>
            <p:nvPr/>
          </p:nvSpPr>
          <p:spPr bwMode="auto">
            <a:xfrm>
              <a:off x="2880" y="2240"/>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97" name="Rectangle 45"/>
            <p:cNvSpPr>
              <a:spLocks noChangeArrowheads="1"/>
            </p:cNvSpPr>
            <p:nvPr/>
          </p:nvSpPr>
          <p:spPr bwMode="auto">
            <a:xfrm>
              <a:off x="2628" y="1483"/>
              <a:ext cx="83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Thaicom 3</a:t>
              </a:r>
            </a:p>
          </p:txBody>
        </p:sp>
        <p:sp>
          <p:nvSpPr>
            <p:cNvPr id="15398" name="Line 46"/>
            <p:cNvSpPr>
              <a:spLocks noChangeShapeType="1"/>
            </p:cNvSpPr>
            <p:nvPr/>
          </p:nvSpPr>
          <p:spPr bwMode="auto">
            <a:xfrm flipH="1">
              <a:off x="2880" y="1723"/>
              <a:ext cx="29" cy="35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9" name="Group 68"/>
          <p:cNvGrpSpPr>
            <a:grpSpLocks/>
          </p:cNvGrpSpPr>
          <p:nvPr/>
        </p:nvGrpSpPr>
        <p:grpSpPr bwMode="auto">
          <a:xfrm>
            <a:off x="6816725" y="1763713"/>
            <a:ext cx="1454150" cy="1946275"/>
            <a:chOff x="2296" y="1461"/>
            <a:chExt cx="916" cy="894"/>
          </a:xfrm>
        </p:grpSpPr>
        <p:sp>
          <p:nvSpPr>
            <p:cNvPr id="15391" name="Rectangle 15"/>
            <p:cNvSpPr>
              <a:spLocks noChangeArrowheads="1"/>
            </p:cNvSpPr>
            <p:nvPr/>
          </p:nvSpPr>
          <p:spPr bwMode="auto">
            <a:xfrm>
              <a:off x="2390" y="2097"/>
              <a:ext cx="439"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2005</a:t>
              </a:r>
            </a:p>
          </p:txBody>
        </p:sp>
        <p:sp>
          <p:nvSpPr>
            <p:cNvPr id="15392" name="Line 37"/>
            <p:cNvSpPr>
              <a:spLocks noChangeShapeType="1"/>
            </p:cNvSpPr>
            <p:nvPr/>
          </p:nvSpPr>
          <p:spPr bwMode="auto">
            <a:xfrm>
              <a:off x="2725" y="2259"/>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93" name="Rectangle 45"/>
            <p:cNvSpPr>
              <a:spLocks noChangeArrowheads="1"/>
            </p:cNvSpPr>
            <p:nvPr/>
          </p:nvSpPr>
          <p:spPr bwMode="auto">
            <a:xfrm>
              <a:off x="2296" y="1461"/>
              <a:ext cx="916"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Thaicom 4</a:t>
              </a:r>
            </a:p>
            <a:p>
              <a:pPr>
                <a:lnSpc>
                  <a:spcPct val="100000"/>
                </a:lnSpc>
                <a:spcBef>
                  <a:spcPct val="0"/>
                </a:spcBef>
                <a:spcAft>
                  <a:spcPct val="0"/>
                </a:spcAft>
              </a:pPr>
              <a:r>
                <a:rPr lang="en-US" sz="1800"/>
                <a:t>  Thaicom 5</a:t>
              </a:r>
            </a:p>
          </p:txBody>
        </p:sp>
        <p:sp>
          <p:nvSpPr>
            <p:cNvPr id="15394" name="Line 46"/>
            <p:cNvSpPr>
              <a:spLocks noChangeShapeType="1"/>
            </p:cNvSpPr>
            <p:nvPr/>
          </p:nvSpPr>
          <p:spPr bwMode="auto">
            <a:xfrm>
              <a:off x="2909" y="1723"/>
              <a:ext cx="29" cy="3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5384" name="Line 37"/>
          <p:cNvSpPr>
            <a:spLocks noChangeShapeType="1"/>
          </p:cNvSpPr>
          <p:nvPr/>
        </p:nvSpPr>
        <p:spPr bwMode="auto">
          <a:xfrm>
            <a:off x="7743825" y="3516313"/>
            <a:ext cx="0" cy="20955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5" name="Rectangle 15"/>
          <p:cNvSpPr>
            <a:spLocks noChangeArrowheads="1"/>
          </p:cNvSpPr>
          <p:nvPr/>
        </p:nvSpPr>
        <p:spPr bwMode="auto">
          <a:xfrm>
            <a:off x="7497763" y="3186113"/>
            <a:ext cx="6969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2006</a:t>
            </a:r>
          </a:p>
        </p:txBody>
      </p:sp>
      <p:sp>
        <p:nvSpPr>
          <p:cNvPr id="15386" name="Line 46"/>
          <p:cNvSpPr>
            <a:spLocks noChangeShapeType="1"/>
          </p:cNvSpPr>
          <p:nvPr/>
        </p:nvSpPr>
        <p:spPr bwMode="auto">
          <a:xfrm>
            <a:off x="6965950" y="2095500"/>
            <a:ext cx="196850" cy="10191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87" name="Line 46"/>
          <p:cNvSpPr>
            <a:spLocks noChangeShapeType="1"/>
          </p:cNvSpPr>
          <p:nvPr/>
        </p:nvSpPr>
        <p:spPr bwMode="auto">
          <a:xfrm>
            <a:off x="685800" y="2333625"/>
            <a:ext cx="46038" cy="7334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88" name="Rectangle 50"/>
          <p:cNvSpPr>
            <a:spLocks noChangeArrowheads="1"/>
          </p:cNvSpPr>
          <p:nvPr/>
        </p:nvSpPr>
        <p:spPr bwMode="auto">
          <a:xfrm>
            <a:off x="8162925" y="3111500"/>
            <a:ext cx="6969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spcAft>
                <a:spcPct val="0"/>
              </a:spcAft>
            </a:pPr>
            <a:r>
              <a:rPr lang="en-US" sz="1800"/>
              <a:t>2008</a:t>
            </a:r>
          </a:p>
        </p:txBody>
      </p:sp>
      <p:sp>
        <p:nvSpPr>
          <p:cNvPr id="15389" name="Rectangle 76"/>
          <p:cNvSpPr>
            <a:spLocks noChangeArrowheads="1"/>
          </p:cNvSpPr>
          <p:nvPr/>
        </p:nvSpPr>
        <p:spPr bwMode="auto">
          <a:xfrm>
            <a:off x="7869238" y="2333625"/>
            <a:ext cx="1239837"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1800"/>
              <a:t>16.1 M Internet Users</a:t>
            </a:r>
          </a:p>
        </p:txBody>
      </p:sp>
      <p:sp>
        <p:nvSpPr>
          <p:cNvPr id="15390" name="Line 46"/>
          <p:cNvSpPr>
            <a:spLocks noChangeShapeType="1"/>
          </p:cNvSpPr>
          <p:nvPr/>
        </p:nvSpPr>
        <p:spPr bwMode="auto">
          <a:xfrm>
            <a:off x="8412163" y="3043238"/>
            <a:ext cx="0" cy="1984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 name="Footer Placeholder 9"/>
          <p:cNvSpPr>
            <a:spLocks noGrp="1"/>
          </p:cNvSpPr>
          <p:nvPr>
            <p:ph type="ftr" sz="quarter" idx="11"/>
          </p:nvPr>
        </p:nvSpPr>
        <p:spPr/>
        <p:txBody>
          <a:bodyPr/>
          <a:lstStyle/>
          <a:p>
            <a:pPr>
              <a:defRPr/>
            </a:pPr>
            <a:r>
              <a:rPr lang="en-US"/>
              <a:t>Copyright 2021 John Wiley &amp; Sons, Inc.</a:t>
            </a:r>
            <a:endParaRPr lang="en-US" dirty="0"/>
          </a:p>
        </p:txBody>
      </p:sp>
    </p:spTree>
    <p:extLst>
      <p:ext uri="{BB962C8B-B14F-4D97-AF65-F5344CB8AC3E}">
        <p14:creationId xmlns:p14="http://schemas.microsoft.com/office/powerpoint/2010/main" val="38258539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72" name="Text Box 16"/>
          <p:cNvSpPr txBox="1">
            <a:spLocks noChangeArrowheads="1"/>
          </p:cNvSpPr>
          <p:nvPr/>
        </p:nvSpPr>
        <p:spPr bwMode="auto">
          <a:xfrm>
            <a:off x="3235325" y="4044950"/>
            <a:ext cx="23828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lnSpc>
                <a:spcPct val="100000"/>
              </a:lnSpc>
              <a:spcBef>
                <a:spcPct val="0"/>
              </a:spcBef>
              <a:spcAft>
                <a:spcPct val="0"/>
              </a:spcAft>
            </a:pPr>
            <a:r>
              <a:rPr lang="en-US" sz="2800">
                <a:solidFill>
                  <a:srgbClr val="00008C"/>
                </a:solidFill>
              </a:rPr>
              <a:t>convergence</a:t>
            </a:r>
          </a:p>
        </p:txBody>
      </p:sp>
      <p:sp>
        <p:nvSpPr>
          <p:cNvPr id="2867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2867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AC4A4671-7482-494D-B192-74D369697331}" type="slidenum">
              <a:rPr lang="en-US" sz="1400"/>
              <a:pPr eaLnBrk="1" hangingPunct="1"/>
              <a:t>15</a:t>
            </a:fld>
            <a:endParaRPr lang="en-US" sz="1400"/>
          </a:p>
        </p:txBody>
      </p:sp>
      <p:sp>
        <p:nvSpPr>
          <p:cNvPr id="28677" name="Rectangle 2"/>
          <p:cNvSpPr>
            <a:spLocks noGrp="1" noChangeArrowheads="1"/>
          </p:cNvSpPr>
          <p:nvPr>
            <p:ph type="title"/>
          </p:nvPr>
        </p:nvSpPr>
        <p:spPr>
          <a:xfrm>
            <a:off x="685800" y="423863"/>
            <a:ext cx="7772400" cy="762000"/>
          </a:xfrm>
        </p:spPr>
        <p:txBody>
          <a:bodyPr/>
          <a:lstStyle/>
          <a:p>
            <a:pPr algn="l" eaLnBrk="1" hangingPunct="1"/>
            <a:r>
              <a:rPr lang="en-US"/>
              <a:t>1.2 Data Comm Networks</a:t>
            </a:r>
          </a:p>
        </p:txBody>
      </p:sp>
      <p:sp>
        <p:nvSpPr>
          <p:cNvPr id="121862" name="Oval 6"/>
          <p:cNvSpPr>
            <a:spLocks noChangeArrowheads="1"/>
          </p:cNvSpPr>
          <p:nvPr/>
        </p:nvSpPr>
        <p:spPr bwMode="auto">
          <a:xfrm>
            <a:off x="1219200" y="5257800"/>
            <a:ext cx="6629400" cy="914400"/>
          </a:xfrm>
          <a:prstGeom prst="ellipse">
            <a:avLst/>
          </a:prstGeom>
          <a:solidFill>
            <a:schemeClr val="accent1"/>
          </a:solidFill>
          <a:ln w="9525">
            <a:solidFill>
              <a:schemeClr val="tx1"/>
            </a:solidFill>
            <a:round/>
            <a:headEnd/>
            <a:tailEnd/>
          </a:ln>
        </p:spPr>
        <p:txBody>
          <a:bodyPr wrap="none" anchor="ctr"/>
          <a:lstStyle/>
          <a:p>
            <a:pPr algn="ctr">
              <a:lnSpc>
                <a:spcPct val="100000"/>
              </a:lnSpc>
              <a:spcBef>
                <a:spcPct val="0"/>
              </a:spcBef>
              <a:spcAft>
                <a:spcPct val="0"/>
              </a:spcAft>
            </a:pPr>
            <a:r>
              <a:rPr lang="en-US" sz="2800"/>
              <a:t>Broadband Communications</a:t>
            </a:r>
          </a:p>
        </p:txBody>
      </p:sp>
      <p:sp>
        <p:nvSpPr>
          <p:cNvPr id="121867" name="Line 11"/>
          <p:cNvSpPr>
            <a:spLocks noChangeShapeType="1"/>
          </p:cNvSpPr>
          <p:nvPr/>
        </p:nvSpPr>
        <p:spPr bwMode="auto">
          <a:xfrm>
            <a:off x="2265363" y="3200400"/>
            <a:ext cx="1773237" cy="2209800"/>
          </a:xfrm>
          <a:prstGeom prst="line">
            <a:avLst/>
          </a:prstGeom>
          <a:noFill/>
          <a:ln w="57150" cmpd="thinThick">
            <a:solidFill>
              <a:srgbClr val="00008C"/>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1868" name="Line 12"/>
          <p:cNvSpPr>
            <a:spLocks noChangeShapeType="1"/>
          </p:cNvSpPr>
          <p:nvPr/>
        </p:nvSpPr>
        <p:spPr bwMode="auto">
          <a:xfrm flipH="1">
            <a:off x="4624388" y="3200400"/>
            <a:ext cx="2201862" cy="2209800"/>
          </a:xfrm>
          <a:prstGeom prst="line">
            <a:avLst/>
          </a:prstGeom>
          <a:noFill/>
          <a:ln w="57150" cmpd="thinThick">
            <a:solidFill>
              <a:srgbClr val="00008C"/>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1870" name="Rectangle 14"/>
          <p:cNvSpPr>
            <a:spLocks noChangeArrowheads="1"/>
          </p:cNvSpPr>
          <p:nvPr/>
        </p:nvSpPr>
        <p:spPr bwMode="auto">
          <a:xfrm>
            <a:off x="187325" y="1371600"/>
            <a:ext cx="4156075" cy="1735138"/>
          </a:xfrm>
          <a:prstGeom prst="rect">
            <a:avLst/>
          </a:prstGeom>
          <a:solidFill>
            <a:schemeClr val="accent1"/>
          </a:solidFill>
          <a:ln w="9525">
            <a:solidFill>
              <a:srgbClr val="2A09EF"/>
            </a:solidFill>
            <a:miter lim="800000"/>
            <a:headEnd/>
            <a:tailEnd/>
          </a:ln>
        </p:spPr>
        <p:txBody>
          <a:bodyPr>
            <a:spAutoFit/>
          </a:bodyPr>
          <a:lstStyle/>
          <a:p>
            <a:pPr>
              <a:lnSpc>
                <a:spcPct val="100000"/>
              </a:lnSpc>
              <a:spcBef>
                <a:spcPct val="50000"/>
              </a:spcBef>
              <a:spcAft>
                <a:spcPct val="0"/>
              </a:spcAft>
            </a:pPr>
            <a:r>
              <a:rPr lang="en-US" sz="2800"/>
              <a:t>Telecommunications =</a:t>
            </a:r>
          </a:p>
          <a:p>
            <a:pPr>
              <a:spcBef>
                <a:spcPct val="25000"/>
              </a:spcBef>
              <a:spcAft>
                <a:spcPct val="0"/>
              </a:spcAft>
            </a:pPr>
            <a:r>
              <a:rPr lang="en-US"/>
              <a:t>Transmission of voice, video, and/or data </a:t>
            </a:r>
          </a:p>
          <a:p>
            <a:pPr>
              <a:spcBef>
                <a:spcPct val="25000"/>
              </a:spcBef>
              <a:spcAft>
                <a:spcPct val="0"/>
              </a:spcAft>
              <a:buFontTx/>
              <a:buChar char="-"/>
            </a:pPr>
            <a:r>
              <a:rPr lang="en-US"/>
              <a:t> Implies longer distances</a:t>
            </a:r>
          </a:p>
          <a:p>
            <a:pPr>
              <a:spcBef>
                <a:spcPct val="25000"/>
              </a:spcBef>
              <a:spcAft>
                <a:spcPct val="0"/>
              </a:spcAft>
            </a:pPr>
            <a:r>
              <a:rPr lang="en-US"/>
              <a:t>- Broad term</a:t>
            </a:r>
          </a:p>
        </p:txBody>
      </p:sp>
      <p:sp>
        <p:nvSpPr>
          <p:cNvPr id="121871" name="Rectangle 15"/>
          <p:cNvSpPr>
            <a:spLocks noChangeArrowheads="1"/>
          </p:cNvSpPr>
          <p:nvPr/>
        </p:nvSpPr>
        <p:spPr bwMode="auto">
          <a:xfrm>
            <a:off x="4533900" y="1387475"/>
            <a:ext cx="4360863" cy="1701800"/>
          </a:xfrm>
          <a:prstGeom prst="rect">
            <a:avLst/>
          </a:prstGeom>
          <a:solidFill>
            <a:schemeClr val="accent1"/>
          </a:solidFill>
          <a:ln w="9525">
            <a:solidFill>
              <a:srgbClr val="2A09EF"/>
            </a:solidFill>
            <a:miter lim="800000"/>
            <a:headEnd/>
            <a:tailEnd/>
          </a:ln>
        </p:spPr>
        <p:txBody>
          <a:bodyPr>
            <a:spAutoFit/>
          </a:bodyPr>
          <a:lstStyle/>
          <a:p>
            <a:pPr>
              <a:lnSpc>
                <a:spcPct val="100000"/>
              </a:lnSpc>
              <a:spcBef>
                <a:spcPct val="50000"/>
              </a:spcBef>
              <a:spcAft>
                <a:spcPct val="0"/>
              </a:spcAft>
            </a:pPr>
            <a:r>
              <a:rPr lang="en-US" sz="2800"/>
              <a:t>Data Communications =</a:t>
            </a:r>
          </a:p>
          <a:p>
            <a:pPr>
              <a:lnSpc>
                <a:spcPct val="90000"/>
              </a:lnSpc>
              <a:spcBef>
                <a:spcPct val="50000"/>
              </a:spcBef>
              <a:spcAft>
                <a:spcPct val="0"/>
              </a:spcAft>
            </a:pPr>
            <a:r>
              <a:rPr lang="en-US"/>
              <a:t>Movement of computer information by means of electrical or optical transmission systems</a:t>
            </a:r>
            <a:endParaRPr lang="en-US" sz="1000"/>
          </a:p>
          <a:p>
            <a:pPr>
              <a:lnSpc>
                <a:spcPct val="90000"/>
              </a:lnSpc>
              <a:spcBef>
                <a:spcPct val="50000"/>
              </a:spcBef>
              <a:spcAft>
                <a:spcPct val="0"/>
              </a:spcAft>
            </a:pPr>
            <a:endParaRPr lang="en-US" sz="9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187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187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186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2186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2187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218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72" grpId="0"/>
      <p:bldP spid="121862" grpId="0" animBg="1" autoUpdateAnimBg="0"/>
      <p:bldP spid="121867" grpId="0" animBg="1"/>
      <p:bldP spid="121868" grpId="0" animBg="1"/>
      <p:bldP spid="121870" grpId="0" animBg="1" autoUpdateAnimBg="0"/>
      <p:bldP spid="121871"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2969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7DE49253-80CD-4337-90E8-E501F77B8A69}" type="slidenum">
              <a:rPr lang="en-US" sz="1400"/>
              <a:pPr eaLnBrk="1" hangingPunct="1"/>
              <a:t>16</a:t>
            </a:fld>
            <a:endParaRPr lang="en-US" sz="1400"/>
          </a:p>
        </p:txBody>
      </p:sp>
      <p:sp>
        <p:nvSpPr>
          <p:cNvPr id="29700" name="Rectangle 13"/>
          <p:cNvSpPr>
            <a:spLocks noGrp="1" noChangeArrowheads="1"/>
          </p:cNvSpPr>
          <p:nvPr>
            <p:ph type="title"/>
          </p:nvPr>
        </p:nvSpPr>
        <p:spPr>
          <a:xfrm>
            <a:off x="228600" y="304800"/>
            <a:ext cx="8610600" cy="762000"/>
          </a:xfrm>
          <a:solidFill>
            <a:srgbClr val="FFFFFF"/>
          </a:solidFill>
        </p:spPr>
        <p:txBody>
          <a:bodyPr/>
          <a:lstStyle/>
          <a:p>
            <a:pPr eaLnBrk="1" hangingPunct="1"/>
            <a:r>
              <a:rPr lang="en-US"/>
              <a:t>Components of a Local Area Network</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499" y="1464020"/>
            <a:ext cx="8397307" cy="441758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3072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E26A2DE9-DD0E-454B-9DE3-9AD749A97A8D}" type="slidenum">
              <a:rPr lang="en-US" sz="1400"/>
              <a:pPr eaLnBrk="1" hangingPunct="1"/>
              <a:t>17</a:t>
            </a:fld>
            <a:endParaRPr lang="en-US" sz="1400"/>
          </a:p>
        </p:txBody>
      </p:sp>
      <p:sp>
        <p:nvSpPr>
          <p:cNvPr id="30724" name="Rectangle 1032"/>
          <p:cNvSpPr>
            <a:spLocks noGrp="1" noChangeArrowheads="1"/>
          </p:cNvSpPr>
          <p:nvPr>
            <p:ph type="title"/>
          </p:nvPr>
        </p:nvSpPr>
        <p:spPr/>
        <p:txBody>
          <a:bodyPr/>
          <a:lstStyle/>
          <a:p>
            <a:pPr eaLnBrk="1" hangingPunct="1"/>
            <a:r>
              <a:rPr lang="en-US"/>
              <a:t>Network Types (based on Scale) </a:t>
            </a:r>
          </a:p>
        </p:txBody>
      </p:sp>
      <p:sp>
        <p:nvSpPr>
          <p:cNvPr id="30725" name="Rectangle 1033"/>
          <p:cNvSpPr>
            <a:spLocks noGrp="1" noChangeArrowheads="1"/>
          </p:cNvSpPr>
          <p:nvPr>
            <p:ph type="body" idx="1"/>
          </p:nvPr>
        </p:nvSpPr>
        <p:spPr>
          <a:xfrm>
            <a:off x="609600" y="1295399"/>
            <a:ext cx="7848600" cy="4694695"/>
          </a:xfrm>
        </p:spPr>
        <p:txBody>
          <a:bodyPr/>
          <a:lstStyle/>
          <a:p>
            <a:pPr eaLnBrk="1" hangingPunct="1">
              <a:lnSpc>
                <a:spcPct val="80000"/>
              </a:lnSpc>
            </a:pPr>
            <a:r>
              <a:rPr lang="en-US" dirty="0"/>
              <a:t>Local Area Networks (LAN)</a:t>
            </a:r>
            <a:r>
              <a:rPr lang="en-US" sz="2400" dirty="0"/>
              <a:t> </a:t>
            </a:r>
          </a:p>
          <a:p>
            <a:pPr lvl="1" eaLnBrk="1" hangingPunct="1">
              <a:lnSpc>
                <a:spcPct val="80000"/>
              </a:lnSpc>
            </a:pPr>
            <a:r>
              <a:rPr lang="en-US" sz="2000" dirty="0"/>
              <a:t>room, building</a:t>
            </a:r>
          </a:p>
          <a:p>
            <a:pPr lvl="1" eaLnBrk="1" hangingPunct="1">
              <a:lnSpc>
                <a:spcPct val="80000"/>
              </a:lnSpc>
            </a:pPr>
            <a:r>
              <a:rPr lang="en-US" sz="2000" dirty="0"/>
              <a:t>a group of PCs that share a circuit.</a:t>
            </a:r>
          </a:p>
          <a:p>
            <a:pPr eaLnBrk="1" hangingPunct="1">
              <a:lnSpc>
                <a:spcPct val="80000"/>
              </a:lnSpc>
            </a:pPr>
            <a:r>
              <a:rPr lang="en-US" dirty="0"/>
              <a:t>Backbone Networks</a:t>
            </a:r>
            <a:r>
              <a:rPr lang="en-US" sz="2400" dirty="0"/>
              <a:t> (BN) -  less than few </a:t>
            </a:r>
            <a:r>
              <a:rPr lang="en-US" sz="2400" dirty="0" err="1"/>
              <a:t>kms</a:t>
            </a:r>
            <a:endParaRPr lang="en-US" sz="2400" dirty="0"/>
          </a:p>
          <a:p>
            <a:pPr lvl="1" eaLnBrk="1" hangingPunct="1">
              <a:lnSpc>
                <a:spcPct val="80000"/>
              </a:lnSpc>
            </a:pPr>
            <a:r>
              <a:rPr lang="en-US" sz="2000" dirty="0"/>
              <a:t>a high speed backbone linking together organizational LANs at various locations.</a:t>
            </a:r>
          </a:p>
          <a:p>
            <a:pPr eaLnBrk="1" hangingPunct="1">
              <a:lnSpc>
                <a:spcPct val="80000"/>
              </a:lnSpc>
            </a:pPr>
            <a:r>
              <a:rPr lang="en-US" sz="2400" dirty="0"/>
              <a:t>Wide Area Networks (WANs) - (more than a few </a:t>
            </a:r>
            <a:r>
              <a:rPr lang="en-US" sz="2400" dirty="0" err="1"/>
              <a:t>kms</a:t>
            </a:r>
            <a:r>
              <a:rPr lang="en-US" sz="2400" dirty="0"/>
              <a:t>)</a:t>
            </a:r>
          </a:p>
          <a:p>
            <a:pPr lvl="1" eaLnBrk="1" hangingPunct="1">
              <a:lnSpc>
                <a:spcPct val="80000"/>
              </a:lnSpc>
            </a:pPr>
            <a:r>
              <a:rPr lang="en-US" sz="2000" dirty="0"/>
              <a:t>connects LANs and BNs across different locations </a:t>
            </a:r>
          </a:p>
          <a:p>
            <a:pPr lvl="1" eaLnBrk="1" hangingPunct="1">
              <a:lnSpc>
                <a:spcPct val="80000"/>
              </a:lnSpc>
            </a:pPr>
            <a:r>
              <a:rPr lang="en-US" sz="2000" dirty="0"/>
              <a:t>Often uses leased lines or other services used to transmit data.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3174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7B8B376D-FC18-490D-B257-CA659C675E15}" type="slidenum">
              <a:rPr lang="en-US" sz="1400"/>
              <a:pPr eaLnBrk="1" hangingPunct="1"/>
              <a:t>18</a:t>
            </a:fld>
            <a:endParaRPr lang="en-US" sz="1400"/>
          </a:p>
        </p:txBody>
      </p:sp>
      <p:sp>
        <p:nvSpPr>
          <p:cNvPr id="31748" name="Rectangle 2"/>
          <p:cNvSpPr>
            <a:spLocks noGrp="1" noChangeArrowheads="1"/>
          </p:cNvSpPr>
          <p:nvPr>
            <p:ph type="title"/>
          </p:nvPr>
        </p:nvSpPr>
        <p:spPr>
          <a:xfrm>
            <a:off x="685800" y="330200"/>
            <a:ext cx="7772400" cy="762000"/>
          </a:xfrm>
        </p:spPr>
        <p:txBody>
          <a:bodyPr/>
          <a:lstStyle/>
          <a:p>
            <a:pPr eaLnBrk="1" hangingPunct="1"/>
            <a:r>
              <a:rPr lang="en-US" sz="2800"/>
              <a:t>LANs and Backbones, Wide Area and Metropolitan Area Networks</a:t>
            </a:r>
          </a:p>
        </p:txBody>
      </p:sp>
      <p:sp>
        <p:nvSpPr>
          <p:cNvPr id="31749" name="AutoShape 6" descr="tw0003-y"/>
          <p:cNvSpPr>
            <a:spLocks noChangeAspect="1" noChangeArrowheads="1"/>
          </p:cNvSpPr>
          <p:nvPr/>
        </p:nvSpPr>
        <p:spPr bwMode="auto">
          <a:xfrm>
            <a:off x="2981325" y="1490663"/>
            <a:ext cx="3181350"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1750" name="AutoShape 8" descr="tw0003-y"/>
          <p:cNvSpPr>
            <a:spLocks noChangeAspect="1" noChangeArrowheads="1"/>
          </p:cNvSpPr>
          <p:nvPr/>
        </p:nvSpPr>
        <p:spPr bwMode="auto">
          <a:xfrm>
            <a:off x="2981325" y="1490663"/>
            <a:ext cx="3181350"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712" y="1253236"/>
            <a:ext cx="8198603" cy="483412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3277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262F53D2-3D92-49ED-8646-0599ED9884FD}" type="slidenum">
              <a:rPr lang="en-US" sz="1400"/>
              <a:pPr eaLnBrk="1" hangingPunct="1"/>
              <a:t>19</a:t>
            </a:fld>
            <a:endParaRPr lang="en-US" sz="1400"/>
          </a:p>
        </p:txBody>
      </p:sp>
      <p:sp>
        <p:nvSpPr>
          <p:cNvPr id="32772" name="Rectangle 1030"/>
          <p:cNvSpPr>
            <a:spLocks noGrp="1" noChangeArrowheads="1"/>
          </p:cNvSpPr>
          <p:nvPr>
            <p:ph type="title"/>
          </p:nvPr>
        </p:nvSpPr>
        <p:spPr/>
        <p:txBody>
          <a:bodyPr/>
          <a:lstStyle/>
          <a:p>
            <a:pPr eaLnBrk="1" hangingPunct="1"/>
            <a:r>
              <a:rPr lang="en-US"/>
              <a:t>Intranet vs. Extranet </a:t>
            </a:r>
          </a:p>
        </p:txBody>
      </p:sp>
      <p:sp>
        <p:nvSpPr>
          <p:cNvPr id="32773" name="Rectangle 1031"/>
          <p:cNvSpPr>
            <a:spLocks noGrp="1" noChangeArrowheads="1"/>
          </p:cNvSpPr>
          <p:nvPr>
            <p:ph type="body" idx="1"/>
          </p:nvPr>
        </p:nvSpPr>
        <p:spPr/>
        <p:txBody>
          <a:bodyPr/>
          <a:lstStyle/>
          <a:p>
            <a:pPr eaLnBrk="1" hangingPunct="1">
              <a:lnSpc>
                <a:spcPct val="90000"/>
              </a:lnSpc>
            </a:pPr>
            <a:r>
              <a:rPr lang="en-US" sz="2400"/>
              <a:t>Intranet</a:t>
            </a:r>
          </a:p>
          <a:p>
            <a:pPr lvl="1" eaLnBrk="1" hangingPunct="1">
              <a:lnSpc>
                <a:spcPct val="90000"/>
              </a:lnSpc>
            </a:pPr>
            <a:r>
              <a:rPr lang="en-US" sz="2000"/>
              <a:t>A LAN that uses the Internet technologies </a:t>
            </a:r>
            <a:r>
              <a:rPr lang="en-US" sz="2000" i="1"/>
              <a:t>within</a:t>
            </a:r>
            <a:r>
              <a:rPr lang="en-US" sz="2000"/>
              <a:t> an organization</a:t>
            </a:r>
          </a:p>
          <a:p>
            <a:pPr lvl="1" eaLnBrk="1" hangingPunct="1">
              <a:lnSpc>
                <a:spcPct val="90000"/>
              </a:lnSpc>
            </a:pPr>
            <a:r>
              <a:rPr lang="en-US" sz="2000"/>
              <a:t>Open only those inside the organization</a:t>
            </a:r>
          </a:p>
          <a:p>
            <a:pPr lvl="1" eaLnBrk="1" hangingPunct="1">
              <a:lnSpc>
                <a:spcPct val="90000"/>
              </a:lnSpc>
            </a:pPr>
            <a:r>
              <a:rPr lang="en-US" sz="2000"/>
              <a:t>Example:  insurance related information provided to employees over an intranet</a:t>
            </a:r>
          </a:p>
          <a:p>
            <a:pPr eaLnBrk="1" hangingPunct="1">
              <a:lnSpc>
                <a:spcPct val="90000"/>
              </a:lnSpc>
            </a:pPr>
            <a:r>
              <a:rPr lang="en-US" sz="2400"/>
              <a:t>Extranet</a:t>
            </a:r>
          </a:p>
          <a:p>
            <a:pPr lvl="1" eaLnBrk="1" hangingPunct="1">
              <a:lnSpc>
                <a:spcPct val="90000"/>
              </a:lnSpc>
            </a:pPr>
            <a:r>
              <a:rPr lang="en-US" sz="2000"/>
              <a:t>A LAN that uses the Internet technologies </a:t>
            </a:r>
            <a:r>
              <a:rPr lang="en-US" sz="2000" i="1"/>
              <a:t>across</a:t>
            </a:r>
            <a:r>
              <a:rPr lang="en-US" sz="2000"/>
              <a:t> an organization including some external constituents</a:t>
            </a:r>
          </a:p>
          <a:p>
            <a:pPr lvl="1" eaLnBrk="1" hangingPunct="1">
              <a:lnSpc>
                <a:spcPct val="90000"/>
              </a:lnSpc>
            </a:pPr>
            <a:r>
              <a:rPr lang="en-US" sz="2000"/>
              <a:t>Open only those invited users outside the organization</a:t>
            </a:r>
          </a:p>
          <a:p>
            <a:pPr lvl="1" eaLnBrk="1" hangingPunct="1">
              <a:lnSpc>
                <a:spcPct val="90000"/>
              </a:lnSpc>
            </a:pPr>
            <a:r>
              <a:rPr lang="en-US" sz="2000"/>
              <a:t>Accessible through the Internet</a:t>
            </a:r>
          </a:p>
          <a:p>
            <a:pPr lvl="1" eaLnBrk="1" hangingPunct="1">
              <a:lnSpc>
                <a:spcPct val="90000"/>
              </a:lnSpc>
            </a:pPr>
            <a:r>
              <a:rPr lang="en-US" sz="2000"/>
              <a:t>Example: Suppliers and customers accessing inventory information in a company over an extranet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3379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E90BFC95-05AD-498C-8CA0-09242A0B0864}" type="slidenum">
              <a:rPr lang="en-US" sz="1400"/>
              <a:pPr eaLnBrk="1" hangingPunct="1"/>
              <a:t>20</a:t>
            </a:fld>
            <a:endParaRPr lang="en-US" sz="1400"/>
          </a:p>
        </p:txBody>
      </p:sp>
      <p:sp>
        <p:nvSpPr>
          <p:cNvPr id="33796" name="Rectangle 1026"/>
          <p:cNvSpPr>
            <a:spLocks noGrp="1" noChangeArrowheads="1"/>
          </p:cNvSpPr>
          <p:nvPr>
            <p:ph type="title"/>
          </p:nvPr>
        </p:nvSpPr>
        <p:spPr>
          <a:xfrm>
            <a:off x="685800" y="381000"/>
            <a:ext cx="7772400" cy="762000"/>
          </a:xfrm>
        </p:spPr>
        <p:txBody>
          <a:bodyPr/>
          <a:lstStyle/>
          <a:p>
            <a:pPr eaLnBrk="1" hangingPunct="1"/>
            <a:r>
              <a:rPr lang="en-US"/>
              <a:t>Layered Implementation of Communications Functions</a:t>
            </a:r>
          </a:p>
        </p:txBody>
      </p:sp>
      <p:sp>
        <p:nvSpPr>
          <p:cNvPr id="33797" name="Rectangle 1048"/>
          <p:cNvSpPr>
            <a:spLocks noChangeAspect="1" noChangeArrowheads="1"/>
          </p:cNvSpPr>
          <p:nvPr/>
        </p:nvSpPr>
        <p:spPr bwMode="auto">
          <a:xfrm flipH="1">
            <a:off x="3844925" y="4292600"/>
            <a:ext cx="2225675" cy="1676400"/>
          </a:xfrm>
          <a:prstGeom prst="rect">
            <a:avLst/>
          </a:prstGeom>
          <a:solidFill>
            <a:srgbClr val="FFFFFF"/>
          </a:solidFill>
          <a:ln w="38100">
            <a:solidFill>
              <a:srgbClr val="312587"/>
            </a:solidFill>
            <a:miter lim="800000"/>
            <a:headEnd/>
            <a:tailEnd/>
          </a:ln>
        </p:spPr>
        <p:txBody>
          <a:bodyPr wrap="none" anchor="ctr"/>
          <a:lstStyle/>
          <a:p>
            <a:endParaRPr lang="en-US"/>
          </a:p>
        </p:txBody>
      </p:sp>
      <p:sp>
        <p:nvSpPr>
          <p:cNvPr id="33798" name="Rectangle 1044"/>
          <p:cNvSpPr>
            <a:spLocks noChangeAspect="1" noChangeArrowheads="1"/>
          </p:cNvSpPr>
          <p:nvPr/>
        </p:nvSpPr>
        <p:spPr bwMode="auto">
          <a:xfrm>
            <a:off x="685800" y="4292600"/>
            <a:ext cx="2060575" cy="1676400"/>
          </a:xfrm>
          <a:prstGeom prst="rect">
            <a:avLst/>
          </a:prstGeom>
          <a:solidFill>
            <a:srgbClr val="FFFFFF"/>
          </a:solidFill>
          <a:ln w="38100">
            <a:solidFill>
              <a:srgbClr val="312587"/>
            </a:solidFill>
            <a:miter lim="800000"/>
            <a:headEnd/>
            <a:tailEnd/>
          </a:ln>
        </p:spPr>
        <p:txBody>
          <a:bodyPr wrap="none" anchor="ctr"/>
          <a:lstStyle/>
          <a:p>
            <a:endParaRPr lang="en-US"/>
          </a:p>
        </p:txBody>
      </p:sp>
      <p:sp>
        <p:nvSpPr>
          <p:cNvPr id="33799" name="Line 1053"/>
          <p:cNvSpPr>
            <a:spLocks noChangeAspect="1" noChangeShapeType="1"/>
          </p:cNvSpPr>
          <p:nvPr/>
        </p:nvSpPr>
        <p:spPr bwMode="auto">
          <a:xfrm>
            <a:off x="4029075" y="5819775"/>
            <a:ext cx="0" cy="2444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0" name="Oval 1043"/>
          <p:cNvSpPr>
            <a:spLocks noChangeAspect="1" noChangeArrowheads="1"/>
          </p:cNvSpPr>
          <p:nvPr/>
        </p:nvSpPr>
        <p:spPr bwMode="auto">
          <a:xfrm>
            <a:off x="685800" y="4338638"/>
            <a:ext cx="1465263" cy="503237"/>
          </a:xfrm>
          <a:prstGeom prst="ellipse">
            <a:avLst/>
          </a:prstGeom>
          <a:solidFill>
            <a:schemeClr val="accent1"/>
          </a:solidFill>
          <a:ln w="9525">
            <a:solidFill>
              <a:schemeClr val="tx1"/>
            </a:solidFill>
            <a:round/>
            <a:headEnd/>
            <a:tailEnd/>
          </a:ln>
        </p:spPr>
        <p:txBody>
          <a:bodyPr wrap="none" anchor="ctr"/>
          <a:lstStyle/>
          <a:p>
            <a:pPr algn="ctr">
              <a:lnSpc>
                <a:spcPct val="100000"/>
              </a:lnSpc>
              <a:spcBef>
                <a:spcPct val="0"/>
              </a:spcBef>
              <a:spcAft>
                <a:spcPct val="0"/>
              </a:spcAft>
            </a:pPr>
            <a:r>
              <a:rPr lang="en-US" sz="1800">
                <a:solidFill>
                  <a:srgbClr val="3E2FAD"/>
                </a:solidFill>
              </a:rPr>
              <a:t>Applications</a:t>
            </a:r>
          </a:p>
        </p:txBody>
      </p:sp>
      <p:sp>
        <p:nvSpPr>
          <p:cNvPr id="33801" name="Oval 1045"/>
          <p:cNvSpPr>
            <a:spLocks noChangeAspect="1" noChangeArrowheads="1"/>
          </p:cNvSpPr>
          <p:nvPr/>
        </p:nvSpPr>
        <p:spPr bwMode="auto">
          <a:xfrm>
            <a:off x="950913" y="4749800"/>
            <a:ext cx="915987" cy="1131888"/>
          </a:xfrm>
          <a:prstGeom prst="ellipse">
            <a:avLst/>
          </a:prstGeom>
          <a:solidFill>
            <a:schemeClr val="accent1"/>
          </a:solidFill>
          <a:ln w="9525">
            <a:solidFill>
              <a:schemeClr val="tx1"/>
            </a:solidFill>
            <a:round/>
            <a:headEnd/>
            <a:tailEnd/>
          </a:ln>
        </p:spPr>
        <p:txBody>
          <a:bodyPr wrap="none" anchor="ctr"/>
          <a:lstStyle/>
          <a:p>
            <a:pPr algn="ctr">
              <a:lnSpc>
                <a:spcPct val="100000"/>
              </a:lnSpc>
              <a:spcBef>
                <a:spcPct val="0"/>
              </a:spcBef>
              <a:spcAft>
                <a:spcPct val="0"/>
              </a:spcAft>
            </a:pPr>
            <a:r>
              <a:rPr lang="en-US" sz="1800">
                <a:solidFill>
                  <a:srgbClr val="3E2FAD"/>
                </a:solidFill>
              </a:rPr>
              <a:t>OS</a:t>
            </a:r>
          </a:p>
        </p:txBody>
      </p:sp>
      <p:sp>
        <p:nvSpPr>
          <p:cNvPr id="33802" name="Rectangle 1046"/>
          <p:cNvSpPr>
            <a:spLocks noChangeAspect="1" noChangeArrowheads="1"/>
          </p:cNvSpPr>
          <p:nvPr/>
        </p:nvSpPr>
        <p:spPr bwMode="auto">
          <a:xfrm rot="5379584">
            <a:off x="1635919" y="4818856"/>
            <a:ext cx="1512888" cy="549275"/>
          </a:xfrm>
          <a:prstGeom prst="rect">
            <a:avLst/>
          </a:prstGeom>
          <a:gradFill rotWithShape="0">
            <a:gsLst>
              <a:gs pos="0">
                <a:srgbClr val="AFFFAF"/>
              </a:gs>
              <a:gs pos="100000">
                <a:srgbClr val="517651"/>
              </a:gs>
            </a:gsLst>
            <a:lin ang="5400000" scaled="1"/>
          </a:gradFill>
          <a:ln w="38100">
            <a:solidFill>
              <a:schemeClr val="tx1"/>
            </a:solidFill>
            <a:miter lim="800000"/>
            <a:headEnd/>
            <a:tailEnd/>
          </a:ln>
        </p:spPr>
        <p:txBody>
          <a:bodyPr rot="10800000" vert="eaVert" wrap="none" anchor="ctr"/>
          <a:lstStyle/>
          <a:p>
            <a:pPr algn="ctr">
              <a:lnSpc>
                <a:spcPct val="100000"/>
              </a:lnSpc>
              <a:spcBef>
                <a:spcPct val="0"/>
              </a:spcBef>
              <a:spcAft>
                <a:spcPct val="0"/>
              </a:spcAft>
            </a:pPr>
            <a:endParaRPr lang="en-US">
              <a:solidFill>
                <a:srgbClr val="3E2FAD"/>
              </a:solidFill>
            </a:endParaRPr>
          </a:p>
        </p:txBody>
      </p:sp>
      <p:sp>
        <p:nvSpPr>
          <p:cNvPr id="33803" name="Oval 1047"/>
          <p:cNvSpPr>
            <a:spLocks noChangeAspect="1" noChangeArrowheads="1"/>
          </p:cNvSpPr>
          <p:nvPr/>
        </p:nvSpPr>
        <p:spPr bwMode="auto">
          <a:xfrm flipH="1">
            <a:off x="4516438" y="4338638"/>
            <a:ext cx="1465262" cy="503237"/>
          </a:xfrm>
          <a:prstGeom prst="ellipse">
            <a:avLst/>
          </a:prstGeom>
          <a:solidFill>
            <a:schemeClr val="accent1"/>
          </a:solidFill>
          <a:ln w="9525">
            <a:solidFill>
              <a:schemeClr val="tx1"/>
            </a:solidFill>
            <a:round/>
            <a:headEnd/>
            <a:tailEnd/>
          </a:ln>
        </p:spPr>
        <p:txBody>
          <a:bodyPr wrap="none" anchor="ctr"/>
          <a:lstStyle/>
          <a:p>
            <a:pPr algn="ctr">
              <a:lnSpc>
                <a:spcPct val="100000"/>
              </a:lnSpc>
              <a:spcBef>
                <a:spcPct val="0"/>
              </a:spcBef>
              <a:spcAft>
                <a:spcPct val="0"/>
              </a:spcAft>
            </a:pPr>
            <a:r>
              <a:rPr lang="en-US" sz="1800">
                <a:solidFill>
                  <a:srgbClr val="3E2FAD"/>
                </a:solidFill>
              </a:rPr>
              <a:t>Applications</a:t>
            </a:r>
          </a:p>
        </p:txBody>
      </p:sp>
      <p:sp>
        <p:nvSpPr>
          <p:cNvPr id="33804" name="Oval 1049"/>
          <p:cNvSpPr>
            <a:spLocks noChangeAspect="1" noChangeArrowheads="1"/>
          </p:cNvSpPr>
          <p:nvPr/>
        </p:nvSpPr>
        <p:spPr bwMode="auto">
          <a:xfrm flipH="1">
            <a:off x="4838700" y="4749800"/>
            <a:ext cx="915988" cy="1100138"/>
          </a:xfrm>
          <a:prstGeom prst="ellipse">
            <a:avLst/>
          </a:prstGeom>
          <a:solidFill>
            <a:schemeClr val="accent1"/>
          </a:solidFill>
          <a:ln w="9525">
            <a:solidFill>
              <a:schemeClr val="tx1"/>
            </a:solidFill>
            <a:round/>
            <a:headEnd/>
            <a:tailEnd/>
          </a:ln>
        </p:spPr>
        <p:txBody>
          <a:bodyPr wrap="none" anchor="ctr"/>
          <a:lstStyle/>
          <a:p>
            <a:pPr algn="ctr">
              <a:lnSpc>
                <a:spcPct val="100000"/>
              </a:lnSpc>
              <a:spcBef>
                <a:spcPct val="0"/>
              </a:spcBef>
              <a:spcAft>
                <a:spcPct val="0"/>
              </a:spcAft>
            </a:pPr>
            <a:r>
              <a:rPr lang="en-US" sz="1800">
                <a:solidFill>
                  <a:srgbClr val="3E2FAD"/>
                </a:solidFill>
              </a:rPr>
              <a:t>OS</a:t>
            </a:r>
          </a:p>
        </p:txBody>
      </p:sp>
      <p:sp>
        <p:nvSpPr>
          <p:cNvPr id="33805" name="Rectangle 1050"/>
          <p:cNvSpPr>
            <a:spLocks noChangeAspect="1" noChangeArrowheads="1"/>
          </p:cNvSpPr>
          <p:nvPr/>
        </p:nvSpPr>
        <p:spPr bwMode="auto">
          <a:xfrm rot="5379584">
            <a:off x="3486151" y="4819650"/>
            <a:ext cx="1511300" cy="549275"/>
          </a:xfrm>
          <a:prstGeom prst="rect">
            <a:avLst/>
          </a:prstGeom>
          <a:gradFill rotWithShape="0">
            <a:gsLst>
              <a:gs pos="0">
                <a:srgbClr val="AFFFAF"/>
              </a:gs>
              <a:gs pos="100000">
                <a:srgbClr val="517651"/>
              </a:gs>
            </a:gsLst>
            <a:lin ang="5400000" scaled="1"/>
          </a:gradFill>
          <a:ln w="38100">
            <a:solidFill>
              <a:schemeClr val="tx1"/>
            </a:solidFill>
            <a:miter lim="800000"/>
            <a:headEnd/>
            <a:tailEnd/>
          </a:ln>
        </p:spPr>
        <p:txBody>
          <a:bodyPr rot="10800000" vert="eaVert" wrap="none" anchor="ctr"/>
          <a:lstStyle/>
          <a:p>
            <a:pPr algn="ctr">
              <a:lnSpc>
                <a:spcPct val="100000"/>
              </a:lnSpc>
              <a:spcBef>
                <a:spcPct val="0"/>
              </a:spcBef>
              <a:spcAft>
                <a:spcPct val="0"/>
              </a:spcAft>
            </a:pPr>
            <a:endParaRPr lang="en-US">
              <a:solidFill>
                <a:srgbClr val="3E2FAD"/>
              </a:solidFill>
            </a:endParaRPr>
          </a:p>
        </p:txBody>
      </p:sp>
      <p:sp>
        <p:nvSpPr>
          <p:cNvPr id="33806" name="Line 1051"/>
          <p:cNvSpPr>
            <a:spLocks noChangeAspect="1" noChangeShapeType="1"/>
          </p:cNvSpPr>
          <p:nvPr/>
        </p:nvSpPr>
        <p:spPr bwMode="auto">
          <a:xfrm>
            <a:off x="2624138" y="6064250"/>
            <a:ext cx="14049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7" name="Line 1052"/>
          <p:cNvSpPr>
            <a:spLocks noChangeAspect="1" noChangeShapeType="1"/>
          </p:cNvSpPr>
          <p:nvPr/>
        </p:nvSpPr>
        <p:spPr bwMode="auto">
          <a:xfrm flipH="1">
            <a:off x="2624138" y="5881688"/>
            <a:ext cx="0" cy="1825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8" name="Line 1054"/>
          <p:cNvSpPr>
            <a:spLocks noChangeAspect="1" noChangeShapeType="1"/>
          </p:cNvSpPr>
          <p:nvPr/>
        </p:nvSpPr>
        <p:spPr bwMode="auto">
          <a:xfrm>
            <a:off x="2117725" y="4537075"/>
            <a:ext cx="549275" cy="0"/>
          </a:xfrm>
          <a:prstGeom prst="line">
            <a:avLst/>
          </a:prstGeom>
          <a:noFill/>
          <a:ln w="5715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9" name="Line 1055"/>
          <p:cNvSpPr>
            <a:spLocks noChangeAspect="1" noChangeShapeType="1"/>
          </p:cNvSpPr>
          <p:nvPr/>
        </p:nvSpPr>
        <p:spPr bwMode="auto">
          <a:xfrm>
            <a:off x="2117725" y="4781550"/>
            <a:ext cx="549275" cy="0"/>
          </a:xfrm>
          <a:prstGeom prst="line">
            <a:avLst/>
          </a:prstGeom>
          <a:noFill/>
          <a:ln w="5715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10" name="Line 1056"/>
          <p:cNvSpPr>
            <a:spLocks noChangeAspect="1" noChangeShapeType="1"/>
          </p:cNvSpPr>
          <p:nvPr/>
        </p:nvSpPr>
        <p:spPr bwMode="auto">
          <a:xfrm>
            <a:off x="2117725" y="4964113"/>
            <a:ext cx="549275" cy="0"/>
          </a:xfrm>
          <a:prstGeom prst="line">
            <a:avLst/>
          </a:prstGeom>
          <a:noFill/>
          <a:ln w="5715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11" name="Line 1057"/>
          <p:cNvSpPr>
            <a:spLocks noChangeAspect="1" noChangeShapeType="1"/>
          </p:cNvSpPr>
          <p:nvPr/>
        </p:nvSpPr>
        <p:spPr bwMode="auto">
          <a:xfrm>
            <a:off x="2117725" y="5208588"/>
            <a:ext cx="549275" cy="0"/>
          </a:xfrm>
          <a:prstGeom prst="line">
            <a:avLst/>
          </a:prstGeom>
          <a:noFill/>
          <a:ln w="5715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12" name="Line 1058"/>
          <p:cNvSpPr>
            <a:spLocks noChangeAspect="1" noChangeShapeType="1"/>
          </p:cNvSpPr>
          <p:nvPr/>
        </p:nvSpPr>
        <p:spPr bwMode="auto">
          <a:xfrm>
            <a:off x="2117725" y="5453063"/>
            <a:ext cx="549275" cy="0"/>
          </a:xfrm>
          <a:prstGeom prst="line">
            <a:avLst/>
          </a:prstGeom>
          <a:noFill/>
          <a:ln w="5715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13" name="Line 1059"/>
          <p:cNvSpPr>
            <a:spLocks noChangeAspect="1" noChangeShapeType="1"/>
          </p:cNvSpPr>
          <p:nvPr/>
        </p:nvSpPr>
        <p:spPr bwMode="auto">
          <a:xfrm>
            <a:off x="2117725" y="5697538"/>
            <a:ext cx="549275" cy="0"/>
          </a:xfrm>
          <a:prstGeom prst="line">
            <a:avLst/>
          </a:prstGeom>
          <a:noFill/>
          <a:ln w="5715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14" name="Line 1060"/>
          <p:cNvSpPr>
            <a:spLocks noChangeAspect="1" noChangeShapeType="1"/>
          </p:cNvSpPr>
          <p:nvPr/>
        </p:nvSpPr>
        <p:spPr bwMode="auto">
          <a:xfrm>
            <a:off x="3967163" y="5575300"/>
            <a:ext cx="549275" cy="0"/>
          </a:xfrm>
          <a:prstGeom prst="line">
            <a:avLst/>
          </a:prstGeom>
          <a:noFill/>
          <a:ln w="5715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15" name="Line 1061"/>
          <p:cNvSpPr>
            <a:spLocks noChangeAspect="1" noChangeShapeType="1"/>
          </p:cNvSpPr>
          <p:nvPr/>
        </p:nvSpPr>
        <p:spPr bwMode="auto">
          <a:xfrm>
            <a:off x="3967163" y="5330825"/>
            <a:ext cx="549275" cy="0"/>
          </a:xfrm>
          <a:prstGeom prst="line">
            <a:avLst/>
          </a:prstGeom>
          <a:noFill/>
          <a:ln w="5715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16" name="Line 1062"/>
          <p:cNvSpPr>
            <a:spLocks noChangeAspect="1" noChangeShapeType="1"/>
          </p:cNvSpPr>
          <p:nvPr/>
        </p:nvSpPr>
        <p:spPr bwMode="auto">
          <a:xfrm>
            <a:off x="3967163" y="5086350"/>
            <a:ext cx="549275" cy="0"/>
          </a:xfrm>
          <a:prstGeom prst="line">
            <a:avLst/>
          </a:prstGeom>
          <a:noFill/>
          <a:ln w="5715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17" name="Line 1063"/>
          <p:cNvSpPr>
            <a:spLocks noChangeAspect="1" noChangeShapeType="1"/>
          </p:cNvSpPr>
          <p:nvPr/>
        </p:nvSpPr>
        <p:spPr bwMode="auto">
          <a:xfrm>
            <a:off x="3967163" y="4781550"/>
            <a:ext cx="549275" cy="0"/>
          </a:xfrm>
          <a:prstGeom prst="line">
            <a:avLst/>
          </a:prstGeom>
          <a:noFill/>
          <a:ln w="5715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18" name="Line 1064"/>
          <p:cNvSpPr>
            <a:spLocks noChangeAspect="1" noChangeShapeType="1"/>
          </p:cNvSpPr>
          <p:nvPr/>
        </p:nvSpPr>
        <p:spPr bwMode="auto">
          <a:xfrm>
            <a:off x="3967163" y="4537075"/>
            <a:ext cx="549275" cy="0"/>
          </a:xfrm>
          <a:prstGeom prst="line">
            <a:avLst/>
          </a:prstGeom>
          <a:noFill/>
          <a:ln w="5715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19" name="Text Box 1065"/>
          <p:cNvSpPr txBox="1">
            <a:spLocks noChangeArrowheads="1"/>
          </p:cNvSpPr>
          <p:nvPr/>
        </p:nvSpPr>
        <p:spPr bwMode="auto">
          <a:xfrm>
            <a:off x="6096000" y="4292600"/>
            <a:ext cx="2743200"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lnSpc>
                <a:spcPct val="100000"/>
              </a:lnSpc>
              <a:spcBef>
                <a:spcPct val="0"/>
              </a:spcBef>
              <a:spcAft>
                <a:spcPct val="0"/>
              </a:spcAft>
            </a:pPr>
            <a:r>
              <a:rPr lang="en-US" sz="2400">
                <a:solidFill>
                  <a:srgbClr val="3E2FAD"/>
                </a:solidFill>
              </a:rPr>
              <a:t>Multi layer implementation</a:t>
            </a:r>
          </a:p>
          <a:p>
            <a:pPr eaLnBrk="1" hangingPunct="1">
              <a:lnSpc>
                <a:spcPct val="100000"/>
              </a:lnSpc>
              <a:spcBef>
                <a:spcPct val="0"/>
              </a:spcBef>
              <a:spcAft>
                <a:spcPct val="0"/>
              </a:spcAft>
              <a:buFontTx/>
              <a:buChar char="-"/>
            </a:pPr>
            <a:r>
              <a:rPr lang="en-US">
                <a:solidFill>
                  <a:srgbClr val="3E2FAD"/>
                </a:solidFill>
              </a:rPr>
              <a:t>Breaking down into smaller components</a:t>
            </a:r>
          </a:p>
          <a:p>
            <a:pPr eaLnBrk="1" hangingPunct="1">
              <a:lnSpc>
                <a:spcPct val="100000"/>
              </a:lnSpc>
              <a:spcBef>
                <a:spcPct val="0"/>
              </a:spcBef>
              <a:spcAft>
                <a:spcPct val="0"/>
              </a:spcAft>
              <a:buFontTx/>
              <a:buChar char="-"/>
            </a:pPr>
            <a:r>
              <a:rPr lang="en-US">
                <a:solidFill>
                  <a:srgbClr val="3E2FAD"/>
                </a:solidFill>
              </a:rPr>
              <a:t>Easier to implement</a:t>
            </a:r>
          </a:p>
        </p:txBody>
      </p:sp>
      <p:sp>
        <p:nvSpPr>
          <p:cNvPr id="33820" name="Text Box 1041"/>
          <p:cNvSpPr txBox="1">
            <a:spLocks noChangeArrowheads="1"/>
          </p:cNvSpPr>
          <p:nvPr/>
        </p:nvSpPr>
        <p:spPr bwMode="auto">
          <a:xfrm>
            <a:off x="6224588" y="1366838"/>
            <a:ext cx="2490787" cy="251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lnSpc>
                <a:spcPct val="100000"/>
              </a:lnSpc>
              <a:spcBef>
                <a:spcPct val="0"/>
              </a:spcBef>
              <a:spcAft>
                <a:spcPct val="0"/>
              </a:spcAft>
            </a:pPr>
            <a:r>
              <a:rPr lang="en-US" sz="2400">
                <a:solidFill>
                  <a:srgbClr val="3E2FAD"/>
                </a:solidFill>
              </a:rPr>
              <a:t>Single layer implementation</a:t>
            </a:r>
          </a:p>
          <a:p>
            <a:pPr eaLnBrk="1" hangingPunct="1"/>
            <a:r>
              <a:rPr lang="en-US">
                <a:solidFill>
                  <a:srgbClr val="3E2FAD"/>
                </a:solidFill>
              </a:rPr>
              <a:t>-Networking with large components is complex to understand and implement</a:t>
            </a:r>
            <a:endParaRPr lang="en-US" sz="2400">
              <a:solidFill>
                <a:srgbClr val="3E2FAD"/>
              </a:solidFill>
            </a:endParaRPr>
          </a:p>
          <a:p>
            <a:pPr eaLnBrk="1" hangingPunct="1">
              <a:lnSpc>
                <a:spcPct val="100000"/>
              </a:lnSpc>
              <a:spcBef>
                <a:spcPct val="0"/>
              </a:spcBef>
              <a:spcAft>
                <a:spcPct val="0"/>
              </a:spcAft>
            </a:pPr>
            <a:r>
              <a:rPr lang="en-US" sz="2400">
                <a:solidFill>
                  <a:srgbClr val="3E2FAD"/>
                </a:solidFill>
              </a:rPr>
              <a:t> </a:t>
            </a:r>
          </a:p>
        </p:txBody>
      </p:sp>
      <p:sp>
        <p:nvSpPr>
          <p:cNvPr id="33821" name="Rectangle 1035"/>
          <p:cNvSpPr>
            <a:spLocks noChangeAspect="1" noChangeArrowheads="1"/>
          </p:cNvSpPr>
          <p:nvPr/>
        </p:nvSpPr>
        <p:spPr bwMode="auto">
          <a:xfrm flipH="1">
            <a:off x="3844925" y="1549400"/>
            <a:ext cx="2251075" cy="1890713"/>
          </a:xfrm>
          <a:prstGeom prst="rect">
            <a:avLst/>
          </a:prstGeom>
          <a:solidFill>
            <a:srgbClr val="FFFFFF"/>
          </a:solidFill>
          <a:ln w="38100">
            <a:solidFill>
              <a:srgbClr val="312587"/>
            </a:solidFill>
            <a:miter lim="800000"/>
            <a:headEnd/>
            <a:tailEnd/>
          </a:ln>
        </p:spPr>
        <p:txBody>
          <a:bodyPr wrap="none" anchor="ctr"/>
          <a:lstStyle/>
          <a:p>
            <a:endParaRPr lang="en-US"/>
          </a:p>
        </p:txBody>
      </p:sp>
      <p:sp>
        <p:nvSpPr>
          <p:cNvPr id="33822" name="Rectangle 1030"/>
          <p:cNvSpPr>
            <a:spLocks noChangeAspect="1" noChangeArrowheads="1"/>
          </p:cNvSpPr>
          <p:nvPr/>
        </p:nvSpPr>
        <p:spPr bwMode="auto">
          <a:xfrm>
            <a:off x="763588" y="1549400"/>
            <a:ext cx="2274887" cy="1890713"/>
          </a:xfrm>
          <a:prstGeom prst="rect">
            <a:avLst/>
          </a:prstGeom>
          <a:solidFill>
            <a:srgbClr val="FFFFFF"/>
          </a:solidFill>
          <a:ln w="38100">
            <a:solidFill>
              <a:srgbClr val="312587"/>
            </a:solidFill>
            <a:miter lim="800000"/>
            <a:headEnd/>
            <a:tailEnd/>
          </a:ln>
        </p:spPr>
        <p:txBody>
          <a:bodyPr wrap="none" anchor="ctr"/>
          <a:lstStyle/>
          <a:p>
            <a:endParaRPr lang="en-US"/>
          </a:p>
        </p:txBody>
      </p:sp>
      <p:sp>
        <p:nvSpPr>
          <p:cNvPr id="33823" name="Line 1040"/>
          <p:cNvSpPr>
            <a:spLocks noChangeAspect="1" noChangeShapeType="1"/>
          </p:cNvSpPr>
          <p:nvPr/>
        </p:nvSpPr>
        <p:spPr bwMode="auto">
          <a:xfrm>
            <a:off x="4175125" y="3351213"/>
            <a:ext cx="0" cy="2873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24" name="Oval 1029"/>
          <p:cNvSpPr>
            <a:spLocks noChangeAspect="1" noChangeArrowheads="1"/>
          </p:cNvSpPr>
          <p:nvPr/>
        </p:nvSpPr>
        <p:spPr bwMode="auto">
          <a:xfrm>
            <a:off x="763588" y="1711325"/>
            <a:ext cx="1516062" cy="593725"/>
          </a:xfrm>
          <a:prstGeom prst="ellipse">
            <a:avLst/>
          </a:prstGeom>
          <a:solidFill>
            <a:schemeClr val="accent1"/>
          </a:solidFill>
          <a:ln w="9525">
            <a:solidFill>
              <a:schemeClr val="tx1"/>
            </a:solidFill>
            <a:round/>
            <a:headEnd/>
            <a:tailEnd/>
          </a:ln>
        </p:spPr>
        <p:txBody>
          <a:bodyPr wrap="none" anchor="ctr"/>
          <a:lstStyle/>
          <a:p>
            <a:pPr algn="ctr">
              <a:lnSpc>
                <a:spcPct val="100000"/>
              </a:lnSpc>
              <a:spcBef>
                <a:spcPct val="0"/>
              </a:spcBef>
              <a:spcAft>
                <a:spcPct val="0"/>
              </a:spcAft>
            </a:pPr>
            <a:r>
              <a:rPr lang="en-US" sz="1600">
                <a:solidFill>
                  <a:srgbClr val="00008C"/>
                </a:solidFill>
              </a:rPr>
              <a:t>Applications</a:t>
            </a:r>
          </a:p>
        </p:txBody>
      </p:sp>
      <p:sp>
        <p:nvSpPr>
          <p:cNvPr id="33825" name="Oval 1031"/>
          <p:cNvSpPr>
            <a:spLocks noChangeAspect="1" noChangeArrowheads="1"/>
          </p:cNvSpPr>
          <p:nvPr/>
        </p:nvSpPr>
        <p:spPr bwMode="auto">
          <a:xfrm>
            <a:off x="1047750" y="2143125"/>
            <a:ext cx="947738" cy="1081088"/>
          </a:xfrm>
          <a:prstGeom prst="ellipse">
            <a:avLst/>
          </a:prstGeom>
          <a:solidFill>
            <a:schemeClr val="accent1"/>
          </a:solidFill>
          <a:ln w="9525">
            <a:solidFill>
              <a:schemeClr val="tx1"/>
            </a:solidFill>
            <a:round/>
            <a:headEnd/>
            <a:tailEnd/>
          </a:ln>
        </p:spPr>
        <p:txBody>
          <a:bodyPr wrap="none" anchor="ctr"/>
          <a:lstStyle/>
          <a:p>
            <a:pPr algn="ctr">
              <a:lnSpc>
                <a:spcPct val="100000"/>
              </a:lnSpc>
              <a:spcBef>
                <a:spcPct val="0"/>
              </a:spcBef>
              <a:spcAft>
                <a:spcPct val="0"/>
              </a:spcAft>
            </a:pPr>
            <a:r>
              <a:rPr lang="en-US" sz="1600">
                <a:solidFill>
                  <a:srgbClr val="00008C"/>
                </a:solidFill>
              </a:rPr>
              <a:t>OS</a:t>
            </a:r>
          </a:p>
        </p:txBody>
      </p:sp>
      <p:sp>
        <p:nvSpPr>
          <p:cNvPr id="33826" name="Rectangle 1032"/>
          <p:cNvSpPr>
            <a:spLocks noChangeAspect="1" noChangeArrowheads="1"/>
          </p:cNvSpPr>
          <p:nvPr/>
        </p:nvSpPr>
        <p:spPr bwMode="auto">
          <a:xfrm rot="5379584">
            <a:off x="1767682" y="2209006"/>
            <a:ext cx="1782762" cy="568325"/>
          </a:xfrm>
          <a:prstGeom prst="rect">
            <a:avLst/>
          </a:prstGeom>
          <a:solidFill>
            <a:srgbClr val="AFFFAF"/>
          </a:solidFill>
          <a:ln w="38100">
            <a:solidFill>
              <a:schemeClr val="tx1"/>
            </a:solidFill>
            <a:miter lim="800000"/>
            <a:headEnd/>
            <a:tailEnd/>
          </a:ln>
        </p:spPr>
        <p:txBody>
          <a:bodyPr wrap="none" anchor="ctr"/>
          <a:lstStyle/>
          <a:p>
            <a:pPr algn="ctr">
              <a:lnSpc>
                <a:spcPct val="100000"/>
              </a:lnSpc>
              <a:spcBef>
                <a:spcPct val="0"/>
              </a:spcBef>
              <a:spcAft>
                <a:spcPct val="0"/>
              </a:spcAft>
            </a:pPr>
            <a:r>
              <a:rPr lang="en-US" sz="1800">
                <a:solidFill>
                  <a:srgbClr val="00008C"/>
                </a:solidFill>
              </a:rPr>
              <a:t>Communication</a:t>
            </a:r>
          </a:p>
        </p:txBody>
      </p:sp>
      <p:sp>
        <p:nvSpPr>
          <p:cNvPr id="33827" name="Oval 1034"/>
          <p:cNvSpPr>
            <a:spLocks noChangeAspect="1" noChangeArrowheads="1"/>
          </p:cNvSpPr>
          <p:nvPr/>
        </p:nvSpPr>
        <p:spPr bwMode="auto">
          <a:xfrm flipH="1">
            <a:off x="4554538" y="1711325"/>
            <a:ext cx="1516062" cy="593725"/>
          </a:xfrm>
          <a:prstGeom prst="ellipse">
            <a:avLst/>
          </a:prstGeom>
          <a:solidFill>
            <a:schemeClr val="accent1"/>
          </a:solidFill>
          <a:ln w="9525">
            <a:solidFill>
              <a:schemeClr val="tx1"/>
            </a:solidFill>
            <a:round/>
            <a:headEnd/>
            <a:tailEnd/>
          </a:ln>
        </p:spPr>
        <p:txBody>
          <a:bodyPr wrap="none" anchor="ctr"/>
          <a:lstStyle/>
          <a:p>
            <a:pPr algn="ctr">
              <a:lnSpc>
                <a:spcPct val="100000"/>
              </a:lnSpc>
              <a:spcBef>
                <a:spcPct val="0"/>
              </a:spcBef>
              <a:spcAft>
                <a:spcPct val="0"/>
              </a:spcAft>
            </a:pPr>
            <a:r>
              <a:rPr lang="en-US" sz="1600">
                <a:solidFill>
                  <a:srgbClr val="00008C"/>
                </a:solidFill>
              </a:rPr>
              <a:t>Applications</a:t>
            </a:r>
          </a:p>
        </p:txBody>
      </p:sp>
      <p:sp>
        <p:nvSpPr>
          <p:cNvPr id="33828" name="Oval 1036"/>
          <p:cNvSpPr>
            <a:spLocks noChangeAspect="1" noChangeArrowheads="1"/>
          </p:cNvSpPr>
          <p:nvPr/>
        </p:nvSpPr>
        <p:spPr bwMode="auto">
          <a:xfrm flipH="1">
            <a:off x="4838700" y="2195513"/>
            <a:ext cx="947738" cy="1081087"/>
          </a:xfrm>
          <a:prstGeom prst="ellipse">
            <a:avLst/>
          </a:prstGeom>
          <a:solidFill>
            <a:schemeClr val="accent1"/>
          </a:solidFill>
          <a:ln w="9525">
            <a:solidFill>
              <a:schemeClr val="tx1"/>
            </a:solidFill>
            <a:round/>
            <a:headEnd/>
            <a:tailEnd/>
          </a:ln>
        </p:spPr>
        <p:txBody>
          <a:bodyPr wrap="none" anchor="ctr"/>
          <a:lstStyle/>
          <a:p>
            <a:pPr algn="ctr">
              <a:lnSpc>
                <a:spcPct val="100000"/>
              </a:lnSpc>
              <a:spcBef>
                <a:spcPct val="0"/>
              </a:spcBef>
              <a:spcAft>
                <a:spcPct val="0"/>
              </a:spcAft>
            </a:pPr>
            <a:r>
              <a:rPr lang="en-US" sz="1600">
                <a:solidFill>
                  <a:srgbClr val="00008C"/>
                </a:solidFill>
              </a:rPr>
              <a:t>OS</a:t>
            </a:r>
          </a:p>
        </p:txBody>
      </p:sp>
      <p:sp>
        <p:nvSpPr>
          <p:cNvPr id="33829" name="Rectangle 1037"/>
          <p:cNvSpPr>
            <a:spLocks noChangeAspect="1" noChangeArrowheads="1"/>
          </p:cNvSpPr>
          <p:nvPr/>
        </p:nvSpPr>
        <p:spPr bwMode="auto">
          <a:xfrm rot="5379584">
            <a:off x="3359945" y="2209006"/>
            <a:ext cx="1782762" cy="568325"/>
          </a:xfrm>
          <a:prstGeom prst="rect">
            <a:avLst/>
          </a:prstGeom>
          <a:solidFill>
            <a:srgbClr val="AFFFAF"/>
          </a:solidFill>
          <a:ln w="38100">
            <a:solidFill>
              <a:schemeClr val="tx1"/>
            </a:solidFill>
            <a:miter lim="800000"/>
            <a:headEnd/>
            <a:tailEnd/>
          </a:ln>
        </p:spPr>
        <p:txBody>
          <a:bodyPr wrap="none" anchor="ctr"/>
          <a:lstStyle/>
          <a:p>
            <a:pPr algn="ctr">
              <a:lnSpc>
                <a:spcPct val="100000"/>
              </a:lnSpc>
              <a:spcBef>
                <a:spcPct val="0"/>
              </a:spcBef>
              <a:spcAft>
                <a:spcPct val="0"/>
              </a:spcAft>
            </a:pPr>
            <a:r>
              <a:rPr lang="en-US" sz="1800">
                <a:solidFill>
                  <a:srgbClr val="00008C"/>
                </a:solidFill>
              </a:rPr>
              <a:t>Communication</a:t>
            </a:r>
          </a:p>
        </p:txBody>
      </p:sp>
      <p:sp>
        <p:nvSpPr>
          <p:cNvPr id="33830" name="Line 1038"/>
          <p:cNvSpPr>
            <a:spLocks noChangeAspect="1" noChangeShapeType="1"/>
          </p:cNvSpPr>
          <p:nvPr/>
        </p:nvSpPr>
        <p:spPr bwMode="auto">
          <a:xfrm>
            <a:off x="2911475" y="3638550"/>
            <a:ext cx="12636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31" name="Line 1039"/>
          <p:cNvSpPr>
            <a:spLocks noChangeAspect="1" noChangeShapeType="1"/>
          </p:cNvSpPr>
          <p:nvPr/>
        </p:nvSpPr>
        <p:spPr bwMode="auto">
          <a:xfrm flipH="1">
            <a:off x="2911475" y="3422650"/>
            <a:ext cx="0" cy="2159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32" name="Line 1070"/>
          <p:cNvSpPr>
            <a:spLocks noChangeShapeType="1"/>
          </p:cNvSpPr>
          <p:nvPr/>
        </p:nvSpPr>
        <p:spPr bwMode="auto">
          <a:xfrm>
            <a:off x="838200" y="40259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3481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FD6C08DD-EF3A-4CDF-B479-E673E7B4468A}" type="slidenum">
              <a:rPr lang="en-US" sz="1400"/>
              <a:pPr eaLnBrk="1" hangingPunct="1"/>
              <a:t>21</a:t>
            </a:fld>
            <a:endParaRPr lang="en-US" sz="1400"/>
          </a:p>
        </p:txBody>
      </p:sp>
      <p:sp>
        <p:nvSpPr>
          <p:cNvPr id="34820" name="Rectangle 4"/>
          <p:cNvSpPr>
            <a:spLocks noGrp="1" noChangeArrowheads="1"/>
          </p:cNvSpPr>
          <p:nvPr>
            <p:ph type="title"/>
          </p:nvPr>
        </p:nvSpPr>
        <p:spPr/>
        <p:txBody>
          <a:bodyPr/>
          <a:lstStyle/>
          <a:p>
            <a:pPr algn="l" eaLnBrk="1" hangingPunct="1"/>
            <a:r>
              <a:rPr lang="en-US"/>
              <a:t>1.3 Multi-layer Network Models</a:t>
            </a:r>
          </a:p>
        </p:txBody>
      </p:sp>
      <p:sp>
        <p:nvSpPr>
          <p:cNvPr id="34821" name="Rectangle 5"/>
          <p:cNvSpPr>
            <a:spLocks noGrp="1" noChangeArrowheads="1"/>
          </p:cNvSpPr>
          <p:nvPr>
            <p:ph type="body" idx="1"/>
          </p:nvPr>
        </p:nvSpPr>
        <p:spPr/>
        <p:txBody>
          <a:bodyPr/>
          <a:lstStyle/>
          <a:p>
            <a:pPr eaLnBrk="1" hangingPunct="1">
              <a:lnSpc>
                <a:spcPct val="90000"/>
              </a:lnSpc>
            </a:pPr>
            <a:r>
              <a:rPr lang="en-US" sz="2400"/>
              <a:t>The two most important such network models: OSI and Internet</a:t>
            </a:r>
          </a:p>
          <a:p>
            <a:pPr eaLnBrk="1" hangingPunct="1">
              <a:lnSpc>
                <a:spcPct val="90000"/>
              </a:lnSpc>
            </a:pPr>
            <a:r>
              <a:rPr lang="en-US" sz="2400"/>
              <a:t>Open Systems Interconnection Model</a:t>
            </a:r>
          </a:p>
          <a:p>
            <a:pPr lvl="1" eaLnBrk="1" hangingPunct="1">
              <a:lnSpc>
                <a:spcPct val="90000"/>
              </a:lnSpc>
            </a:pPr>
            <a:r>
              <a:rPr lang="en-US" sz="2000"/>
              <a:t>Created by International Standards Organization (ISO) as a framework for computer network standards in 1984</a:t>
            </a:r>
          </a:p>
          <a:p>
            <a:pPr lvl="1" eaLnBrk="1" hangingPunct="1">
              <a:lnSpc>
                <a:spcPct val="90000"/>
              </a:lnSpc>
            </a:pPr>
            <a:r>
              <a:rPr lang="en-US" sz="2000"/>
              <a:t>Based on 7 layers</a:t>
            </a:r>
          </a:p>
          <a:p>
            <a:pPr eaLnBrk="1" hangingPunct="1">
              <a:lnSpc>
                <a:spcPct val="90000"/>
              </a:lnSpc>
            </a:pPr>
            <a:r>
              <a:rPr lang="en-US" sz="2400"/>
              <a:t>Internet Model</a:t>
            </a:r>
          </a:p>
          <a:p>
            <a:pPr lvl="1" eaLnBrk="1" hangingPunct="1">
              <a:lnSpc>
                <a:spcPct val="90000"/>
              </a:lnSpc>
            </a:pPr>
            <a:r>
              <a:rPr lang="en-US" sz="2000"/>
              <a:t>Created by DARPA originally in early 1970’s</a:t>
            </a:r>
          </a:p>
          <a:p>
            <a:pPr lvl="1" eaLnBrk="1" hangingPunct="1">
              <a:lnSpc>
                <a:spcPct val="90000"/>
              </a:lnSpc>
            </a:pPr>
            <a:r>
              <a:rPr lang="en-US" sz="2000"/>
              <a:t>Developed to solve to the problem of internetworking</a:t>
            </a:r>
          </a:p>
          <a:p>
            <a:pPr lvl="1" eaLnBrk="1" hangingPunct="1">
              <a:lnSpc>
                <a:spcPct val="90000"/>
              </a:lnSpc>
            </a:pPr>
            <a:r>
              <a:rPr lang="en-US" sz="2000"/>
              <a:t>Based on 5 layers</a:t>
            </a:r>
          </a:p>
          <a:p>
            <a:pPr lvl="1" eaLnBrk="1" hangingPunct="1">
              <a:lnSpc>
                <a:spcPct val="90000"/>
              </a:lnSpc>
            </a:pPr>
            <a:r>
              <a:rPr lang="en-US" sz="2000"/>
              <a:t>Based on Transmission Control Protocol/ Internet Protocol (TCP/IP) suite</a:t>
            </a:r>
          </a:p>
          <a:p>
            <a:pPr eaLnBrk="1" hangingPunct="1">
              <a:lnSpc>
                <a:spcPct val="90000"/>
              </a:lnSpc>
            </a:pPr>
            <a:endParaRPr lang="en-US" sz="2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3584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DA29F81C-E504-4D1A-92D9-1A099F6B14C4}" type="slidenum">
              <a:rPr lang="en-US" sz="1400"/>
              <a:pPr eaLnBrk="1" hangingPunct="1"/>
              <a:t>22</a:t>
            </a:fld>
            <a:endParaRPr lang="en-US" sz="1400"/>
          </a:p>
        </p:txBody>
      </p:sp>
      <p:sp>
        <p:nvSpPr>
          <p:cNvPr id="35844" name="Rectangle 4"/>
          <p:cNvSpPr>
            <a:spLocks noGrp="1" noChangeArrowheads="1"/>
          </p:cNvSpPr>
          <p:nvPr>
            <p:ph type="title"/>
          </p:nvPr>
        </p:nvSpPr>
        <p:spPr/>
        <p:txBody>
          <a:bodyPr/>
          <a:lstStyle/>
          <a:p>
            <a:pPr eaLnBrk="1" hangingPunct="1"/>
            <a:r>
              <a:rPr lang="en-US"/>
              <a:t>7-Layer Model of OSI</a:t>
            </a:r>
          </a:p>
        </p:txBody>
      </p:sp>
      <p:sp>
        <p:nvSpPr>
          <p:cNvPr id="35845" name="Rectangle 5"/>
          <p:cNvSpPr>
            <a:spLocks noGrp="1" noChangeArrowheads="1"/>
          </p:cNvSpPr>
          <p:nvPr>
            <p:ph type="body" idx="1"/>
          </p:nvPr>
        </p:nvSpPr>
        <p:spPr/>
        <p:txBody>
          <a:bodyPr/>
          <a:lstStyle/>
          <a:p>
            <a:pPr eaLnBrk="1" hangingPunct="1"/>
            <a:endParaRPr lang="en-US" sz="2400"/>
          </a:p>
          <a:p>
            <a:pPr eaLnBrk="1" hangingPunct="1"/>
            <a:endParaRPr lang="en-US" sz="2400"/>
          </a:p>
          <a:p>
            <a:pPr eaLnBrk="1" hangingPunct="1"/>
            <a:r>
              <a:rPr lang="en-US" sz="2400"/>
              <a:t>Application Layer</a:t>
            </a:r>
          </a:p>
          <a:p>
            <a:pPr lvl="1" eaLnBrk="1" hangingPunct="1"/>
            <a:r>
              <a:rPr lang="en-US" sz="2000"/>
              <a:t>set of utilities used by application programs </a:t>
            </a:r>
          </a:p>
          <a:p>
            <a:pPr eaLnBrk="1" hangingPunct="1"/>
            <a:r>
              <a:rPr lang="en-US" sz="2400"/>
              <a:t>Presentation Layer</a:t>
            </a:r>
          </a:p>
          <a:p>
            <a:pPr lvl="1" eaLnBrk="1" hangingPunct="1"/>
            <a:r>
              <a:rPr lang="en-US" sz="2000"/>
              <a:t>formats data for presentation to the user</a:t>
            </a:r>
          </a:p>
          <a:p>
            <a:pPr lvl="1" eaLnBrk="1" hangingPunct="1"/>
            <a:r>
              <a:rPr lang="en-US" sz="2000"/>
              <a:t>provides data interfaces, data compression and translation between different data formats</a:t>
            </a:r>
          </a:p>
          <a:p>
            <a:pPr eaLnBrk="1" hangingPunct="1"/>
            <a:r>
              <a:rPr lang="en-US" sz="2400"/>
              <a:t>Session Layer</a:t>
            </a:r>
          </a:p>
          <a:p>
            <a:pPr lvl="1" eaLnBrk="1" hangingPunct="1"/>
            <a:r>
              <a:rPr lang="en-US" sz="2000"/>
              <a:t>initiates, maintains and terminates each logical session between sender and receiver</a:t>
            </a:r>
          </a:p>
        </p:txBody>
      </p:sp>
      <p:sp>
        <p:nvSpPr>
          <p:cNvPr id="35846" name="Rectangle 6"/>
          <p:cNvSpPr>
            <a:spLocks noChangeArrowheads="1"/>
          </p:cNvSpPr>
          <p:nvPr/>
        </p:nvSpPr>
        <p:spPr bwMode="auto">
          <a:xfrm>
            <a:off x="1944688" y="1835150"/>
            <a:ext cx="55133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pPr>
            <a:r>
              <a:rPr lang="en-US">
                <a:solidFill>
                  <a:schemeClr val="hlink"/>
                </a:solidFill>
                <a:latin typeface="Comic Sans MS" pitchFamily="66" charset="0"/>
              </a:rPr>
              <a:t>“</a:t>
            </a:r>
            <a:r>
              <a:rPr lang="en-US" u="sng">
                <a:solidFill>
                  <a:schemeClr val="hlink"/>
                </a:solidFill>
                <a:latin typeface="Comic Sans MS" pitchFamily="66" charset="0"/>
              </a:rPr>
              <a:t>P</a:t>
            </a:r>
            <a:r>
              <a:rPr lang="en-US" b="0">
                <a:solidFill>
                  <a:schemeClr val="hlink"/>
                </a:solidFill>
                <a:latin typeface="Comic Sans MS" pitchFamily="66" charset="0"/>
              </a:rPr>
              <a:t>lease</a:t>
            </a:r>
            <a:r>
              <a:rPr lang="en-US" b="0">
                <a:latin typeface="Comic Sans MS" pitchFamily="66" charset="0"/>
              </a:rPr>
              <a:t> </a:t>
            </a:r>
            <a:r>
              <a:rPr lang="en-US" u="sng">
                <a:solidFill>
                  <a:srgbClr val="AFFFAF"/>
                </a:solidFill>
                <a:latin typeface="Comic Sans MS" pitchFamily="66" charset="0"/>
              </a:rPr>
              <a:t>D</a:t>
            </a:r>
            <a:r>
              <a:rPr lang="en-US" b="0">
                <a:solidFill>
                  <a:srgbClr val="AFFFAF"/>
                </a:solidFill>
                <a:latin typeface="Comic Sans MS" pitchFamily="66" charset="0"/>
              </a:rPr>
              <a:t>o </a:t>
            </a:r>
            <a:r>
              <a:rPr lang="en-US" u="sng">
                <a:latin typeface="Comic Sans MS" pitchFamily="66" charset="0"/>
              </a:rPr>
              <a:t>N</a:t>
            </a:r>
            <a:r>
              <a:rPr lang="en-US" b="0">
                <a:latin typeface="Comic Sans MS" pitchFamily="66" charset="0"/>
              </a:rPr>
              <a:t>ot </a:t>
            </a:r>
            <a:r>
              <a:rPr lang="en-US" u="sng">
                <a:solidFill>
                  <a:schemeClr val="accent1"/>
                </a:solidFill>
                <a:latin typeface="Comic Sans MS" pitchFamily="66" charset="0"/>
              </a:rPr>
              <a:t>T</a:t>
            </a:r>
            <a:r>
              <a:rPr lang="en-US" b="0">
                <a:solidFill>
                  <a:schemeClr val="accent1"/>
                </a:solidFill>
                <a:latin typeface="Comic Sans MS" pitchFamily="66" charset="0"/>
              </a:rPr>
              <a:t>ouch </a:t>
            </a:r>
            <a:r>
              <a:rPr lang="en-US" u="sng">
                <a:solidFill>
                  <a:schemeClr val="accent2"/>
                </a:solidFill>
                <a:latin typeface="Comic Sans MS" pitchFamily="66" charset="0"/>
              </a:rPr>
              <a:t>S</a:t>
            </a:r>
            <a:r>
              <a:rPr lang="en-US" b="0">
                <a:solidFill>
                  <a:schemeClr val="accent2"/>
                </a:solidFill>
                <a:latin typeface="Comic Sans MS" pitchFamily="66" charset="0"/>
              </a:rPr>
              <a:t>teve’s</a:t>
            </a:r>
            <a:r>
              <a:rPr lang="en-US" b="0">
                <a:latin typeface="Comic Sans MS" pitchFamily="66" charset="0"/>
              </a:rPr>
              <a:t> </a:t>
            </a:r>
            <a:r>
              <a:rPr lang="en-US" u="sng">
                <a:solidFill>
                  <a:schemeClr val="tx1"/>
                </a:solidFill>
                <a:latin typeface="Comic Sans MS" pitchFamily="66" charset="0"/>
              </a:rPr>
              <a:t>P</a:t>
            </a:r>
            <a:r>
              <a:rPr lang="en-US" b="0">
                <a:solidFill>
                  <a:schemeClr val="tx1"/>
                </a:solidFill>
                <a:latin typeface="Comic Sans MS" pitchFamily="66" charset="0"/>
              </a:rPr>
              <a:t>et</a:t>
            </a:r>
            <a:r>
              <a:rPr lang="en-US" b="0">
                <a:latin typeface="Comic Sans MS" pitchFamily="66" charset="0"/>
              </a:rPr>
              <a:t> </a:t>
            </a:r>
            <a:r>
              <a:rPr lang="en-US" u="sng">
                <a:solidFill>
                  <a:schemeClr val="bg2"/>
                </a:solidFill>
                <a:latin typeface="Comic Sans MS" pitchFamily="66" charset="0"/>
              </a:rPr>
              <a:t>A</a:t>
            </a:r>
            <a:r>
              <a:rPr lang="en-US" b="0">
                <a:solidFill>
                  <a:schemeClr val="bg2"/>
                </a:solidFill>
                <a:latin typeface="Comic Sans MS" pitchFamily="66" charset="0"/>
              </a:rPr>
              <a:t>lligators</a:t>
            </a:r>
            <a:r>
              <a:rPr lang="en-US">
                <a:solidFill>
                  <a:schemeClr val="bg2"/>
                </a:solidFill>
                <a:latin typeface="Comic Sans MS" pitchFamily="66" charset="0"/>
              </a:rPr>
              <a:t>”</a:t>
            </a:r>
          </a:p>
        </p:txBody>
      </p:sp>
      <p:sp>
        <p:nvSpPr>
          <p:cNvPr id="35847" name="Rectangle 7"/>
          <p:cNvSpPr>
            <a:spLocks noChangeArrowheads="1"/>
          </p:cNvSpPr>
          <p:nvPr/>
        </p:nvSpPr>
        <p:spPr bwMode="auto">
          <a:xfrm>
            <a:off x="192088" y="1371600"/>
            <a:ext cx="8818562" cy="425450"/>
          </a:xfrm>
          <a:prstGeom prst="rect">
            <a:avLst/>
          </a:prstGeom>
          <a:solidFill>
            <a:srgbClr val="FFFFFF"/>
          </a:solidFill>
          <a:ln w="28575">
            <a:solidFill>
              <a:srgbClr val="312587"/>
            </a:solidFill>
            <a:miter lim="800000"/>
            <a:headEnd/>
            <a:tailEnd/>
          </a:ln>
        </p:spPr>
        <p:txBody>
          <a:bodyPr wrap="none">
            <a:spAutoFit/>
          </a:bodyPr>
          <a:lstStyle/>
          <a:p>
            <a:pPr>
              <a:lnSpc>
                <a:spcPct val="100000"/>
              </a:lnSpc>
            </a:pPr>
            <a:r>
              <a:rPr lang="en-US">
                <a:solidFill>
                  <a:schemeClr val="hlink"/>
                </a:solidFill>
              </a:rPr>
              <a:t>Physical</a:t>
            </a:r>
            <a:r>
              <a:rPr lang="en-US"/>
              <a:t> </a:t>
            </a:r>
            <a:r>
              <a:rPr lang="en-US">
                <a:solidFill>
                  <a:srgbClr val="AFFFAF"/>
                </a:solidFill>
              </a:rPr>
              <a:t>DataLink</a:t>
            </a:r>
            <a:r>
              <a:rPr lang="en-US"/>
              <a:t> Network </a:t>
            </a:r>
            <a:r>
              <a:rPr lang="en-US">
                <a:solidFill>
                  <a:schemeClr val="accent1"/>
                </a:solidFill>
              </a:rPr>
              <a:t>Transport</a:t>
            </a:r>
            <a:r>
              <a:rPr lang="en-US"/>
              <a:t> </a:t>
            </a:r>
            <a:r>
              <a:rPr lang="en-US">
                <a:solidFill>
                  <a:schemeClr val="accent2"/>
                </a:solidFill>
              </a:rPr>
              <a:t>Session</a:t>
            </a:r>
            <a:r>
              <a:rPr lang="en-US"/>
              <a:t> </a:t>
            </a:r>
            <a:r>
              <a:rPr lang="en-US">
                <a:solidFill>
                  <a:schemeClr val="tx1"/>
                </a:solidFill>
              </a:rPr>
              <a:t>Presentation</a:t>
            </a:r>
            <a:r>
              <a:rPr lang="en-US"/>
              <a:t> </a:t>
            </a:r>
            <a:r>
              <a:rPr lang="en-US">
                <a:solidFill>
                  <a:schemeClr val="bg2"/>
                </a:solidFill>
              </a:rPr>
              <a:t>Application</a:t>
            </a:r>
          </a:p>
        </p:txBody>
      </p:sp>
      <p:sp>
        <p:nvSpPr>
          <p:cNvPr id="35848" name="Line 8"/>
          <p:cNvSpPr>
            <a:spLocks noChangeShapeType="1"/>
          </p:cNvSpPr>
          <p:nvPr/>
        </p:nvSpPr>
        <p:spPr bwMode="auto">
          <a:xfrm>
            <a:off x="1371600" y="1371600"/>
            <a:ext cx="0" cy="406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49" name="Line 9"/>
          <p:cNvSpPr>
            <a:spLocks noChangeShapeType="1"/>
          </p:cNvSpPr>
          <p:nvPr/>
        </p:nvSpPr>
        <p:spPr bwMode="auto">
          <a:xfrm>
            <a:off x="2478088" y="1371600"/>
            <a:ext cx="0" cy="406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0" name="Line 10"/>
          <p:cNvSpPr>
            <a:spLocks noChangeShapeType="1"/>
          </p:cNvSpPr>
          <p:nvPr/>
        </p:nvSpPr>
        <p:spPr bwMode="auto">
          <a:xfrm>
            <a:off x="3581400" y="1371600"/>
            <a:ext cx="0" cy="406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1" name="Line 11"/>
          <p:cNvSpPr>
            <a:spLocks noChangeShapeType="1"/>
          </p:cNvSpPr>
          <p:nvPr/>
        </p:nvSpPr>
        <p:spPr bwMode="auto">
          <a:xfrm>
            <a:off x="4840288" y="1371600"/>
            <a:ext cx="0" cy="406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2" name="Line 12"/>
          <p:cNvSpPr>
            <a:spLocks noChangeShapeType="1"/>
          </p:cNvSpPr>
          <p:nvPr/>
        </p:nvSpPr>
        <p:spPr bwMode="auto">
          <a:xfrm>
            <a:off x="5867400" y="1371600"/>
            <a:ext cx="0" cy="406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3" name="Line 13"/>
          <p:cNvSpPr>
            <a:spLocks noChangeShapeType="1"/>
          </p:cNvSpPr>
          <p:nvPr/>
        </p:nvSpPr>
        <p:spPr bwMode="auto">
          <a:xfrm>
            <a:off x="7507288" y="1371600"/>
            <a:ext cx="0" cy="406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3686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4491D040-E77C-4840-A326-BC62500D2FBB}" type="slidenum">
              <a:rPr lang="en-US" sz="1400"/>
              <a:pPr eaLnBrk="1" hangingPunct="1"/>
              <a:t>23</a:t>
            </a:fld>
            <a:endParaRPr lang="en-US" sz="1400"/>
          </a:p>
        </p:txBody>
      </p:sp>
      <p:sp>
        <p:nvSpPr>
          <p:cNvPr id="36868" name="Rectangle 1033"/>
          <p:cNvSpPr>
            <a:spLocks noGrp="1" noChangeArrowheads="1"/>
          </p:cNvSpPr>
          <p:nvPr>
            <p:ph type="title"/>
          </p:nvPr>
        </p:nvSpPr>
        <p:spPr/>
        <p:txBody>
          <a:bodyPr/>
          <a:lstStyle/>
          <a:p>
            <a:pPr eaLnBrk="1" hangingPunct="1"/>
            <a:r>
              <a:rPr lang="en-US"/>
              <a:t>7-Layer Model of OSI</a:t>
            </a:r>
          </a:p>
        </p:txBody>
      </p:sp>
      <p:sp>
        <p:nvSpPr>
          <p:cNvPr id="36869" name="Rectangle 1034"/>
          <p:cNvSpPr>
            <a:spLocks noGrp="1" noChangeArrowheads="1"/>
          </p:cNvSpPr>
          <p:nvPr>
            <p:ph type="body" idx="1"/>
          </p:nvPr>
        </p:nvSpPr>
        <p:spPr/>
        <p:txBody>
          <a:bodyPr/>
          <a:lstStyle/>
          <a:p>
            <a:pPr eaLnBrk="1" hangingPunct="1">
              <a:lnSpc>
                <a:spcPct val="90000"/>
              </a:lnSpc>
            </a:pPr>
            <a:r>
              <a:rPr lang="en-US" sz="2400"/>
              <a:t>Transport Layer</a:t>
            </a:r>
          </a:p>
          <a:p>
            <a:pPr lvl="1" eaLnBrk="1" hangingPunct="1">
              <a:lnSpc>
                <a:spcPct val="90000"/>
              </a:lnSpc>
            </a:pPr>
            <a:r>
              <a:rPr lang="en-US" sz="2000"/>
              <a:t>deals with end-to-end issues such as segmenting the message for network transport, and maintaining the logical connections between sender and receiver</a:t>
            </a:r>
          </a:p>
          <a:p>
            <a:pPr eaLnBrk="1" hangingPunct="1">
              <a:lnSpc>
                <a:spcPct val="90000"/>
              </a:lnSpc>
            </a:pPr>
            <a:r>
              <a:rPr lang="en-US" sz="2400"/>
              <a:t>Network Layer</a:t>
            </a:r>
          </a:p>
          <a:p>
            <a:pPr lvl="1" eaLnBrk="1" hangingPunct="1">
              <a:lnSpc>
                <a:spcPct val="90000"/>
              </a:lnSpc>
            </a:pPr>
            <a:r>
              <a:rPr lang="en-US" sz="2000"/>
              <a:t>responsible for making routing decisions</a:t>
            </a:r>
          </a:p>
          <a:p>
            <a:pPr eaLnBrk="1" hangingPunct="1">
              <a:lnSpc>
                <a:spcPct val="90000"/>
              </a:lnSpc>
            </a:pPr>
            <a:r>
              <a:rPr lang="en-US" sz="2400"/>
              <a:t>Data Link Layer</a:t>
            </a:r>
          </a:p>
          <a:p>
            <a:pPr lvl="1" eaLnBrk="1" hangingPunct="1">
              <a:lnSpc>
                <a:spcPct val="90000"/>
              </a:lnSpc>
            </a:pPr>
            <a:r>
              <a:rPr lang="en-US" sz="2000"/>
              <a:t>deals with message delineation, error control and network medium access control</a:t>
            </a:r>
          </a:p>
          <a:p>
            <a:pPr eaLnBrk="1" hangingPunct="1">
              <a:lnSpc>
                <a:spcPct val="90000"/>
              </a:lnSpc>
            </a:pPr>
            <a:r>
              <a:rPr lang="en-US" sz="2400"/>
              <a:t>Physical Layer</a:t>
            </a:r>
          </a:p>
          <a:p>
            <a:pPr lvl="1" eaLnBrk="1" hangingPunct="1">
              <a:lnSpc>
                <a:spcPct val="90000"/>
              </a:lnSpc>
            </a:pPr>
            <a:r>
              <a:rPr lang="en-US" sz="2000"/>
              <a:t>defines how  individual bits are formatted to be  transmitted through the network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3789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5D81A017-954A-48EE-83AD-C2E1E169CFD3}" type="slidenum">
              <a:rPr lang="en-US" sz="1400"/>
              <a:pPr eaLnBrk="1" hangingPunct="1"/>
              <a:t>24</a:t>
            </a:fld>
            <a:endParaRPr lang="en-US" sz="1400"/>
          </a:p>
        </p:txBody>
      </p:sp>
      <p:sp>
        <p:nvSpPr>
          <p:cNvPr id="37892" name="Rectangle 5"/>
          <p:cNvSpPr>
            <a:spLocks noGrp="1" noChangeArrowheads="1"/>
          </p:cNvSpPr>
          <p:nvPr>
            <p:ph type="title"/>
          </p:nvPr>
        </p:nvSpPr>
        <p:spPr/>
        <p:txBody>
          <a:bodyPr/>
          <a:lstStyle/>
          <a:p>
            <a:pPr eaLnBrk="1" hangingPunct="1"/>
            <a:r>
              <a:rPr lang="en-US"/>
              <a:t>Internet’s 5-Layer Model</a:t>
            </a:r>
          </a:p>
        </p:txBody>
      </p:sp>
      <p:sp>
        <p:nvSpPr>
          <p:cNvPr id="37893" name="Rectangle 6"/>
          <p:cNvSpPr>
            <a:spLocks noGrp="1" noChangeArrowheads="1"/>
          </p:cNvSpPr>
          <p:nvPr>
            <p:ph type="body" idx="1"/>
          </p:nvPr>
        </p:nvSpPr>
        <p:spPr/>
        <p:txBody>
          <a:bodyPr/>
          <a:lstStyle/>
          <a:p>
            <a:pPr eaLnBrk="1" hangingPunct="1">
              <a:lnSpc>
                <a:spcPct val="90000"/>
              </a:lnSpc>
            </a:pPr>
            <a:endParaRPr lang="en-US" sz="2400"/>
          </a:p>
          <a:p>
            <a:pPr eaLnBrk="1" hangingPunct="1">
              <a:lnSpc>
                <a:spcPct val="90000"/>
              </a:lnSpc>
            </a:pPr>
            <a:endParaRPr lang="en-US" sz="2400"/>
          </a:p>
          <a:p>
            <a:pPr eaLnBrk="1" hangingPunct="1">
              <a:lnSpc>
                <a:spcPct val="90000"/>
              </a:lnSpc>
            </a:pPr>
            <a:r>
              <a:rPr lang="en-US" sz="2400"/>
              <a:t>Application Layer</a:t>
            </a:r>
          </a:p>
          <a:p>
            <a:pPr lvl="1" eaLnBrk="1" hangingPunct="1">
              <a:lnSpc>
                <a:spcPct val="90000"/>
              </a:lnSpc>
            </a:pPr>
            <a:r>
              <a:rPr lang="en-US" sz="2000"/>
              <a:t>used by application program </a:t>
            </a:r>
          </a:p>
          <a:p>
            <a:pPr eaLnBrk="1" hangingPunct="1">
              <a:lnSpc>
                <a:spcPct val="90000"/>
              </a:lnSpc>
            </a:pPr>
            <a:r>
              <a:rPr lang="en-US" sz="2400"/>
              <a:t>Transport Layer </a:t>
            </a:r>
          </a:p>
          <a:p>
            <a:pPr lvl="1" eaLnBrk="1" hangingPunct="1">
              <a:lnSpc>
                <a:spcPct val="90000"/>
              </a:lnSpc>
            </a:pPr>
            <a:r>
              <a:rPr lang="en-US" sz="2000"/>
              <a:t>responsible for establishing end-to-end connections, translates domain names into numeric addresses and segments messages</a:t>
            </a:r>
          </a:p>
          <a:p>
            <a:pPr eaLnBrk="1" hangingPunct="1">
              <a:lnSpc>
                <a:spcPct val="90000"/>
              </a:lnSpc>
            </a:pPr>
            <a:r>
              <a:rPr lang="en-US" sz="2400">
                <a:solidFill>
                  <a:srgbClr val="00008C"/>
                </a:solidFill>
              </a:rPr>
              <a:t>Network Layer - </a:t>
            </a:r>
            <a:r>
              <a:rPr lang="en-US" sz="2000" b="0">
                <a:solidFill>
                  <a:srgbClr val="00008C"/>
                </a:solidFill>
              </a:rPr>
              <a:t>same as in OSI model</a:t>
            </a:r>
            <a:endParaRPr lang="en-US" sz="2400">
              <a:solidFill>
                <a:srgbClr val="00008C"/>
              </a:solidFill>
            </a:endParaRPr>
          </a:p>
          <a:p>
            <a:pPr eaLnBrk="1" hangingPunct="1">
              <a:lnSpc>
                <a:spcPct val="90000"/>
              </a:lnSpc>
            </a:pPr>
            <a:r>
              <a:rPr lang="en-US" sz="2400">
                <a:solidFill>
                  <a:srgbClr val="00008C"/>
                </a:solidFill>
              </a:rPr>
              <a:t>Data Link Layer - </a:t>
            </a:r>
            <a:r>
              <a:rPr lang="en-US" sz="2000" b="0">
                <a:solidFill>
                  <a:srgbClr val="00008C"/>
                </a:solidFill>
              </a:rPr>
              <a:t>same as in OSI model</a:t>
            </a:r>
            <a:endParaRPr lang="en-US" sz="2400">
              <a:solidFill>
                <a:srgbClr val="00008C"/>
              </a:solidFill>
            </a:endParaRPr>
          </a:p>
          <a:p>
            <a:pPr eaLnBrk="1" hangingPunct="1">
              <a:lnSpc>
                <a:spcPct val="90000"/>
              </a:lnSpc>
            </a:pPr>
            <a:r>
              <a:rPr lang="en-US" sz="2400">
                <a:solidFill>
                  <a:srgbClr val="00008C"/>
                </a:solidFill>
              </a:rPr>
              <a:t>Physical Layer - </a:t>
            </a:r>
            <a:r>
              <a:rPr lang="en-US" sz="2000" b="0">
                <a:solidFill>
                  <a:srgbClr val="00008C"/>
                </a:solidFill>
              </a:rPr>
              <a:t>same as in OSI model</a:t>
            </a:r>
            <a:endParaRPr lang="en-US" sz="2400">
              <a:solidFill>
                <a:srgbClr val="00008C"/>
              </a:solidFill>
            </a:endParaRPr>
          </a:p>
        </p:txBody>
      </p:sp>
      <p:sp>
        <p:nvSpPr>
          <p:cNvPr id="37894" name="Rectangle 7"/>
          <p:cNvSpPr>
            <a:spLocks noChangeArrowheads="1"/>
          </p:cNvSpPr>
          <p:nvPr/>
        </p:nvSpPr>
        <p:spPr bwMode="auto">
          <a:xfrm>
            <a:off x="2257425" y="1835150"/>
            <a:ext cx="4076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pPr>
            <a:r>
              <a:rPr lang="en-US" b="0">
                <a:solidFill>
                  <a:schemeClr val="hlink"/>
                </a:solidFill>
                <a:latin typeface="Comic Sans MS" pitchFamily="66" charset="0"/>
              </a:rPr>
              <a:t>“</a:t>
            </a:r>
            <a:r>
              <a:rPr lang="en-US" u="sng">
                <a:solidFill>
                  <a:schemeClr val="hlink"/>
                </a:solidFill>
                <a:latin typeface="Comic Sans MS" pitchFamily="66" charset="0"/>
              </a:rPr>
              <a:t>P</a:t>
            </a:r>
            <a:r>
              <a:rPr lang="en-US" b="0">
                <a:solidFill>
                  <a:schemeClr val="hlink"/>
                </a:solidFill>
                <a:latin typeface="Comic Sans MS" pitchFamily="66" charset="0"/>
              </a:rPr>
              <a:t>lease</a:t>
            </a:r>
            <a:r>
              <a:rPr lang="en-US" b="0">
                <a:latin typeface="Comic Sans MS" pitchFamily="66" charset="0"/>
              </a:rPr>
              <a:t> </a:t>
            </a:r>
            <a:r>
              <a:rPr lang="en-US" u="sng">
                <a:solidFill>
                  <a:srgbClr val="AFFFAF"/>
                </a:solidFill>
                <a:latin typeface="Comic Sans MS" pitchFamily="66" charset="0"/>
              </a:rPr>
              <a:t>D</a:t>
            </a:r>
            <a:r>
              <a:rPr lang="en-US" b="0">
                <a:solidFill>
                  <a:srgbClr val="AFFFAF"/>
                </a:solidFill>
                <a:latin typeface="Comic Sans MS" pitchFamily="66" charset="0"/>
              </a:rPr>
              <a:t>o </a:t>
            </a:r>
            <a:r>
              <a:rPr lang="en-US" u="sng">
                <a:latin typeface="Comic Sans MS" pitchFamily="66" charset="0"/>
              </a:rPr>
              <a:t>N</a:t>
            </a:r>
            <a:r>
              <a:rPr lang="en-US" b="0">
                <a:latin typeface="Comic Sans MS" pitchFamily="66" charset="0"/>
              </a:rPr>
              <a:t>ot </a:t>
            </a:r>
            <a:r>
              <a:rPr lang="en-US" b="0" u="sng">
                <a:solidFill>
                  <a:schemeClr val="accent1"/>
                </a:solidFill>
                <a:latin typeface="Comic Sans MS" pitchFamily="66" charset="0"/>
              </a:rPr>
              <a:t>T</a:t>
            </a:r>
            <a:r>
              <a:rPr lang="en-US" b="0">
                <a:solidFill>
                  <a:schemeClr val="accent1"/>
                </a:solidFill>
                <a:latin typeface="Comic Sans MS" pitchFamily="66" charset="0"/>
              </a:rPr>
              <a:t>ouch </a:t>
            </a:r>
            <a:r>
              <a:rPr lang="en-US" u="sng">
                <a:solidFill>
                  <a:schemeClr val="bg2"/>
                </a:solidFill>
                <a:latin typeface="Comic Sans MS" pitchFamily="66" charset="0"/>
              </a:rPr>
              <a:t>A</a:t>
            </a:r>
            <a:r>
              <a:rPr lang="en-US" b="0">
                <a:solidFill>
                  <a:schemeClr val="bg2"/>
                </a:solidFill>
                <a:latin typeface="Comic Sans MS" pitchFamily="66" charset="0"/>
              </a:rPr>
              <a:t>lligators”</a:t>
            </a:r>
          </a:p>
        </p:txBody>
      </p:sp>
      <p:sp>
        <p:nvSpPr>
          <p:cNvPr id="37895" name="Rectangle 8"/>
          <p:cNvSpPr>
            <a:spLocks noChangeArrowheads="1"/>
          </p:cNvSpPr>
          <p:nvPr/>
        </p:nvSpPr>
        <p:spPr bwMode="auto">
          <a:xfrm>
            <a:off x="1377950" y="1371600"/>
            <a:ext cx="6165850" cy="425450"/>
          </a:xfrm>
          <a:prstGeom prst="rect">
            <a:avLst/>
          </a:prstGeom>
          <a:solidFill>
            <a:srgbClr val="FFFFFF"/>
          </a:solidFill>
          <a:ln w="28575">
            <a:solidFill>
              <a:srgbClr val="312587"/>
            </a:solidFill>
            <a:miter lim="800000"/>
            <a:headEnd/>
            <a:tailEnd/>
          </a:ln>
        </p:spPr>
        <p:txBody>
          <a:bodyPr wrap="none">
            <a:spAutoFit/>
          </a:bodyPr>
          <a:lstStyle/>
          <a:p>
            <a:pPr>
              <a:lnSpc>
                <a:spcPct val="100000"/>
              </a:lnSpc>
            </a:pPr>
            <a:r>
              <a:rPr lang="en-US">
                <a:solidFill>
                  <a:schemeClr val="hlink"/>
                </a:solidFill>
              </a:rPr>
              <a:t>Physical</a:t>
            </a:r>
            <a:r>
              <a:rPr lang="en-US"/>
              <a:t> </a:t>
            </a:r>
            <a:r>
              <a:rPr lang="en-US">
                <a:solidFill>
                  <a:srgbClr val="AFFFAF"/>
                </a:solidFill>
              </a:rPr>
              <a:t>DataLink</a:t>
            </a:r>
            <a:r>
              <a:rPr lang="en-US"/>
              <a:t> Network </a:t>
            </a:r>
            <a:r>
              <a:rPr lang="en-US">
                <a:solidFill>
                  <a:schemeClr val="accent1"/>
                </a:solidFill>
              </a:rPr>
              <a:t>Transport</a:t>
            </a:r>
            <a:r>
              <a:rPr lang="en-US"/>
              <a:t> </a:t>
            </a:r>
            <a:r>
              <a:rPr lang="en-US">
                <a:solidFill>
                  <a:schemeClr val="bg2"/>
                </a:solidFill>
              </a:rPr>
              <a:t>Application</a:t>
            </a:r>
          </a:p>
        </p:txBody>
      </p:sp>
      <p:sp>
        <p:nvSpPr>
          <p:cNvPr id="37896" name="Line 9"/>
          <p:cNvSpPr>
            <a:spLocks noChangeShapeType="1"/>
          </p:cNvSpPr>
          <p:nvPr/>
        </p:nvSpPr>
        <p:spPr bwMode="auto">
          <a:xfrm>
            <a:off x="2557463" y="1371600"/>
            <a:ext cx="0" cy="406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7" name="Line 10"/>
          <p:cNvSpPr>
            <a:spLocks noChangeShapeType="1"/>
          </p:cNvSpPr>
          <p:nvPr/>
        </p:nvSpPr>
        <p:spPr bwMode="auto">
          <a:xfrm>
            <a:off x="3663950" y="1371600"/>
            <a:ext cx="0" cy="406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8" name="Line 11"/>
          <p:cNvSpPr>
            <a:spLocks noChangeShapeType="1"/>
          </p:cNvSpPr>
          <p:nvPr/>
        </p:nvSpPr>
        <p:spPr bwMode="auto">
          <a:xfrm>
            <a:off x="4767263" y="1371600"/>
            <a:ext cx="0" cy="406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9" name="Line 12"/>
          <p:cNvSpPr>
            <a:spLocks noChangeShapeType="1"/>
          </p:cNvSpPr>
          <p:nvPr/>
        </p:nvSpPr>
        <p:spPr bwMode="auto">
          <a:xfrm>
            <a:off x="6026150" y="1371600"/>
            <a:ext cx="0" cy="406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3891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A90DBD47-08C5-44C7-A6B2-BC602D48DF8A}" type="slidenum">
              <a:rPr lang="en-US" sz="1400"/>
              <a:pPr eaLnBrk="1" hangingPunct="1"/>
              <a:t>25</a:t>
            </a:fld>
            <a:endParaRPr lang="en-US" sz="1400"/>
          </a:p>
        </p:txBody>
      </p:sp>
      <p:sp>
        <p:nvSpPr>
          <p:cNvPr id="38916" name="Rectangle 4"/>
          <p:cNvSpPr>
            <a:spLocks noGrp="1" noChangeArrowheads="1"/>
          </p:cNvSpPr>
          <p:nvPr>
            <p:ph type="title"/>
          </p:nvPr>
        </p:nvSpPr>
        <p:spPr/>
        <p:txBody>
          <a:bodyPr/>
          <a:lstStyle/>
          <a:p>
            <a:pPr eaLnBrk="1" hangingPunct="1"/>
            <a:r>
              <a:rPr lang="en-US"/>
              <a:t>Comparison of Network Models</a:t>
            </a:r>
          </a:p>
        </p:txBody>
      </p:sp>
      <p:pic>
        <p:nvPicPr>
          <p:cNvPr id="38917" name="Picture 7" descr="untitl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581150"/>
            <a:ext cx="7620000" cy="369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3993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49FE1BDF-AF4F-4B20-8678-BB9083A207F5}" type="slidenum">
              <a:rPr lang="en-US" sz="1400"/>
              <a:pPr eaLnBrk="1" hangingPunct="1"/>
              <a:t>26</a:t>
            </a:fld>
            <a:endParaRPr lang="en-US" sz="1400"/>
          </a:p>
        </p:txBody>
      </p:sp>
      <p:sp>
        <p:nvSpPr>
          <p:cNvPr id="39940" name="Rectangle 2"/>
          <p:cNvSpPr>
            <a:spLocks noGrp="1" noChangeArrowheads="1"/>
          </p:cNvSpPr>
          <p:nvPr>
            <p:ph type="title"/>
          </p:nvPr>
        </p:nvSpPr>
        <p:spPr>
          <a:xfrm>
            <a:off x="304800" y="381000"/>
            <a:ext cx="8610600" cy="914400"/>
          </a:xfrm>
        </p:spPr>
        <p:txBody>
          <a:bodyPr/>
          <a:lstStyle/>
          <a:p>
            <a:pPr eaLnBrk="1" hangingPunct="1"/>
            <a:r>
              <a:rPr lang="en-US"/>
              <a:t>Message Transmission Using Layers</a:t>
            </a:r>
          </a:p>
        </p:txBody>
      </p:sp>
      <p:pic>
        <p:nvPicPr>
          <p:cNvPr id="39941" name="Picture 6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613" y="1081088"/>
            <a:ext cx="8696325" cy="541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4096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7AEA428F-731B-45FF-97AA-E02CED2BD25D}" type="slidenum">
              <a:rPr lang="en-US" sz="1400"/>
              <a:pPr eaLnBrk="1" hangingPunct="1"/>
              <a:t>27</a:t>
            </a:fld>
            <a:endParaRPr lang="en-US" sz="1400"/>
          </a:p>
        </p:txBody>
      </p:sp>
      <p:sp>
        <p:nvSpPr>
          <p:cNvPr id="40964" name="Rectangle 47"/>
          <p:cNvSpPr>
            <a:spLocks noChangeArrowheads="1"/>
          </p:cNvSpPr>
          <p:nvPr/>
        </p:nvSpPr>
        <p:spPr bwMode="auto">
          <a:xfrm>
            <a:off x="5227638" y="4294188"/>
            <a:ext cx="1219200" cy="762000"/>
          </a:xfrm>
          <a:prstGeom prst="rect">
            <a:avLst/>
          </a:prstGeom>
          <a:solidFill>
            <a:schemeClr val="accent1"/>
          </a:solidFill>
          <a:ln w="38100" cmpd="dbl">
            <a:solidFill>
              <a:schemeClr val="accent2"/>
            </a:solidFill>
            <a:miter lim="800000"/>
            <a:headEnd/>
            <a:tailEnd/>
          </a:ln>
        </p:spPr>
        <p:txBody>
          <a:bodyPr wrap="none" anchor="ctr"/>
          <a:lstStyle/>
          <a:p>
            <a:endParaRPr lang="en-US"/>
          </a:p>
        </p:txBody>
      </p:sp>
      <p:sp>
        <p:nvSpPr>
          <p:cNvPr id="40965" name="Rectangle 46"/>
          <p:cNvSpPr>
            <a:spLocks noChangeArrowheads="1"/>
          </p:cNvSpPr>
          <p:nvPr/>
        </p:nvSpPr>
        <p:spPr bwMode="auto">
          <a:xfrm>
            <a:off x="2173288" y="4294188"/>
            <a:ext cx="1219200" cy="7620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0966" name="Rectangle 4"/>
          <p:cNvSpPr>
            <a:spLocks noGrp="1" noChangeArrowheads="1"/>
          </p:cNvSpPr>
          <p:nvPr>
            <p:ph type="title"/>
          </p:nvPr>
        </p:nvSpPr>
        <p:spPr/>
        <p:txBody>
          <a:bodyPr/>
          <a:lstStyle/>
          <a:p>
            <a:pPr eaLnBrk="1" hangingPunct="1"/>
            <a:r>
              <a:rPr lang="en-US"/>
              <a:t>Protocols</a:t>
            </a:r>
          </a:p>
        </p:txBody>
      </p:sp>
      <p:sp>
        <p:nvSpPr>
          <p:cNvPr id="40967" name="Rectangle 5"/>
          <p:cNvSpPr>
            <a:spLocks noGrp="1" noChangeArrowheads="1"/>
          </p:cNvSpPr>
          <p:nvPr>
            <p:ph type="body" idx="1"/>
          </p:nvPr>
        </p:nvSpPr>
        <p:spPr/>
        <p:txBody>
          <a:bodyPr/>
          <a:lstStyle/>
          <a:p>
            <a:pPr eaLnBrk="1" hangingPunct="1"/>
            <a:r>
              <a:rPr lang="en-US"/>
              <a:t>Used by network model layers</a:t>
            </a:r>
          </a:p>
          <a:p>
            <a:pPr eaLnBrk="1" hangingPunct="1"/>
            <a:r>
              <a:rPr lang="en-US"/>
              <a:t>Sets of standardized rules to define how to communicate at each layer and how to interface with adjacent layers</a:t>
            </a:r>
          </a:p>
          <a:p>
            <a:pPr eaLnBrk="1" hangingPunct="1"/>
            <a:endParaRPr lang="en-US"/>
          </a:p>
        </p:txBody>
      </p:sp>
      <p:sp>
        <p:nvSpPr>
          <p:cNvPr id="40968" name="Line 7"/>
          <p:cNvSpPr>
            <a:spLocks noChangeShapeType="1"/>
          </p:cNvSpPr>
          <p:nvPr/>
        </p:nvSpPr>
        <p:spPr bwMode="auto">
          <a:xfrm>
            <a:off x="2173288" y="3763963"/>
            <a:ext cx="0" cy="18415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69" name="Line 8"/>
          <p:cNvSpPr>
            <a:spLocks noChangeShapeType="1"/>
          </p:cNvSpPr>
          <p:nvPr/>
        </p:nvSpPr>
        <p:spPr bwMode="auto">
          <a:xfrm>
            <a:off x="3392488" y="3763963"/>
            <a:ext cx="0" cy="18415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70" name="Line 9"/>
          <p:cNvSpPr>
            <a:spLocks noChangeShapeType="1"/>
          </p:cNvSpPr>
          <p:nvPr/>
        </p:nvSpPr>
        <p:spPr bwMode="auto">
          <a:xfrm>
            <a:off x="2173288" y="4294188"/>
            <a:ext cx="1219200" cy="0"/>
          </a:xfrm>
          <a:prstGeom prst="line">
            <a:avLst/>
          </a:prstGeom>
          <a:noFill/>
          <a:ln w="38100" cmpd="dbl">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71" name="Line 11"/>
          <p:cNvSpPr>
            <a:spLocks noChangeShapeType="1"/>
          </p:cNvSpPr>
          <p:nvPr/>
        </p:nvSpPr>
        <p:spPr bwMode="auto">
          <a:xfrm>
            <a:off x="2173288" y="5056188"/>
            <a:ext cx="1219200" cy="0"/>
          </a:xfrm>
          <a:prstGeom prst="line">
            <a:avLst/>
          </a:prstGeom>
          <a:noFill/>
          <a:ln w="38100" cmpd="dbl">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72" name="Line 12"/>
          <p:cNvSpPr>
            <a:spLocks noChangeShapeType="1"/>
          </p:cNvSpPr>
          <p:nvPr/>
        </p:nvSpPr>
        <p:spPr bwMode="auto">
          <a:xfrm>
            <a:off x="2595563" y="4016375"/>
            <a:ext cx="0" cy="4905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973" name="Line 13"/>
          <p:cNvSpPr>
            <a:spLocks noChangeShapeType="1"/>
          </p:cNvSpPr>
          <p:nvPr/>
        </p:nvSpPr>
        <p:spPr bwMode="auto">
          <a:xfrm flipV="1">
            <a:off x="2894013" y="3978275"/>
            <a:ext cx="0" cy="4905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974" name="Line 14"/>
          <p:cNvSpPr>
            <a:spLocks noChangeShapeType="1"/>
          </p:cNvSpPr>
          <p:nvPr/>
        </p:nvSpPr>
        <p:spPr bwMode="auto">
          <a:xfrm>
            <a:off x="2620963" y="4852988"/>
            <a:ext cx="0" cy="47783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975" name="Line 15"/>
          <p:cNvSpPr>
            <a:spLocks noChangeShapeType="1"/>
          </p:cNvSpPr>
          <p:nvPr/>
        </p:nvSpPr>
        <p:spPr bwMode="auto">
          <a:xfrm flipV="1">
            <a:off x="2894013" y="4827588"/>
            <a:ext cx="0" cy="47783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976" name="Line 16"/>
          <p:cNvSpPr>
            <a:spLocks noChangeShapeType="1"/>
          </p:cNvSpPr>
          <p:nvPr/>
        </p:nvSpPr>
        <p:spPr bwMode="auto">
          <a:xfrm>
            <a:off x="3259138" y="4557713"/>
            <a:ext cx="2225675" cy="0"/>
          </a:xfrm>
          <a:prstGeom prst="line">
            <a:avLst/>
          </a:prstGeom>
          <a:noFill/>
          <a:ln w="38100" cap="rnd">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977" name="Line 17"/>
          <p:cNvSpPr>
            <a:spLocks noChangeShapeType="1"/>
          </p:cNvSpPr>
          <p:nvPr/>
        </p:nvSpPr>
        <p:spPr bwMode="auto">
          <a:xfrm flipH="1">
            <a:off x="3106738" y="4789488"/>
            <a:ext cx="2225675" cy="0"/>
          </a:xfrm>
          <a:prstGeom prst="line">
            <a:avLst/>
          </a:prstGeom>
          <a:noFill/>
          <a:ln w="38100" cap="rnd">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978" name="Line 29"/>
          <p:cNvSpPr>
            <a:spLocks noChangeShapeType="1"/>
          </p:cNvSpPr>
          <p:nvPr/>
        </p:nvSpPr>
        <p:spPr bwMode="auto">
          <a:xfrm>
            <a:off x="5227638" y="3763963"/>
            <a:ext cx="0" cy="18415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79" name="Line 30"/>
          <p:cNvSpPr>
            <a:spLocks noChangeShapeType="1"/>
          </p:cNvSpPr>
          <p:nvPr/>
        </p:nvSpPr>
        <p:spPr bwMode="auto">
          <a:xfrm>
            <a:off x="6446838" y="3763963"/>
            <a:ext cx="0" cy="18415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80" name="Line 31"/>
          <p:cNvSpPr>
            <a:spLocks noChangeShapeType="1"/>
          </p:cNvSpPr>
          <p:nvPr/>
        </p:nvSpPr>
        <p:spPr bwMode="auto">
          <a:xfrm>
            <a:off x="5227638" y="4294188"/>
            <a:ext cx="1219200" cy="0"/>
          </a:xfrm>
          <a:prstGeom prst="line">
            <a:avLst/>
          </a:prstGeom>
          <a:noFill/>
          <a:ln w="38100" cmpd="dbl">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81" name="Line 32"/>
          <p:cNvSpPr>
            <a:spLocks noChangeShapeType="1"/>
          </p:cNvSpPr>
          <p:nvPr/>
        </p:nvSpPr>
        <p:spPr bwMode="auto">
          <a:xfrm>
            <a:off x="5227638" y="5056188"/>
            <a:ext cx="1219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82" name="Line 33"/>
          <p:cNvSpPr>
            <a:spLocks noChangeShapeType="1"/>
          </p:cNvSpPr>
          <p:nvPr/>
        </p:nvSpPr>
        <p:spPr bwMode="auto">
          <a:xfrm>
            <a:off x="5776913" y="4054475"/>
            <a:ext cx="0" cy="4905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983" name="Line 34"/>
          <p:cNvSpPr>
            <a:spLocks noChangeShapeType="1"/>
          </p:cNvSpPr>
          <p:nvPr/>
        </p:nvSpPr>
        <p:spPr bwMode="auto">
          <a:xfrm flipV="1">
            <a:off x="6075363" y="4041775"/>
            <a:ext cx="0" cy="4905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984" name="Line 35"/>
          <p:cNvSpPr>
            <a:spLocks noChangeShapeType="1"/>
          </p:cNvSpPr>
          <p:nvPr/>
        </p:nvSpPr>
        <p:spPr bwMode="auto">
          <a:xfrm>
            <a:off x="5789613" y="4929188"/>
            <a:ext cx="0" cy="36353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985" name="Line 36"/>
          <p:cNvSpPr>
            <a:spLocks noChangeShapeType="1"/>
          </p:cNvSpPr>
          <p:nvPr/>
        </p:nvSpPr>
        <p:spPr bwMode="auto">
          <a:xfrm flipV="1">
            <a:off x="6037263" y="4840288"/>
            <a:ext cx="0" cy="36353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986" name="Text Box 37"/>
          <p:cNvSpPr txBox="1">
            <a:spLocks noChangeArrowheads="1"/>
          </p:cNvSpPr>
          <p:nvPr/>
        </p:nvSpPr>
        <p:spPr bwMode="auto">
          <a:xfrm>
            <a:off x="5227638" y="5800725"/>
            <a:ext cx="1060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lnSpc>
                <a:spcPct val="100000"/>
              </a:lnSpc>
              <a:spcBef>
                <a:spcPct val="0"/>
              </a:spcBef>
              <a:spcAft>
                <a:spcPct val="0"/>
              </a:spcAft>
            </a:pPr>
            <a:r>
              <a:rPr lang="en-US" sz="1800">
                <a:solidFill>
                  <a:srgbClr val="00008C"/>
                </a:solidFill>
              </a:rPr>
              <a:t>receiver</a:t>
            </a:r>
          </a:p>
        </p:txBody>
      </p:sp>
      <p:sp>
        <p:nvSpPr>
          <p:cNvPr id="40987" name="Text Box 38"/>
          <p:cNvSpPr txBox="1">
            <a:spLocks noChangeArrowheads="1"/>
          </p:cNvSpPr>
          <p:nvPr/>
        </p:nvSpPr>
        <p:spPr bwMode="auto">
          <a:xfrm>
            <a:off x="2305050" y="5800725"/>
            <a:ext cx="933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lnSpc>
                <a:spcPct val="100000"/>
              </a:lnSpc>
              <a:spcBef>
                <a:spcPct val="0"/>
              </a:spcBef>
              <a:spcAft>
                <a:spcPct val="0"/>
              </a:spcAft>
            </a:pPr>
            <a:r>
              <a:rPr lang="en-US" sz="1800">
                <a:solidFill>
                  <a:srgbClr val="00008C"/>
                </a:solidFill>
              </a:rPr>
              <a:t>sender</a:t>
            </a:r>
          </a:p>
        </p:txBody>
      </p:sp>
      <p:sp>
        <p:nvSpPr>
          <p:cNvPr id="40988" name="Text Box 39"/>
          <p:cNvSpPr txBox="1">
            <a:spLocks noChangeArrowheads="1"/>
          </p:cNvSpPr>
          <p:nvPr/>
        </p:nvSpPr>
        <p:spPr bwMode="auto">
          <a:xfrm>
            <a:off x="860425" y="4456113"/>
            <a:ext cx="1116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lnSpc>
                <a:spcPct val="100000"/>
              </a:lnSpc>
              <a:spcBef>
                <a:spcPct val="0"/>
              </a:spcBef>
              <a:spcAft>
                <a:spcPct val="0"/>
              </a:spcAft>
            </a:pPr>
            <a:r>
              <a:rPr lang="en-US">
                <a:solidFill>
                  <a:srgbClr val="00008C"/>
                </a:solidFill>
              </a:rPr>
              <a:t>Layer N</a:t>
            </a:r>
          </a:p>
        </p:txBody>
      </p:sp>
      <p:sp>
        <p:nvSpPr>
          <p:cNvPr id="40989" name="Text Box 40"/>
          <p:cNvSpPr txBox="1">
            <a:spLocks noChangeArrowheads="1"/>
          </p:cNvSpPr>
          <p:nvPr/>
        </p:nvSpPr>
        <p:spPr bwMode="auto">
          <a:xfrm>
            <a:off x="847725" y="5094288"/>
            <a:ext cx="1341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lnSpc>
                <a:spcPct val="100000"/>
              </a:lnSpc>
              <a:spcBef>
                <a:spcPct val="0"/>
              </a:spcBef>
              <a:spcAft>
                <a:spcPct val="0"/>
              </a:spcAft>
            </a:pPr>
            <a:r>
              <a:rPr lang="en-US">
                <a:solidFill>
                  <a:srgbClr val="00008C"/>
                </a:solidFill>
              </a:rPr>
              <a:t>Layer N-1</a:t>
            </a:r>
          </a:p>
        </p:txBody>
      </p:sp>
      <p:sp>
        <p:nvSpPr>
          <p:cNvPr id="40990" name="Text Box 41"/>
          <p:cNvSpPr txBox="1">
            <a:spLocks noChangeArrowheads="1"/>
          </p:cNvSpPr>
          <p:nvPr/>
        </p:nvSpPr>
        <p:spPr bwMode="auto">
          <a:xfrm>
            <a:off x="860425" y="3763963"/>
            <a:ext cx="1404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lnSpc>
                <a:spcPct val="100000"/>
              </a:lnSpc>
              <a:spcBef>
                <a:spcPct val="0"/>
              </a:spcBef>
              <a:spcAft>
                <a:spcPct val="0"/>
              </a:spcAft>
            </a:pPr>
            <a:r>
              <a:rPr lang="en-US">
                <a:solidFill>
                  <a:srgbClr val="00008C"/>
                </a:solidFill>
              </a:rPr>
              <a:t>Layer N+1</a:t>
            </a:r>
          </a:p>
        </p:txBody>
      </p:sp>
      <p:sp>
        <p:nvSpPr>
          <p:cNvPr id="40991" name="Text Box 43"/>
          <p:cNvSpPr txBox="1">
            <a:spLocks noChangeArrowheads="1"/>
          </p:cNvSpPr>
          <p:nvPr/>
        </p:nvSpPr>
        <p:spPr bwMode="auto">
          <a:xfrm>
            <a:off x="6480175" y="4468813"/>
            <a:ext cx="1116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lnSpc>
                <a:spcPct val="100000"/>
              </a:lnSpc>
              <a:spcBef>
                <a:spcPct val="0"/>
              </a:spcBef>
              <a:spcAft>
                <a:spcPct val="0"/>
              </a:spcAft>
            </a:pPr>
            <a:r>
              <a:rPr lang="en-US">
                <a:solidFill>
                  <a:srgbClr val="00008C"/>
                </a:solidFill>
              </a:rPr>
              <a:t>Layer N</a:t>
            </a:r>
          </a:p>
        </p:txBody>
      </p:sp>
      <p:sp>
        <p:nvSpPr>
          <p:cNvPr id="40992" name="Text Box 44"/>
          <p:cNvSpPr txBox="1">
            <a:spLocks noChangeArrowheads="1"/>
          </p:cNvSpPr>
          <p:nvPr/>
        </p:nvSpPr>
        <p:spPr bwMode="auto">
          <a:xfrm>
            <a:off x="6480175" y="5170488"/>
            <a:ext cx="1341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lnSpc>
                <a:spcPct val="100000"/>
              </a:lnSpc>
              <a:spcBef>
                <a:spcPct val="0"/>
              </a:spcBef>
              <a:spcAft>
                <a:spcPct val="0"/>
              </a:spcAft>
            </a:pPr>
            <a:r>
              <a:rPr lang="en-US">
                <a:solidFill>
                  <a:srgbClr val="00008C"/>
                </a:solidFill>
              </a:rPr>
              <a:t>Layer N-1</a:t>
            </a:r>
          </a:p>
        </p:txBody>
      </p:sp>
      <p:sp>
        <p:nvSpPr>
          <p:cNvPr id="40993" name="Text Box 45"/>
          <p:cNvSpPr txBox="1">
            <a:spLocks noChangeArrowheads="1"/>
          </p:cNvSpPr>
          <p:nvPr/>
        </p:nvSpPr>
        <p:spPr bwMode="auto">
          <a:xfrm>
            <a:off x="6492875" y="3840163"/>
            <a:ext cx="1404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lnSpc>
                <a:spcPct val="100000"/>
              </a:lnSpc>
              <a:spcBef>
                <a:spcPct val="0"/>
              </a:spcBef>
              <a:spcAft>
                <a:spcPct val="0"/>
              </a:spcAft>
            </a:pPr>
            <a:r>
              <a:rPr lang="en-US">
                <a:solidFill>
                  <a:srgbClr val="00008C"/>
                </a:solidFill>
              </a:rPr>
              <a:t>Layer N+1</a:t>
            </a:r>
          </a:p>
        </p:txBody>
      </p:sp>
      <p:sp>
        <p:nvSpPr>
          <p:cNvPr id="40994" name="Oval 48"/>
          <p:cNvSpPr>
            <a:spLocks noChangeArrowheads="1"/>
          </p:cNvSpPr>
          <p:nvPr/>
        </p:nvSpPr>
        <p:spPr bwMode="auto">
          <a:xfrm>
            <a:off x="2254250" y="4430713"/>
            <a:ext cx="1087438" cy="46037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995" name="Oval 50"/>
          <p:cNvSpPr>
            <a:spLocks noChangeArrowheads="1"/>
          </p:cNvSpPr>
          <p:nvPr/>
        </p:nvSpPr>
        <p:spPr bwMode="auto">
          <a:xfrm>
            <a:off x="5332413" y="4430713"/>
            <a:ext cx="1087437" cy="46037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4198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ACA35F20-6A7B-46C6-BB72-CABC4075D360}" type="slidenum">
              <a:rPr lang="en-US" sz="1400"/>
              <a:pPr eaLnBrk="1" hangingPunct="1"/>
              <a:t>28</a:t>
            </a:fld>
            <a:endParaRPr lang="en-US" sz="1400"/>
          </a:p>
        </p:txBody>
      </p:sp>
      <p:pic>
        <p:nvPicPr>
          <p:cNvPr id="41988" name="Picture 2" descr="01"/>
          <p:cNvPicPr>
            <a:picLocks noChangeAspect="1" noChangeArrowheads="1"/>
          </p:cNvPicPr>
          <p:nvPr/>
        </p:nvPicPr>
        <p:blipFill>
          <a:blip r:embed="rId2">
            <a:clrChange>
              <a:clrFrom>
                <a:srgbClr val="FFFFFF"/>
              </a:clrFrom>
              <a:clrTo>
                <a:srgbClr val="FFFFFF">
                  <a:alpha val="0"/>
                </a:srgbClr>
              </a:clrTo>
            </a:clrChange>
            <a:lum contrast="24000"/>
            <a:extLst>
              <a:ext uri="{28A0092B-C50C-407E-A947-70E740481C1C}">
                <a14:useLocalDpi xmlns:a14="http://schemas.microsoft.com/office/drawing/2010/main" val="0"/>
              </a:ext>
            </a:extLst>
          </a:blip>
          <a:srcRect/>
          <a:stretch>
            <a:fillRect/>
          </a:stretch>
        </p:blipFill>
        <p:spPr bwMode="auto">
          <a:xfrm>
            <a:off x="685800" y="1262063"/>
            <a:ext cx="7924800" cy="491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Rectangle 4"/>
          <p:cNvSpPr>
            <a:spLocks noGrp="1" noChangeArrowheads="1"/>
          </p:cNvSpPr>
          <p:nvPr>
            <p:ph type="title"/>
          </p:nvPr>
        </p:nvSpPr>
        <p:spPr>
          <a:xfrm>
            <a:off x="228600" y="533400"/>
            <a:ext cx="8839200" cy="762000"/>
          </a:xfrm>
        </p:spPr>
        <p:txBody>
          <a:bodyPr/>
          <a:lstStyle/>
          <a:p>
            <a:pPr eaLnBrk="1" hangingPunct="1"/>
            <a:r>
              <a:rPr lang="en-US"/>
              <a:t>Message Transmission Example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4301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CA927850-2FE7-42F3-BBA2-0DBC71CFCFBA}" type="slidenum">
              <a:rPr lang="en-US" sz="1400"/>
              <a:pPr eaLnBrk="1" hangingPunct="1"/>
              <a:t>29</a:t>
            </a:fld>
            <a:endParaRPr lang="en-US" sz="1400"/>
          </a:p>
        </p:txBody>
      </p:sp>
      <p:sp>
        <p:nvSpPr>
          <p:cNvPr id="43012" name="Rectangle 10"/>
          <p:cNvSpPr>
            <a:spLocks noGrp="1" noChangeArrowheads="1"/>
          </p:cNvSpPr>
          <p:nvPr>
            <p:ph type="title"/>
          </p:nvPr>
        </p:nvSpPr>
        <p:spPr/>
        <p:txBody>
          <a:bodyPr/>
          <a:lstStyle/>
          <a:p>
            <a:pPr eaLnBrk="1" hangingPunct="1"/>
            <a:r>
              <a:rPr lang="en-US"/>
              <a:t>Points about Network Layer View</a:t>
            </a:r>
          </a:p>
        </p:txBody>
      </p:sp>
      <p:sp>
        <p:nvSpPr>
          <p:cNvPr id="43013" name="Rectangle 11"/>
          <p:cNvSpPr>
            <a:spLocks noGrp="1" noChangeArrowheads="1"/>
          </p:cNvSpPr>
          <p:nvPr>
            <p:ph type="body" idx="1"/>
          </p:nvPr>
        </p:nvSpPr>
        <p:spPr/>
        <p:txBody>
          <a:bodyPr/>
          <a:lstStyle/>
          <a:p>
            <a:pPr eaLnBrk="1" hangingPunct="1">
              <a:lnSpc>
                <a:spcPct val="80000"/>
              </a:lnSpc>
            </a:pPr>
            <a:r>
              <a:rPr lang="en-US" sz="2400"/>
              <a:t>Layers allow simplicity of networking in some ways </a:t>
            </a:r>
          </a:p>
          <a:p>
            <a:pPr lvl="1" eaLnBrk="1" hangingPunct="1">
              <a:lnSpc>
                <a:spcPct val="80000"/>
              </a:lnSpc>
            </a:pPr>
            <a:r>
              <a:rPr lang="en-US" sz="2000"/>
              <a:t>Easy to develop new software that fits each layer</a:t>
            </a:r>
          </a:p>
          <a:p>
            <a:pPr lvl="1" eaLnBrk="1" hangingPunct="1">
              <a:lnSpc>
                <a:spcPct val="80000"/>
              </a:lnSpc>
            </a:pPr>
            <a:r>
              <a:rPr lang="en-US" sz="2000"/>
              <a:t>Relatively simple to change the software at any level</a:t>
            </a:r>
          </a:p>
          <a:p>
            <a:pPr eaLnBrk="1" hangingPunct="1">
              <a:lnSpc>
                <a:spcPct val="80000"/>
              </a:lnSpc>
            </a:pPr>
            <a:r>
              <a:rPr lang="en-US" sz="2400"/>
              <a:t>Matching layers communicate between different computers and computer platforms</a:t>
            </a:r>
          </a:p>
          <a:p>
            <a:pPr lvl="1" eaLnBrk="1" hangingPunct="1">
              <a:lnSpc>
                <a:spcPct val="80000"/>
              </a:lnSpc>
            </a:pPr>
            <a:r>
              <a:rPr lang="en-US" sz="2000"/>
              <a:t>Accomplished by standards that we all agree on</a:t>
            </a:r>
          </a:p>
          <a:p>
            <a:pPr lvl="1" eaLnBrk="1" hangingPunct="1">
              <a:lnSpc>
                <a:spcPct val="80000"/>
              </a:lnSpc>
            </a:pPr>
            <a:r>
              <a:rPr lang="en-US" sz="2000"/>
              <a:t>e.g.,  Physical layer at the sending computer must match up with the same layer in the receiving computer</a:t>
            </a:r>
          </a:p>
          <a:p>
            <a:pPr eaLnBrk="1" hangingPunct="1">
              <a:lnSpc>
                <a:spcPct val="80000"/>
              </a:lnSpc>
            </a:pPr>
            <a:r>
              <a:rPr lang="en-US" sz="2400"/>
              <a:t>Somewhat inefficient</a:t>
            </a:r>
          </a:p>
          <a:p>
            <a:pPr lvl="1" eaLnBrk="1" hangingPunct="1">
              <a:lnSpc>
                <a:spcPct val="80000"/>
              </a:lnSpc>
            </a:pPr>
            <a:r>
              <a:rPr lang="en-US" sz="2000"/>
              <a:t>Involves many software packages and packets</a:t>
            </a:r>
          </a:p>
          <a:p>
            <a:pPr lvl="1" eaLnBrk="1" hangingPunct="1">
              <a:lnSpc>
                <a:spcPct val="80000"/>
              </a:lnSpc>
            </a:pPr>
            <a:r>
              <a:rPr lang="en-US" sz="2000"/>
              <a:t>Packet overhead (</a:t>
            </a:r>
            <a:r>
              <a:rPr lang="en-US" sz="2000">
                <a:sym typeface="Wingdings" pitchFamily="2" charset="2"/>
              </a:rPr>
              <a:t>slower transmission, processing time)</a:t>
            </a:r>
          </a:p>
          <a:p>
            <a:pPr lvl="1" eaLnBrk="1" hangingPunct="1">
              <a:lnSpc>
                <a:spcPct val="80000"/>
              </a:lnSpc>
            </a:pPr>
            <a:r>
              <a:rPr lang="en-US" sz="2000"/>
              <a:t>Interoperability achieved at the expense of perfectly streamlined communication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4403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379F5ABD-CACA-4173-802E-33F8EE0E0431}" type="slidenum">
              <a:rPr lang="en-US" sz="1400"/>
              <a:pPr eaLnBrk="1" hangingPunct="1"/>
              <a:t>30</a:t>
            </a:fld>
            <a:endParaRPr lang="en-US" sz="1400"/>
          </a:p>
        </p:txBody>
      </p:sp>
      <p:sp>
        <p:nvSpPr>
          <p:cNvPr id="44036" name="Rectangle 2"/>
          <p:cNvSpPr>
            <a:spLocks noGrp="1" noChangeArrowheads="1"/>
          </p:cNvSpPr>
          <p:nvPr>
            <p:ph type="title"/>
          </p:nvPr>
        </p:nvSpPr>
        <p:spPr/>
        <p:txBody>
          <a:bodyPr/>
          <a:lstStyle/>
          <a:p>
            <a:pPr algn="l" eaLnBrk="1" hangingPunct="1"/>
            <a:r>
              <a:rPr lang="en-US"/>
              <a:t>1.4 Network Standards</a:t>
            </a:r>
          </a:p>
        </p:txBody>
      </p:sp>
      <p:sp>
        <p:nvSpPr>
          <p:cNvPr id="44037" name="Rectangle 3"/>
          <p:cNvSpPr>
            <a:spLocks noGrp="1" noChangeArrowheads="1"/>
          </p:cNvSpPr>
          <p:nvPr>
            <p:ph type="body" idx="1"/>
          </p:nvPr>
        </p:nvSpPr>
        <p:spPr/>
        <p:txBody>
          <a:bodyPr/>
          <a:lstStyle/>
          <a:p>
            <a:pPr eaLnBrk="1" hangingPunct="1"/>
            <a:r>
              <a:rPr lang="en-US" sz="2400" dirty="0"/>
              <a:t>Importance</a:t>
            </a:r>
          </a:p>
          <a:p>
            <a:pPr lvl="1" eaLnBrk="1" hangingPunct="1"/>
            <a:r>
              <a:rPr lang="en-US" sz="2000" dirty="0"/>
              <a:t>Provide a “fixed” way for hardware and/or software systems (different companies)  to communicate</a:t>
            </a:r>
          </a:p>
          <a:p>
            <a:pPr lvl="1" eaLnBrk="1" hangingPunct="1"/>
            <a:r>
              <a:rPr lang="en-US" sz="2000" dirty="0"/>
              <a:t>Help promote competition and decrease the price </a:t>
            </a:r>
          </a:p>
          <a:p>
            <a:pPr eaLnBrk="1" hangingPunct="1"/>
            <a:r>
              <a:rPr lang="en-US" sz="2400" dirty="0"/>
              <a:t>Types of Standards</a:t>
            </a:r>
          </a:p>
          <a:p>
            <a:pPr lvl="1" eaLnBrk="1" hangingPunct="1"/>
            <a:r>
              <a:rPr lang="en-US" sz="2000" dirty="0"/>
              <a:t>The de jure (Formal</a:t>
            </a:r>
            <a:r>
              <a:rPr lang="en-US" sz="2000"/>
              <a:t>) standards</a:t>
            </a:r>
            <a:endParaRPr lang="en-US" sz="2000" dirty="0"/>
          </a:p>
          <a:p>
            <a:pPr lvl="2" eaLnBrk="1" hangingPunct="1"/>
            <a:r>
              <a:rPr lang="en-US" sz="2000" dirty="0"/>
              <a:t>Developed by an industry or government standards-making body</a:t>
            </a:r>
          </a:p>
          <a:p>
            <a:pPr lvl="1" eaLnBrk="1" hangingPunct="1"/>
            <a:r>
              <a:rPr lang="en-US" sz="2000" dirty="0"/>
              <a:t>De-facto standards </a:t>
            </a:r>
          </a:p>
          <a:p>
            <a:pPr lvl="2" eaLnBrk="1" hangingPunct="1"/>
            <a:r>
              <a:rPr lang="en-US" sz="2000" dirty="0"/>
              <a:t>Emerge in the marketplace and widely used</a:t>
            </a:r>
          </a:p>
          <a:p>
            <a:pPr lvl="2" eaLnBrk="1" hangingPunct="1"/>
            <a:r>
              <a:rPr lang="en-US" sz="2000" dirty="0"/>
              <a:t>Lack official backing by a standards-making body</a:t>
            </a:r>
          </a:p>
          <a:p>
            <a:pPr lvl="1" eaLnBrk="1" hangingPunct="1"/>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4505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EA799AA1-6984-4941-AA99-301246BFF4EE}" type="slidenum">
              <a:rPr lang="en-US" sz="1400"/>
              <a:pPr eaLnBrk="1" hangingPunct="1"/>
              <a:t>31</a:t>
            </a:fld>
            <a:endParaRPr lang="en-US" sz="1400"/>
          </a:p>
        </p:txBody>
      </p:sp>
      <p:sp>
        <p:nvSpPr>
          <p:cNvPr id="45060" name="Rectangle 6"/>
          <p:cNvSpPr>
            <a:spLocks noGrp="1" noChangeArrowheads="1"/>
          </p:cNvSpPr>
          <p:nvPr>
            <p:ph type="title"/>
          </p:nvPr>
        </p:nvSpPr>
        <p:spPr/>
        <p:txBody>
          <a:bodyPr/>
          <a:lstStyle/>
          <a:p>
            <a:pPr eaLnBrk="1" hangingPunct="1"/>
            <a:r>
              <a:rPr lang="en-US"/>
              <a:t>Standardization Processes</a:t>
            </a:r>
          </a:p>
        </p:txBody>
      </p:sp>
      <p:sp>
        <p:nvSpPr>
          <p:cNvPr id="45061" name="Rectangle 7"/>
          <p:cNvSpPr>
            <a:spLocks noGrp="1" noChangeArrowheads="1"/>
          </p:cNvSpPr>
          <p:nvPr>
            <p:ph type="body" idx="1"/>
          </p:nvPr>
        </p:nvSpPr>
        <p:spPr/>
        <p:txBody>
          <a:bodyPr/>
          <a:lstStyle/>
          <a:p>
            <a:pPr eaLnBrk="1" hangingPunct="1"/>
            <a:r>
              <a:rPr lang="en-US"/>
              <a:t>Specification</a:t>
            </a:r>
          </a:p>
          <a:p>
            <a:pPr lvl="1" eaLnBrk="1" hangingPunct="1"/>
            <a:r>
              <a:rPr lang="en-US"/>
              <a:t>Developing the nomenclature and identifying the problems to be addressed</a:t>
            </a:r>
          </a:p>
          <a:p>
            <a:pPr eaLnBrk="1" hangingPunct="1"/>
            <a:r>
              <a:rPr lang="en-US"/>
              <a:t>Identification of choices</a:t>
            </a:r>
          </a:p>
          <a:p>
            <a:pPr lvl="1" eaLnBrk="1" hangingPunct="1"/>
            <a:r>
              <a:rPr lang="en-US"/>
              <a:t>Identifying solutions to the problems and choose the “optimum” solution</a:t>
            </a:r>
          </a:p>
          <a:p>
            <a:pPr eaLnBrk="1" hangingPunct="1"/>
            <a:r>
              <a:rPr lang="en-US"/>
              <a:t>Acceptance</a:t>
            </a:r>
          </a:p>
          <a:p>
            <a:pPr lvl="1" eaLnBrk="1" hangingPunct="1"/>
            <a:r>
              <a:rPr lang="en-US"/>
              <a:t>Defining the solution, getting it recognized by industry so that a uniform solution is accepted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4608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8724B1A6-69DA-4AED-9327-A9342EA0DD81}" type="slidenum">
              <a:rPr lang="en-US" sz="1400"/>
              <a:pPr eaLnBrk="1" hangingPunct="1"/>
              <a:t>32</a:t>
            </a:fld>
            <a:endParaRPr lang="en-US" sz="1400"/>
          </a:p>
        </p:txBody>
      </p:sp>
      <p:sp>
        <p:nvSpPr>
          <p:cNvPr id="46084" name="Rectangle 8"/>
          <p:cNvSpPr>
            <a:spLocks noGrp="1" noChangeArrowheads="1"/>
          </p:cNvSpPr>
          <p:nvPr>
            <p:ph type="title"/>
          </p:nvPr>
        </p:nvSpPr>
        <p:spPr/>
        <p:txBody>
          <a:bodyPr/>
          <a:lstStyle/>
          <a:p>
            <a:pPr eaLnBrk="1" hangingPunct="1"/>
            <a:r>
              <a:rPr lang="en-US"/>
              <a:t>Major Standards Bodies</a:t>
            </a:r>
          </a:p>
        </p:txBody>
      </p:sp>
      <p:sp>
        <p:nvSpPr>
          <p:cNvPr id="46085" name="Rectangle 9"/>
          <p:cNvSpPr>
            <a:spLocks noGrp="1" noChangeArrowheads="1"/>
          </p:cNvSpPr>
          <p:nvPr>
            <p:ph type="body" idx="1"/>
          </p:nvPr>
        </p:nvSpPr>
        <p:spPr/>
        <p:txBody>
          <a:bodyPr/>
          <a:lstStyle/>
          <a:p>
            <a:pPr eaLnBrk="1" hangingPunct="1"/>
            <a:r>
              <a:rPr lang="en-US" sz="2400"/>
              <a:t>ISO  (International Organization for Standardization) </a:t>
            </a:r>
          </a:p>
          <a:p>
            <a:pPr lvl="1" eaLnBrk="1" hangingPunct="1"/>
            <a:r>
              <a:rPr lang="en-US" sz="2000"/>
              <a:t>Technical recommendations for data communication interfaces</a:t>
            </a:r>
          </a:p>
          <a:p>
            <a:pPr lvl="1" eaLnBrk="1" hangingPunct="1"/>
            <a:r>
              <a:rPr lang="en-US" sz="2000"/>
              <a:t>Composed of each country’s national standards orgs.</a:t>
            </a:r>
          </a:p>
          <a:p>
            <a:pPr lvl="1" eaLnBrk="1" hangingPunct="1"/>
            <a:r>
              <a:rPr lang="en-US" sz="2000"/>
              <a:t>Based in Geneva, Switzerland (www.iso.ch)</a:t>
            </a:r>
          </a:p>
          <a:p>
            <a:pPr eaLnBrk="1" hangingPunct="1"/>
            <a:r>
              <a:rPr lang="en-US" sz="2400"/>
              <a:t>ITU-T (International Telecommunications Union –Telecom Group </a:t>
            </a:r>
          </a:p>
          <a:p>
            <a:pPr lvl="1" eaLnBrk="1" hangingPunct="1"/>
            <a:r>
              <a:rPr lang="en-US" sz="2000"/>
              <a:t>Technical recommendations about telephone, telegraph and data communications interfaces </a:t>
            </a:r>
          </a:p>
          <a:p>
            <a:pPr lvl="1" eaLnBrk="1" hangingPunct="1"/>
            <a:r>
              <a:rPr lang="en-US" sz="2000"/>
              <a:t>Composed of representatives from each country in UN</a:t>
            </a:r>
          </a:p>
          <a:p>
            <a:pPr lvl="1" eaLnBrk="1" hangingPunct="1"/>
            <a:r>
              <a:rPr lang="en-US" sz="2000"/>
              <a:t>Based in Geneva, Switzerland (www.itu.int)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4710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E41A9537-2520-44B7-A277-A3F4453885EA}" type="slidenum">
              <a:rPr lang="en-US" sz="1400"/>
              <a:pPr eaLnBrk="1" hangingPunct="1"/>
              <a:t>33</a:t>
            </a:fld>
            <a:endParaRPr lang="en-US" sz="1400"/>
          </a:p>
        </p:txBody>
      </p:sp>
      <p:sp>
        <p:nvSpPr>
          <p:cNvPr id="47108" name="Rectangle 4"/>
          <p:cNvSpPr>
            <a:spLocks noGrp="1" noChangeArrowheads="1"/>
          </p:cNvSpPr>
          <p:nvPr>
            <p:ph type="title"/>
          </p:nvPr>
        </p:nvSpPr>
        <p:spPr/>
        <p:txBody>
          <a:bodyPr/>
          <a:lstStyle/>
          <a:p>
            <a:pPr eaLnBrk="1" hangingPunct="1"/>
            <a:r>
              <a:rPr lang="en-US"/>
              <a:t>Major Standards Bodies (Cont.)</a:t>
            </a:r>
          </a:p>
        </p:txBody>
      </p:sp>
      <p:sp>
        <p:nvSpPr>
          <p:cNvPr id="47109" name="Rectangle 5"/>
          <p:cNvSpPr>
            <a:spLocks noGrp="1" noChangeArrowheads="1"/>
          </p:cNvSpPr>
          <p:nvPr>
            <p:ph type="body" idx="1"/>
          </p:nvPr>
        </p:nvSpPr>
        <p:spPr/>
        <p:txBody>
          <a:bodyPr/>
          <a:lstStyle/>
          <a:p>
            <a:pPr eaLnBrk="1" hangingPunct="1">
              <a:lnSpc>
                <a:spcPct val="90000"/>
              </a:lnSpc>
            </a:pPr>
            <a:r>
              <a:rPr lang="en-US" sz="2400"/>
              <a:t>ANSI (American National Standards Institute)</a:t>
            </a:r>
          </a:p>
          <a:p>
            <a:pPr lvl="1" eaLnBrk="1" hangingPunct="1">
              <a:lnSpc>
                <a:spcPct val="90000"/>
              </a:lnSpc>
            </a:pPr>
            <a:r>
              <a:rPr lang="en-US" sz="2000"/>
              <a:t>Coordinating organization for US (not a standards- making body)</a:t>
            </a:r>
          </a:p>
          <a:p>
            <a:pPr lvl="1" eaLnBrk="1" hangingPunct="1">
              <a:lnSpc>
                <a:spcPct val="90000"/>
              </a:lnSpc>
            </a:pPr>
            <a:r>
              <a:rPr lang="en-US" sz="2000"/>
              <a:t>www.ansi.org</a:t>
            </a:r>
          </a:p>
          <a:p>
            <a:pPr eaLnBrk="1" hangingPunct="1">
              <a:lnSpc>
                <a:spcPct val="90000"/>
              </a:lnSpc>
            </a:pPr>
            <a:r>
              <a:rPr lang="en-US" sz="2400"/>
              <a:t>IEEE (Institute of Electrical and Electronic Engineers)</a:t>
            </a:r>
          </a:p>
          <a:p>
            <a:pPr lvl="1" eaLnBrk="1" hangingPunct="1">
              <a:lnSpc>
                <a:spcPct val="90000"/>
              </a:lnSpc>
            </a:pPr>
            <a:r>
              <a:rPr lang="en-US" sz="2000"/>
              <a:t>Professional society; also develops mostly LAN standards</a:t>
            </a:r>
          </a:p>
          <a:p>
            <a:pPr lvl="1" eaLnBrk="1" hangingPunct="1">
              <a:lnSpc>
                <a:spcPct val="90000"/>
              </a:lnSpc>
            </a:pPr>
            <a:r>
              <a:rPr lang="en-US" sz="2000"/>
              <a:t>standards.ieee.org</a:t>
            </a:r>
          </a:p>
          <a:p>
            <a:pPr eaLnBrk="1" hangingPunct="1">
              <a:lnSpc>
                <a:spcPct val="90000"/>
              </a:lnSpc>
            </a:pPr>
            <a:r>
              <a:rPr lang="en-US" sz="2400"/>
              <a:t>IETF (Internet Engineering Task Force) </a:t>
            </a:r>
          </a:p>
          <a:p>
            <a:pPr lvl="1" eaLnBrk="1" hangingPunct="1">
              <a:lnSpc>
                <a:spcPct val="90000"/>
              </a:lnSpc>
            </a:pPr>
            <a:r>
              <a:rPr lang="en-US" sz="2000"/>
              <a:t>Develops Internet standards</a:t>
            </a:r>
          </a:p>
          <a:p>
            <a:pPr lvl="1" eaLnBrk="1" hangingPunct="1">
              <a:lnSpc>
                <a:spcPct val="90000"/>
              </a:lnSpc>
            </a:pPr>
            <a:r>
              <a:rPr lang="en-US" sz="2000"/>
              <a:t>No official membership (anyone welcome)</a:t>
            </a:r>
          </a:p>
          <a:p>
            <a:pPr lvl="1" eaLnBrk="1" hangingPunct="1">
              <a:lnSpc>
                <a:spcPct val="90000"/>
              </a:lnSpc>
            </a:pPr>
            <a:r>
              <a:rPr lang="en-US" sz="2000"/>
              <a:t>www.ietf.org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4813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56E37810-82EC-4A7E-BD99-82A292F34F3A}" type="slidenum">
              <a:rPr lang="en-US" sz="1400"/>
              <a:pPr eaLnBrk="1" hangingPunct="1"/>
              <a:t>34</a:t>
            </a:fld>
            <a:endParaRPr lang="en-US" sz="1400"/>
          </a:p>
        </p:txBody>
      </p:sp>
      <p:sp>
        <p:nvSpPr>
          <p:cNvPr id="48132" name="Rectangle 42"/>
          <p:cNvSpPr>
            <a:spLocks noChangeArrowheads="1"/>
          </p:cNvSpPr>
          <p:nvPr/>
        </p:nvSpPr>
        <p:spPr bwMode="auto">
          <a:xfrm>
            <a:off x="949325" y="3565525"/>
            <a:ext cx="7372350" cy="71755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8133" name="Rectangle 43"/>
          <p:cNvSpPr>
            <a:spLocks noChangeArrowheads="1"/>
          </p:cNvSpPr>
          <p:nvPr/>
        </p:nvSpPr>
        <p:spPr bwMode="auto">
          <a:xfrm>
            <a:off x="949325" y="5202238"/>
            <a:ext cx="7372350" cy="969962"/>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8134" name="Rectangle 41"/>
          <p:cNvSpPr>
            <a:spLocks noChangeArrowheads="1"/>
          </p:cNvSpPr>
          <p:nvPr/>
        </p:nvSpPr>
        <p:spPr bwMode="auto">
          <a:xfrm>
            <a:off x="949325" y="1855788"/>
            <a:ext cx="7372350" cy="992187"/>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8135" name="Rectangle 40"/>
          <p:cNvSpPr>
            <a:spLocks noGrp="1" noChangeArrowheads="1"/>
          </p:cNvSpPr>
          <p:nvPr>
            <p:ph type="title"/>
          </p:nvPr>
        </p:nvSpPr>
        <p:spPr/>
        <p:txBody>
          <a:bodyPr/>
          <a:lstStyle/>
          <a:p>
            <a:pPr eaLnBrk="1" hangingPunct="1"/>
            <a:r>
              <a:rPr lang="en-US"/>
              <a:t>Some Data Comm. Standards</a:t>
            </a:r>
          </a:p>
        </p:txBody>
      </p:sp>
      <p:grpSp>
        <p:nvGrpSpPr>
          <p:cNvPr id="48136" name="Group 3"/>
          <p:cNvGrpSpPr>
            <a:grpSpLocks/>
          </p:cNvGrpSpPr>
          <p:nvPr/>
        </p:nvGrpSpPr>
        <p:grpSpPr bwMode="auto">
          <a:xfrm>
            <a:off x="949325" y="1298575"/>
            <a:ext cx="2992438" cy="557213"/>
            <a:chOff x="0" y="0"/>
            <a:chExt cx="993" cy="672"/>
          </a:xfrm>
        </p:grpSpPr>
        <p:sp>
          <p:nvSpPr>
            <p:cNvPr id="48172" name="Rectangle 4"/>
            <p:cNvSpPr>
              <a:spLocks noChangeArrowheads="1"/>
            </p:cNvSpPr>
            <p:nvPr/>
          </p:nvSpPr>
          <p:spPr bwMode="auto">
            <a:xfrm>
              <a:off x="43" y="0"/>
              <a:ext cx="907"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00000"/>
                </a:lnSpc>
                <a:spcBef>
                  <a:spcPct val="0"/>
                </a:spcBef>
                <a:spcAft>
                  <a:spcPct val="0"/>
                </a:spcAft>
              </a:pPr>
              <a:r>
                <a:rPr lang="en-US" sz="2400" u="sng">
                  <a:solidFill>
                    <a:srgbClr val="00008C"/>
                  </a:solidFill>
                  <a:cs typeface="Times New Roman" pitchFamily="18" charset="0"/>
                </a:rPr>
                <a:t>Layer</a:t>
              </a:r>
            </a:p>
            <a:p>
              <a:pPr algn="ctr" eaLnBrk="0" hangingPunct="0">
                <a:lnSpc>
                  <a:spcPct val="100000"/>
                </a:lnSpc>
                <a:spcBef>
                  <a:spcPct val="0"/>
                </a:spcBef>
                <a:spcAft>
                  <a:spcPct val="0"/>
                </a:spcAft>
              </a:pPr>
              <a:endParaRPr lang="en-US" sz="2400" u="sng">
                <a:solidFill>
                  <a:srgbClr val="00008C"/>
                </a:solidFill>
              </a:endParaRPr>
            </a:p>
          </p:txBody>
        </p:sp>
        <p:sp>
          <p:nvSpPr>
            <p:cNvPr id="48173" name="Rectangle 5"/>
            <p:cNvSpPr>
              <a:spLocks noChangeArrowheads="1"/>
            </p:cNvSpPr>
            <p:nvPr/>
          </p:nvSpPr>
          <p:spPr bwMode="auto">
            <a:xfrm>
              <a:off x="0" y="0"/>
              <a:ext cx="993" cy="67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8137" name="Group 6"/>
          <p:cNvGrpSpPr>
            <a:grpSpLocks/>
          </p:cNvGrpSpPr>
          <p:nvPr/>
        </p:nvGrpSpPr>
        <p:grpSpPr bwMode="auto">
          <a:xfrm>
            <a:off x="3941763" y="1298575"/>
            <a:ext cx="4379912" cy="557213"/>
            <a:chOff x="993" y="0"/>
            <a:chExt cx="1454" cy="672"/>
          </a:xfrm>
        </p:grpSpPr>
        <p:sp>
          <p:nvSpPr>
            <p:cNvPr id="48170" name="Rectangle 7"/>
            <p:cNvSpPr>
              <a:spLocks noChangeArrowheads="1"/>
            </p:cNvSpPr>
            <p:nvPr/>
          </p:nvSpPr>
          <p:spPr bwMode="auto">
            <a:xfrm>
              <a:off x="1036" y="0"/>
              <a:ext cx="1368"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00000"/>
                </a:lnSpc>
                <a:spcBef>
                  <a:spcPct val="0"/>
                </a:spcBef>
                <a:spcAft>
                  <a:spcPct val="0"/>
                </a:spcAft>
              </a:pPr>
              <a:r>
                <a:rPr lang="en-US" sz="2400" u="sng">
                  <a:solidFill>
                    <a:srgbClr val="00008C"/>
                  </a:solidFill>
                  <a:cs typeface="Times New Roman" pitchFamily="18" charset="0"/>
                </a:rPr>
                <a:t>Common Standards</a:t>
              </a:r>
            </a:p>
            <a:p>
              <a:pPr algn="ctr" eaLnBrk="0" hangingPunct="0">
                <a:lnSpc>
                  <a:spcPct val="100000"/>
                </a:lnSpc>
                <a:spcBef>
                  <a:spcPct val="0"/>
                </a:spcBef>
                <a:spcAft>
                  <a:spcPct val="0"/>
                </a:spcAft>
              </a:pPr>
              <a:endParaRPr lang="en-US" sz="2400" u="sng">
                <a:solidFill>
                  <a:srgbClr val="00008C"/>
                </a:solidFill>
              </a:endParaRPr>
            </a:p>
          </p:txBody>
        </p:sp>
        <p:sp>
          <p:nvSpPr>
            <p:cNvPr id="48171" name="Rectangle 8"/>
            <p:cNvSpPr>
              <a:spLocks noChangeArrowheads="1"/>
            </p:cNvSpPr>
            <p:nvPr/>
          </p:nvSpPr>
          <p:spPr bwMode="auto">
            <a:xfrm>
              <a:off x="993" y="0"/>
              <a:ext cx="1454" cy="67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8138" name="Group 9"/>
          <p:cNvGrpSpPr>
            <a:grpSpLocks/>
          </p:cNvGrpSpPr>
          <p:nvPr/>
        </p:nvGrpSpPr>
        <p:grpSpPr bwMode="auto">
          <a:xfrm>
            <a:off x="949325" y="1855788"/>
            <a:ext cx="2992438" cy="992187"/>
            <a:chOff x="0" y="672"/>
            <a:chExt cx="993" cy="1440"/>
          </a:xfrm>
        </p:grpSpPr>
        <p:sp>
          <p:nvSpPr>
            <p:cNvPr id="48168" name="Rectangle 10"/>
            <p:cNvSpPr>
              <a:spLocks noChangeArrowheads="1"/>
            </p:cNvSpPr>
            <p:nvPr/>
          </p:nvSpPr>
          <p:spPr bwMode="auto">
            <a:xfrm>
              <a:off x="43" y="672"/>
              <a:ext cx="907" cy="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00000"/>
                </a:lnSpc>
                <a:spcBef>
                  <a:spcPct val="0"/>
                </a:spcBef>
                <a:spcAft>
                  <a:spcPct val="0"/>
                </a:spcAft>
              </a:pPr>
              <a:endParaRPr lang="en-US">
                <a:solidFill>
                  <a:srgbClr val="00008C"/>
                </a:solidFill>
                <a:cs typeface="Times New Roman" pitchFamily="18" charset="0"/>
              </a:endParaRPr>
            </a:p>
            <a:p>
              <a:pPr>
                <a:lnSpc>
                  <a:spcPct val="100000"/>
                </a:lnSpc>
                <a:spcBef>
                  <a:spcPct val="0"/>
                </a:spcBef>
                <a:spcAft>
                  <a:spcPct val="0"/>
                </a:spcAft>
              </a:pPr>
              <a:r>
                <a:rPr lang="en-US">
                  <a:solidFill>
                    <a:srgbClr val="00008C"/>
                  </a:solidFill>
                  <a:cs typeface="Times New Roman" pitchFamily="18" charset="0"/>
                </a:rPr>
                <a:t>5. Application layer</a:t>
              </a:r>
              <a:endParaRPr lang="en-US" sz="1200">
                <a:solidFill>
                  <a:srgbClr val="00008C"/>
                </a:solidFill>
                <a:cs typeface="Times New Roman" pitchFamily="18" charset="0"/>
              </a:endParaRPr>
            </a:p>
            <a:p>
              <a:pPr eaLnBrk="0" hangingPunct="0">
                <a:lnSpc>
                  <a:spcPct val="100000"/>
                </a:lnSpc>
                <a:spcBef>
                  <a:spcPct val="0"/>
                </a:spcBef>
                <a:spcAft>
                  <a:spcPct val="0"/>
                </a:spcAft>
              </a:pPr>
              <a:endParaRPr lang="en-US" sz="2400">
                <a:solidFill>
                  <a:srgbClr val="00008C"/>
                </a:solidFill>
              </a:endParaRPr>
            </a:p>
          </p:txBody>
        </p:sp>
        <p:sp>
          <p:nvSpPr>
            <p:cNvPr id="48169" name="Rectangle 11"/>
            <p:cNvSpPr>
              <a:spLocks noChangeArrowheads="1"/>
            </p:cNvSpPr>
            <p:nvPr/>
          </p:nvSpPr>
          <p:spPr bwMode="auto">
            <a:xfrm>
              <a:off x="0" y="672"/>
              <a:ext cx="993" cy="144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8139" name="Group 12"/>
          <p:cNvGrpSpPr>
            <a:grpSpLocks/>
          </p:cNvGrpSpPr>
          <p:nvPr/>
        </p:nvGrpSpPr>
        <p:grpSpPr bwMode="auto">
          <a:xfrm>
            <a:off x="3941763" y="1855788"/>
            <a:ext cx="4379912" cy="992187"/>
            <a:chOff x="993" y="672"/>
            <a:chExt cx="1454" cy="1440"/>
          </a:xfrm>
        </p:grpSpPr>
        <p:sp>
          <p:nvSpPr>
            <p:cNvPr id="48166" name="Rectangle 13"/>
            <p:cNvSpPr>
              <a:spLocks noChangeArrowheads="1"/>
            </p:cNvSpPr>
            <p:nvPr/>
          </p:nvSpPr>
          <p:spPr bwMode="auto">
            <a:xfrm>
              <a:off x="1036" y="672"/>
              <a:ext cx="1368" cy="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00000"/>
                </a:lnSpc>
                <a:spcBef>
                  <a:spcPct val="0"/>
                </a:spcBef>
                <a:spcAft>
                  <a:spcPct val="0"/>
                </a:spcAft>
              </a:pPr>
              <a:r>
                <a:rPr lang="en-US">
                  <a:solidFill>
                    <a:srgbClr val="00008C"/>
                  </a:solidFill>
                  <a:latin typeface="Times New Roman" pitchFamily="18" charset="0"/>
                  <a:cs typeface="Times New Roman" pitchFamily="18" charset="0"/>
                </a:rPr>
                <a:t>HTTP, HTML (Web)</a:t>
              </a:r>
              <a:endParaRPr lang="en-US" sz="1200">
                <a:solidFill>
                  <a:srgbClr val="00008C"/>
                </a:solidFill>
                <a:latin typeface="Times New Roman" pitchFamily="18" charset="0"/>
                <a:cs typeface="Times New Roman" pitchFamily="18" charset="0"/>
              </a:endParaRPr>
            </a:p>
            <a:p>
              <a:pPr eaLnBrk="0" hangingPunct="0">
                <a:lnSpc>
                  <a:spcPct val="100000"/>
                </a:lnSpc>
                <a:spcBef>
                  <a:spcPct val="0"/>
                </a:spcBef>
                <a:spcAft>
                  <a:spcPct val="0"/>
                </a:spcAft>
              </a:pPr>
              <a:r>
                <a:rPr lang="en-US">
                  <a:solidFill>
                    <a:srgbClr val="00008C"/>
                  </a:solidFill>
                  <a:latin typeface="Times New Roman" pitchFamily="18" charset="0"/>
                  <a:cs typeface="Times New Roman" pitchFamily="18" charset="0"/>
                </a:rPr>
                <a:t>MPEG, H.323 (audio/video)</a:t>
              </a:r>
              <a:endParaRPr lang="en-US" sz="1200">
                <a:solidFill>
                  <a:srgbClr val="00008C"/>
                </a:solidFill>
                <a:latin typeface="Times New Roman" pitchFamily="18" charset="0"/>
                <a:cs typeface="Times New Roman" pitchFamily="18" charset="0"/>
              </a:endParaRPr>
            </a:p>
            <a:p>
              <a:pPr eaLnBrk="0" hangingPunct="0">
                <a:lnSpc>
                  <a:spcPct val="100000"/>
                </a:lnSpc>
                <a:spcBef>
                  <a:spcPct val="0"/>
                </a:spcBef>
                <a:spcAft>
                  <a:spcPct val="0"/>
                </a:spcAft>
              </a:pPr>
              <a:r>
                <a:rPr lang="en-US">
                  <a:solidFill>
                    <a:srgbClr val="00008C"/>
                  </a:solidFill>
                  <a:latin typeface="Times New Roman" pitchFamily="18" charset="0"/>
                  <a:cs typeface="Times New Roman" pitchFamily="18" charset="0"/>
                </a:rPr>
                <a:t>IMAP, POP (e-mail)</a:t>
              </a:r>
              <a:endParaRPr lang="en-US" sz="2400">
                <a:solidFill>
                  <a:srgbClr val="00008C"/>
                </a:solidFill>
                <a:latin typeface="Times New Roman" pitchFamily="18" charset="0"/>
              </a:endParaRPr>
            </a:p>
          </p:txBody>
        </p:sp>
        <p:sp>
          <p:nvSpPr>
            <p:cNvPr id="48167" name="Rectangle 14"/>
            <p:cNvSpPr>
              <a:spLocks noChangeArrowheads="1"/>
            </p:cNvSpPr>
            <p:nvPr/>
          </p:nvSpPr>
          <p:spPr bwMode="auto">
            <a:xfrm>
              <a:off x="993" y="672"/>
              <a:ext cx="1454" cy="144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8140" name="Group 15"/>
          <p:cNvGrpSpPr>
            <a:grpSpLocks/>
          </p:cNvGrpSpPr>
          <p:nvPr/>
        </p:nvGrpSpPr>
        <p:grpSpPr bwMode="auto">
          <a:xfrm>
            <a:off x="949325" y="2847975"/>
            <a:ext cx="2992438" cy="717550"/>
            <a:chOff x="0" y="2112"/>
            <a:chExt cx="993" cy="864"/>
          </a:xfrm>
        </p:grpSpPr>
        <p:sp>
          <p:nvSpPr>
            <p:cNvPr id="48164" name="Rectangle 16"/>
            <p:cNvSpPr>
              <a:spLocks noChangeArrowheads="1"/>
            </p:cNvSpPr>
            <p:nvPr/>
          </p:nvSpPr>
          <p:spPr bwMode="auto">
            <a:xfrm>
              <a:off x="43" y="2112"/>
              <a:ext cx="907"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00000"/>
                </a:lnSpc>
                <a:spcBef>
                  <a:spcPct val="0"/>
                </a:spcBef>
                <a:spcAft>
                  <a:spcPct val="0"/>
                </a:spcAft>
              </a:pPr>
              <a:endParaRPr lang="en-US" sz="800">
                <a:solidFill>
                  <a:srgbClr val="00008C"/>
                </a:solidFill>
                <a:cs typeface="Times New Roman" pitchFamily="18" charset="0"/>
              </a:endParaRPr>
            </a:p>
            <a:p>
              <a:pPr>
                <a:lnSpc>
                  <a:spcPct val="100000"/>
                </a:lnSpc>
                <a:spcBef>
                  <a:spcPct val="0"/>
                </a:spcBef>
                <a:spcAft>
                  <a:spcPct val="0"/>
                </a:spcAft>
              </a:pPr>
              <a:r>
                <a:rPr lang="en-US">
                  <a:solidFill>
                    <a:srgbClr val="00008C"/>
                  </a:solidFill>
                  <a:cs typeface="Times New Roman" pitchFamily="18" charset="0"/>
                </a:rPr>
                <a:t>4. Transport layer</a:t>
              </a:r>
            </a:p>
            <a:p>
              <a:pPr eaLnBrk="0" hangingPunct="0">
                <a:lnSpc>
                  <a:spcPct val="100000"/>
                </a:lnSpc>
                <a:spcBef>
                  <a:spcPct val="0"/>
                </a:spcBef>
                <a:spcAft>
                  <a:spcPct val="0"/>
                </a:spcAft>
              </a:pPr>
              <a:endParaRPr lang="en-US" sz="2400" b="0">
                <a:solidFill>
                  <a:srgbClr val="00008C"/>
                </a:solidFill>
              </a:endParaRPr>
            </a:p>
          </p:txBody>
        </p:sp>
        <p:sp>
          <p:nvSpPr>
            <p:cNvPr id="48165" name="Rectangle 17"/>
            <p:cNvSpPr>
              <a:spLocks noChangeArrowheads="1"/>
            </p:cNvSpPr>
            <p:nvPr/>
          </p:nvSpPr>
          <p:spPr bwMode="auto">
            <a:xfrm>
              <a:off x="0" y="2112"/>
              <a:ext cx="993" cy="86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8141" name="Group 18"/>
          <p:cNvGrpSpPr>
            <a:grpSpLocks/>
          </p:cNvGrpSpPr>
          <p:nvPr/>
        </p:nvGrpSpPr>
        <p:grpSpPr bwMode="auto">
          <a:xfrm>
            <a:off x="3941763" y="2847975"/>
            <a:ext cx="4379912" cy="717550"/>
            <a:chOff x="993" y="2112"/>
            <a:chExt cx="1454" cy="864"/>
          </a:xfrm>
        </p:grpSpPr>
        <p:sp>
          <p:nvSpPr>
            <p:cNvPr id="48162" name="Rectangle 19"/>
            <p:cNvSpPr>
              <a:spLocks noChangeArrowheads="1"/>
            </p:cNvSpPr>
            <p:nvPr/>
          </p:nvSpPr>
          <p:spPr bwMode="auto">
            <a:xfrm>
              <a:off x="1036" y="2112"/>
              <a:ext cx="1368"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00000"/>
                </a:lnSpc>
                <a:spcBef>
                  <a:spcPct val="0"/>
                </a:spcBef>
                <a:spcAft>
                  <a:spcPct val="0"/>
                </a:spcAft>
              </a:pPr>
              <a:r>
                <a:rPr lang="en-US">
                  <a:solidFill>
                    <a:srgbClr val="00008C"/>
                  </a:solidFill>
                  <a:latin typeface="Times New Roman" pitchFamily="18" charset="0"/>
                  <a:cs typeface="Times New Roman" pitchFamily="18" charset="0"/>
                </a:rPr>
                <a:t>TCP (Internet)</a:t>
              </a:r>
              <a:endParaRPr lang="en-US" sz="1200">
                <a:solidFill>
                  <a:srgbClr val="00008C"/>
                </a:solidFill>
                <a:latin typeface="Times New Roman" pitchFamily="18" charset="0"/>
                <a:cs typeface="Times New Roman" pitchFamily="18" charset="0"/>
              </a:endParaRPr>
            </a:p>
            <a:p>
              <a:pPr eaLnBrk="0" hangingPunct="0">
                <a:lnSpc>
                  <a:spcPct val="100000"/>
                </a:lnSpc>
                <a:spcBef>
                  <a:spcPct val="0"/>
                </a:spcBef>
                <a:spcAft>
                  <a:spcPct val="0"/>
                </a:spcAft>
              </a:pPr>
              <a:r>
                <a:rPr lang="en-US">
                  <a:solidFill>
                    <a:srgbClr val="00008C"/>
                  </a:solidFill>
                  <a:latin typeface="Times New Roman" pitchFamily="18" charset="0"/>
                  <a:cs typeface="Times New Roman" pitchFamily="18" charset="0"/>
                </a:rPr>
                <a:t>SPX (Novell LANs)</a:t>
              </a:r>
              <a:endParaRPr lang="en-US" sz="1200">
                <a:solidFill>
                  <a:srgbClr val="00008C"/>
                </a:solidFill>
                <a:latin typeface="Times New Roman" pitchFamily="18" charset="0"/>
                <a:cs typeface="Times New Roman" pitchFamily="18" charset="0"/>
              </a:endParaRPr>
            </a:p>
            <a:p>
              <a:pPr eaLnBrk="0" hangingPunct="0">
                <a:lnSpc>
                  <a:spcPct val="100000"/>
                </a:lnSpc>
                <a:spcBef>
                  <a:spcPct val="0"/>
                </a:spcBef>
                <a:spcAft>
                  <a:spcPct val="0"/>
                </a:spcAft>
              </a:pPr>
              <a:endParaRPr lang="en-US" sz="2400">
                <a:solidFill>
                  <a:srgbClr val="00008C"/>
                </a:solidFill>
                <a:latin typeface="Times New Roman" pitchFamily="18" charset="0"/>
              </a:endParaRPr>
            </a:p>
          </p:txBody>
        </p:sp>
        <p:sp>
          <p:nvSpPr>
            <p:cNvPr id="48163" name="Rectangle 20"/>
            <p:cNvSpPr>
              <a:spLocks noChangeArrowheads="1"/>
            </p:cNvSpPr>
            <p:nvPr/>
          </p:nvSpPr>
          <p:spPr bwMode="auto">
            <a:xfrm>
              <a:off x="993" y="2112"/>
              <a:ext cx="1454" cy="86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8142" name="Group 21"/>
          <p:cNvGrpSpPr>
            <a:grpSpLocks/>
          </p:cNvGrpSpPr>
          <p:nvPr/>
        </p:nvGrpSpPr>
        <p:grpSpPr bwMode="auto">
          <a:xfrm>
            <a:off x="949325" y="3565525"/>
            <a:ext cx="2992438" cy="717550"/>
            <a:chOff x="0" y="2976"/>
            <a:chExt cx="993" cy="864"/>
          </a:xfrm>
        </p:grpSpPr>
        <p:sp>
          <p:nvSpPr>
            <p:cNvPr id="48160" name="Rectangle 22"/>
            <p:cNvSpPr>
              <a:spLocks noChangeArrowheads="1"/>
            </p:cNvSpPr>
            <p:nvPr/>
          </p:nvSpPr>
          <p:spPr bwMode="auto">
            <a:xfrm>
              <a:off x="43" y="2976"/>
              <a:ext cx="907"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00000"/>
                </a:lnSpc>
                <a:spcBef>
                  <a:spcPct val="0"/>
                </a:spcBef>
                <a:spcAft>
                  <a:spcPct val="0"/>
                </a:spcAft>
              </a:pPr>
              <a:r>
                <a:rPr lang="en-US">
                  <a:solidFill>
                    <a:srgbClr val="00008C"/>
                  </a:solidFill>
                  <a:cs typeface="Times New Roman" pitchFamily="18" charset="0"/>
                </a:rPr>
                <a:t>3. Network layer</a:t>
              </a:r>
              <a:endParaRPr lang="en-US" sz="1200">
                <a:solidFill>
                  <a:srgbClr val="00008C"/>
                </a:solidFill>
                <a:cs typeface="Times New Roman" pitchFamily="18" charset="0"/>
              </a:endParaRPr>
            </a:p>
            <a:p>
              <a:pPr eaLnBrk="0" hangingPunct="0">
                <a:lnSpc>
                  <a:spcPct val="100000"/>
                </a:lnSpc>
                <a:spcBef>
                  <a:spcPct val="0"/>
                </a:spcBef>
                <a:spcAft>
                  <a:spcPct val="0"/>
                </a:spcAft>
              </a:pPr>
              <a:endParaRPr lang="en-US" sz="2400">
                <a:solidFill>
                  <a:srgbClr val="00008C"/>
                </a:solidFill>
              </a:endParaRPr>
            </a:p>
          </p:txBody>
        </p:sp>
        <p:sp>
          <p:nvSpPr>
            <p:cNvPr id="48161" name="Rectangle 23"/>
            <p:cNvSpPr>
              <a:spLocks noChangeArrowheads="1"/>
            </p:cNvSpPr>
            <p:nvPr/>
          </p:nvSpPr>
          <p:spPr bwMode="auto">
            <a:xfrm>
              <a:off x="0" y="2976"/>
              <a:ext cx="993" cy="86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8143" name="Group 24"/>
          <p:cNvGrpSpPr>
            <a:grpSpLocks/>
          </p:cNvGrpSpPr>
          <p:nvPr/>
        </p:nvGrpSpPr>
        <p:grpSpPr bwMode="auto">
          <a:xfrm>
            <a:off x="3941763" y="3565525"/>
            <a:ext cx="4379912" cy="717550"/>
            <a:chOff x="993" y="2976"/>
            <a:chExt cx="1454" cy="864"/>
          </a:xfrm>
        </p:grpSpPr>
        <p:sp>
          <p:nvSpPr>
            <p:cNvPr id="48158" name="Rectangle 25"/>
            <p:cNvSpPr>
              <a:spLocks noChangeArrowheads="1"/>
            </p:cNvSpPr>
            <p:nvPr/>
          </p:nvSpPr>
          <p:spPr bwMode="auto">
            <a:xfrm>
              <a:off x="1036" y="2976"/>
              <a:ext cx="1368"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00000"/>
                </a:lnSpc>
                <a:spcBef>
                  <a:spcPct val="0"/>
                </a:spcBef>
                <a:spcAft>
                  <a:spcPct val="0"/>
                </a:spcAft>
              </a:pPr>
              <a:r>
                <a:rPr lang="en-US">
                  <a:solidFill>
                    <a:srgbClr val="00008C"/>
                  </a:solidFill>
                  <a:latin typeface="Times New Roman" pitchFamily="18" charset="0"/>
                  <a:cs typeface="Times New Roman" pitchFamily="18" charset="0"/>
                </a:rPr>
                <a:t>IP (Internet)</a:t>
              </a:r>
              <a:endParaRPr lang="en-US" sz="1200">
                <a:solidFill>
                  <a:srgbClr val="00008C"/>
                </a:solidFill>
                <a:latin typeface="Times New Roman" pitchFamily="18" charset="0"/>
                <a:cs typeface="Times New Roman" pitchFamily="18" charset="0"/>
              </a:endParaRPr>
            </a:p>
            <a:p>
              <a:pPr eaLnBrk="0" hangingPunct="0">
                <a:lnSpc>
                  <a:spcPct val="100000"/>
                </a:lnSpc>
                <a:spcBef>
                  <a:spcPct val="0"/>
                </a:spcBef>
                <a:spcAft>
                  <a:spcPct val="0"/>
                </a:spcAft>
              </a:pPr>
              <a:r>
                <a:rPr lang="en-US">
                  <a:solidFill>
                    <a:srgbClr val="00008C"/>
                  </a:solidFill>
                  <a:latin typeface="Times New Roman" pitchFamily="18" charset="0"/>
                  <a:cs typeface="Times New Roman" pitchFamily="18" charset="0"/>
                </a:rPr>
                <a:t>IPX (Novell LANs)</a:t>
              </a:r>
              <a:endParaRPr lang="en-US" sz="2400">
                <a:solidFill>
                  <a:srgbClr val="00008C"/>
                </a:solidFill>
                <a:latin typeface="Times New Roman" pitchFamily="18" charset="0"/>
              </a:endParaRPr>
            </a:p>
          </p:txBody>
        </p:sp>
        <p:sp>
          <p:nvSpPr>
            <p:cNvPr id="48159" name="Rectangle 26"/>
            <p:cNvSpPr>
              <a:spLocks noChangeArrowheads="1"/>
            </p:cNvSpPr>
            <p:nvPr/>
          </p:nvSpPr>
          <p:spPr bwMode="auto">
            <a:xfrm>
              <a:off x="993" y="2976"/>
              <a:ext cx="1454" cy="86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8144" name="Group 27"/>
          <p:cNvGrpSpPr>
            <a:grpSpLocks/>
          </p:cNvGrpSpPr>
          <p:nvPr/>
        </p:nvGrpSpPr>
        <p:grpSpPr bwMode="auto">
          <a:xfrm>
            <a:off x="949325" y="4283075"/>
            <a:ext cx="2992438" cy="919163"/>
            <a:chOff x="0" y="3840"/>
            <a:chExt cx="993" cy="864"/>
          </a:xfrm>
        </p:grpSpPr>
        <p:sp>
          <p:nvSpPr>
            <p:cNvPr id="48156" name="Rectangle 28"/>
            <p:cNvSpPr>
              <a:spLocks noChangeArrowheads="1"/>
            </p:cNvSpPr>
            <p:nvPr/>
          </p:nvSpPr>
          <p:spPr bwMode="auto">
            <a:xfrm>
              <a:off x="43" y="3840"/>
              <a:ext cx="907"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00000"/>
                </a:lnSpc>
                <a:spcBef>
                  <a:spcPct val="0"/>
                </a:spcBef>
                <a:spcAft>
                  <a:spcPct val="0"/>
                </a:spcAft>
              </a:pPr>
              <a:endParaRPr lang="en-US">
                <a:solidFill>
                  <a:srgbClr val="00008C"/>
                </a:solidFill>
                <a:cs typeface="Times New Roman" pitchFamily="18" charset="0"/>
              </a:endParaRPr>
            </a:p>
            <a:p>
              <a:pPr>
                <a:lnSpc>
                  <a:spcPct val="100000"/>
                </a:lnSpc>
                <a:spcBef>
                  <a:spcPct val="0"/>
                </a:spcBef>
                <a:spcAft>
                  <a:spcPct val="0"/>
                </a:spcAft>
              </a:pPr>
              <a:r>
                <a:rPr lang="en-US">
                  <a:solidFill>
                    <a:srgbClr val="00008C"/>
                  </a:solidFill>
                  <a:cs typeface="Times New Roman" pitchFamily="18" charset="0"/>
                </a:rPr>
                <a:t>2. Data link layer</a:t>
              </a:r>
            </a:p>
            <a:p>
              <a:pPr eaLnBrk="0" hangingPunct="0">
                <a:lnSpc>
                  <a:spcPct val="100000"/>
                </a:lnSpc>
                <a:spcBef>
                  <a:spcPct val="0"/>
                </a:spcBef>
                <a:spcAft>
                  <a:spcPct val="0"/>
                </a:spcAft>
              </a:pPr>
              <a:endParaRPr lang="en-US">
                <a:solidFill>
                  <a:srgbClr val="00008C"/>
                </a:solidFill>
              </a:endParaRPr>
            </a:p>
          </p:txBody>
        </p:sp>
        <p:sp>
          <p:nvSpPr>
            <p:cNvPr id="48157" name="Rectangle 29"/>
            <p:cNvSpPr>
              <a:spLocks noChangeArrowheads="1"/>
            </p:cNvSpPr>
            <p:nvPr/>
          </p:nvSpPr>
          <p:spPr bwMode="auto">
            <a:xfrm>
              <a:off x="0" y="3840"/>
              <a:ext cx="993" cy="86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8145" name="Group 30"/>
          <p:cNvGrpSpPr>
            <a:grpSpLocks/>
          </p:cNvGrpSpPr>
          <p:nvPr/>
        </p:nvGrpSpPr>
        <p:grpSpPr bwMode="auto">
          <a:xfrm>
            <a:off x="3941763" y="4283075"/>
            <a:ext cx="4379912" cy="919163"/>
            <a:chOff x="993" y="3840"/>
            <a:chExt cx="1454" cy="864"/>
          </a:xfrm>
        </p:grpSpPr>
        <p:sp>
          <p:nvSpPr>
            <p:cNvPr id="48154" name="Rectangle 31"/>
            <p:cNvSpPr>
              <a:spLocks noChangeArrowheads="1"/>
            </p:cNvSpPr>
            <p:nvPr/>
          </p:nvSpPr>
          <p:spPr bwMode="auto">
            <a:xfrm>
              <a:off x="1036" y="3840"/>
              <a:ext cx="1368"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00000"/>
                </a:lnSpc>
                <a:spcBef>
                  <a:spcPct val="0"/>
                </a:spcBef>
                <a:spcAft>
                  <a:spcPct val="0"/>
                </a:spcAft>
              </a:pPr>
              <a:r>
                <a:rPr lang="en-US">
                  <a:solidFill>
                    <a:srgbClr val="00008C"/>
                  </a:solidFill>
                  <a:latin typeface="Times New Roman" pitchFamily="18" charset="0"/>
                  <a:cs typeface="Times New Roman" pitchFamily="18" charset="0"/>
                </a:rPr>
                <a:t>Ethernet (LAN)</a:t>
              </a:r>
            </a:p>
            <a:p>
              <a:pPr>
                <a:lnSpc>
                  <a:spcPct val="100000"/>
                </a:lnSpc>
                <a:spcBef>
                  <a:spcPct val="0"/>
                </a:spcBef>
                <a:spcAft>
                  <a:spcPct val="0"/>
                </a:spcAft>
              </a:pPr>
              <a:r>
                <a:rPr lang="en-US">
                  <a:solidFill>
                    <a:srgbClr val="00008C"/>
                  </a:solidFill>
                  <a:latin typeface="Times New Roman" pitchFamily="18" charset="0"/>
                  <a:cs typeface="Times New Roman" pitchFamily="18" charset="0"/>
                </a:rPr>
                <a:t>Frame Relay (WAN)</a:t>
              </a:r>
              <a:endParaRPr lang="en-US" sz="1200">
                <a:solidFill>
                  <a:srgbClr val="00008C"/>
                </a:solidFill>
                <a:latin typeface="Times New Roman" pitchFamily="18" charset="0"/>
                <a:cs typeface="Times New Roman" pitchFamily="18" charset="0"/>
              </a:endParaRPr>
            </a:p>
            <a:p>
              <a:pPr eaLnBrk="0" hangingPunct="0">
                <a:lnSpc>
                  <a:spcPct val="100000"/>
                </a:lnSpc>
                <a:spcBef>
                  <a:spcPct val="0"/>
                </a:spcBef>
                <a:spcAft>
                  <a:spcPct val="0"/>
                </a:spcAft>
              </a:pPr>
              <a:r>
                <a:rPr lang="en-US">
                  <a:solidFill>
                    <a:srgbClr val="00008C"/>
                  </a:solidFill>
                  <a:latin typeface="Times New Roman" pitchFamily="18" charset="0"/>
                  <a:cs typeface="Times New Roman" pitchFamily="18" charset="0"/>
                </a:rPr>
                <a:t>T1 (MAN and WAN)</a:t>
              </a:r>
              <a:endParaRPr lang="en-US" sz="2400">
                <a:solidFill>
                  <a:srgbClr val="00008C"/>
                </a:solidFill>
                <a:latin typeface="Times New Roman" pitchFamily="18" charset="0"/>
              </a:endParaRPr>
            </a:p>
          </p:txBody>
        </p:sp>
        <p:sp>
          <p:nvSpPr>
            <p:cNvPr id="48155" name="Rectangle 32"/>
            <p:cNvSpPr>
              <a:spLocks noChangeArrowheads="1"/>
            </p:cNvSpPr>
            <p:nvPr/>
          </p:nvSpPr>
          <p:spPr bwMode="auto">
            <a:xfrm>
              <a:off x="993" y="3840"/>
              <a:ext cx="1454" cy="86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8146" name="Group 33"/>
          <p:cNvGrpSpPr>
            <a:grpSpLocks/>
          </p:cNvGrpSpPr>
          <p:nvPr/>
        </p:nvGrpSpPr>
        <p:grpSpPr bwMode="auto">
          <a:xfrm>
            <a:off x="949325" y="5202238"/>
            <a:ext cx="2992438" cy="969962"/>
            <a:chOff x="0" y="4704"/>
            <a:chExt cx="993" cy="1440"/>
          </a:xfrm>
        </p:grpSpPr>
        <p:sp>
          <p:nvSpPr>
            <p:cNvPr id="48152" name="Rectangle 34"/>
            <p:cNvSpPr>
              <a:spLocks noChangeArrowheads="1"/>
            </p:cNvSpPr>
            <p:nvPr/>
          </p:nvSpPr>
          <p:spPr bwMode="auto">
            <a:xfrm>
              <a:off x="43" y="4704"/>
              <a:ext cx="907" cy="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00000"/>
                </a:lnSpc>
                <a:spcBef>
                  <a:spcPct val="0"/>
                </a:spcBef>
                <a:spcAft>
                  <a:spcPct val="0"/>
                </a:spcAft>
              </a:pPr>
              <a:endParaRPr lang="en-US">
                <a:solidFill>
                  <a:srgbClr val="00008C"/>
                </a:solidFill>
                <a:cs typeface="Times New Roman" pitchFamily="18" charset="0"/>
              </a:endParaRPr>
            </a:p>
            <a:p>
              <a:pPr>
                <a:lnSpc>
                  <a:spcPct val="100000"/>
                </a:lnSpc>
                <a:spcBef>
                  <a:spcPct val="0"/>
                </a:spcBef>
                <a:spcAft>
                  <a:spcPct val="0"/>
                </a:spcAft>
              </a:pPr>
              <a:r>
                <a:rPr lang="en-US">
                  <a:solidFill>
                    <a:srgbClr val="00008C"/>
                  </a:solidFill>
                  <a:cs typeface="Times New Roman" pitchFamily="18" charset="0"/>
                </a:rPr>
                <a:t>1. Physical layer</a:t>
              </a:r>
            </a:p>
            <a:p>
              <a:pPr eaLnBrk="0" hangingPunct="0">
                <a:lnSpc>
                  <a:spcPct val="100000"/>
                </a:lnSpc>
                <a:spcBef>
                  <a:spcPct val="0"/>
                </a:spcBef>
                <a:spcAft>
                  <a:spcPct val="0"/>
                </a:spcAft>
              </a:pPr>
              <a:endParaRPr lang="en-US">
                <a:solidFill>
                  <a:srgbClr val="00008C"/>
                </a:solidFill>
              </a:endParaRPr>
            </a:p>
          </p:txBody>
        </p:sp>
        <p:sp>
          <p:nvSpPr>
            <p:cNvPr id="48153" name="Rectangle 35"/>
            <p:cNvSpPr>
              <a:spLocks noChangeArrowheads="1"/>
            </p:cNvSpPr>
            <p:nvPr/>
          </p:nvSpPr>
          <p:spPr bwMode="auto">
            <a:xfrm>
              <a:off x="0" y="4704"/>
              <a:ext cx="993" cy="144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8147" name="Group 36"/>
          <p:cNvGrpSpPr>
            <a:grpSpLocks/>
          </p:cNvGrpSpPr>
          <p:nvPr/>
        </p:nvGrpSpPr>
        <p:grpSpPr bwMode="auto">
          <a:xfrm>
            <a:off x="3941763" y="5202238"/>
            <a:ext cx="4379912" cy="969962"/>
            <a:chOff x="993" y="4704"/>
            <a:chExt cx="1454" cy="1440"/>
          </a:xfrm>
        </p:grpSpPr>
        <p:sp>
          <p:nvSpPr>
            <p:cNvPr id="48150" name="Rectangle 37"/>
            <p:cNvSpPr>
              <a:spLocks noChangeArrowheads="1"/>
            </p:cNvSpPr>
            <p:nvPr/>
          </p:nvSpPr>
          <p:spPr bwMode="auto">
            <a:xfrm>
              <a:off x="1036" y="4704"/>
              <a:ext cx="1368" cy="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00000"/>
                </a:lnSpc>
                <a:spcBef>
                  <a:spcPct val="0"/>
                </a:spcBef>
                <a:spcAft>
                  <a:spcPct val="0"/>
                </a:spcAft>
              </a:pPr>
              <a:r>
                <a:rPr lang="en-US">
                  <a:solidFill>
                    <a:srgbClr val="00008C"/>
                  </a:solidFill>
                  <a:latin typeface="Times New Roman" pitchFamily="18" charset="0"/>
                  <a:cs typeface="Times New Roman" pitchFamily="18" charset="0"/>
                </a:rPr>
                <a:t>RS-232c cable (LAN)</a:t>
              </a:r>
            </a:p>
            <a:p>
              <a:pPr eaLnBrk="0" hangingPunct="0">
                <a:lnSpc>
                  <a:spcPct val="100000"/>
                </a:lnSpc>
                <a:spcBef>
                  <a:spcPct val="0"/>
                </a:spcBef>
                <a:spcAft>
                  <a:spcPct val="0"/>
                </a:spcAft>
              </a:pPr>
              <a:r>
                <a:rPr lang="en-US">
                  <a:solidFill>
                    <a:srgbClr val="00008C"/>
                  </a:solidFill>
                  <a:latin typeface="Times New Roman" pitchFamily="18" charset="0"/>
                  <a:cs typeface="Times New Roman" pitchFamily="18" charset="0"/>
                </a:rPr>
                <a:t>Category 5 twisted pair (LAN)</a:t>
              </a:r>
            </a:p>
            <a:p>
              <a:pPr eaLnBrk="0" hangingPunct="0">
                <a:lnSpc>
                  <a:spcPct val="100000"/>
                </a:lnSpc>
                <a:spcBef>
                  <a:spcPct val="0"/>
                </a:spcBef>
                <a:spcAft>
                  <a:spcPct val="0"/>
                </a:spcAft>
              </a:pPr>
              <a:r>
                <a:rPr lang="en-US">
                  <a:solidFill>
                    <a:srgbClr val="00008C"/>
                  </a:solidFill>
                  <a:latin typeface="Times New Roman" pitchFamily="18" charset="0"/>
                  <a:cs typeface="Times New Roman" pitchFamily="18" charset="0"/>
                </a:rPr>
                <a:t>V.92 (56 kbps modem)</a:t>
              </a:r>
              <a:endParaRPr lang="en-US">
                <a:solidFill>
                  <a:srgbClr val="00008C"/>
                </a:solidFill>
                <a:latin typeface="Times New Roman" pitchFamily="18" charset="0"/>
              </a:endParaRPr>
            </a:p>
          </p:txBody>
        </p:sp>
        <p:sp>
          <p:nvSpPr>
            <p:cNvPr id="48151" name="Rectangle 38"/>
            <p:cNvSpPr>
              <a:spLocks noChangeArrowheads="1"/>
            </p:cNvSpPr>
            <p:nvPr/>
          </p:nvSpPr>
          <p:spPr bwMode="auto">
            <a:xfrm>
              <a:off x="993" y="4704"/>
              <a:ext cx="1454" cy="144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8148" name="Rectangle 44"/>
          <p:cNvSpPr>
            <a:spLocks noChangeArrowheads="1"/>
          </p:cNvSpPr>
          <p:nvPr/>
        </p:nvSpPr>
        <p:spPr bwMode="auto">
          <a:xfrm>
            <a:off x="949325" y="1295400"/>
            <a:ext cx="7372350" cy="4876800"/>
          </a:xfrm>
          <a:prstGeom prst="rect">
            <a:avLst/>
          </a:prstGeom>
          <a:noFill/>
          <a:ln w="28575">
            <a:solidFill>
              <a:srgbClr val="00008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8149" name="Line 45"/>
          <p:cNvSpPr>
            <a:spLocks noChangeShapeType="1"/>
          </p:cNvSpPr>
          <p:nvPr/>
        </p:nvSpPr>
        <p:spPr bwMode="auto">
          <a:xfrm>
            <a:off x="3941763" y="1295400"/>
            <a:ext cx="0" cy="4876800"/>
          </a:xfrm>
          <a:prstGeom prst="line">
            <a:avLst/>
          </a:prstGeom>
          <a:noFill/>
          <a:ln w="28575">
            <a:solidFill>
              <a:srgbClr val="00008C"/>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4915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B12A3A8B-B9C4-4299-84DE-15B6A3B50ADB}" type="slidenum">
              <a:rPr lang="en-US" sz="1400"/>
              <a:pPr eaLnBrk="1" hangingPunct="1"/>
              <a:t>35</a:t>
            </a:fld>
            <a:endParaRPr lang="en-US" sz="1400"/>
          </a:p>
        </p:txBody>
      </p:sp>
      <p:sp>
        <p:nvSpPr>
          <p:cNvPr id="49156" name="Rectangle 4"/>
          <p:cNvSpPr>
            <a:spLocks noGrp="1" noChangeArrowheads="1"/>
          </p:cNvSpPr>
          <p:nvPr>
            <p:ph type="title"/>
          </p:nvPr>
        </p:nvSpPr>
        <p:spPr/>
        <p:txBody>
          <a:bodyPr/>
          <a:lstStyle/>
          <a:p>
            <a:pPr algn="l" eaLnBrk="1" hangingPunct="1"/>
            <a:r>
              <a:rPr lang="en-US" dirty="0"/>
              <a:t>1.5 Current Trends</a:t>
            </a:r>
          </a:p>
        </p:txBody>
      </p:sp>
      <p:sp>
        <p:nvSpPr>
          <p:cNvPr id="49157" name="Rectangle 5"/>
          <p:cNvSpPr>
            <a:spLocks noGrp="1" noChangeArrowheads="1"/>
          </p:cNvSpPr>
          <p:nvPr>
            <p:ph type="body" idx="1"/>
          </p:nvPr>
        </p:nvSpPr>
        <p:spPr/>
        <p:txBody>
          <a:bodyPr/>
          <a:lstStyle/>
          <a:p>
            <a:pPr eaLnBrk="1" hangingPunct="1"/>
            <a:r>
              <a:rPr lang="en-US" dirty="0"/>
              <a:t>Wireless LAN and BYOD</a:t>
            </a:r>
          </a:p>
          <a:p>
            <a:pPr eaLnBrk="1" hangingPunct="1"/>
            <a:r>
              <a:rPr lang="en-US" dirty="0"/>
              <a:t>Internet of Things</a:t>
            </a:r>
          </a:p>
          <a:p>
            <a:pPr lvl="1" eaLnBrk="1" hangingPunct="1"/>
            <a:r>
              <a:rPr lang="en-US" dirty="0"/>
              <a:t>Pervasive Networking</a:t>
            </a:r>
          </a:p>
          <a:p>
            <a:pPr lvl="1" eaLnBrk="1" hangingPunct="1"/>
            <a:r>
              <a:rPr lang="en-US" dirty="0"/>
              <a:t>Integration of Voice, Video and Data</a:t>
            </a:r>
          </a:p>
          <a:p>
            <a:pPr eaLnBrk="1" hangingPunct="1"/>
            <a:r>
              <a:rPr lang="en-US" dirty="0"/>
              <a:t>Massively Online</a:t>
            </a:r>
          </a:p>
          <a:p>
            <a:pPr eaLnBrk="1" hangingPunct="1"/>
            <a:r>
              <a:rPr lang="en-US" dirty="0"/>
              <a:t>Cloud Services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defRPr/>
            </a:pPr>
            <a:r>
              <a:rPr lang="en-US"/>
              <a:t>Copyright 2021 John Wiley &amp; Sons, Inc.</a:t>
            </a:r>
            <a:endParaRPr lang="en-US" dirty="0"/>
          </a:p>
        </p:txBody>
      </p:sp>
      <p:sp>
        <p:nvSpPr>
          <p:cNvPr id="5" name="Slide Number Placeholder 4"/>
          <p:cNvSpPr>
            <a:spLocks noGrp="1"/>
          </p:cNvSpPr>
          <p:nvPr>
            <p:ph type="sldNum" sz="quarter" idx="12"/>
          </p:nvPr>
        </p:nvSpPr>
        <p:spPr/>
        <p:txBody>
          <a:bodyPr/>
          <a:lstStyle/>
          <a:p>
            <a:r>
              <a:rPr lang="en-US"/>
              <a:t>1 - </a:t>
            </a:r>
            <a:fld id="{602CC828-201D-4047-AF75-E2463E251579}" type="slidenum">
              <a:rPr lang="en-US" smtClean="0"/>
              <a:pPr/>
              <a:t>36</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503" y="77026"/>
            <a:ext cx="8282937" cy="4781006"/>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88589" y="4971345"/>
            <a:ext cx="3142231" cy="1648853"/>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292" y="4978578"/>
            <a:ext cx="2515892" cy="1641620"/>
          </a:xfrm>
          <a:prstGeom prst="rect">
            <a:avLst/>
          </a:prstGeom>
        </p:spPr>
      </p:pic>
      <p:pic>
        <p:nvPicPr>
          <p:cNvPr id="10" name="Picture 9"/>
          <p:cNvPicPr>
            <a:picLocks noChangeAspect="1"/>
          </p:cNvPicPr>
          <p:nvPr/>
        </p:nvPicPr>
        <p:blipFill>
          <a:blip r:embed="rId5"/>
          <a:stretch>
            <a:fillRect/>
          </a:stretch>
        </p:blipFill>
        <p:spPr>
          <a:xfrm>
            <a:off x="6221225" y="4966179"/>
            <a:ext cx="2932659" cy="1654019"/>
          </a:xfrm>
          <a:prstGeom prst="rect">
            <a:avLst/>
          </a:prstGeom>
        </p:spPr>
      </p:pic>
    </p:spTree>
    <p:extLst>
      <p:ext uri="{BB962C8B-B14F-4D97-AF65-F5344CB8AC3E}">
        <p14:creationId xmlns:p14="http://schemas.microsoft.com/office/powerpoint/2010/main" val="30941708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C50C4-A975-4424-87C4-D5777F1F3300}"/>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B5734B5F-016B-49A5-BC33-097D253BAA0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3680" y="38423"/>
            <a:ext cx="7613598" cy="6819577"/>
          </a:xfrm>
        </p:spPr>
      </p:pic>
      <p:sp>
        <p:nvSpPr>
          <p:cNvPr id="4" name="Footer Placeholder 3">
            <a:extLst>
              <a:ext uri="{FF2B5EF4-FFF2-40B4-BE49-F238E27FC236}">
                <a16:creationId xmlns:a16="http://schemas.microsoft.com/office/drawing/2014/main" id="{2B5F2D92-A2D2-4DB2-88FC-1CC8E69BD27A}"/>
              </a:ext>
            </a:extLst>
          </p:cNvPr>
          <p:cNvSpPr>
            <a:spLocks noGrp="1"/>
          </p:cNvSpPr>
          <p:nvPr>
            <p:ph type="ftr" sz="quarter" idx="11"/>
          </p:nvPr>
        </p:nvSpPr>
        <p:spPr/>
        <p:txBody>
          <a:bodyPr/>
          <a:lstStyle/>
          <a:p>
            <a:pPr>
              <a:defRPr/>
            </a:pPr>
            <a:r>
              <a:rPr lang="en-US"/>
              <a:t>Copyright 2021 John Wiley &amp; Sons, Inc.</a:t>
            </a:r>
            <a:endParaRPr lang="en-US" dirty="0"/>
          </a:p>
        </p:txBody>
      </p:sp>
      <p:sp>
        <p:nvSpPr>
          <p:cNvPr id="5" name="Slide Number Placeholder 4">
            <a:extLst>
              <a:ext uri="{FF2B5EF4-FFF2-40B4-BE49-F238E27FC236}">
                <a16:creationId xmlns:a16="http://schemas.microsoft.com/office/drawing/2014/main" id="{8BB58834-45E4-4626-9C7F-F1BB51AB49AB}"/>
              </a:ext>
            </a:extLst>
          </p:cNvPr>
          <p:cNvSpPr>
            <a:spLocks noGrp="1"/>
          </p:cNvSpPr>
          <p:nvPr>
            <p:ph type="sldNum" sz="quarter" idx="12"/>
          </p:nvPr>
        </p:nvSpPr>
        <p:spPr/>
        <p:txBody>
          <a:bodyPr/>
          <a:lstStyle/>
          <a:p>
            <a:r>
              <a:rPr lang="en-US"/>
              <a:t>1 - </a:t>
            </a:r>
            <a:fld id="{602CC828-201D-4047-AF75-E2463E251579}" type="slidenum">
              <a:rPr lang="en-US" smtClean="0"/>
              <a:pPr/>
              <a:t>37</a:t>
            </a:fld>
            <a:endParaRPr lang="en-US"/>
          </a:p>
        </p:txBody>
      </p:sp>
      <p:grpSp>
        <p:nvGrpSpPr>
          <p:cNvPr id="10" name="Group 9">
            <a:extLst>
              <a:ext uri="{FF2B5EF4-FFF2-40B4-BE49-F238E27FC236}">
                <a16:creationId xmlns:a16="http://schemas.microsoft.com/office/drawing/2014/main" id="{8B5FF891-9B81-4C2F-BC7E-32CD628BB0CB}"/>
              </a:ext>
            </a:extLst>
          </p:cNvPr>
          <p:cNvGrpSpPr/>
          <p:nvPr/>
        </p:nvGrpSpPr>
        <p:grpSpPr>
          <a:xfrm>
            <a:off x="563271" y="1940560"/>
            <a:ext cx="6564578" cy="955040"/>
            <a:chOff x="516942" y="1940560"/>
            <a:chExt cx="6564578" cy="955040"/>
          </a:xfrm>
        </p:grpSpPr>
        <p:sp>
          <p:nvSpPr>
            <p:cNvPr id="8" name="TextBox 7">
              <a:extLst>
                <a:ext uri="{FF2B5EF4-FFF2-40B4-BE49-F238E27FC236}">
                  <a16:creationId xmlns:a16="http://schemas.microsoft.com/office/drawing/2014/main" id="{E3A211B0-D5ED-4155-882E-7FD88BE903CD}"/>
                </a:ext>
              </a:extLst>
            </p:cNvPr>
            <p:cNvSpPr txBox="1"/>
            <p:nvPr/>
          </p:nvSpPr>
          <p:spPr>
            <a:xfrm>
              <a:off x="516942" y="1940560"/>
              <a:ext cx="1559560" cy="338554"/>
            </a:xfrm>
            <a:prstGeom prst="rect">
              <a:avLst/>
            </a:prstGeom>
            <a:noFill/>
          </p:spPr>
          <p:txBody>
            <a:bodyPr wrap="square" rtlCol="0">
              <a:spAutoFit/>
            </a:bodyPr>
            <a:lstStyle/>
            <a:p>
              <a:r>
                <a:rPr lang="en-US" dirty="0">
                  <a:solidFill>
                    <a:srgbClr val="FF0000"/>
                  </a:solidFill>
                </a:rPr>
                <a:t>Optimize</a:t>
              </a:r>
            </a:p>
          </p:txBody>
        </p:sp>
        <p:sp>
          <p:nvSpPr>
            <p:cNvPr id="9" name="Rectangle 8">
              <a:extLst>
                <a:ext uri="{FF2B5EF4-FFF2-40B4-BE49-F238E27FC236}">
                  <a16:creationId xmlns:a16="http://schemas.microsoft.com/office/drawing/2014/main" id="{976CC1A4-B32B-4211-9D92-32ED9DDDC5C5}"/>
                </a:ext>
              </a:extLst>
            </p:cNvPr>
            <p:cNvSpPr/>
            <p:nvPr/>
          </p:nvSpPr>
          <p:spPr bwMode="auto">
            <a:xfrm>
              <a:off x="609600" y="1940560"/>
              <a:ext cx="6471920" cy="955040"/>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80000"/>
                </a:lnSpc>
                <a:spcBef>
                  <a:spcPct val="20000"/>
                </a:spcBef>
                <a:spcAft>
                  <a:spcPct val="15000"/>
                </a:spcAft>
                <a:buClrTx/>
                <a:buSzTx/>
                <a:buFontTx/>
                <a:buNone/>
                <a:tabLst/>
              </a:pPr>
              <a:endParaRPr kumimoji="0" lang="en-US" sz="2000" b="1" i="0" u="none" strike="noStrike" cap="none" normalizeH="0" baseline="0">
                <a:ln>
                  <a:noFill/>
                </a:ln>
                <a:solidFill>
                  <a:srgbClr val="16027C"/>
                </a:solidFill>
                <a:effectLst/>
                <a:latin typeface="Arial" charset="0"/>
              </a:endParaRPr>
            </a:p>
          </p:txBody>
        </p:sp>
      </p:grpSp>
      <p:grpSp>
        <p:nvGrpSpPr>
          <p:cNvPr id="11" name="Group 10">
            <a:extLst>
              <a:ext uri="{FF2B5EF4-FFF2-40B4-BE49-F238E27FC236}">
                <a16:creationId xmlns:a16="http://schemas.microsoft.com/office/drawing/2014/main" id="{981E39BE-70A1-4229-BB6F-9265463BCEB3}"/>
              </a:ext>
            </a:extLst>
          </p:cNvPr>
          <p:cNvGrpSpPr/>
          <p:nvPr/>
        </p:nvGrpSpPr>
        <p:grpSpPr>
          <a:xfrm>
            <a:off x="563271" y="2951480"/>
            <a:ext cx="6828738" cy="955040"/>
            <a:chOff x="516942" y="1940560"/>
            <a:chExt cx="6564578" cy="955040"/>
          </a:xfrm>
        </p:grpSpPr>
        <p:sp>
          <p:nvSpPr>
            <p:cNvPr id="12" name="TextBox 11">
              <a:extLst>
                <a:ext uri="{FF2B5EF4-FFF2-40B4-BE49-F238E27FC236}">
                  <a16:creationId xmlns:a16="http://schemas.microsoft.com/office/drawing/2014/main" id="{48F14C13-B7E4-4AA8-BB6E-5AE30B806434}"/>
                </a:ext>
              </a:extLst>
            </p:cNvPr>
            <p:cNvSpPr txBox="1"/>
            <p:nvPr/>
          </p:nvSpPr>
          <p:spPr>
            <a:xfrm>
              <a:off x="516942" y="1940560"/>
              <a:ext cx="1559560" cy="338554"/>
            </a:xfrm>
            <a:prstGeom prst="rect">
              <a:avLst/>
            </a:prstGeom>
            <a:noFill/>
          </p:spPr>
          <p:txBody>
            <a:bodyPr wrap="square" rtlCol="0">
              <a:spAutoFit/>
            </a:bodyPr>
            <a:lstStyle/>
            <a:p>
              <a:r>
                <a:rPr lang="en-US" dirty="0">
                  <a:solidFill>
                    <a:srgbClr val="FF0000"/>
                  </a:solidFill>
                </a:rPr>
                <a:t>Scale</a:t>
              </a:r>
            </a:p>
          </p:txBody>
        </p:sp>
        <p:sp>
          <p:nvSpPr>
            <p:cNvPr id="13" name="Rectangle 12">
              <a:extLst>
                <a:ext uri="{FF2B5EF4-FFF2-40B4-BE49-F238E27FC236}">
                  <a16:creationId xmlns:a16="http://schemas.microsoft.com/office/drawing/2014/main" id="{316FA160-AAB0-470E-902B-43E1EEEC9D4A}"/>
                </a:ext>
              </a:extLst>
            </p:cNvPr>
            <p:cNvSpPr/>
            <p:nvPr/>
          </p:nvSpPr>
          <p:spPr bwMode="auto">
            <a:xfrm>
              <a:off x="609600" y="1940560"/>
              <a:ext cx="6471920" cy="955040"/>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80000"/>
                </a:lnSpc>
                <a:spcBef>
                  <a:spcPct val="20000"/>
                </a:spcBef>
                <a:spcAft>
                  <a:spcPct val="15000"/>
                </a:spcAft>
                <a:buClrTx/>
                <a:buSzTx/>
                <a:buFontTx/>
                <a:buNone/>
                <a:tabLst/>
              </a:pPr>
              <a:endParaRPr kumimoji="0" lang="en-US" sz="2000" b="1" i="0" u="none" strike="noStrike" cap="none" normalizeH="0" baseline="0">
                <a:ln>
                  <a:noFill/>
                </a:ln>
                <a:solidFill>
                  <a:srgbClr val="16027C"/>
                </a:solidFill>
                <a:effectLst/>
                <a:latin typeface="Arial" charset="0"/>
              </a:endParaRPr>
            </a:p>
          </p:txBody>
        </p:sp>
      </p:grpSp>
      <p:grpSp>
        <p:nvGrpSpPr>
          <p:cNvPr id="14" name="Group 13">
            <a:extLst>
              <a:ext uri="{FF2B5EF4-FFF2-40B4-BE49-F238E27FC236}">
                <a16:creationId xmlns:a16="http://schemas.microsoft.com/office/drawing/2014/main" id="{4C1DA273-48CD-4E66-BC5B-B2DB374FB036}"/>
              </a:ext>
            </a:extLst>
          </p:cNvPr>
          <p:cNvGrpSpPr/>
          <p:nvPr/>
        </p:nvGrpSpPr>
        <p:grpSpPr>
          <a:xfrm>
            <a:off x="563271" y="3962400"/>
            <a:ext cx="6564578" cy="955040"/>
            <a:chOff x="516942" y="1940560"/>
            <a:chExt cx="6564578" cy="955040"/>
          </a:xfrm>
        </p:grpSpPr>
        <p:sp>
          <p:nvSpPr>
            <p:cNvPr id="15" name="TextBox 14">
              <a:extLst>
                <a:ext uri="{FF2B5EF4-FFF2-40B4-BE49-F238E27FC236}">
                  <a16:creationId xmlns:a16="http://schemas.microsoft.com/office/drawing/2014/main" id="{073CA852-9021-48E4-B971-A7DE71F548E3}"/>
                </a:ext>
              </a:extLst>
            </p:cNvPr>
            <p:cNvSpPr txBox="1"/>
            <p:nvPr/>
          </p:nvSpPr>
          <p:spPr>
            <a:xfrm>
              <a:off x="516942" y="1940560"/>
              <a:ext cx="1559560" cy="338554"/>
            </a:xfrm>
            <a:prstGeom prst="rect">
              <a:avLst/>
            </a:prstGeom>
            <a:noFill/>
          </p:spPr>
          <p:txBody>
            <a:bodyPr wrap="square" rtlCol="0">
              <a:spAutoFit/>
            </a:bodyPr>
            <a:lstStyle/>
            <a:p>
              <a:r>
                <a:rPr lang="en-US" dirty="0">
                  <a:solidFill>
                    <a:srgbClr val="FF0000"/>
                  </a:solidFill>
                </a:rPr>
                <a:t>Pioneer</a:t>
              </a:r>
            </a:p>
          </p:txBody>
        </p:sp>
        <p:sp>
          <p:nvSpPr>
            <p:cNvPr id="16" name="Rectangle 15">
              <a:extLst>
                <a:ext uri="{FF2B5EF4-FFF2-40B4-BE49-F238E27FC236}">
                  <a16:creationId xmlns:a16="http://schemas.microsoft.com/office/drawing/2014/main" id="{DA0550D8-40F4-4960-A0AB-E3BB50D25279}"/>
                </a:ext>
              </a:extLst>
            </p:cNvPr>
            <p:cNvSpPr/>
            <p:nvPr/>
          </p:nvSpPr>
          <p:spPr bwMode="auto">
            <a:xfrm>
              <a:off x="609600" y="1940560"/>
              <a:ext cx="6471920" cy="955040"/>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80000"/>
                </a:lnSpc>
                <a:spcBef>
                  <a:spcPct val="20000"/>
                </a:spcBef>
                <a:spcAft>
                  <a:spcPct val="15000"/>
                </a:spcAft>
                <a:buClrTx/>
                <a:buSzTx/>
                <a:buFontTx/>
                <a:buNone/>
                <a:tabLst/>
              </a:pPr>
              <a:endParaRPr kumimoji="0" lang="en-US" sz="2000" b="1" i="0" u="none" strike="noStrike" cap="none" normalizeH="0" baseline="0">
                <a:ln>
                  <a:noFill/>
                </a:ln>
                <a:solidFill>
                  <a:srgbClr val="16027C"/>
                </a:solidFill>
                <a:effectLst/>
                <a:latin typeface="Arial" charset="0"/>
              </a:endParaRPr>
            </a:p>
          </p:txBody>
        </p:sp>
      </p:grpSp>
    </p:spTree>
    <p:extLst>
      <p:ext uri="{BB962C8B-B14F-4D97-AF65-F5344CB8AC3E}">
        <p14:creationId xmlns:p14="http://schemas.microsoft.com/office/powerpoint/2010/main" val="4083921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EEE4F2B-88BA-4CC9-AB19-EAA1681E1C4C}"/>
              </a:ext>
            </a:extLst>
          </p:cNvPr>
          <p:cNvSpPr>
            <a:spLocks noGrp="1"/>
          </p:cNvSpPr>
          <p:nvPr>
            <p:ph type="ftr" sz="quarter" idx="11"/>
          </p:nvPr>
        </p:nvSpPr>
        <p:spPr/>
        <p:txBody>
          <a:bodyPr/>
          <a:lstStyle/>
          <a:p>
            <a:pPr>
              <a:defRPr/>
            </a:pPr>
            <a:r>
              <a:rPr lang="en-US"/>
              <a:t>Copyright 2021 John Wiley &amp; Sons, Inc.</a:t>
            </a:r>
            <a:endParaRPr lang="en-US" dirty="0"/>
          </a:p>
        </p:txBody>
      </p:sp>
      <p:sp>
        <p:nvSpPr>
          <p:cNvPr id="5" name="Slide Number Placeholder 4">
            <a:extLst>
              <a:ext uri="{FF2B5EF4-FFF2-40B4-BE49-F238E27FC236}">
                <a16:creationId xmlns:a16="http://schemas.microsoft.com/office/drawing/2014/main" id="{E91C33ED-5A73-4E56-9D97-5CA7356FBAE5}"/>
              </a:ext>
            </a:extLst>
          </p:cNvPr>
          <p:cNvSpPr>
            <a:spLocks noGrp="1"/>
          </p:cNvSpPr>
          <p:nvPr>
            <p:ph type="sldNum" sz="quarter" idx="12"/>
          </p:nvPr>
        </p:nvSpPr>
        <p:spPr/>
        <p:txBody>
          <a:bodyPr/>
          <a:lstStyle/>
          <a:p>
            <a:r>
              <a:rPr lang="en-US"/>
              <a:t>1 - </a:t>
            </a:r>
            <a:fld id="{602CC828-201D-4047-AF75-E2463E251579}" type="slidenum">
              <a:rPr lang="en-US" smtClean="0"/>
              <a:pPr/>
              <a:t>38</a:t>
            </a:fld>
            <a:endParaRPr lang="en-US"/>
          </a:p>
        </p:txBody>
      </p:sp>
      <p:pic>
        <p:nvPicPr>
          <p:cNvPr id="6" name="Picture 5">
            <a:extLst>
              <a:ext uri="{FF2B5EF4-FFF2-40B4-BE49-F238E27FC236}">
                <a16:creationId xmlns:a16="http://schemas.microsoft.com/office/drawing/2014/main" id="{8EC3D391-C869-4D32-87D7-6A96182FC98A}"/>
              </a:ext>
            </a:extLst>
          </p:cNvPr>
          <p:cNvPicPr>
            <a:picLocks noChangeAspect="1"/>
          </p:cNvPicPr>
          <p:nvPr/>
        </p:nvPicPr>
        <p:blipFill>
          <a:blip r:embed="rId2"/>
          <a:stretch>
            <a:fillRect/>
          </a:stretch>
        </p:blipFill>
        <p:spPr>
          <a:xfrm>
            <a:off x="97536" y="0"/>
            <a:ext cx="8651290" cy="6786688"/>
          </a:xfrm>
          <a:prstGeom prst="rect">
            <a:avLst/>
          </a:prstGeom>
        </p:spPr>
      </p:pic>
    </p:spTree>
    <p:extLst>
      <p:ext uri="{BB962C8B-B14F-4D97-AF65-F5344CB8AC3E}">
        <p14:creationId xmlns:p14="http://schemas.microsoft.com/office/powerpoint/2010/main" val="12694467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D75ECF0-8D27-43FA-9401-D0D043EE3605}"/>
              </a:ext>
            </a:extLst>
          </p:cNvPr>
          <p:cNvSpPr>
            <a:spLocks noGrp="1"/>
          </p:cNvSpPr>
          <p:nvPr>
            <p:ph type="ftr" sz="quarter" idx="11"/>
          </p:nvPr>
        </p:nvSpPr>
        <p:spPr/>
        <p:txBody>
          <a:bodyPr/>
          <a:lstStyle/>
          <a:p>
            <a:pPr>
              <a:defRPr/>
            </a:pPr>
            <a:r>
              <a:rPr lang="en-US"/>
              <a:t>Copyright 2021 John Wiley &amp; Sons, Inc.</a:t>
            </a:r>
            <a:endParaRPr lang="en-US" dirty="0"/>
          </a:p>
        </p:txBody>
      </p:sp>
      <p:sp>
        <p:nvSpPr>
          <p:cNvPr id="5" name="Slide Number Placeholder 4">
            <a:extLst>
              <a:ext uri="{FF2B5EF4-FFF2-40B4-BE49-F238E27FC236}">
                <a16:creationId xmlns:a16="http://schemas.microsoft.com/office/drawing/2014/main" id="{8CBEEAD8-FA02-4DEE-A593-A779C1682F79}"/>
              </a:ext>
            </a:extLst>
          </p:cNvPr>
          <p:cNvSpPr>
            <a:spLocks noGrp="1"/>
          </p:cNvSpPr>
          <p:nvPr>
            <p:ph type="sldNum" sz="quarter" idx="12"/>
          </p:nvPr>
        </p:nvSpPr>
        <p:spPr/>
        <p:txBody>
          <a:bodyPr/>
          <a:lstStyle/>
          <a:p>
            <a:r>
              <a:rPr lang="en-US"/>
              <a:t>1 - </a:t>
            </a:r>
            <a:fld id="{602CC828-201D-4047-AF75-E2463E251579}" type="slidenum">
              <a:rPr lang="en-US" smtClean="0"/>
              <a:pPr/>
              <a:t>39</a:t>
            </a:fld>
            <a:endParaRPr lang="en-US"/>
          </a:p>
        </p:txBody>
      </p:sp>
      <p:pic>
        <p:nvPicPr>
          <p:cNvPr id="6" name="Picture 5">
            <a:extLst>
              <a:ext uri="{FF2B5EF4-FFF2-40B4-BE49-F238E27FC236}">
                <a16:creationId xmlns:a16="http://schemas.microsoft.com/office/drawing/2014/main" id="{65BF852C-BEC0-401B-8B5C-2BAF7086D4DB}"/>
              </a:ext>
            </a:extLst>
          </p:cNvPr>
          <p:cNvPicPr>
            <a:picLocks noChangeAspect="1"/>
          </p:cNvPicPr>
          <p:nvPr/>
        </p:nvPicPr>
        <p:blipFill>
          <a:blip r:embed="rId2"/>
          <a:stretch>
            <a:fillRect/>
          </a:stretch>
        </p:blipFill>
        <p:spPr>
          <a:xfrm>
            <a:off x="341376" y="57985"/>
            <a:ext cx="7573396" cy="6647615"/>
          </a:xfrm>
          <a:prstGeom prst="rect">
            <a:avLst/>
          </a:prstGeom>
        </p:spPr>
      </p:pic>
    </p:spTree>
    <p:extLst>
      <p:ext uri="{BB962C8B-B14F-4D97-AF65-F5344CB8AC3E}">
        <p14:creationId xmlns:p14="http://schemas.microsoft.com/office/powerpoint/2010/main" val="24335109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A67E-AD50-40A5-AC9B-2DAAA01D190B}"/>
              </a:ext>
            </a:extLst>
          </p:cNvPr>
          <p:cNvSpPr>
            <a:spLocks noGrp="1"/>
          </p:cNvSpPr>
          <p:nvPr>
            <p:ph type="title"/>
          </p:nvPr>
        </p:nvSpPr>
        <p:spPr/>
        <p:txBody>
          <a:bodyPr/>
          <a:lstStyle/>
          <a:p>
            <a:endParaRPr lang="en-US"/>
          </a:p>
        </p:txBody>
      </p:sp>
      <p:sp>
        <p:nvSpPr>
          <p:cNvPr id="4" name="Footer Placeholder 3">
            <a:extLst>
              <a:ext uri="{FF2B5EF4-FFF2-40B4-BE49-F238E27FC236}">
                <a16:creationId xmlns:a16="http://schemas.microsoft.com/office/drawing/2014/main" id="{2824C9A3-135C-454F-9A77-942C04A1EEA7}"/>
              </a:ext>
            </a:extLst>
          </p:cNvPr>
          <p:cNvSpPr>
            <a:spLocks noGrp="1"/>
          </p:cNvSpPr>
          <p:nvPr>
            <p:ph type="ftr" sz="quarter" idx="11"/>
          </p:nvPr>
        </p:nvSpPr>
        <p:spPr/>
        <p:txBody>
          <a:bodyPr/>
          <a:lstStyle/>
          <a:p>
            <a:pPr>
              <a:defRPr/>
            </a:pPr>
            <a:r>
              <a:rPr lang="en-US"/>
              <a:t>Copyright 2021 John Wiley &amp; Sons, Inc.</a:t>
            </a:r>
            <a:endParaRPr lang="en-US" dirty="0"/>
          </a:p>
        </p:txBody>
      </p:sp>
      <p:sp>
        <p:nvSpPr>
          <p:cNvPr id="5" name="Slide Number Placeholder 4">
            <a:extLst>
              <a:ext uri="{FF2B5EF4-FFF2-40B4-BE49-F238E27FC236}">
                <a16:creationId xmlns:a16="http://schemas.microsoft.com/office/drawing/2014/main" id="{39699773-085E-44FD-8AB4-794BC8A4C77E}"/>
              </a:ext>
            </a:extLst>
          </p:cNvPr>
          <p:cNvSpPr>
            <a:spLocks noGrp="1"/>
          </p:cNvSpPr>
          <p:nvPr>
            <p:ph type="sldNum" sz="quarter" idx="12"/>
          </p:nvPr>
        </p:nvSpPr>
        <p:spPr/>
        <p:txBody>
          <a:bodyPr/>
          <a:lstStyle/>
          <a:p>
            <a:r>
              <a:rPr lang="en-US"/>
              <a:t>1 - </a:t>
            </a:r>
            <a:fld id="{602CC828-201D-4047-AF75-E2463E251579}" type="slidenum">
              <a:rPr lang="en-US" smtClean="0"/>
              <a:pPr/>
              <a:t>40</a:t>
            </a:fld>
            <a:endParaRPr lang="en-US"/>
          </a:p>
        </p:txBody>
      </p:sp>
      <p:pic>
        <p:nvPicPr>
          <p:cNvPr id="6" name="Picture 5">
            <a:extLst>
              <a:ext uri="{FF2B5EF4-FFF2-40B4-BE49-F238E27FC236}">
                <a16:creationId xmlns:a16="http://schemas.microsoft.com/office/drawing/2014/main" id="{15934DD0-573C-42BD-82FA-842C828A4F55}"/>
              </a:ext>
            </a:extLst>
          </p:cNvPr>
          <p:cNvPicPr>
            <a:picLocks noChangeAspect="1"/>
          </p:cNvPicPr>
          <p:nvPr/>
        </p:nvPicPr>
        <p:blipFill rotWithShape="1">
          <a:blip r:embed="rId3"/>
          <a:srcRect l="4244" t="4487" r="8653" b="5757"/>
          <a:stretch/>
        </p:blipFill>
        <p:spPr>
          <a:xfrm>
            <a:off x="0" y="0"/>
            <a:ext cx="9152269" cy="6858000"/>
          </a:xfrm>
          <a:prstGeom prst="rect">
            <a:avLst/>
          </a:prstGeom>
        </p:spPr>
      </p:pic>
    </p:spTree>
    <p:extLst>
      <p:ext uri="{BB962C8B-B14F-4D97-AF65-F5344CB8AC3E}">
        <p14:creationId xmlns:p14="http://schemas.microsoft.com/office/powerpoint/2010/main" val="2037117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loud 2"/>
          <p:cNvSpPr/>
          <p:nvPr/>
        </p:nvSpPr>
        <p:spPr bwMode="auto">
          <a:xfrm>
            <a:off x="6376947" y="2975431"/>
            <a:ext cx="3085105" cy="1302460"/>
          </a:xfrm>
          <a:prstGeom prst="cloud">
            <a:avLst/>
          </a:prstGeom>
          <a:solidFill>
            <a:srgbClr val="FFFFFF"/>
          </a:solidFill>
          <a:ln w="9525" cap="flat" cmpd="sng" algn="ctr">
            <a:solidFill>
              <a:schemeClr val="accent2">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80000"/>
              </a:lnSpc>
              <a:spcBef>
                <a:spcPct val="20000"/>
              </a:spcBef>
              <a:spcAft>
                <a:spcPct val="15000"/>
              </a:spcAft>
              <a:buClrTx/>
              <a:buSzTx/>
              <a:buFontTx/>
              <a:buNone/>
              <a:tabLst/>
            </a:pPr>
            <a:r>
              <a:rPr kumimoji="0" lang="en-US" sz="1600" b="1" i="0" u="none" strike="noStrike" cap="none" normalizeH="0" baseline="0" dirty="0">
                <a:ln>
                  <a:noFill/>
                </a:ln>
                <a:solidFill>
                  <a:schemeClr val="accent2">
                    <a:lumMod val="60000"/>
                    <a:lumOff val="40000"/>
                  </a:schemeClr>
                </a:solidFill>
                <a:effectLst/>
              </a:rPr>
              <a:t>Internet of Things</a:t>
            </a:r>
          </a:p>
          <a:p>
            <a:pPr marL="0" marR="0" indent="0" algn="ctr" defTabSz="914400" rtl="0" eaLnBrk="1" fontAlgn="base" latinLnBrk="0" hangingPunct="1">
              <a:lnSpc>
                <a:spcPct val="80000"/>
              </a:lnSpc>
              <a:spcBef>
                <a:spcPct val="20000"/>
              </a:spcBef>
              <a:spcAft>
                <a:spcPct val="15000"/>
              </a:spcAft>
              <a:buClrTx/>
              <a:buSzTx/>
              <a:buFontTx/>
              <a:buNone/>
              <a:tabLst/>
            </a:pPr>
            <a:r>
              <a:rPr lang="en-US" sz="1600" dirty="0"/>
              <a:t>or</a:t>
            </a:r>
          </a:p>
          <a:p>
            <a:pPr marL="0" marR="0" indent="0" algn="ctr" defTabSz="914400" rtl="0" eaLnBrk="1" fontAlgn="base" latinLnBrk="0" hangingPunct="1">
              <a:lnSpc>
                <a:spcPct val="80000"/>
              </a:lnSpc>
              <a:spcBef>
                <a:spcPct val="20000"/>
              </a:spcBef>
              <a:spcAft>
                <a:spcPct val="15000"/>
              </a:spcAft>
              <a:buClrTx/>
              <a:buSzTx/>
              <a:buFontTx/>
              <a:buNone/>
              <a:tabLst/>
            </a:pPr>
            <a:r>
              <a:rPr kumimoji="0" lang="en-US" sz="1600" b="1" i="0" u="none" strike="noStrike" cap="none" normalizeH="0" baseline="0" dirty="0">
                <a:ln>
                  <a:noFill/>
                </a:ln>
                <a:solidFill>
                  <a:srgbClr val="FF0000"/>
                </a:solidFill>
                <a:effectLst/>
              </a:rPr>
              <a:t>Internet of Targets</a:t>
            </a:r>
            <a:endParaRPr kumimoji="0" lang="th-TH" sz="1600" b="1" i="0" u="none" strike="noStrike" cap="none" normalizeH="0" baseline="0" dirty="0">
              <a:ln>
                <a:noFill/>
              </a:ln>
              <a:solidFill>
                <a:srgbClr val="FF0000"/>
              </a:solidFill>
              <a:effectLst/>
            </a:endParaRPr>
          </a:p>
        </p:txBody>
      </p:sp>
      <p:sp>
        <p:nvSpPr>
          <p:cNvPr id="5427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Copyright 2021 John Wiley &amp; Sons, Inc.</a:t>
            </a:r>
          </a:p>
        </p:txBody>
      </p:sp>
      <p:sp>
        <p:nvSpPr>
          <p:cNvPr id="5427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16027C"/>
                </a:solidFill>
                <a:latin typeface="Arial" charset="0"/>
              </a:defRPr>
            </a:lvl1pPr>
            <a:lvl2pPr marL="742950" indent="-285750" eaLnBrk="0" hangingPunct="0">
              <a:defRPr sz="2000" b="1">
                <a:solidFill>
                  <a:srgbClr val="16027C"/>
                </a:solidFill>
                <a:latin typeface="Arial" charset="0"/>
              </a:defRPr>
            </a:lvl2pPr>
            <a:lvl3pPr marL="1143000" indent="-228600" eaLnBrk="0" hangingPunct="0">
              <a:defRPr sz="2000" b="1">
                <a:solidFill>
                  <a:srgbClr val="16027C"/>
                </a:solidFill>
                <a:latin typeface="Arial" charset="0"/>
              </a:defRPr>
            </a:lvl3pPr>
            <a:lvl4pPr marL="1600200" indent="-228600" eaLnBrk="0" hangingPunct="0">
              <a:defRPr sz="2000" b="1">
                <a:solidFill>
                  <a:srgbClr val="16027C"/>
                </a:solidFill>
                <a:latin typeface="Arial" charset="0"/>
              </a:defRPr>
            </a:lvl4pPr>
            <a:lvl5pPr marL="2057400" indent="-228600" eaLnBrk="0" hangingPunct="0">
              <a:defRPr sz="2000" b="1">
                <a:solidFill>
                  <a:srgbClr val="16027C"/>
                </a:solidFill>
                <a:latin typeface="Arial" charset="0"/>
              </a:defRPr>
            </a:lvl5pPr>
            <a:lvl6pPr marL="2514600" indent="-228600" eaLnBrk="0" fontAlgn="base" hangingPunct="0">
              <a:lnSpc>
                <a:spcPct val="80000"/>
              </a:lnSpc>
              <a:spcBef>
                <a:spcPct val="20000"/>
              </a:spcBef>
              <a:spcAft>
                <a:spcPct val="15000"/>
              </a:spcAft>
              <a:defRPr sz="2000" b="1">
                <a:solidFill>
                  <a:srgbClr val="16027C"/>
                </a:solidFill>
                <a:latin typeface="Arial" charset="0"/>
              </a:defRPr>
            </a:lvl6pPr>
            <a:lvl7pPr marL="2971800" indent="-228600" eaLnBrk="0" fontAlgn="base" hangingPunct="0">
              <a:lnSpc>
                <a:spcPct val="80000"/>
              </a:lnSpc>
              <a:spcBef>
                <a:spcPct val="20000"/>
              </a:spcBef>
              <a:spcAft>
                <a:spcPct val="15000"/>
              </a:spcAft>
              <a:defRPr sz="2000" b="1">
                <a:solidFill>
                  <a:srgbClr val="16027C"/>
                </a:solidFill>
                <a:latin typeface="Arial" charset="0"/>
              </a:defRPr>
            </a:lvl7pPr>
            <a:lvl8pPr marL="3429000" indent="-228600" eaLnBrk="0" fontAlgn="base" hangingPunct="0">
              <a:lnSpc>
                <a:spcPct val="80000"/>
              </a:lnSpc>
              <a:spcBef>
                <a:spcPct val="20000"/>
              </a:spcBef>
              <a:spcAft>
                <a:spcPct val="15000"/>
              </a:spcAft>
              <a:defRPr sz="2000" b="1">
                <a:solidFill>
                  <a:srgbClr val="16027C"/>
                </a:solidFill>
                <a:latin typeface="Arial" charset="0"/>
              </a:defRPr>
            </a:lvl8pPr>
            <a:lvl9pPr marL="3886200" indent="-228600" eaLnBrk="0" fontAlgn="base" hangingPunct="0">
              <a:lnSpc>
                <a:spcPct val="80000"/>
              </a:lnSpc>
              <a:spcBef>
                <a:spcPct val="20000"/>
              </a:spcBef>
              <a:spcAft>
                <a:spcPct val="15000"/>
              </a:spcAft>
              <a:defRPr sz="2000" b="1">
                <a:solidFill>
                  <a:srgbClr val="16027C"/>
                </a:solidFill>
                <a:latin typeface="Arial" charset="0"/>
              </a:defRPr>
            </a:lvl9pPr>
          </a:lstStyle>
          <a:p>
            <a:pPr eaLnBrk="1" hangingPunct="1"/>
            <a:r>
              <a:rPr lang="en-US" sz="1400"/>
              <a:t>1 - </a:t>
            </a:r>
            <a:fld id="{28E47938-EB97-45B6-A0E0-C31430297F7F}" type="slidenum">
              <a:rPr lang="en-US" sz="1400"/>
              <a:pPr eaLnBrk="1" hangingPunct="1"/>
              <a:t>41</a:t>
            </a:fld>
            <a:endParaRPr lang="en-US" sz="1400"/>
          </a:p>
        </p:txBody>
      </p:sp>
      <p:sp>
        <p:nvSpPr>
          <p:cNvPr id="54276" name="Rectangle 2"/>
          <p:cNvSpPr>
            <a:spLocks noGrp="1" noChangeArrowheads="1"/>
          </p:cNvSpPr>
          <p:nvPr>
            <p:ph type="title"/>
          </p:nvPr>
        </p:nvSpPr>
        <p:spPr>
          <a:xfrm>
            <a:off x="685799" y="533400"/>
            <a:ext cx="8259417" cy="762000"/>
          </a:xfrm>
        </p:spPr>
        <p:txBody>
          <a:bodyPr/>
          <a:lstStyle/>
          <a:p>
            <a:pPr algn="l" eaLnBrk="1" hangingPunct="1"/>
            <a:r>
              <a:rPr lang="en-US" dirty="0"/>
              <a:t>1.6 Implications for Cyber Security</a:t>
            </a:r>
          </a:p>
        </p:txBody>
      </p:sp>
      <p:sp>
        <p:nvSpPr>
          <p:cNvPr id="54277" name="Rectangle 3"/>
          <p:cNvSpPr>
            <a:spLocks noGrp="1" noChangeArrowheads="1"/>
          </p:cNvSpPr>
          <p:nvPr>
            <p:ph type="body" idx="1"/>
          </p:nvPr>
        </p:nvSpPr>
        <p:spPr>
          <a:xfrm>
            <a:off x="685800" y="1371600"/>
            <a:ext cx="8009164" cy="4800600"/>
          </a:xfrm>
        </p:spPr>
        <p:txBody>
          <a:bodyPr/>
          <a:lstStyle/>
          <a:p>
            <a:pPr eaLnBrk="1" hangingPunct="1">
              <a:lnSpc>
                <a:spcPct val="90000"/>
              </a:lnSpc>
            </a:pPr>
            <a:r>
              <a:rPr lang="en-US" sz="2400" dirty="0"/>
              <a:t>Network and Internet change almost everything</a:t>
            </a:r>
          </a:p>
          <a:p>
            <a:pPr lvl="1" eaLnBrk="1" hangingPunct="1">
              <a:lnSpc>
                <a:spcPct val="90000"/>
              </a:lnSpc>
            </a:pPr>
            <a:r>
              <a:rPr lang="en-US" sz="2000" dirty="0"/>
              <a:t>Quickly and easily to move information inside and outside firm</a:t>
            </a:r>
          </a:p>
          <a:p>
            <a:pPr lvl="2" eaLnBrk="1" hangingPunct="1">
              <a:lnSpc>
                <a:spcPct val="90000"/>
              </a:lnSpc>
              <a:buFont typeface="Wingdings" panose="05000000000000000000" pitchFamily="2" charset="2"/>
              <a:buChar char="Ø"/>
            </a:pPr>
            <a:r>
              <a:rPr lang="en-US" sz="2000" dirty="0"/>
              <a:t>Easy for cyber criminals to steal info and attack.</a:t>
            </a:r>
          </a:p>
          <a:p>
            <a:pPr lvl="3" eaLnBrk="1" hangingPunct="1">
              <a:lnSpc>
                <a:spcPct val="90000"/>
              </a:lnSpc>
              <a:buFont typeface="Wingdings" panose="05000000000000000000" pitchFamily="2" charset="2"/>
              <a:buChar char="Ø"/>
            </a:pPr>
            <a:r>
              <a:rPr lang="en-US" sz="1600" dirty="0">
                <a:solidFill>
                  <a:srgbClr val="00B050"/>
                </a:solidFill>
              </a:rPr>
              <a:t>Understand network and Internet is the first step of defense.</a:t>
            </a:r>
          </a:p>
          <a:p>
            <a:pPr eaLnBrk="1" hangingPunct="1">
              <a:lnSpc>
                <a:spcPct val="90000"/>
              </a:lnSpc>
            </a:pPr>
            <a:r>
              <a:rPr lang="en-US" sz="2400" dirty="0"/>
              <a:t>Variety of devices connected as BYOD</a:t>
            </a:r>
          </a:p>
          <a:p>
            <a:pPr lvl="1" eaLnBrk="1" hangingPunct="1">
              <a:lnSpc>
                <a:spcPct val="90000"/>
              </a:lnSpc>
            </a:pPr>
            <a:r>
              <a:rPr lang="en-US" sz="2000" dirty="0"/>
              <a:t>Increase the risks as does the IoT</a:t>
            </a:r>
          </a:p>
          <a:p>
            <a:pPr lvl="2" eaLnBrk="1" hangingPunct="1">
              <a:lnSpc>
                <a:spcPct val="90000"/>
              </a:lnSpc>
              <a:buFont typeface="Wingdings" panose="05000000000000000000" pitchFamily="2" charset="2"/>
              <a:buChar char="Ø"/>
            </a:pPr>
            <a:r>
              <a:rPr lang="en-US" sz="2000" dirty="0">
                <a:solidFill>
                  <a:srgbClr val="00B050"/>
                </a:solidFill>
              </a:rPr>
              <a:t>Secure the computing infrastructure</a:t>
            </a:r>
          </a:p>
          <a:p>
            <a:pPr eaLnBrk="1" hangingPunct="1">
              <a:lnSpc>
                <a:spcPct val="90000"/>
              </a:lnSpc>
            </a:pPr>
            <a:r>
              <a:rPr lang="en-US" sz="2400" dirty="0"/>
              <a:t> High demand on network services and capacity</a:t>
            </a:r>
          </a:p>
          <a:p>
            <a:pPr lvl="1" eaLnBrk="1" hangingPunct="1">
              <a:lnSpc>
                <a:spcPct val="90000"/>
              </a:lnSpc>
            </a:pPr>
            <a:r>
              <a:rPr lang="en-US" sz="2000" dirty="0"/>
              <a:t>Secure storage and server space and secure transfer of data</a:t>
            </a:r>
          </a:p>
          <a:p>
            <a:pPr lvl="2" eaLnBrk="1" hangingPunct="1">
              <a:lnSpc>
                <a:spcPct val="90000"/>
              </a:lnSpc>
              <a:buFont typeface="Wingdings" panose="05000000000000000000" pitchFamily="2" charset="2"/>
              <a:buChar char="Ø"/>
            </a:pPr>
            <a:r>
              <a:rPr lang="en-US" sz="2000" dirty="0"/>
              <a:t>High Cost on power and staffing</a:t>
            </a:r>
          </a:p>
          <a:p>
            <a:pPr lvl="3" eaLnBrk="1" hangingPunct="1">
              <a:lnSpc>
                <a:spcPct val="90000"/>
              </a:lnSpc>
              <a:buFont typeface="Wingdings" panose="05000000000000000000" pitchFamily="2" charset="2"/>
              <a:buChar char="Ø"/>
            </a:pPr>
            <a:r>
              <a:rPr lang="en-US" dirty="0">
                <a:solidFill>
                  <a:srgbClr val="00B050"/>
                </a:solidFill>
              </a:rPr>
              <a:t>Cloud can meet or exceed government requirement</a:t>
            </a:r>
          </a:p>
          <a:p>
            <a:pPr lvl="2" eaLnBrk="1" hangingPunct="1">
              <a:lnSpc>
                <a:spcPct val="90000"/>
              </a:lnSpc>
            </a:pPr>
            <a:endParaRPr lang="en-US" sz="2000" dirty="0"/>
          </a:p>
          <a:p>
            <a:pPr lvl="1" eaLnBrk="1" hangingPunct="1">
              <a:lnSpc>
                <a:spcPct val="90000"/>
              </a:lnSpc>
            </a:pPr>
            <a:endParaRPr lang="en-US" sz="2000" dirty="0"/>
          </a:p>
        </p:txBody>
      </p:sp>
      <p:sp>
        <p:nvSpPr>
          <p:cNvPr id="4" name="TextBox 3"/>
          <p:cNvSpPr txBox="1"/>
          <p:nvPr/>
        </p:nvSpPr>
        <p:spPr>
          <a:xfrm>
            <a:off x="6553200" y="3433346"/>
            <a:ext cx="652007" cy="338554"/>
          </a:xfrm>
          <a:prstGeom prst="rect">
            <a:avLst/>
          </a:prstGeom>
          <a:noFill/>
        </p:spPr>
        <p:txBody>
          <a:bodyPr wrap="square" rtlCol="0">
            <a:spAutoFit/>
          </a:bodyPr>
          <a:lstStyle/>
          <a:p>
            <a:r>
              <a:rPr lang="en-US" dirty="0">
                <a:solidFill>
                  <a:schemeClr val="accent2">
                    <a:lumMod val="60000"/>
                    <a:lumOff val="40000"/>
                  </a:schemeClr>
                </a:solidFill>
              </a:rPr>
              <a:t>IoT</a:t>
            </a:r>
            <a:endParaRPr lang="th-TH" dirty="0">
              <a:solidFill>
                <a:schemeClr val="accent2">
                  <a:lumMod val="60000"/>
                  <a:lumOff val="40000"/>
                </a:schemeClr>
              </a:solidFill>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805406"/>
            <a:ext cx="1578891" cy="105259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277">
                                            <p:txEl>
                                              <p:pRg st="0" end="0"/>
                                            </p:txEl>
                                          </p:spTgt>
                                        </p:tgtEl>
                                        <p:attrNameLst>
                                          <p:attrName>style.visibility</p:attrName>
                                        </p:attrNameLst>
                                      </p:cBhvr>
                                      <p:to>
                                        <p:strVal val="visible"/>
                                      </p:to>
                                    </p:set>
                                    <p:anim calcmode="lin" valueType="num">
                                      <p:cBhvr additive="base">
                                        <p:cTn id="7" dur="500" fill="hold"/>
                                        <p:tgtEl>
                                          <p:spTgt spid="5427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27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4277">
                                            <p:txEl>
                                              <p:pRg st="1" end="1"/>
                                            </p:txEl>
                                          </p:spTgt>
                                        </p:tgtEl>
                                        <p:attrNameLst>
                                          <p:attrName>style.visibility</p:attrName>
                                        </p:attrNameLst>
                                      </p:cBhvr>
                                      <p:to>
                                        <p:strVal val="visible"/>
                                      </p:to>
                                    </p:set>
                                    <p:anim calcmode="lin" valueType="num">
                                      <p:cBhvr additive="base">
                                        <p:cTn id="11" dur="500" fill="hold"/>
                                        <p:tgtEl>
                                          <p:spTgt spid="5427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427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4277">
                                            <p:txEl>
                                              <p:pRg st="2" end="2"/>
                                            </p:txEl>
                                          </p:spTgt>
                                        </p:tgtEl>
                                        <p:attrNameLst>
                                          <p:attrName>style.visibility</p:attrName>
                                        </p:attrNameLst>
                                      </p:cBhvr>
                                      <p:to>
                                        <p:strVal val="visible"/>
                                      </p:to>
                                    </p:set>
                                    <p:anim calcmode="lin" valueType="num">
                                      <p:cBhvr additive="base">
                                        <p:cTn id="15" dur="500" fill="hold"/>
                                        <p:tgtEl>
                                          <p:spTgt spid="5427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427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4277">
                                            <p:txEl>
                                              <p:pRg st="3" end="3"/>
                                            </p:txEl>
                                          </p:spTgt>
                                        </p:tgtEl>
                                        <p:attrNameLst>
                                          <p:attrName>style.visibility</p:attrName>
                                        </p:attrNameLst>
                                      </p:cBhvr>
                                      <p:to>
                                        <p:strVal val="visible"/>
                                      </p:to>
                                    </p:set>
                                    <p:anim calcmode="lin" valueType="num">
                                      <p:cBhvr additive="base">
                                        <p:cTn id="19" dur="500" fill="hold"/>
                                        <p:tgtEl>
                                          <p:spTgt spid="5427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427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4277">
                                            <p:txEl>
                                              <p:pRg st="4" end="4"/>
                                            </p:txEl>
                                          </p:spTgt>
                                        </p:tgtEl>
                                        <p:attrNameLst>
                                          <p:attrName>style.visibility</p:attrName>
                                        </p:attrNameLst>
                                      </p:cBhvr>
                                      <p:to>
                                        <p:strVal val="visible"/>
                                      </p:to>
                                    </p:set>
                                    <p:anim calcmode="lin" valueType="num">
                                      <p:cBhvr additive="base">
                                        <p:cTn id="25" dur="500" fill="hold"/>
                                        <p:tgtEl>
                                          <p:spTgt spid="5427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4277">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4277">
                                            <p:txEl>
                                              <p:pRg st="5" end="5"/>
                                            </p:txEl>
                                          </p:spTgt>
                                        </p:tgtEl>
                                        <p:attrNameLst>
                                          <p:attrName>style.visibility</p:attrName>
                                        </p:attrNameLst>
                                      </p:cBhvr>
                                      <p:to>
                                        <p:strVal val="visible"/>
                                      </p:to>
                                    </p:set>
                                    <p:anim calcmode="lin" valueType="num">
                                      <p:cBhvr additive="base">
                                        <p:cTn id="29" dur="500" fill="hold"/>
                                        <p:tgtEl>
                                          <p:spTgt spid="54277">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427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1" presetClass="entr" presetSubtype="1"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heel(1)">
                                      <p:cBhvr>
                                        <p:cTn id="35" dur="20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grpId="0"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randombar(horizontal)">
                                      <p:cBhvr>
                                        <p:cTn id="40" dur="500"/>
                                        <p:tgtEl>
                                          <p:spTgt spid="3"/>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54277">
                                            <p:txEl>
                                              <p:pRg st="6" end="6"/>
                                            </p:txEl>
                                          </p:spTgt>
                                        </p:tgtEl>
                                        <p:attrNameLst>
                                          <p:attrName>style.visibility</p:attrName>
                                        </p:attrNameLst>
                                      </p:cBhvr>
                                      <p:to>
                                        <p:strVal val="visible"/>
                                      </p:to>
                                    </p:set>
                                    <p:anim calcmode="lin" valueType="num">
                                      <p:cBhvr additive="base">
                                        <p:cTn id="45" dur="500" fill="hold"/>
                                        <p:tgtEl>
                                          <p:spTgt spid="54277">
                                            <p:txEl>
                                              <p:pRg st="6" end="6"/>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5427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54277">
                                            <p:txEl>
                                              <p:pRg st="7" end="7"/>
                                            </p:txEl>
                                          </p:spTgt>
                                        </p:tgtEl>
                                        <p:attrNameLst>
                                          <p:attrName>style.visibility</p:attrName>
                                        </p:attrNameLst>
                                      </p:cBhvr>
                                      <p:to>
                                        <p:strVal val="visible"/>
                                      </p:to>
                                    </p:set>
                                    <p:anim calcmode="lin" valueType="num">
                                      <p:cBhvr additive="base">
                                        <p:cTn id="51" dur="500" fill="hold"/>
                                        <p:tgtEl>
                                          <p:spTgt spid="54277">
                                            <p:txEl>
                                              <p:pRg st="7" end="7"/>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54277">
                                            <p:txEl>
                                              <p:pRg st="7" end="7"/>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54277">
                                            <p:txEl>
                                              <p:pRg st="8" end="8"/>
                                            </p:txEl>
                                          </p:spTgt>
                                        </p:tgtEl>
                                        <p:attrNameLst>
                                          <p:attrName>style.visibility</p:attrName>
                                        </p:attrNameLst>
                                      </p:cBhvr>
                                      <p:to>
                                        <p:strVal val="visible"/>
                                      </p:to>
                                    </p:set>
                                    <p:anim calcmode="lin" valueType="num">
                                      <p:cBhvr additive="base">
                                        <p:cTn id="55" dur="500" fill="hold"/>
                                        <p:tgtEl>
                                          <p:spTgt spid="54277">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4277">
                                            <p:txEl>
                                              <p:pRg st="8" end="8"/>
                                            </p:tx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54277">
                                            <p:txEl>
                                              <p:pRg st="9" end="9"/>
                                            </p:txEl>
                                          </p:spTgt>
                                        </p:tgtEl>
                                        <p:attrNameLst>
                                          <p:attrName>style.visibility</p:attrName>
                                        </p:attrNameLst>
                                      </p:cBhvr>
                                      <p:to>
                                        <p:strVal val="visible"/>
                                      </p:to>
                                    </p:set>
                                    <p:anim calcmode="lin" valueType="num">
                                      <p:cBhvr additive="base">
                                        <p:cTn id="59" dur="500" fill="hold"/>
                                        <p:tgtEl>
                                          <p:spTgt spid="54277">
                                            <p:txEl>
                                              <p:pRg st="9" end="9"/>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54277">
                                            <p:txEl>
                                              <p:pRg st="9" end="9"/>
                                            </p:txEl>
                                          </p:spTgt>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54277">
                                            <p:txEl>
                                              <p:pRg st="10" end="10"/>
                                            </p:txEl>
                                          </p:spTgt>
                                        </p:tgtEl>
                                        <p:attrNameLst>
                                          <p:attrName>style.visibility</p:attrName>
                                        </p:attrNameLst>
                                      </p:cBhvr>
                                      <p:to>
                                        <p:strVal val="visible"/>
                                      </p:to>
                                    </p:set>
                                    <p:anim calcmode="lin" valueType="num">
                                      <p:cBhvr additive="base">
                                        <p:cTn id="63" dur="500" fill="hold"/>
                                        <p:tgtEl>
                                          <p:spTgt spid="54277">
                                            <p:txEl>
                                              <p:pRg st="10" end="10"/>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54277">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4277" grpId="0" uiExpand="1" build="p"/>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pPr eaLnBrk="1" hangingPunct="1"/>
            <a:r>
              <a:rPr lang="en-US" b="1">
                <a:solidFill>
                  <a:srgbClr val="7B9899"/>
                </a:solidFill>
              </a:rPr>
              <a:t>Ubiquitous</a:t>
            </a:r>
            <a:endParaRPr lang="en-US">
              <a:solidFill>
                <a:srgbClr val="7B9899"/>
              </a:solidFill>
            </a:endParaRPr>
          </a:p>
        </p:txBody>
      </p:sp>
      <p:sp>
        <p:nvSpPr>
          <p:cNvPr id="46083" name="Content Placeholder 2"/>
          <p:cNvSpPr>
            <a:spLocks noGrp="1"/>
          </p:cNvSpPr>
          <p:nvPr>
            <p:ph sz="quarter" idx="1"/>
          </p:nvPr>
        </p:nvSpPr>
        <p:spPr>
          <a:xfrm>
            <a:off x="301625" y="1527175"/>
            <a:ext cx="8504238" cy="4572000"/>
          </a:xfrm>
        </p:spPr>
        <p:txBody>
          <a:bodyPr/>
          <a:lstStyle/>
          <a:p>
            <a:pPr eaLnBrk="1" hangingPunct="1"/>
            <a:r>
              <a:rPr lang="en-US"/>
              <a:t>adj.  “yoo-bik-wi-t</a:t>
            </a:r>
            <a:r>
              <a:rPr lang="en-US" i="1"/>
              <a:t>uh</a:t>
            </a:r>
            <a:r>
              <a:rPr lang="en-US"/>
              <a:t>s”</a:t>
            </a:r>
          </a:p>
          <a:p>
            <a:pPr eaLnBrk="1" hangingPunct="1"/>
            <a:r>
              <a:rPr lang="en-US"/>
              <a:t>Being or seeming to be everywhere at the same time (American Heritage® Dictionary)</a:t>
            </a:r>
          </a:p>
          <a:p>
            <a:pPr eaLnBrk="1" hangingPunct="1"/>
            <a:r>
              <a:rPr lang="en-US"/>
              <a:t>Existing or being everywhere at the same time : constantly encountered : widespread (Merriam-Webster Dictionary)</a:t>
            </a:r>
          </a:p>
        </p:txBody>
      </p:sp>
      <p:sp>
        <p:nvSpPr>
          <p:cNvPr id="2" name="Footer Placeholder 1"/>
          <p:cNvSpPr>
            <a:spLocks noGrp="1"/>
          </p:cNvSpPr>
          <p:nvPr>
            <p:ph type="ftr" sz="quarter" idx="11"/>
          </p:nvPr>
        </p:nvSpPr>
        <p:spPr/>
        <p:txBody>
          <a:bodyPr/>
          <a:lstStyle/>
          <a:p>
            <a:pPr>
              <a:defRPr/>
            </a:pPr>
            <a:r>
              <a:rPr lang="en-US"/>
              <a:t>Copyright 2021 John Wiley &amp; Sons, Inc.</a:t>
            </a:r>
            <a:endParaRPr lang="en-US" dirty="0"/>
          </a:p>
        </p:txBody>
      </p:sp>
      <p:sp>
        <p:nvSpPr>
          <p:cNvPr id="3" name="Slide Number Placeholder 2"/>
          <p:cNvSpPr>
            <a:spLocks noGrp="1"/>
          </p:cNvSpPr>
          <p:nvPr>
            <p:ph type="sldNum" sz="quarter" idx="12"/>
          </p:nvPr>
        </p:nvSpPr>
        <p:spPr/>
        <p:txBody>
          <a:bodyPr/>
          <a:lstStyle/>
          <a:p>
            <a:r>
              <a:rPr lang="en-US"/>
              <a:t>1 - </a:t>
            </a:r>
            <a:fld id="{602CC828-201D-4047-AF75-E2463E251579}" type="slidenum">
              <a:rPr lang="en-US" smtClean="0"/>
              <a:pPr/>
              <a:t>42</a:t>
            </a:fld>
            <a:endParaRPr lang="en-US"/>
          </a:p>
        </p:txBody>
      </p:sp>
    </p:spTree>
    <p:extLst>
      <p:ext uri="{BB962C8B-B14F-4D97-AF65-F5344CB8AC3E}">
        <p14:creationId xmlns:p14="http://schemas.microsoft.com/office/powerpoint/2010/main" val="1316248281"/>
      </p:ext>
    </p:extLst>
  </p:cSld>
  <p:clrMapOvr>
    <a:masterClrMapping/>
  </p:clrMapOvr>
</p:sld>
</file>

<file path=ppt/theme/theme1.xml><?xml version="1.0" encoding="utf-8"?>
<a:theme xmlns:a="http://schemas.openxmlformats.org/drawingml/2006/main" name="Default Design">
  <a:themeElements>
    <a:clrScheme name="">
      <a:dk1>
        <a:srgbClr val="000000"/>
      </a:dk1>
      <a:lt1>
        <a:srgbClr val="FFFFCC"/>
      </a:lt1>
      <a:dk2>
        <a:srgbClr val="000000"/>
      </a:dk2>
      <a:lt2>
        <a:srgbClr val="808080"/>
      </a:lt2>
      <a:accent1>
        <a:srgbClr val="FFCC66"/>
      </a:accent1>
      <a:accent2>
        <a:srgbClr val="0000FF"/>
      </a:accent2>
      <a:accent3>
        <a:srgbClr val="FFFFE2"/>
      </a:accent3>
      <a:accent4>
        <a:srgbClr val="000000"/>
      </a:accent4>
      <a:accent5>
        <a:srgbClr val="FFE2B8"/>
      </a:accent5>
      <a:accent6>
        <a:srgbClr val="0000E7"/>
      </a:accent6>
      <a:hlink>
        <a:srgbClr val="CC00CC"/>
      </a:hlink>
      <a:folHlink>
        <a:srgbClr val="C0C0C0"/>
      </a:folHlink>
    </a:clrScheme>
    <a:fontScheme name="Default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80000"/>
          </a:lnSpc>
          <a:spcBef>
            <a:spcPct val="20000"/>
          </a:spcBef>
          <a:spcAft>
            <a:spcPct val="15000"/>
          </a:spcAft>
          <a:buClrTx/>
          <a:buSzTx/>
          <a:buFontTx/>
          <a:buNone/>
          <a:tabLst/>
          <a:defRPr kumimoji="0" lang="en-US" sz="2000" b="1" i="0" u="none" strike="noStrike" cap="none" normalizeH="0" baseline="0" smtClean="0">
            <a:ln>
              <a:noFill/>
            </a:ln>
            <a:solidFill>
              <a:srgbClr val="16027C"/>
            </a:solidFill>
            <a:effectLst/>
            <a:latin typeface="Arial" charset="0"/>
          </a:defRPr>
        </a:defPPr>
      </a:lstStyle>
    </a:spDef>
    <a:lnDef>
      <a:spPr bwMode="auto">
        <a:xfrm>
          <a:off x="0" y="0"/>
          <a:ext cx="1" cy="1"/>
        </a:xfrm>
        <a:custGeom>
          <a:avLst/>
          <a:gdLst/>
          <a:ahLst/>
          <a:cxnLst/>
          <a:rect l="0" t="0" r="0" b="0"/>
          <a:pathLst/>
        </a:custGeom>
        <a:solidFill>
          <a:schemeClr val="bg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80000"/>
          </a:lnSpc>
          <a:spcBef>
            <a:spcPct val="20000"/>
          </a:spcBef>
          <a:spcAft>
            <a:spcPct val="15000"/>
          </a:spcAft>
          <a:buClrTx/>
          <a:buSzTx/>
          <a:buFontTx/>
          <a:buNone/>
          <a:tabLst/>
          <a:defRPr kumimoji="0" lang="en-US" sz="2000" b="1" i="0" u="none" strike="noStrike" cap="none" normalizeH="0" baseline="0" smtClean="0">
            <a:ln>
              <a:noFill/>
            </a:ln>
            <a:solidFill>
              <a:srgbClr val="16027C"/>
            </a:solidFill>
            <a:effectLst/>
            <a:latin typeface="Arial"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23911</TotalTime>
  <Words>3340</Words>
  <Application>Microsoft Office PowerPoint</Application>
  <PresentationFormat>On-screen Show (4:3)</PresentationFormat>
  <Paragraphs>503</Paragraphs>
  <Slides>42</Slides>
  <Notes>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49" baseType="lpstr">
      <vt:lpstr>Arial</vt:lpstr>
      <vt:lpstr>Arial Black</vt:lpstr>
      <vt:lpstr>Comic Sans MS</vt:lpstr>
      <vt:lpstr>Times New Roman</vt:lpstr>
      <vt:lpstr>Wingdings</vt:lpstr>
      <vt:lpstr>Default Design</vt:lpstr>
      <vt:lpstr>Chart</vt:lpstr>
      <vt:lpstr>Fundamentals of Business Data Communications 14th Edition   Alan Dennis &amp; Alexandra Durcikova  John Wiley &amp; Sons, Inc  </vt:lpstr>
      <vt:lpstr>Three Parts to Understanding Networking</vt:lpstr>
      <vt:lpstr>Chapter 1 </vt:lpstr>
      <vt:lpstr>Chapter 1 Outline</vt:lpstr>
      <vt:lpstr>Information Age</vt:lpstr>
      <vt:lpstr>The Collapsing Information Lag</vt:lpstr>
      <vt:lpstr>Advances in Phone Technology</vt:lpstr>
      <vt:lpstr>Regulation of Inventions</vt:lpstr>
      <vt:lpstr>1984 Consent Decree </vt:lpstr>
      <vt:lpstr>Worldwide Competitive Markets</vt:lpstr>
      <vt:lpstr>History of Information Systems</vt:lpstr>
      <vt:lpstr>Internet Milestones</vt:lpstr>
      <vt:lpstr>Net Neutrality</vt:lpstr>
      <vt:lpstr>Thai Telecom</vt:lpstr>
      <vt:lpstr>1.2 Data Comm Networks</vt:lpstr>
      <vt:lpstr>Components of a Local Area Network</vt:lpstr>
      <vt:lpstr>Network Types (based on Scale) </vt:lpstr>
      <vt:lpstr>LANs and Backbones, Wide Area and Metropolitan Area Networks</vt:lpstr>
      <vt:lpstr>Intranet vs. Extranet </vt:lpstr>
      <vt:lpstr>Layered Implementation of Communications Functions</vt:lpstr>
      <vt:lpstr>1.3 Multi-layer Network Models</vt:lpstr>
      <vt:lpstr>7-Layer Model of OSI</vt:lpstr>
      <vt:lpstr>7-Layer Model of OSI</vt:lpstr>
      <vt:lpstr>Internet’s 5-Layer Model</vt:lpstr>
      <vt:lpstr>Comparison of Network Models</vt:lpstr>
      <vt:lpstr>Message Transmission Using Layers</vt:lpstr>
      <vt:lpstr>Protocols</vt:lpstr>
      <vt:lpstr>Message Transmission Example</vt:lpstr>
      <vt:lpstr>Points about Network Layer View</vt:lpstr>
      <vt:lpstr>1.4 Network Standards</vt:lpstr>
      <vt:lpstr>Standardization Processes</vt:lpstr>
      <vt:lpstr>Major Standards Bodies</vt:lpstr>
      <vt:lpstr>Major Standards Bodies (Cont.)</vt:lpstr>
      <vt:lpstr>Some Data Comm. Standards</vt:lpstr>
      <vt:lpstr>1.5 Current Trends</vt:lpstr>
      <vt:lpstr>PowerPoint Presentation</vt:lpstr>
      <vt:lpstr>PowerPoint Presentation</vt:lpstr>
      <vt:lpstr>PowerPoint Presentation</vt:lpstr>
      <vt:lpstr>PowerPoint Presentation</vt:lpstr>
      <vt:lpstr>PowerPoint Presentation</vt:lpstr>
      <vt:lpstr>1.6 Implications for Cyber Security</vt:lpstr>
      <vt:lpstr>Ubiquitous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Data Communications</dc:title>
  <dc:creator>Dwayne Whitten</dc:creator>
  <cp:lastModifiedBy>NARONGRIT WARAPORN</cp:lastModifiedBy>
  <cp:revision>143</cp:revision>
  <cp:lastPrinted>2011-06-14T17:31:05Z</cp:lastPrinted>
  <dcterms:created xsi:type="dcterms:W3CDTF">2001-01-29T12:50:58Z</dcterms:created>
  <dcterms:modified xsi:type="dcterms:W3CDTF">2025-01-11T11:23:34Z</dcterms:modified>
</cp:coreProperties>
</file>