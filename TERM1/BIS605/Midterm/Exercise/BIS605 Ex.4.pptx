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961EDB-D34A-4F12-8EA9-44EC81A0AC8C}" v="62" dt="2025-02-03T08:24:55.168"/>
    <p1510:client id="{F832662E-23CF-3397-611F-11352BC6D6B9}" v="28" dt="2025-02-03T08:31:29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9" d="100"/>
          <a:sy n="89" d="100"/>
        </p:scale>
        <p:origin x="143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SANA PIPUTPRUEDTIGUL" userId="S::67130701930@ad.sit.kmutt.ac.th::edd779e2-8330-4cb5-95ef-19b92d38d649" providerId="AD" clId="Web-{F832662E-23CF-3397-611F-11352BC6D6B9}"/>
    <pc:docChg chg="modSld">
      <pc:chgData name="KRISSANA PIPUTPRUEDTIGUL" userId="S::67130701930@ad.sit.kmutt.ac.th::edd779e2-8330-4cb5-95ef-19b92d38d649" providerId="AD" clId="Web-{F832662E-23CF-3397-611F-11352BC6D6B9}" dt="2025-02-03T08:31:29.362" v="20" actId="1076"/>
      <pc:docMkLst>
        <pc:docMk/>
      </pc:docMkLst>
      <pc:sldChg chg="addSp modSp">
        <pc:chgData name="KRISSANA PIPUTPRUEDTIGUL" userId="S::67130701930@ad.sit.kmutt.ac.th::edd779e2-8330-4cb5-95ef-19b92d38d649" providerId="AD" clId="Web-{F832662E-23CF-3397-611F-11352BC6D6B9}" dt="2025-02-03T08:31:29.362" v="20" actId="1076"/>
        <pc:sldMkLst>
          <pc:docMk/>
          <pc:sldMk cId="3647256842" sldId="257"/>
        </pc:sldMkLst>
        <pc:spChg chg="mod">
          <ac:chgData name="KRISSANA PIPUTPRUEDTIGUL" userId="S::67130701930@ad.sit.kmutt.ac.th::edd779e2-8330-4cb5-95ef-19b92d38d649" providerId="AD" clId="Web-{F832662E-23CF-3397-611F-11352BC6D6B9}" dt="2025-02-03T08:31:20.955" v="18" actId="1076"/>
          <ac:spMkLst>
            <pc:docMk/>
            <pc:sldMk cId="3647256842" sldId="257"/>
            <ac:spMk id="3" creationId="{5C4D5D6D-0179-93DA-A126-E5B8DD8CFBDF}"/>
          </ac:spMkLst>
        </pc:spChg>
        <pc:spChg chg="mod">
          <ac:chgData name="KRISSANA PIPUTPRUEDTIGUL" userId="S::67130701930@ad.sit.kmutt.ac.th::edd779e2-8330-4cb5-95ef-19b92d38d649" providerId="AD" clId="Web-{F832662E-23CF-3397-611F-11352BC6D6B9}" dt="2025-02-03T08:31:29.362" v="20" actId="1076"/>
          <ac:spMkLst>
            <pc:docMk/>
            <pc:sldMk cId="3647256842" sldId="257"/>
            <ac:spMk id="4" creationId="{ACF48723-6B84-BB51-2831-2BDF6C599E5B}"/>
          </ac:spMkLst>
        </pc:spChg>
        <pc:spChg chg="add mod">
          <ac:chgData name="KRISSANA PIPUTPRUEDTIGUL" userId="S::67130701930@ad.sit.kmutt.ac.th::edd779e2-8330-4cb5-95ef-19b92d38d649" providerId="AD" clId="Web-{F832662E-23CF-3397-611F-11352BC6D6B9}" dt="2025-02-03T08:31:11.330" v="17" actId="1076"/>
          <ac:spMkLst>
            <pc:docMk/>
            <pc:sldMk cId="3647256842" sldId="257"/>
            <ac:spMk id="5" creationId="{74C25C9D-C2B4-8D6F-CDF4-B1C803039D99}"/>
          </ac:spMkLst>
        </pc:spChg>
        <pc:picChg chg="mod">
          <ac:chgData name="KRISSANA PIPUTPRUEDTIGUL" userId="S::67130701930@ad.sit.kmutt.ac.th::edd779e2-8330-4cb5-95ef-19b92d38d649" providerId="AD" clId="Web-{F832662E-23CF-3397-611F-11352BC6D6B9}" dt="2025-02-03T08:31:23.986" v="19" actId="1076"/>
          <ac:picMkLst>
            <pc:docMk/>
            <pc:sldMk cId="3647256842" sldId="257"/>
            <ac:picMk id="1026" creationId="{FA54D516-B89E-B6E4-C34D-BECAD635D2EC}"/>
          </ac:picMkLst>
        </pc:picChg>
      </pc:sldChg>
    </pc:docChg>
  </pc:docChgLst>
  <pc:docChgLst>
    <pc:chgData name="Krissana Piputpruedtigul" userId="75523632-aa43-48c4-bb71-67fa28919578" providerId="ADAL" clId="{54961EDB-D34A-4F12-8EA9-44EC81A0AC8C}"/>
    <pc:docChg chg="undo custSel addSld delSld modSld">
      <pc:chgData name="Krissana Piputpruedtigul" userId="75523632-aa43-48c4-bb71-67fa28919578" providerId="ADAL" clId="{54961EDB-D34A-4F12-8EA9-44EC81A0AC8C}" dt="2025-02-03T08:26:16.884" v="675" actId="115"/>
      <pc:docMkLst>
        <pc:docMk/>
      </pc:docMkLst>
      <pc:sldChg chg="modSp del mod">
        <pc:chgData name="Krissana Piputpruedtigul" userId="75523632-aa43-48c4-bb71-67fa28919578" providerId="ADAL" clId="{54961EDB-D34A-4F12-8EA9-44EC81A0AC8C}" dt="2025-02-03T08:25:08.552" v="668" actId="2696"/>
        <pc:sldMkLst>
          <pc:docMk/>
          <pc:sldMk cId="2408575842" sldId="256"/>
        </pc:sldMkLst>
        <pc:spChg chg="mod">
          <ac:chgData name="Krissana Piputpruedtigul" userId="75523632-aa43-48c4-bb71-67fa28919578" providerId="ADAL" clId="{54961EDB-D34A-4F12-8EA9-44EC81A0AC8C}" dt="2025-02-03T08:24:24.531" v="662"/>
          <ac:spMkLst>
            <pc:docMk/>
            <pc:sldMk cId="2408575842" sldId="256"/>
            <ac:spMk id="2" creationId="{297BB358-8056-0F2F-966E-C3389281AF76}"/>
          </ac:spMkLst>
        </pc:spChg>
        <pc:spChg chg="mod">
          <ac:chgData name="Krissana Piputpruedtigul" userId="75523632-aa43-48c4-bb71-67fa28919578" providerId="ADAL" clId="{54961EDB-D34A-4F12-8EA9-44EC81A0AC8C}" dt="2025-02-03T08:24:24.531" v="662"/>
          <ac:spMkLst>
            <pc:docMk/>
            <pc:sldMk cId="2408575842" sldId="256"/>
            <ac:spMk id="3" creationId="{6954D72F-B145-51BA-1433-CE0D985A97DA}"/>
          </ac:spMkLst>
        </pc:spChg>
      </pc:sldChg>
      <pc:sldChg chg="addSp modSp new mod">
        <pc:chgData name="Krissana Piputpruedtigul" userId="75523632-aa43-48c4-bb71-67fa28919578" providerId="ADAL" clId="{54961EDB-D34A-4F12-8EA9-44EC81A0AC8C}" dt="2025-02-03T08:26:16.884" v="675" actId="115"/>
        <pc:sldMkLst>
          <pc:docMk/>
          <pc:sldMk cId="3647256842" sldId="257"/>
        </pc:sldMkLst>
        <pc:spChg chg="mod">
          <ac:chgData name="Krissana Piputpruedtigul" userId="75523632-aa43-48c4-bb71-67fa28919578" providerId="ADAL" clId="{54961EDB-D34A-4F12-8EA9-44EC81A0AC8C}" dt="2025-02-03T08:24:24.531" v="662"/>
          <ac:spMkLst>
            <pc:docMk/>
            <pc:sldMk cId="3647256842" sldId="257"/>
            <ac:spMk id="2" creationId="{735ED364-A537-B76F-14AE-539C49053338}"/>
          </ac:spMkLst>
        </pc:spChg>
        <pc:spChg chg="mod">
          <ac:chgData name="Krissana Piputpruedtigul" userId="75523632-aa43-48c4-bb71-67fa28919578" providerId="ADAL" clId="{54961EDB-D34A-4F12-8EA9-44EC81A0AC8C}" dt="2025-02-03T08:24:24.531" v="662"/>
          <ac:spMkLst>
            <pc:docMk/>
            <pc:sldMk cId="3647256842" sldId="257"/>
            <ac:spMk id="3" creationId="{5C4D5D6D-0179-93DA-A126-E5B8DD8CFBDF}"/>
          </ac:spMkLst>
        </pc:spChg>
        <pc:spChg chg="mod">
          <ac:chgData name="Krissana Piputpruedtigul" userId="75523632-aa43-48c4-bb71-67fa28919578" providerId="ADAL" clId="{54961EDB-D34A-4F12-8EA9-44EC81A0AC8C}" dt="2025-02-03T08:26:16.884" v="675" actId="115"/>
          <ac:spMkLst>
            <pc:docMk/>
            <pc:sldMk cId="3647256842" sldId="257"/>
            <ac:spMk id="4" creationId="{ACF48723-6B84-BB51-2831-2BDF6C599E5B}"/>
          </ac:spMkLst>
        </pc:spChg>
        <pc:picChg chg="add mod">
          <ac:chgData name="Krissana Piputpruedtigul" userId="75523632-aa43-48c4-bb71-67fa28919578" providerId="ADAL" clId="{54961EDB-D34A-4F12-8EA9-44EC81A0AC8C}" dt="2025-02-03T08:24:09.267" v="628" actId="1076"/>
          <ac:picMkLst>
            <pc:docMk/>
            <pc:sldMk cId="3647256842" sldId="257"/>
            <ac:picMk id="6" creationId="{2AB1B230-2BB9-A9FD-1623-407C9BAB9F76}"/>
          </ac:picMkLst>
        </pc:picChg>
        <pc:picChg chg="add mod">
          <ac:chgData name="Krissana Piputpruedtigul" userId="75523632-aa43-48c4-bb71-67fa28919578" providerId="ADAL" clId="{54961EDB-D34A-4F12-8EA9-44EC81A0AC8C}" dt="2025-02-03T08:24:55.168" v="667" actId="1036"/>
          <ac:picMkLst>
            <pc:docMk/>
            <pc:sldMk cId="3647256842" sldId="257"/>
            <ac:picMk id="1026" creationId="{FA54D516-B89E-B6E4-C34D-BECAD635D2EC}"/>
          </ac:picMkLst>
        </pc:picChg>
      </pc:sldChg>
      <pc:sldChg chg="new del">
        <pc:chgData name="Krissana Piputpruedtigul" userId="75523632-aa43-48c4-bb71-67fa28919578" providerId="ADAL" clId="{54961EDB-D34A-4F12-8EA9-44EC81A0AC8C}" dt="2025-02-03T08:13:35.160" v="539" actId="2696"/>
        <pc:sldMkLst>
          <pc:docMk/>
          <pc:sldMk cId="798676599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9DD70-C0F7-413A-B086-EF7D187E39C7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6EE04-59FA-4BBA-AB4C-3243135581F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91373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6EE04-59FA-4BBA-AB4C-3243135581FB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27367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242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5502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482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8451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3219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7637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2465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5816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0073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903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47609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79329C-4E71-495C-A42B-998F85C0A8C0}" type="datetimeFigureOut">
              <a:rPr lang="th-TH" smtClean="0"/>
              <a:t>03/02/68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9E2B65E-A6F3-46F9-81D5-EAAC686C274D}" type="slidenum">
              <a:rPr lang="th-TH" smtClean="0"/>
              <a:t>‹#›</a:t>
            </a:fld>
            <a:endParaRPr lang="th-TH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755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hyperlink" Target="https://www.lingscar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Do Good W3schools Clone?. You would probably need some help in… | by  Clone Website | Medium">
            <a:extLst>
              <a:ext uri="{FF2B5EF4-FFF2-40B4-BE49-F238E27FC236}">
                <a16:creationId xmlns:a16="http://schemas.microsoft.com/office/drawing/2014/main" id="{FA54D516-B89E-B6E4-C34D-BECAD635D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135" y="5010175"/>
            <a:ext cx="2521585" cy="127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5ED364-A537-B76F-14AE-539C4905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 Exercise 4.1</a:t>
            </a:r>
            <a:b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</a:b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-Visit your most favorite website regarding the design and discuss following issues:</a:t>
            </a:r>
            <a:b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</a:b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	-Why do you like it ?</a:t>
            </a:r>
            <a:b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</a:b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	-What design principles does the website follow?</a:t>
            </a:r>
            <a:b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</a:b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  <a:t>-Find bad example of website regarding the design and discuss why the design is inappropriate.</a:t>
            </a:r>
            <a:b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</a:rPr>
            </a:br>
            <a:endParaRPr lang="th-TH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D5D6D-0179-93DA-A126-E5B8DD8CF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9" y="1729987"/>
            <a:ext cx="493776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+mj-cs"/>
              </a:rPr>
              <a:t>Visit your most favorite website regarding the design and discuss following issues: </a:t>
            </a:r>
            <a:r>
              <a:rPr lang="en-US" sz="900" dirty="0">
                <a:cs typeface="+mj-cs"/>
              </a:rPr>
              <a:t>https://www.w3schools.com/ </a:t>
            </a:r>
          </a:p>
          <a:p>
            <a:pPr marL="0" indent="0">
              <a:buNone/>
            </a:pPr>
            <a:r>
              <a:rPr lang="en-US" sz="9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+mj-cs"/>
              </a:rPr>
              <a:t>Why</a:t>
            </a:r>
            <a:br>
              <a:rPr lang="th-TH" sz="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+mj-cs"/>
              </a:rPr>
            </a:br>
            <a:r>
              <a:rPr lang="th-TH" sz="900" dirty="0">
                <a:cs typeface="+mj-cs"/>
              </a:rPr>
              <a:t>1. เข้าใจง่ายและใช้งานสะดวก</a:t>
            </a:r>
            <a:br>
              <a:rPr lang="en-US" sz="900" dirty="0">
                <a:cs typeface="+mj-cs"/>
              </a:rPr>
            </a:br>
            <a:r>
              <a:rPr lang="en-US" sz="900" dirty="0">
                <a:cs typeface="+mj-cs"/>
              </a:rPr>
              <a:t>-W3Schools </a:t>
            </a:r>
            <a:r>
              <a:rPr lang="th-TH" sz="900" dirty="0">
                <a:cs typeface="+mj-cs"/>
              </a:rPr>
              <a:t>มีการออกแบบที่ใช้งานง่ายและไม่ซับซ้อน และการนำเสนอเนื้อหา ซึ่งเหมาะสำหรับทั้งผู้เริ่มต้นและผู้ที่ต้องการทบทวนหรือเรียนรู้เทคโนโลยีใหม่ๆ อย่าง </a:t>
            </a:r>
            <a:r>
              <a:rPr lang="en-US" sz="900" dirty="0">
                <a:cs typeface="+mj-cs"/>
              </a:rPr>
              <a:t>HTML, CSS, JavaScript </a:t>
            </a:r>
            <a:r>
              <a:rPr lang="th-TH" sz="900" dirty="0">
                <a:cs typeface="+mj-cs"/>
              </a:rPr>
              <a:t>และอื่นๆ</a:t>
            </a:r>
            <a:br>
              <a:rPr lang="th-TH" sz="900" dirty="0">
                <a:cs typeface="+mj-cs"/>
              </a:rPr>
            </a:br>
            <a:r>
              <a:rPr lang="th-TH" sz="900" dirty="0">
                <a:cs typeface="+mj-cs"/>
              </a:rPr>
              <a:t>2. ตัวอย่างโค้ดที่สามารถทดลองได้</a:t>
            </a:r>
            <a:br>
              <a:rPr lang="th-TH" sz="900" dirty="0">
                <a:cs typeface="+mj-cs"/>
              </a:rPr>
            </a:br>
            <a:r>
              <a:rPr lang="th-TH" sz="900" dirty="0">
                <a:cs typeface="+mj-cs"/>
              </a:rPr>
              <a:t>- ผู้ใช้งานสามารถทดลองเขียนโค้ดในตัวเว็บได้เลยและเห็นผลทันที ช่วยให้การเรียนรู้เป็นแบบ </a:t>
            </a:r>
            <a:r>
              <a:rPr lang="en-US" sz="900" dirty="0">
                <a:cs typeface="+mj-cs"/>
              </a:rPr>
              <a:t>Interactive </a:t>
            </a:r>
            <a:r>
              <a:rPr lang="th-TH" sz="900" dirty="0">
                <a:cs typeface="+mj-cs"/>
              </a:rPr>
              <a:t>และนำไปใช้ได้จริง</a:t>
            </a:r>
            <a:br>
              <a:rPr lang="th-TH" sz="900" dirty="0">
                <a:cs typeface="+mj-cs"/>
              </a:rPr>
            </a:br>
            <a:r>
              <a:rPr lang="th-TH" sz="900" dirty="0">
                <a:cs typeface="+mj-cs"/>
              </a:rPr>
              <a:t>3. รองรับทุกอุปกรณ์</a:t>
            </a:r>
            <a:br>
              <a:rPr lang="th-TH" sz="900" dirty="0">
                <a:cs typeface="+mj-cs"/>
              </a:rPr>
            </a:br>
            <a:r>
              <a:rPr lang="th-TH" sz="900" dirty="0">
                <a:cs typeface="+mj-cs"/>
              </a:rPr>
              <a:t>-เว็บไซต์สามารถรองรับการใช้งานได้ดีทั้งบน </a:t>
            </a:r>
            <a:r>
              <a:rPr lang="en-US" sz="900" dirty="0">
                <a:cs typeface="+mj-cs"/>
              </a:rPr>
              <a:t>Desktop </a:t>
            </a:r>
            <a:r>
              <a:rPr lang="th-TH" sz="900" dirty="0">
                <a:cs typeface="+mj-cs"/>
              </a:rPr>
              <a:t>และ </a:t>
            </a:r>
            <a:r>
              <a:rPr lang="en-US" sz="900" dirty="0">
                <a:cs typeface="+mj-cs"/>
              </a:rPr>
              <a:t>Mobile </a:t>
            </a:r>
            <a:r>
              <a:rPr lang="th-TH" sz="900" dirty="0">
                <a:cs typeface="+mj-cs"/>
              </a:rPr>
              <a:t>ทำให้สามารถเรียนรู้ได้ทุกที่ทุกเวลา ไม่ว่าจะเป็นการเรียนผ่านคอมพิวเตอร์หรือโทรศัพท์มือถือ</a:t>
            </a:r>
            <a:br>
              <a:rPr lang="th-TH" sz="900" dirty="0">
                <a:cs typeface="+mj-cs"/>
              </a:rPr>
            </a:br>
            <a:r>
              <a:rPr lang="th-TH" sz="900" dirty="0">
                <a:cs typeface="+mj-cs"/>
              </a:rPr>
              <a:t>4. เนื้อหาครอบคลุมและอัปเดตล่าสุด</a:t>
            </a:r>
            <a:br>
              <a:rPr lang="en-US" sz="900" dirty="0">
                <a:cs typeface="+mj-cs"/>
              </a:rPr>
            </a:br>
            <a:r>
              <a:rPr lang="en-US" sz="900" dirty="0">
                <a:cs typeface="+mj-cs"/>
              </a:rPr>
              <a:t>-W3Schools </a:t>
            </a:r>
            <a:r>
              <a:rPr lang="th-TH" sz="900" dirty="0">
                <a:cs typeface="+mj-cs"/>
              </a:rPr>
              <a:t>มีบทเรียนที่ครอบคลุมตั้งแต่พื้นฐานไปจนถึงเทคนิคขั้นสูง มีเนื้อหาที่อัปเดตตามเทคโนโลยีล่าสุด เช่น </a:t>
            </a:r>
            <a:r>
              <a:rPr lang="en-US" sz="900" dirty="0">
                <a:cs typeface="+mj-cs"/>
              </a:rPr>
              <a:t>CSS Grid, Flexbox, Bootstrap 5, </a:t>
            </a:r>
            <a:r>
              <a:rPr lang="th-TH" sz="900" dirty="0">
                <a:cs typeface="+mj-cs"/>
              </a:rPr>
              <a:t>และอื่นๆ ทำให้ผู้เรียนสามารถเรียนรู้ตามมาตรฐานปัจจุบัน</a:t>
            </a:r>
            <a:br>
              <a:rPr lang="th-TH" sz="900" dirty="0">
                <a:cs typeface="+mj-cs"/>
              </a:rPr>
            </a:br>
            <a:r>
              <a:rPr lang="th-TH" sz="900" dirty="0">
                <a:cs typeface="+mj-cs"/>
              </a:rPr>
              <a:t>5. ฟรีและสามารถเข้าถึงได้ง่าย</a:t>
            </a:r>
            <a:br>
              <a:rPr lang="en-US" sz="900" dirty="0">
                <a:cs typeface="+mj-cs"/>
              </a:rPr>
            </a:br>
            <a:r>
              <a:rPr lang="en-US" sz="900" dirty="0">
                <a:cs typeface="+mj-cs"/>
              </a:rPr>
              <a:t>-W3Schools </a:t>
            </a:r>
            <a:r>
              <a:rPr lang="th-TH" sz="900" dirty="0">
                <a:cs typeface="+mj-cs"/>
              </a:rPr>
              <a:t>เป็นแหล่งเรียนรู้ที่ ฟรี และไม่มีการลงทะเบียนที่ยุ่งยาก ทำให้ทุกคนสามารถเข้ามาเรียนรู้ได้ง่ายและไม่ต้องกังวลเรื่องการสมัครสมาชิก</a:t>
            </a:r>
          </a:p>
          <a:p>
            <a:pPr marL="0" indent="0">
              <a:buNone/>
            </a:pPr>
            <a:r>
              <a:rPr lang="en-US" sz="900" b="1" kern="100" dirty="0">
                <a:latin typeface="Aptos" panose="020B0004020202020204" pitchFamily="34" charset="0"/>
                <a:ea typeface="Aptos" panose="020B0004020202020204" pitchFamily="34" charset="0"/>
                <a:cs typeface="+mj-cs"/>
              </a:rPr>
              <a:t>D</a:t>
            </a:r>
            <a:r>
              <a:rPr lang="en-US" sz="9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+mj-cs"/>
              </a:rPr>
              <a:t>esigner</a:t>
            </a:r>
            <a:br>
              <a:rPr lang="en-US" sz="900" kern="100" dirty="0">
                <a:latin typeface="Aptos" panose="020B0004020202020204" pitchFamily="34" charset="0"/>
                <a:ea typeface="Aptos" panose="020B0004020202020204" pitchFamily="34" charset="0"/>
                <a:cs typeface="+mj-cs"/>
              </a:rPr>
            </a:br>
            <a:r>
              <a:rPr lang="en-US" sz="900" kern="100" dirty="0">
                <a:latin typeface="Aptos" panose="020B0004020202020204" pitchFamily="34" charset="0"/>
                <a:ea typeface="Aptos" panose="020B0004020202020204" pitchFamily="34" charset="0"/>
                <a:cs typeface="+mj-cs"/>
              </a:rPr>
              <a:t>-</a:t>
            </a:r>
            <a:r>
              <a:rPr lang="en-US" sz="900" dirty="0">
                <a:cs typeface="+mj-cs"/>
              </a:rPr>
              <a:t>Theme </a:t>
            </a:r>
            <a:r>
              <a:rPr lang="th-TH" sz="900" dirty="0">
                <a:cs typeface="+mj-cs"/>
              </a:rPr>
              <a:t>สี: </a:t>
            </a:r>
            <a:r>
              <a:rPr lang="en-US" sz="900" dirty="0">
                <a:cs typeface="+mj-cs"/>
              </a:rPr>
              <a:t>W3Schools </a:t>
            </a:r>
            <a:r>
              <a:rPr lang="th-TH" sz="900" dirty="0">
                <a:cs typeface="+mj-cs"/>
              </a:rPr>
              <a:t>ใช้สีพื้นฐานที่ไม่ซับซ้อน เช่น สีขาว, น้ำเงิน และเทา ซึ่งทำให้เว็บไซต์ดูสะอาดตาและง่ายต่อการอ่าน เน้นให้ผู้ใช้มุ่งความสนใจไปที่เนื้อหาการสอน</a:t>
            </a:r>
            <a:br>
              <a:rPr lang="th-TH" sz="900" dirty="0">
                <a:cs typeface="+mj-cs"/>
              </a:rPr>
            </a:br>
            <a:r>
              <a:rPr lang="en-US" sz="900" dirty="0">
                <a:cs typeface="+mj-cs"/>
              </a:rPr>
              <a:t>-Grid Layout: </a:t>
            </a:r>
            <a:r>
              <a:rPr lang="th-TH" sz="900" dirty="0">
                <a:cs typeface="+mj-cs"/>
              </a:rPr>
              <a:t>ใช้โครงสร้างการจัดเรียงที่ชัดเจน เช่น แบ่งเป็นส่วนหัว (</a:t>
            </a:r>
            <a:r>
              <a:rPr lang="en-US" sz="900" dirty="0">
                <a:cs typeface="+mj-cs"/>
              </a:rPr>
              <a:t>Header), </a:t>
            </a:r>
            <a:r>
              <a:rPr lang="th-TH" sz="900" dirty="0">
                <a:cs typeface="+mj-cs"/>
              </a:rPr>
              <a:t>เนื้อหาหลัก (</a:t>
            </a:r>
            <a:r>
              <a:rPr lang="en-US" sz="900" dirty="0">
                <a:cs typeface="+mj-cs"/>
              </a:rPr>
              <a:t>Main Content), </a:t>
            </a:r>
            <a:r>
              <a:rPr lang="th-TH" sz="900" dirty="0">
                <a:cs typeface="+mj-cs"/>
              </a:rPr>
              <a:t>และส่วนท้าย (</a:t>
            </a:r>
            <a:r>
              <a:rPr lang="en-US" sz="900" dirty="0">
                <a:cs typeface="+mj-cs"/>
              </a:rPr>
              <a:t>Footer) </a:t>
            </a:r>
            <a:br>
              <a:rPr lang="en-US" sz="900" dirty="0">
                <a:cs typeface="+mj-cs"/>
              </a:rPr>
            </a:br>
            <a:r>
              <a:rPr lang="th-TH" sz="900" dirty="0">
                <a:cs typeface="+mj-cs"/>
              </a:rPr>
              <a:t>-มีปุ่มสีเขียว "</a:t>
            </a:r>
            <a:r>
              <a:rPr lang="en-US" sz="900" dirty="0">
                <a:cs typeface="+mj-cs"/>
              </a:rPr>
              <a:t>Try it Yourself" </a:t>
            </a:r>
            <a:r>
              <a:rPr lang="th-TH" sz="900" dirty="0">
                <a:cs typeface="+mj-cs"/>
              </a:rPr>
              <a:t>ที่ชัดเจนและดึงดูดสายตา</a:t>
            </a:r>
            <a:br>
              <a:rPr lang="en-US" sz="900" dirty="0">
                <a:cs typeface="+mj-cs"/>
              </a:rPr>
            </a:br>
            <a:r>
              <a:rPr lang="th-TH" sz="900" dirty="0">
                <a:cs typeface="+mj-cs"/>
              </a:rPr>
              <a:t>-ใช้ไอคอนและสัญลักษณ์ที่เข้าใจง่าย เช่น ปุ่มลูกศรเลื่อนไปยังเนื้อหาถัดไป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48723-6B84-BB51-2831-2BDF6C599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729988"/>
            <a:ext cx="493776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+mj-cs"/>
              </a:rPr>
              <a:t>Find bad example of website regarding the design and discuss why the design is inappropriate.</a:t>
            </a:r>
            <a:br>
              <a:rPr lang="en-US" sz="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+mj-cs"/>
              </a:rPr>
            </a:br>
            <a:r>
              <a:rPr lang="en-US" sz="900" kern="100" dirty="0">
                <a:latin typeface="Aptos" panose="020B0004020202020204" pitchFamily="34" charset="0"/>
                <a:cs typeface="+mj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https://www.lingscars.com/</a:t>
            </a:r>
            <a:endParaRPr lang="en-US" sz="900" kern="100" dirty="0">
              <a:latin typeface="Aptos" panose="020B0004020202020204" pitchFamily="34" charset="0"/>
              <a:cs typeface="+mj-cs"/>
            </a:endParaRPr>
          </a:p>
          <a:p>
            <a:pPr marL="0" indent="0">
              <a:buNone/>
            </a:pPr>
            <a:r>
              <a:rPr lang="en-US" sz="900" b="1" kern="100" dirty="0">
                <a:latin typeface="Aptos" panose="020B0004020202020204" pitchFamily="34" charset="0"/>
                <a:cs typeface="+mj-cs"/>
              </a:rPr>
              <a:t>Why</a:t>
            </a:r>
            <a:br>
              <a:rPr lang="en-US" sz="900" kern="100" dirty="0">
                <a:latin typeface="Aptos" panose="020B0004020202020204" pitchFamily="34" charset="0"/>
                <a:cs typeface="+mj-cs"/>
              </a:rPr>
            </a:br>
            <a:r>
              <a:rPr lang="th-TH" sz="900" kern="100" dirty="0">
                <a:latin typeface="Aptos" panose="020B0004020202020204" pitchFamily="34" charset="0"/>
                <a:cs typeface="+mj-cs"/>
              </a:rPr>
              <a:t>1.</a:t>
            </a:r>
            <a:r>
              <a:rPr lang="th-TH" sz="900" b="1" dirty="0">
                <a:cs typeface="+mj-cs"/>
              </a:rPr>
              <a:t>ใช้สีที่รุนแรงเกินไป</a:t>
            </a:r>
            <a:r>
              <a:rPr lang="th-TH" sz="900" dirty="0">
                <a:cs typeface="+mj-cs"/>
              </a:rPr>
              <a:t> – มีการใช้สีฉูดฉาด เช่น </a:t>
            </a:r>
            <a:r>
              <a:rPr lang="th-TH" sz="900" b="1" dirty="0">
                <a:cs typeface="+mj-cs"/>
              </a:rPr>
              <a:t>แดง, เหลือง, ฟ้า, ม่วง</a:t>
            </a:r>
            <a:r>
              <a:rPr lang="th-TH" sz="900" dirty="0">
                <a:cs typeface="+mj-cs"/>
              </a:rPr>
              <a:t> ที่ทำให้เว็บดูรกและไม่น่าอ่าน</a:t>
            </a:r>
            <a:br>
              <a:rPr lang="th-TH" sz="900" dirty="0">
                <a:cs typeface="+mj-cs"/>
              </a:rPr>
            </a:br>
            <a:r>
              <a:rPr lang="th-TH" sz="900" dirty="0">
                <a:cs typeface="+mj-cs"/>
              </a:rPr>
              <a:t>2.</a:t>
            </a:r>
            <a:r>
              <a:rPr lang="th-TH" sz="900" b="1" dirty="0">
                <a:cs typeface="+mj-cs"/>
              </a:rPr>
              <a:t> กราฟิกและภาพเคลื่อนไหวที่มากเกินไป</a:t>
            </a:r>
            <a:r>
              <a:rPr lang="th-TH" sz="900" dirty="0">
                <a:cs typeface="+mj-cs"/>
              </a:rPr>
              <a:t> – มี </a:t>
            </a:r>
            <a:r>
              <a:rPr lang="en-US" sz="900" dirty="0">
                <a:cs typeface="+mj-cs"/>
              </a:rPr>
              <a:t>GIF, </a:t>
            </a:r>
            <a:r>
              <a:rPr lang="th-TH" sz="900" dirty="0">
                <a:cs typeface="+mj-cs"/>
              </a:rPr>
              <a:t>ภาพกระพริบ และแอนิเมชันที่ทำให้เว็บดูวุ่นวาย</a:t>
            </a:r>
            <a:br>
              <a:rPr lang="th-TH" sz="900" dirty="0">
                <a:cs typeface="+mj-cs"/>
              </a:rPr>
            </a:br>
            <a:r>
              <a:rPr lang="th-TH" sz="900" dirty="0">
                <a:cs typeface="+mj-cs"/>
              </a:rPr>
              <a:t>3.</a:t>
            </a:r>
            <a:r>
              <a:rPr lang="th-TH" sz="900" b="1" dirty="0">
                <a:cs typeface="+mj-cs"/>
              </a:rPr>
              <a:t>ตัวอักษรขนาดไม่สมดุล</a:t>
            </a:r>
            <a:r>
              <a:rPr lang="th-TH" sz="900" dirty="0">
                <a:cs typeface="+mj-cs"/>
              </a:rPr>
              <a:t> – มีฟอนต์ขนาดต่างๆ กระจัดกระจาย อ่านยาก</a:t>
            </a:r>
            <a:br>
              <a:rPr lang="th-TH" sz="900" dirty="0">
                <a:cs typeface="+mj-cs"/>
              </a:rPr>
            </a:br>
            <a:r>
              <a:rPr lang="th-TH" sz="900" dirty="0">
                <a:cs typeface="+mj-cs"/>
              </a:rPr>
              <a:t>4.ใส่ข้อมูลเยอะเกินไปในหน้าเดียว</a:t>
            </a:r>
            <a:br>
              <a:rPr lang="th-TH" sz="900" dirty="0">
                <a:cs typeface="+mj-cs"/>
              </a:rPr>
            </a:br>
            <a:r>
              <a:rPr lang="th-TH" sz="900" dirty="0">
                <a:cs typeface="+mj-cs"/>
              </a:rPr>
              <a:t>5. มี</a:t>
            </a:r>
            <a:r>
              <a:rPr lang="th-TH" sz="900" b="1" dirty="0">
                <a:cs typeface="+mj-cs"/>
              </a:rPr>
              <a:t>รูปภาพ, ตัวหนังสือ, ตาราง, ลิงก์ และโฆษณา</a:t>
            </a:r>
            <a:r>
              <a:rPr lang="th-TH" sz="900" dirty="0">
                <a:cs typeface="+mj-cs"/>
              </a:rPr>
              <a:t> ปะปนกันไปหมด ทำให้หน้าเว็บดูยุ่งเหยิง</a:t>
            </a:r>
            <a:br>
              <a:rPr lang="th-TH" sz="900" dirty="0">
                <a:cs typeface="+mj-cs"/>
              </a:rPr>
            </a:br>
            <a:r>
              <a:rPr lang="th-TH" sz="900" dirty="0">
                <a:cs typeface="+mj-cs"/>
              </a:rPr>
              <a:t>6. เว็บไซต์นี้ไม่ได้ออกแบบให้ </a:t>
            </a:r>
            <a:r>
              <a:rPr lang="th-TH" sz="900" b="1" dirty="0">
                <a:cs typeface="+mj-cs"/>
              </a:rPr>
              <a:t>ปรับขนาดตามหน้าจอมือถือหรือแท็บเล็ต</a:t>
            </a:r>
            <a:endParaRPr lang="th-TH" sz="900" dirty="0"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B1B230-2BB9-A9FD-1623-407C9BAB9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646" y="3691815"/>
            <a:ext cx="3042707" cy="1460500"/>
          </a:xfrm>
          <a:prstGeom prst="rect">
            <a:avLst/>
          </a:prstGeom>
        </p:spPr>
      </p:pic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74C25C9D-C2B4-8D6F-CDF4-B1C803039D99}"/>
              </a:ext>
            </a:extLst>
          </p:cNvPr>
          <p:cNvSpPr txBox="1"/>
          <p:nvPr/>
        </p:nvSpPr>
        <p:spPr>
          <a:xfrm>
            <a:off x="8983329" y="5864770"/>
            <a:ext cx="2588871" cy="350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 sz="1200" dirty="0">
                <a:ea typeface="+mn-lt"/>
                <a:cs typeface="+mn-lt"/>
              </a:rPr>
              <a:t>67130701930  กฤษณะ พิพัฒน์พฤติกุล</a:t>
            </a:r>
            <a:endParaRPr lang="th-TH" sz="1200" dirty="0"/>
          </a:p>
        </p:txBody>
      </p:sp>
    </p:spTree>
    <p:extLst>
      <p:ext uri="{BB962C8B-B14F-4D97-AF65-F5344CB8AC3E}">
        <p14:creationId xmlns:p14="http://schemas.microsoft.com/office/powerpoint/2010/main" val="36472568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50</TotalTime>
  <Words>545</Words>
  <Application>Microsoft Office PowerPoint</Application>
  <PresentationFormat>แบบจอกว้าง</PresentationFormat>
  <Paragraphs>7</Paragraphs>
  <Slides>1</Slides>
  <Notes>1</Notes>
  <HiddenSlides>0</HiddenSlides>
  <MMClips>0</MMClips>
  <ScaleCrop>false</ScaleCrop>
  <HeadingPairs>
    <vt:vector size="4" baseType="variant"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2" baseType="lpstr">
      <vt:lpstr>Retrospect</vt:lpstr>
      <vt:lpstr> Exercise 4.1 -Visit your most favorite website regarding the design and discuss following issues:  -Why do you like it ?  -What design principles does the website follow? -Find bad example of website regarding the design and discuss why the design is inappropriate.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Krissana Piputpruedtigul</dc:creator>
  <cp:lastModifiedBy>Krissana Piputpruedtigul</cp:lastModifiedBy>
  <cp:revision>10</cp:revision>
  <dcterms:created xsi:type="dcterms:W3CDTF">2025-02-03T07:35:49Z</dcterms:created>
  <dcterms:modified xsi:type="dcterms:W3CDTF">2025-02-03T08:31:29Z</dcterms:modified>
</cp:coreProperties>
</file>